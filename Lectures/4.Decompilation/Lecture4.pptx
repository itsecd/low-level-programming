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41"/>
  </p:notesMasterIdLst>
  <p:sldIdLst>
    <p:sldId id="256" r:id="rId2"/>
    <p:sldId id="257" r:id="rId3"/>
    <p:sldId id="258" r:id="rId4"/>
    <p:sldId id="260" r:id="rId5"/>
    <p:sldId id="259"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sldSz cx="12192000" cy="6858000"/>
  <p:notesSz cx="6858000" cy="9144000"/>
  <p:defaultText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5940675A-B579-460E-94D1-54222C63F5DA}" styleName="Нет стиля, сетка таблицы">
    <a:wholeTbl>
      <a:tcTxStyle>
        <a:fontRef idx="minor">
          <a:srgbClr val="000000"/>
        </a:fontRef>
        <a:schemeClr val="tx1"/>
      </a:tcTxStyle>
      <a:tcStyle>
        <a:tcBdr>
          <a:left>
            <a:ln w="12700">
              <a:solidFill>
                <a:schemeClr val="tx1"/>
              </a:solidFill>
            </a:ln>
          </a:left>
          <a:right>
            <a:ln w="12700">
              <a:solidFill>
                <a:schemeClr val="tx1"/>
              </a:solidFill>
            </a:ln>
          </a:right>
          <a:top>
            <a:ln w="12700">
              <a:solidFill>
                <a:schemeClr val="tx1"/>
              </a:solidFill>
            </a:ln>
          </a:top>
          <a:bottom>
            <a:ln w="12700">
              <a:solidFill>
                <a:schemeClr val="tx1"/>
              </a:solidFill>
            </a:ln>
          </a:bottom>
          <a:insideH>
            <a:ln w="12700">
              <a:solidFill>
                <a:schemeClr val="tx1"/>
              </a:solidFill>
            </a:ln>
          </a:insideH>
          <a:insideV>
            <a:ln w="12700">
              <a:solidFill>
                <a:schemeClr val="tx1"/>
              </a:solidFill>
            </a:ln>
          </a:insideV>
        </a:tcBdr>
        <a:fill>
          <a:noFill/>
        </a:fill>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1" d="100"/>
          <a:sy n="111" d="100"/>
        </p:scale>
        <p:origin x="792"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617611542" name="Верхний колонтитул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1544070847" name="Дата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8A70136C-4900-4139-A65E-0FFE21BA8660}" type="datetimeFigureOut">
              <a:rPr lang="en-US"/>
              <a:t>10/19/2026</a:t>
            </a:fld>
            <a:endParaRPr lang="en-US"/>
          </a:p>
        </p:txBody>
      </p:sp>
      <p:sp>
        <p:nvSpPr>
          <p:cNvPr id="1785399654" name="Образ слайда 3"/>
          <p:cNvSpPr>
            <a:spLocks noGrp="1" noRot="1" noChangeAspec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r>
              <a:rPr lang="ru-RU"/>
              <a:t>вр</a:t>
            </a:r>
            <a:endParaRPr lang="en-US"/>
          </a:p>
        </p:txBody>
      </p:sp>
      <p:sp>
        <p:nvSpPr>
          <p:cNvPr id="1976712789" name="Заметки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lang="en-US"/>
          </a:p>
        </p:txBody>
      </p:sp>
      <p:sp>
        <p:nvSpPr>
          <p:cNvPr id="2034809844" name="Нижний колонтитул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1552700520" name="Номер слайда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A8B5C656-B1C2-48D6-B4C0-50C1DF62A042}"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DF7A442-065C-6841-0573-0AC6FEBE6E4C}" type="slidenum">
              <a:rP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5080D69F-00E4-CCA6-6FC8-42656B310031}" type="slidenum">
              <a:rPr/>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9849C22-AB40-415C-274E-BF5D335F34F3}" type="slidenum">
              <a:rPr/>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C02A1D03-A3A7-2173-1FEE-88465344C981}" type="slidenum">
              <a:rPr/>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D4B31DF-4A67-4A97-DAEC-EE3BA635F13F}" type="slidenum">
              <a:rPr/>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D8431A0-33BC-92BC-247D-B31A461EC659}" type="slidenum">
              <a:rPr/>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6A5D852-947D-306D-28B4-CDB446372FF7}" type="slidenum">
              <a:rPr/>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E5BC76E8-2FA7-2FD2-BB5A-F732B691707E}" type="slidenum">
              <a:rPr/>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879091855" name="Slide Image Placeholder 1"/>
          <p:cNvSpPr>
            <a:spLocks noGrp="1" noRot="1" noChangeAspect="1"/>
          </p:cNvSpPr>
          <p:nvPr>
            <p:ph type="sldImg"/>
          </p:nvPr>
        </p:nvSpPr>
        <p:spPr bwMode="auto"/>
      </p:sp>
      <p:sp>
        <p:nvSpPr>
          <p:cNvPr id="2068404916" name="Notes Placeholder 2"/>
          <p:cNvSpPr>
            <a:spLocks noGrp="1"/>
          </p:cNvSpPr>
          <p:nvPr>
            <p:ph type="body" idx="1"/>
          </p:nvPr>
        </p:nvSpPr>
        <p:spPr bwMode="auto"/>
        <p:txBody>
          <a:bodyPr/>
          <a:lstStyle/>
          <a:p>
            <a:pPr>
              <a:defRPr/>
            </a:pPr>
            <a:endParaRPr/>
          </a:p>
        </p:txBody>
      </p:sp>
      <p:sp>
        <p:nvSpPr>
          <p:cNvPr id="1426161422" name="Slide Number Placeholder 3"/>
          <p:cNvSpPr>
            <a:spLocks noGrp="1"/>
          </p:cNvSpPr>
          <p:nvPr>
            <p:ph type="sldNum" sz="quarter" idx="10"/>
          </p:nvPr>
        </p:nvSpPr>
        <p:spPr bwMode="auto"/>
        <p:txBody>
          <a:bodyPr/>
          <a:lstStyle/>
          <a:p>
            <a:pPr>
              <a:defRPr/>
            </a:pPr>
            <a:fld id="{76609929-5A72-1AA3-305E-52B8980F152E}" type="slidenum">
              <a:rPr/>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175613873" name="Образ слайда 1"/>
          <p:cNvSpPr>
            <a:spLocks noGrp="1" noRot="1" noChangeAspect="1"/>
          </p:cNvSpPr>
          <p:nvPr>
            <p:ph type="sldImg"/>
          </p:nvPr>
        </p:nvSpPr>
        <p:spPr bwMode="auto"/>
      </p:sp>
      <p:sp>
        <p:nvSpPr>
          <p:cNvPr id="801435420" name="Заметки 2"/>
          <p:cNvSpPr>
            <a:spLocks noGrp="1"/>
          </p:cNvSpPr>
          <p:nvPr>
            <p:ph type="body" idx="1"/>
          </p:nvPr>
        </p:nvSpPr>
        <p:spPr bwMode="auto"/>
        <p:txBody>
          <a:bodyPr/>
          <a:lstStyle/>
          <a:p>
            <a:pPr>
              <a:defRPr/>
            </a:pPr>
            <a:endParaRPr lang="ru-RU"/>
          </a:p>
        </p:txBody>
      </p:sp>
      <p:sp>
        <p:nvSpPr>
          <p:cNvPr id="174099540" name="Номер слайда 3"/>
          <p:cNvSpPr>
            <a:spLocks noGrp="1"/>
          </p:cNvSpPr>
          <p:nvPr>
            <p:ph type="sldNum" sz="quarter" idx="5"/>
          </p:nvPr>
        </p:nvSpPr>
        <p:spPr bwMode="auto"/>
        <p:txBody>
          <a:bodyPr/>
          <a:lstStyle/>
          <a:p>
            <a:pPr>
              <a:defRPr/>
            </a:pPr>
            <a:fld id="{A8B5C656-B1C2-48D6-B4C0-50C1DF62A042}"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1002252-2FC6-C074-72D2-59EC145938A8}" type="slidenum">
              <a:rPr/>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1137CFD-C0A8-6811-3959-C2B43AAF3F68}" type="slidenum">
              <a:rPr/>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B6B206E-0EE3-E4D7-4FD6-356632BD7B48}" type="slidenum">
              <a:rPr/>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4F5F6748-ED4A-7CC7-D68A-F71C3B6A9E12}" type="slidenum">
              <a:rPr/>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903D7E1-D015-3946-94FF-75A3D43E38C4}" type="slidenum">
              <a:rPr/>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EFC77150-594C-6572-0D4A-F3FE9A9409BA}" type="slidenum">
              <a:rPr/>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840BDFB-34C0-7767-9267-597073441E4E}" type="slidenum">
              <a:rPr/>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BC3BACC-968F-1AC6-E3D7-631A3C8E7C19}" type="slidenum">
              <a:rPr/>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281019498" name="Slide Image Placeholder 1"/>
          <p:cNvSpPr>
            <a:spLocks noGrp="1" noRot="1" noChangeAspect="1"/>
          </p:cNvSpPr>
          <p:nvPr>
            <p:ph type="sldImg"/>
          </p:nvPr>
        </p:nvSpPr>
        <p:spPr bwMode="auto"/>
      </p:sp>
      <p:sp>
        <p:nvSpPr>
          <p:cNvPr id="1063310632" name="Notes Placeholder 2"/>
          <p:cNvSpPr>
            <a:spLocks noGrp="1"/>
          </p:cNvSpPr>
          <p:nvPr>
            <p:ph type="body" idx="1"/>
          </p:nvPr>
        </p:nvSpPr>
        <p:spPr bwMode="auto"/>
        <p:txBody>
          <a:bodyPr/>
          <a:lstStyle/>
          <a:p>
            <a:pPr>
              <a:defRPr/>
            </a:pPr>
            <a:r>
              <a:rPr lang="ru-RU"/>
              <a:t>Стоит отметить, что в современных ЦП невыровненные чтение/запись не влияют существенным образом на производительность.</a:t>
            </a:r>
            <a:endParaRPr/>
          </a:p>
          <a:p>
            <a:pPr>
              <a:defRPr/>
            </a:pPr>
            <a:endParaRPr lang="ru-RU"/>
          </a:p>
        </p:txBody>
      </p:sp>
      <p:sp>
        <p:nvSpPr>
          <p:cNvPr id="1707075220" name="Slide Number Placeholder 3"/>
          <p:cNvSpPr>
            <a:spLocks noGrp="1"/>
          </p:cNvSpPr>
          <p:nvPr>
            <p:ph type="sldNum" sz="quarter" idx="5"/>
          </p:nvPr>
        </p:nvSpPr>
        <p:spPr bwMode="auto"/>
        <p:txBody>
          <a:bodyPr/>
          <a:lstStyle/>
          <a:p>
            <a:pPr>
              <a:defRPr/>
            </a:pPr>
            <a:fld id="{A8B5C656-B1C2-48D6-B4C0-50C1DF62A042}" type="slidenum">
              <a:rPr lang="en-US"/>
              <a:t>19</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F715FBD-51F2-C6C4-5094-B8930D028FC9}" type="slidenum">
              <a:rPr/>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C9A5F993-CB79-2441-0394-9ACCFF08F1AC}" type="slidenum">
              <a:rPr/>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C3E8A396-CE54-BACC-E41A-A344E468C9E8}" type="slidenum">
              <a:rPr/>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5D62CEF2-A57D-5140-24B5-A73B313FB1D0}" type="slidenum">
              <a:rPr/>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8002131-72BE-CB55-7B50-B805F790921F}" type="slidenum">
              <a:rPr/>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E916CE00-B490-3177-7088-F6BC79B18DC5}" type="slidenum">
              <a:rPr/>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8DD7239-B6EA-070D-6365-B5F6CAC74746}" type="slidenum">
              <a:rPr/>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E916FBF-38F7-5735-5902-19E5B3BFABF1}" type="slidenum">
              <a:rPr/>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dirty="0"/>
          </a:p>
        </p:txBody>
      </p:sp>
      <p:sp>
        <p:nvSpPr>
          <p:cNvPr id="4" name="Slide Number Placeholder 3"/>
          <p:cNvSpPr>
            <a:spLocks noGrp="1"/>
          </p:cNvSpPr>
          <p:nvPr>
            <p:ph type="sldNum" sz="quarter" idx="10"/>
          </p:nvPr>
        </p:nvSpPr>
        <p:spPr bwMode="auto"/>
        <p:txBody>
          <a:bodyPr/>
          <a:lstStyle/>
          <a:p>
            <a:pPr>
              <a:defRPr/>
            </a:pPr>
            <a:fld id="{469A7820-4243-7FEF-B7F5-B4B4A2C2164E}" type="slidenum">
              <a:rPr/>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59B99352-5861-9F17-2FBA-33ABAF64823A}" type="slidenum">
              <a:rPr/>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6259FED-4C36-E7C6-B5DA-54880377ACE2}" type="slidenum">
              <a:rPr/>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C9DA149C-BC97-669E-BE67-4F23068FE813}" type="slidenum">
              <a:rPr/>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3EAE1B4-1E92-5ACA-50B7-AA37F502AB03}" type="slidenum">
              <a:rPr/>
              <a:t>32</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61CAFB80-4C8E-C99E-B892-4D91CCFB81A6}" type="slidenum">
              <a:rPr/>
              <a:t>33</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7916213-57AF-FFD0-5B8E-9C3DCA5BBF0A}" type="slidenum">
              <a:rPr/>
              <a:t>34</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40442FA-8CFE-F13A-8261-AAAB47537DAF}" type="slidenum">
              <a:rPr/>
              <a:t>35</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48154EB-EE54-EFB3-0E4D-06F510F87AE6}" type="slidenum">
              <a:rPr/>
              <a:t>36</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9157647-CEC1-F527-7749-D81F1BDA771D}" type="slidenum">
              <a:rPr/>
              <a:t>37</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7E4A3F7C-A4CE-38AE-3F40-187DE7F99B8C}" type="slidenum">
              <a:rPr/>
              <a:t>38</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2DD057B-3C0F-9D92-89FD-1FACE55FCA68}" type="slidenum">
              <a:rPr/>
              <a:t>39</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type="title" preserve="1" userDrawn="1">
  <p:cSld name="Титульный слайд">
    <p:spTree>
      <p:nvGrpSpPr>
        <p:cNvPr id="1" name=""/>
        <p:cNvGrpSpPr/>
        <p:nvPr/>
      </p:nvGrpSpPr>
      <p:grpSpPr bwMode="auto">
        <a:xfrm>
          <a:off x="0" y="0"/>
          <a:ext cx="0" cy="0"/>
          <a:chOff x="0" y="0"/>
          <a:chExt cx="0" cy="0"/>
        </a:xfrm>
      </p:grpSpPr>
      <p:sp>
        <p:nvSpPr>
          <p:cNvPr id="143856306" name="Заголовок 1"/>
          <p:cNvSpPr>
            <a:spLocks noGrp="1"/>
          </p:cNvSpPr>
          <p:nvPr>
            <p:ph type="ctrTitle"/>
          </p:nvPr>
        </p:nvSpPr>
        <p:spPr bwMode="auto">
          <a:xfrm>
            <a:off x="1524000" y="1122363"/>
            <a:ext cx="9144000" cy="2387600"/>
          </a:xfrm>
        </p:spPr>
        <p:txBody>
          <a:bodyPr anchor="b"/>
          <a:lstStyle>
            <a:lvl1pPr algn="ctr">
              <a:defRPr sz="6000"/>
            </a:lvl1pPr>
          </a:lstStyle>
          <a:p>
            <a:pPr>
              <a:defRPr/>
            </a:pPr>
            <a:r>
              <a:rPr lang="ru-RU"/>
              <a:t>Образец заголовка</a:t>
            </a:r>
            <a:endParaRPr lang="en-US"/>
          </a:p>
        </p:txBody>
      </p:sp>
      <p:sp>
        <p:nvSpPr>
          <p:cNvPr id="1362108483" name="Подзаголовок 2"/>
          <p:cNvSpPr>
            <a:spLocks noGrp="1"/>
          </p:cNvSpPr>
          <p:nvPr>
            <p:ph type="subTitle" idx="1"/>
          </p:nvPr>
        </p:nvSpPr>
        <p:spPr bwMode="auto">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ru-RU"/>
              <a:t>Образец подзаголовка</a:t>
            </a:r>
            <a:endParaRPr lang="en-US"/>
          </a:p>
        </p:txBody>
      </p:sp>
      <p:sp>
        <p:nvSpPr>
          <p:cNvPr id="576110258" name="Дата 3"/>
          <p:cNvSpPr>
            <a:spLocks noGrp="1"/>
          </p:cNvSpPr>
          <p:nvPr>
            <p:ph type="dt" sz="half" idx="10"/>
          </p:nvPr>
        </p:nvSpPr>
        <p:spPr bwMode="auto">
          <a:xfrm>
            <a:off x="838200" y="6356350"/>
            <a:ext cx="2743200" cy="365125"/>
          </a:xfrm>
          <a:prstGeom prst="rect">
            <a:avLst/>
          </a:prstGeom>
        </p:spPr>
        <p:txBody>
          <a:bodyPr/>
          <a:lstStyle/>
          <a:p>
            <a:pPr>
              <a:defRPr/>
            </a:pPr>
            <a:endParaRPr lang="en-US"/>
          </a:p>
        </p:txBody>
      </p:sp>
      <p:sp>
        <p:nvSpPr>
          <p:cNvPr id="1545335322" name="Нижний колонтитул 4"/>
          <p:cNvSpPr>
            <a:spLocks noGrp="1"/>
          </p:cNvSpPr>
          <p:nvPr>
            <p:ph type="ftr" sz="quarter" idx="11"/>
          </p:nvPr>
        </p:nvSpPr>
        <p:spPr bwMode="auto"/>
        <p:txBody>
          <a:bodyPr/>
          <a:lstStyle/>
          <a:p>
            <a:pPr>
              <a:defRPr/>
            </a:pPr>
            <a:r>
              <a:rPr lang="ru-RU"/>
              <a:t>Введение</a:t>
            </a:r>
            <a:endParaRPr lang="en-US"/>
          </a:p>
        </p:txBody>
      </p:sp>
      <p:sp>
        <p:nvSpPr>
          <p:cNvPr id="2141189594" name="Номер слайда 5"/>
          <p:cNvSpPr>
            <a:spLocks noGrp="1"/>
          </p:cNvSpPr>
          <p:nvPr>
            <p:ph type="sldNum" sz="quarter" idx="12"/>
          </p:nvPr>
        </p:nvSpPr>
        <p:spPr bwMode="auto"/>
        <p:txBody>
          <a:bodyPr/>
          <a:lstStyle/>
          <a:p>
            <a:pPr>
              <a:defRPr/>
            </a:pPr>
            <a:fld id="{B67FBA2B-964F-4C4D-AAF7-5A8399264638}"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type="obj" preserve="1" userDrawn="1">
  <p:cSld name="Заголовок и объект">
    <p:spTree>
      <p:nvGrpSpPr>
        <p:cNvPr id="1" name=""/>
        <p:cNvGrpSpPr/>
        <p:nvPr/>
      </p:nvGrpSpPr>
      <p:grpSpPr bwMode="auto">
        <a:xfrm>
          <a:off x="0" y="0"/>
          <a:ext cx="0" cy="0"/>
          <a:chOff x="0" y="0"/>
          <a:chExt cx="0" cy="0"/>
        </a:xfrm>
      </p:grpSpPr>
      <p:sp>
        <p:nvSpPr>
          <p:cNvPr id="1082097735" name="Заголовок 1"/>
          <p:cNvSpPr>
            <a:spLocks noGrp="1"/>
          </p:cNvSpPr>
          <p:nvPr>
            <p:ph type="title"/>
          </p:nvPr>
        </p:nvSpPr>
        <p:spPr bwMode="auto"/>
        <p:txBody>
          <a:bodyPr/>
          <a:lstStyle/>
          <a:p>
            <a:pPr>
              <a:defRPr/>
            </a:pPr>
            <a:r>
              <a:rPr lang="ru-RU"/>
              <a:t>Образец заголовка</a:t>
            </a:r>
            <a:endParaRPr lang="en-US"/>
          </a:p>
        </p:txBody>
      </p:sp>
      <p:sp>
        <p:nvSpPr>
          <p:cNvPr id="1255561336" name="Объект 2"/>
          <p:cNvSpPr>
            <a:spLocks noGrp="1"/>
          </p:cNvSpPr>
          <p:nvPr>
            <p:ph idx="1"/>
          </p:nvPr>
        </p:nvSpPr>
        <p:spPr bwMode="auto"/>
        <p:txBody>
          <a:bodyPr/>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lang="en-US"/>
          </a:p>
        </p:txBody>
      </p:sp>
      <p:sp>
        <p:nvSpPr>
          <p:cNvPr id="736242863" name="Нижний колонтитул 4"/>
          <p:cNvSpPr>
            <a:spLocks noGrp="1"/>
          </p:cNvSpPr>
          <p:nvPr>
            <p:ph type="ftr" sz="quarter" idx="11"/>
          </p:nvPr>
        </p:nvSpPr>
        <p:spPr bwMode="auto"/>
        <p:txBody>
          <a:bodyPr/>
          <a:lstStyle>
            <a:lvl1pPr algn="l">
              <a:defRPr sz="1800"/>
            </a:lvl1pPr>
          </a:lstStyle>
          <a:p>
            <a:pPr>
              <a:defRPr/>
            </a:pPr>
            <a:r>
              <a:rPr lang="ru-RU"/>
              <a:t>Введение</a:t>
            </a:r>
            <a:endParaRPr lang="en-US"/>
          </a:p>
        </p:txBody>
      </p:sp>
      <p:sp>
        <p:nvSpPr>
          <p:cNvPr id="1670976868" name="Номер слайда 5"/>
          <p:cNvSpPr>
            <a:spLocks noGrp="1"/>
          </p:cNvSpPr>
          <p:nvPr>
            <p:ph type="sldNum" sz="quarter" idx="12"/>
          </p:nvPr>
        </p:nvSpPr>
        <p:spPr bwMode="auto"/>
        <p:txBody>
          <a:bodyPr/>
          <a:lstStyle>
            <a:lvl1pPr>
              <a:defRPr sz="1800"/>
            </a:lvl1pPr>
          </a:lstStyle>
          <a:p>
            <a:pPr>
              <a:defRPr/>
            </a:pPr>
            <a:fld id="{B67FBA2B-964F-4C4D-AAF7-5A8399264638}"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type="secHead" preserve="1" userDrawn="1">
  <p:cSld name="Заголовок раздела">
    <p:spTree>
      <p:nvGrpSpPr>
        <p:cNvPr id="1" name=""/>
        <p:cNvGrpSpPr/>
        <p:nvPr/>
      </p:nvGrpSpPr>
      <p:grpSpPr bwMode="auto">
        <a:xfrm>
          <a:off x="0" y="0"/>
          <a:ext cx="0" cy="0"/>
          <a:chOff x="0" y="0"/>
          <a:chExt cx="0" cy="0"/>
        </a:xfrm>
      </p:grpSpPr>
      <p:sp>
        <p:nvSpPr>
          <p:cNvPr id="1331825528" name="Заголовок 1"/>
          <p:cNvSpPr>
            <a:spLocks noGrp="1"/>
          </p:cNvSpPr>
          <p:nvPr>
            <p:ph type="title"/>
          </p:nvPr>
        </p:nvSpPr>
        <p:spPr bwMode="auto">
          <a:xfrm>
            <a:off x="831850" y="1709738"/>
            <a:ext cx="10515600" cy="2852737"/>
          </a:xfrm>
        </p:spPr>
        <p:txBody>
          <a:bodyPr anchor="b"/>
          <a:lstStyle>
            <a:lvl1pPr>
              <a:defRPr sz="6000"/>
            </a:lvl1pPr>
          </a:lstStyle>
          <a:p>
            <a:pPr>
              <a:defRPr/>
            </a:pPr>
            <a:r>
              <a:rPr lang="ru-RU"/>
              <a:t>Образец заголовка</a:t>
            </a:r>
            <a:endParaRPr lang="en-US"/>
          </a:p>
        </p:txBody>
      </p:sp>
      <p:sp>
        <p:nvSpPr>
          <p:cNvPr id="1061549421" name="Текст 2"/>
          <p:cNvSpPr>
            <a:spLocks noGrp="1"/>
          </p:cNvSpPr>
          <p:nvPr>
            <p:ph type="body" idx="1"/>
          </p:nvPr>
        </p:nvSpPr>
        <p:spPr bwMode="auto">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defRPr/>
            </a:pPr>
            <a:r>
              <a:rPr lang="ru-RU"/>
              <a:t>Образец текста</a:t>
            </a:r>
            <a:endParaRPr/>
          </a:p>
        </p:txBody>
      </p:sp>
      <p:sp>
        <p:nvSpPr>
          <p:cNvPr id="1732559999" name="Дата 3"/>
          <p:cNvSpPr>
            <a:spLocks noGrp="1"/>
          </p:cNvSpPr>
          <p:nvPr>
            <p:ph type="dt" sz="half" idx="10"/>
          </p:nvPr>
        </p:nvSpPr>
        <p:spPr bwMode="auto">
          <a:xfrm>
            <a:off x="838200" y="6356350"/>
            <a:ext cx="2743200" cy="365125"/>
          </a:xfrm>
          <a:prstGeom prst="rect">
            <a:avLst/>
          </a:prstGeom>
        </p:spPr>
        <p:txBody>
          <a:bodyPr/>
          <a:lstStyle/>
          <a:p>
            <a:pPr>
              <a:defRPr/>
            </a:pPr>
            <a:endParaRPr lang="en-US"/>
          </a:p>
        </p:txBody>
      </p:sp>
      <p:sp>
        <p:nvSpPr>
          <p:cNvPr id="450084085" name="Нижний колонтитул 4"/>
          <p:cNvSpPr>
            <a:spLocks noGrp="1"/>
          </p:cNvSpPr>
          <p:nvPr>
            <p:ph type="ftr" sz="quarter" idx="11"/>
          </p:nvPr>
        </p:nvSpPr>
        <p:spPr bwMode="auto"/>
        <p:txBody>
          <a:bodyPr/>
          <a:lstStyle/>
          <a:p>
            <a:pPr>
              <a:defRPr/>
            </a:pPr>
            <a:r>
              <a:rPr lang="ru-RU"/>
              <a:t>Введение</a:t>
            </a:r>
            <a:endParaRPr lang="en-US"/>
          </a:p>
        </p:txBody>
      </p:sp>
      <p:sp>
        <p:nvSpPr>
          <p:cNvPr id="84568297" name="Номер слайда 5"/>
          <p:cNvSpPr>
            <a:spLocks noGrp="1"/>
          </p:cNvSpPr>
          <p:nvPr>
            <p:ph type="sldNum" sz="quarter" idx="12"/>
          </p:nvPr>
        </p:nvSpPr>
        <p:spPr bwMode="auto"/>
        <p:txBody>
          <a:bodyPr/>
          <a:lstStyle/>
          <a:p>
            <a:pPr>
              <a:defRPr/>
            </a:pPr>
            <a:fld id="{B67FBA2B-964F-4C4D-AAF7-5A8399264638}"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type="twoObj" preserve="1" userDrawn="1">
  <p:cSld name="Два объекта">
    <p:spTree>
      <p:nvGrpSpPr>
        <p:cNvPr id="1" name=""/>
        <p:cNvGrpSpPr/>
        <p:nvPr/>
      </p:nvGrpSpPr>
      <p:grpSpPr bwMode="auto">
        <a:xfrm>
          <a:off x="0" y="0"/>
          <a:ext cx="0" cy="0"/>
          <a:chOff x="0" y="0"/>
          <a:chExt cx="0" cy="0"/>
        </a:xfrm>
      </p:grpSpPr>
      <p:sp>
        <p:nvSpPr>
          <p:cNvPr id="81185103" name="Заголовок 1"/>
          <p:cNvSpPr>
            <a:spLocks noGrp="1"/>
          </p:cNvSpPr>
          <p:nvPr>
            <p:ph type="title"/>
          </p:nvPr>
        </p:nvSpPr>
        <p:spPr bwMode="auto"/>
        <p:txBody>
          <a:bodyPr/>
          <a:lstStyle/>
          <a:p>
            <a:pPr>
              <a:defRPr/>
            </a:pPr>
            <a:r>
              <a:rPr lang="ru-RU"/>
              <a:t>Образец заголовка</a:t>
            </a:r>
            <a:endParaRPr lang="en-US"/>
          </a:p>
        </p:txBody>
      </p:sp>
      <p:sp>
        <p:nvSpPr>
          <p:cNvPr id="1353685043" name="Объект 2"/>
          <p:cNvSpPr>
            <a:spLocks noGrp="1"/>
          </p:cNvSpPr>
          <p:nvPr>
            <p:ph sz="half" idx="1"/>
          </p:nvPr>
        </p:nvSpPr>
        <p:spPr bwMode="auto">
          <a:xfrm>
            <a:off x="838200" y="1825625"/>
            <a:ext cx="5181600" cy="4351338"/>
          </a:xfrm>
        </p:spPr>
        <p:txBody>
          <a:bodyPr/>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lang="en-US"/>
          </a:p>
        </p:txBody>
      </p:sp>
      <p:sp>
        <p:nvSpPr>
          <p:cNvPr id="1249030564" name="Объект 3"/>
          <p:cNvSpPr>
            <a:spLocks noGrp="1"/>
          </p:cNvSpPr>
          <p:nvPr>
            <p:ph sz="half" idx="2"/>
          </p:nvPr>
        </p:nvSpPr>
        <p:spPr bwMode="auto">
          <a:xfrm>
            <a:off x="6172200" y="1825625"/>
            <a:ext cx="5181600" cy="4351338"/>
          </a:xfrm>
        </p:spPr>
        <p:txBody>
          <a:bodyPr/>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lang="en-US"/>
          </a:p>
        </p:txBody>
      </p:sp>
      <p:sp>
        <p:nvSpPr>
          <p:cNvPr id="41363826" name="Дата 4"/>
          <p:cNvSpPr>
            <a:spLocks noGrp="1"/>
          </p:cNvSpPr>
          <p:nvPr>
            <p:ph type="dt" sz="half" idx="10"/>
          </p:nvPr>
        </p:nvSpPr>
        <p:spPr bwMode="auto">
          <a:xfrm>
            <a:off x="838200" y="6356350"/>
            <a:ext cx="2743200" cy="365125"/>
          </a:xfrm>
          <a:prstGeom prst="rect">
            <a:avLst/>
          </a:prstGeom>
        </p:spPr>
        <p:txBody>
          <a:bodyPr/>
          <a:lstStyle/>
          <a:p>
            <a:pPr>
              <a:defRPr/>
            </a:pPr>
            <a:endParaRPr lang="en-US"/>
          </a:p>
        </p:txBody>
      </p:sp>
      <p:sp>
        <p:nvSpPr>
          <p:cNvPr id="879674148" name="Нижний колонтитул 5"/>
          <p:cNvSpPr>
            <a:spLocks noGrp="1"/>
          </p:cNvSpPr>
          <p:nvPr>
            <p:ph type="ftr" sz="quarter" idx="11"/>
          </p:nvPr>
        </p:nvSpPr>
        <p:spPr bwMode="auto"/>
        <p:txBody>
          <a:bodyPr/>
          <a:lstStyle/>
          <a:p>
            <a:pPr>
              <a:defRPr/>
            </a:pPr>
            <a:r>
              <a:rPr lang="ru-RU"/>
              <a:t>Введение</a:t>
            </a:r>
            <a:endParaRPr lang="en-US"/>
          </a:p>
        </p:txBody>
      </p:sp>
      <p:sp>
        <p:nvSpPr>
          <p:cNvPr id="1975252137" name="Номер слайда 6"/>
          <p:cNvSpPr>
            <a:spLocks noGrp="1"/>
          </p:cNvSpPr>
          <p:nvPr>
            <p:ph type="sldNum" sz="quarter" idx="12"/>
          </p:nvPr>
        </p:nvSpPr>
        <p:spPr bwMode="auto"/>
        <p:txBody>
          <a:bodyPr/>
          <a:lstStyle/>
          <a:p>
            <a:pPr>
              <a:defRPr/>
            </a:pPr>
            <a:fld id="{B67FBA2B-964F-4C4D-AAF7-5A8399264638}"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type="twoTxTwoObj" preserve="1" userDrawn="1">
  <p:cSld name="Сравнение">
    <p:spTree>
      <p:nvGrpSpPr>
        <p:cNvPr id="1" name=""/>
        <p:cNvGrpSpPr/>
        <p:nvPr/>
      </p:nvGrpSpPr>
      <p:grpSpPr bwMode="auto">
        <a:xfrm>
          <a:off x="0" y="0"/>
          <a:ext cx="0" cy="0"/>
          <a:chOff x="0" y="0"/>
          <a:chExt cx="0" cy="0"/>
        </a:xfrm>
      </p:grpSpPr>
      <p:sp>
        <p:nvSpPr>
          <p:cNvPr id="1219421188" name="Заголовок 1"/>
          <p:cNvSpPr>
            <a:spLocks noGrp="1"/>
          </p:cNvSpPr>
          <p:nvPr>
            <p:ph type="title"/>
          </p:nvPr>
        </p:nvSpPr>
        <p:spPr bwMode="auto">
          <a:xfrm>
            <a:off x="839788" y="365125"/>
            <a:ext cx="10515600" cy="1325563"/>
          </a:xfrm>
        </p:spPr>
        <p:txBody>
          <a:bodyPr/>
          <a:lstStyle/>
          <a:p>
            <a:pPr>
              <a:defRPr/>
            </a:pPr>
            <a:r>
              <a:rPr lang="ru-RU"/>
              <a:t>Образец заголовка</a:t>
            </a:r>
            <a:endParaRPr lang="en-US"/>
          </a:p>
        </p:txBody>
      </p:sp>
      <p:sp>
        <p:nvSpPr>
          <p:cNvPr id="1423437619" name="Текст 2"/>
          <p:cNvSpPr>
            <a:spLocks noGrp="1"/>
          </p:cNvSpPr>
          <p:nvPr>
            <p:ph type="body" idx="1"/>
          </p:nvPr>
        </p:nvSpPr>
        <p:spPr bwMode="auto">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ru-RU"/>
              <a:t>Образец текста</a:t>
            </a:r>
            <a:endParaRPr/>
          </a:p>
        </p:txBody>
      </p:sp>
      <p:sp>
        <p:nvSpPr>
          <p:cNvPr id="1757618409" name="Объект 3"/>
          <p:cNvSpPr>
            <a:spLocks noGrp="1"/>
          </p:cNvSpPr>
          <p:nvPr>
            <p:ph sz="half" idx="2"/>
          </p:nvPr>
        </p:nvSpPr>
        <p:spPr bwMode="auto">
          <a:xfrm>
            <a:off x="839788" y="2505074"/>
            <a:ext cx="5157787" cy="3684588"/>
          </a:xfrm>
        </p:spPr>
        <p:txBody>
          <a:bodyPr/>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lang="en-US"/>
          </a:p>
        </p:txBody>
      </p:sp>
      <p:sp>
        <p:nvSpPr>
          <p:cNvPr id="1777536976" name="Текст 4"/>
          <p:cNvSpPr>
            <a:spLocks noGrp="1"/>
          </p:cNvSpPr>
          <p:nvPr>
            <p:ph type="body" sz="quarter" idx="3"/>
          </p:nvPr>
        </p:nvSpPr>
        <p:spPr bwMode="auto">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ru-RU"/>
              <a:t>Образец текста</a:t>
            </a:r>
            <a:endParaRPr/>
          </a:p>
        </p:txBody>
      </p:sp>
      <p:sp>
        <p:nvSpPr>
          <p:cNvPr id="562559480" name="Объект 5"/>
          <p:cNvSpPr>
            <a:spLocks noGrp="1"/>
          </p:cNvSpPr>
          <p:nvPr>
            <p:ph sz="quarter" idx="4"/>
          </p:nvPr>
        </p:nvSpPr>
        <p:spPr bwMode="auto">
          <a:xfrm>
            <a:off x="6172200" y="2505074"/>
            <a:ext cx="5183188" cy="3684588"/>
          </a:xfrm>
        </p:spPr>
        <p:txBody>
          <a:bodyPr/>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lang="en-US"/>
          </a:p>
        </p:txBody>
      </p:sp>
      <p:sp>
        <p:nvSpPr>
          <p:cNvPr id="1996715132" name="Дата 6"/>
          <p:cNvSpPr>
            <a:spLocks noGrp="1"/>
          </p:cNvSpPr>
          <p:nvPr>
            <p:ph type="dt" sz="half" idx="10"/>
          </p:nvPr>
        </p:nvSpPr>
        <p:spPr bwMode="auto">
          <a:xfrm>
            <a:off x="838200" y="6356350"/>
            <a:ext cx="2743200" cy="365125"/>
          </a:xfrm>
          <a:prstGeom prst="rect">
            <a:avLst/>
          </a:prstGeom>
        </p:spPr>
        <p:txBody>
          <a:bodyPr/>
          <a:lstStyle/>
          <a:p>
            <a:pPr>
              <a:defRPr/>
            </a:pPr>
            <a:endParaRPr lang="en-US"/>
          </a:p>
        </p:txBody>
      </p:sp>
      <p:sp>
        <p:nvSpPr>
          <p:cNvPr id="1214044772" name="Нижний колонтитул 7"/>
          <p:cNvSpPr>
            <a:spLocks noGrp="1"/>
          </p:cNvSpPr>
          <p:nvPr>
            <p:ph type="ftr" sz="quarter" idx="11"/>
          </p:nvPr>
        </p:nvSpPr>
        <p:spPr bwMode="auto"/>
        <p:txBody>
          <a:bodyPr/>
          <a:lstStyle/>
          <a:p>
            <a:pPr>
              <a:defRPr/>
            </a:pPr>
            <a:r>
              <a:rPr lang="ru-RU"/>
              <a:t>Введение</a:t>
            </a:r>
            <a:endParaRPr lang="en-US"/>
          </a:p>
        </p:txBody>
      </p:sp>
      <p:sp>
        <p:nvSpPr>
          <p:cNvPr id="1310087391" name="Номер слайда 8"/>
          <p:cNvSpPr>
            <a:spLocks noGrp="1"/>
          </p:cNvSpPr>
          <p:nvPr>
            <p:ph type="sldNum" sz="quarter" idx="12"/>
          </p:nvPr>
        </p:nvSpPr>
        <p:spPr bwMode="auto"/>
        <p:txBody>
          <a:bodyPr/>
          <a:lstStyle/>
          <a:p>
            <a:pPr>
              <a:defRPr/>
            </a:pPr>
            <a:fld id="{B67FBA2B-964F-4C4D-AAF7-5A8399264638}"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type="titleOnly" preserve="1" userDrawn="1">
  <p:cSld name="Только заголовок">
    <p:spTree>
      <p:nvGrpSpPr>
        <p:cNvPr id="1" name=""/>
        <p:cNvGrpSpPr/>
        <p:nvPr/>
      </p:nvGrpSpPr>
      <p:grpSpPr bwMode="auto">
        <a:xfrm>
          <a:off x="0" y="0"/>
          <a:ext cx="0" cy="0"/>
          <a:chOff x="0" y="0"/>
          <a:chExt cx="0" cy="0"/>
        </a:xfrm>
      </p:grpSpPr>
      <p:sp>
        <p:nvSpPr>
          <p:cNvPr id="1254803456" name="Заголовок 1"/>
          <p:cNvSpPr>
            <a:spLocks noGrp="1"/>
          </p:cNvSpPr>
          <p:nvPr>
            <p:ph type="title"/>
          </p:nvPr>
        </p:nvSpPr>
        <p:spPr bwMode="auto"/>
        <p:txBody>
          <a:bodyPr/>
          <a:lstStyle/>
          <a:p>
            <a:pPr>
              <a:defRPr/>
            </a:pPr>
            <a:r>
              <a:rPr lang="ru-RU"/>
              <a:t>Образец заголовка</a:t>
            </a:r>
            <a:endParaRPr lang="en-US"/>
          </a:p>
        </p:txBody>
      </p:sp>
      <p:sp>
        <p:nvSpPr>
          <p:cNvPr id="763546500" name="Дата 2"/>
          <p:cNvSpPr>
            <a:spLocks noGrp="1"/>
          </p:cNvSpPr>
          <p:nvPr>
            <p:ph type="dt" sz="half" idx="10"/>
          </p:nvPr>
        </p:nvSpPr>
        <p:spPr bwMode="auto">
          <a:xfrm>
            <a:off x="838200" y="6356350"/>
            <a:ext cx="2743200" cy="365125"/>
          </a:xfrm>
          <a:prstGeom prst="rect">
            <a:avLst/>
          </a:prstGeom>
        </p:spPr>
        <p:txBody>
          <a:bodyPr/>
          <a:lstStyle/>
          <a:p>
            <a:pPr>
              <a:defRPr/>
            </a:pPr>
            <a:endParaRPr lang="en-US"/>
          </a:p>
        </p:txBody>
      </p:sp>
      <p:sp>
        <p:nvSpPr>
          <p:cNvPr id="681757602" name="Нижний колонтитул 3"/>
          <p:cNvSpPr>
            <a:spLocks noGrp="1"/>
          </p:cNvSpPr>
          <p:nvPr>
            <p:ph type="ftr" sz="quarter" idx="11"/>
          </p:nvPr>
        </p:nvSpPr>
        <p:spPr bwMode="auto"/>
        <p:txBody>
          <a:bodyPr/>
          <a:lstStyle/>
          <a:p>
            <a:pPr>
              <a:defRPr/>
            </a:pPr>
            <a:r>
              <a:rPr lang="ru-RU"/>
              <a:t>Введение</a:t>
            </a:r>
            <a:endParaRPr lang="en-US"/>
          </a:p>
        </p:txBody>
      </p:sp>
      <p:sp>
        <p:nvSpPr>
          <p:cNvPr id="1182666057" name="Номер слайда 4"/>
          <p:cNvSpPr>
            <a:spLocks noGrp="1"/>
          </p:cNvSpPr>
          <p:nvPr>
            <p:ph type="sldNum" sz="quarter" idx="12"/>
          </p:nvPr>
        </p:nvSpPr>
        <p:spPr bwMode="auto"/>
        <p:txBody>
          <a:bodyPr/>
          <a:lstStyle/>
          <a:p>
            <a:pPr>
              <a:defRPr/>
            </a:pPr>
            <a:fld id="{B67FBA2B-964F-4C4D-AAF7-5A8399264638}"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PhAnim="0" type="blank" preserve="1" userDrawn="1">
  <p:cSld name="Пустой слайд">
    <p:spTree>
      <p:nvGrpSpPr>
        <p:cNvPr id="1" name=""/>
        <p:cNvGrpSpPr/>
        <p:nvPr/>
      </p:nvGrpSpPr>
      <p:grpSpPr bwMode="auto">
        <a:xfrm>
          <a:off x="0" y="0"/>
          <a:ext cx="0" cy="0"/>
          <a:chOff x="0" y="0"/>
          <a:chExt cx="0" cy="0"/>
        </a:xfrm>
      </p:grpSpPr>
      <p:sp>
        <p:nvSpPr>
          <p:cNvPr id="1632063344" name="Дата 1"/>
          <p:cNvSpPr>
            <a:spLocks noGrp="1"/>
          </p:cNvSpPr>
          <p:nvPr>
            <p:ph type="dt" sz="half" idx="10"/>
          </p:nvPr>
        </p:nvSpPr>
        <p:spPr bwMode="auto">
          <a:xfrm>
            <a:off x="838200" y="6356350"/>
            <a:ext cx="2743200" cy="365125"/>
          </a:xfrm>
          <a:prstGeom prst="rect">
            <a:avLst/>
          </a:prstGeom>
        </p:spPr>
        <p:txBody>
          <a:bodyPr/>
          <a:lstStyle/>
          <a:p>
            <a:pPr>
              <a:defRPr/>
            </a:pPr>
            <a:endParaRPr lang="en-US"/>
          </a:p>
        </p:txBody>
      </p:sp>
      <p:sp>
        <p:nvSpPr>
          <p:cNvPr id="1729916649" name="Нижний колонтитул 2"/>
          <p:cNvSpPr>
            <a:spLocks noGrp="1"/>
          </p:cNvSpPr>
          <p:nvPr>
            <p:ph type="ftr" sz="quarter" idx="11"/>
          </p:nvPr>
        </p:nvSpPr>
        <p:spPr bwMode="auto"/>
        <p:txBody>
          <a:bodyPr/>
          <a:lstStyle/>
          <a:p>
            <a:pPr>
              <a:defRPr/>
            </a:pPr>
            <a:r>
              <a:rPr lang="ru-RU"/>
              <a:t>Введение</a:t>
            </a:r>
            <a:endParaRPr lang="en-US"/>
          </a:p>
        </p:txBody>
      </p:sp>
      <p:sp>
        <p:nvSpPr>
          <p:cNvPr id="1534415552" name="Номер слайда 3"/>
          <p:cNvSpPr>
            <a:spLocks noGrp="1"/>
          </p:cNvSpPr>
          <p:nvPr>
            <p:ph type="sldNum" sz="quarter" idx="12"/>
          </p:nvPr>
        </p:nvSpPr>
        <p:spPr bwMode="auto"/>
        <p:txBody>
          <a:bodyPr/>
          <a:lstStyle/>
          <a:p>
            <a:pPr>
              <a:defRPr/>
            </a:pPr>
            <a:fld id="{B67FBA2B-964F-4C4D-AAF7-5A8399264638}"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type="objTx" preserve="1" userDrawn="1">
  <p:cSld name="Объект с подписью">
    <p:spTree>
      <p:nvGrpSpPr>
        <p:cNvPr id="1" name=""/>
        <p:cNvGrpSpPr/>
        <p:nvPr/>
      </p:nvGrpSpPr>
      <p:grpSpPr bwMode="auto">
        <a:xfrm>
          <a:off x="0" y="0"/>
          <a:ext cx="0" cy="0"/>
          <a:chOff x="0" y="0"/>
          <a:chExt cx="0" cy="0"/>
        </a:xfrm>
      </p:grpSpPr>
      <p:sp>
        <p:nvSpPr>
          <p:cNvPr id="607708217" name="Заголовок 1"/>
          <p:cNvSpPr>
            <a:spLocks noGrp="1"/>
          </p:cNvSpPr>
          <p:nvPr>
            <p:ph type="title"/>
          </p:nvPr>
        </p:nvSpPr>
        <p:spPr bwMode="auto">
          <a:xfrm>
            <a:off x="839788" y="457200"/>
            <a:ext cx="3932237" cy="1600200"/>
          </a:xfrm>
        </p:spPr>
        <p:txBody>
          <a:bodyPr anchor="b"/>
          <a:lstStyle>
            <a:lvl1pPr>
              <a:defRPr sz="3200"/>
            </a:lvl1pPr>
          </a:lstStyle>
          <a:p>
            <a:pPr>
              <a:defRPr/>
            </a:pPr>
            <a:r>
              <a:rPr lang="ru-RU"/>
              <a:t>Образец заголовка</a:t>
            </a:r>
            <a:endParaRPr lang="en-US"/>
          </a:p>
        </p:txBody>
      </p:sp>
      <p:sp>
        <p:nvSpPr>
          <p:cNvPr id="1081761664" name="Объект 2"/>
          <p:cNvSpPr>
            <a:spLocks noGrp="1"/>
          </p:cNvSpPr>
          <p:nvPr>
            <p:ph idx="1"/>
          </p:nvPr>
        </p:nvSpPr>
        <p:spPr bwMode="auto">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lang="en-US"/>
          </a:p>
        </p:txBody>
      </p:sp>
      <p:sp>
        <p:nvSpPr>
          <p:cNvPr id="372085189" name="Текст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ru-RU"/>
              <a:t>Образец текста</a:t>
            </a:r>
            <a:endParaRPr/>
          </a:p>
        </p:txBody>
      </p:sp>
      <p:sp>
        <p:nvSpPr>
          <p:cNvPr id="2095580062" name="Дата 4"/>
          <p:cNvSpPr>
            <a:spLocks noGrp="1"/>
          </p:cNvSpPr>
          <p:nvPr>
            <p:ph type="dt" sz="half" idx="10"/>
          </p:nvPr>
        </p:nvSpPr>
        <p:spPr bwMode="auto">
          <a:xfrm>
            <a:off x="838200" y="6356350"/>
            <a:ext cx="2743200" cy="365125"/>
          </a:xfrm>
          <a:prstGeom prst="rect">
            <a:avLst/>
          </a:prstGeom>
        </p:spPr>
        <p:txBody>
          <a:bodyPr/>
          <a:lstStyle/>
          <a:p>
            <a:pPr>
              <a:defRPr/>
            </a:pPr>
            <a:endParaRPr lang="en-US"/>
          </a:p>
        </p:txBody>
      </p:sp>
      <p:sp>
        <p:nvSpPr>
          <p:cNvPr id="280857084" name="Нижний колонтитул 5"/>
          <p:cNvSpPr>
            <a:spLocks noGrp="1"/>
          </p:cNvSpPr>
          <p:nvPr>
            <p:ph type="ftr" sz="quarter" idx="11"/>
          </p:nvPr>
        </p:nvSpPr>
        <p:spPr bwMode="auto"/>
        <p:txBody>
          <a:bodyPr/>
          <a:lstStyle/>
          <a:p>
            <a:pPr>
              <a:defRPr/>
            </a:pPr>
            <a:r>
              <a:rPr lang="ru-RU"/>
              <a:t>Введение</a:t>
            </a:r>
            <a:endParaRPr lang="en-US"/>
          </a:p>
        </p:txBody>
      </p:sp>
      <p:sp>
        <p:nvSpPr>
          <p:cNvPr id="116532615" name="Номер слайда 6"/>
          <p:cNvSpPr>
            <a:spLocks noGrp="1"/>
          </p:cNvSpPr>
          <p:nvPr>
            <p:ph type="sldNum" sz="quarter" idx="12"/>
          </p:nvPr>
        </p:nvSpPr>
        <p:spPr bwMode="auto"/>
        <p:txBody>
          <a:bodyPr/>
          <a:lstStyle/>
          <a:p>
            <a:pPr>
              <a:defRPr/>
            </a:pPr>
            <a:fld id="{B67FBA2B-964F-4C4D-AAF7-5A8399264638}"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type="picTx" preserve="1" userDrawn="1">
  <p:cSld name="Рисунок с подписью">
    <p:spTree>
      <p:nvGrpSpPr>
        <p:cNvPr id="1" name=""/>
        <p:cNvGrpSpPr/>
        <p:nvPr/>
      </p:nvGrpSpPr>
      <p:grpSpPr bwMode="auto">
        <a:xfrm>
          <a:off x="0" y="0"/>
          <a:ext cx="0" cy="0"/>
          <a:chOff x="0" y="0"/>
          <a:chExt cx="0" cy="0"/>
        </a:xfrm>
      </p:grpSpPr>
      <p:sp>
        <p:nvSpPr>
          <p:cNvPr id="849608531" name="Заголовок 1"/>
          <p:cNvSpPr>
            <a:spLocks noGrp="1"/>
          </p:cNvSpPr>
          <p:nvPr>
            <p:ph type="title"/>
          </p:nvPr>
        </p:nvSpPr>
        <p:spPr bwMode="auto">
          <a:xfrm>
            <a:off x="839788" y="457200"/>
            <a:ext cx="3932237" cy="1600200"/>
          </a:xfrm>
        </p:spPr>
        <p:txBody>
          <a:bodyPr anchor="b"/>
          <a:lstStyle>
            <a:lvl1pPr>
              <a:defRPr sz="3200"/>
            </a:lvl1pPr>
          </a:lstStyle>
          <a:p>
            <a:pPr>
              <a:defRPr/>
            </a:pPr>
            <a:r>
              <a:rPr lang="ru-RU"/>
              <a:t>Образец заголовка</a:t>
            </a:r>
            <a:endParaRPr lang="en-US"/>
          </a:p>
        </p:txBody>
      </p:sp>
      <p:sp>
        <p:nvSpPr>
          <p:cNvPr id="1336221498" name="Рисунок 2"/>
          <p:cNvSpPr>
            <a:spLocks noGrp="1"/>
          </p:cNvSpPr>
          <p:nvPr>
            <p:ph type="pic" idx="1"/>
          </p:nvPr>
        </p:nvSpPr>
        <p:spPr bwMode="auto">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lang="en-US"/>
          </a:p>
        </p:txBody>
      </p:sp>
      <p:sp>
        <p:nvSpPr>
          <p:cNvPr id="420716472" name="Текст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ru-RU"/>
              <a:t>Образец текста</a:t>
            </a:r>
            <a:endParaRPr/>
          </a:p>
        </p:txBody>
      </p:sp>
      <p:sp>
        <p:nvSpPr>
          <p:cNvPr id="1886155736" name="Дата 4"/>
          <p:cNvSpPr>
            <a:spLocks noGrp="1"/>
          </p:cNvSpPr>
          <p:nvPr>
            <p:ph type="dt" sz="half" idx="10"/>
          </p:nvPr>
        </p:nvSpPr>
        <p:spPr bwMode="auto">
          <a:xfrm>
            <a:off x="838200" y="6356350"/>
            <a:ext cx="2743200" cy="365125"/>
          </a:xfrm>
          <a:prstGeom prst="rect">
            <a:avLst/>
          </a:prstGeom>
        </p:spPr>
        <p:txBody>
          <a:bodyPr/>
          <a:lstStyle/>
          <a:p>
            <a:pPr>
              <a:defRPr/>
            </a:pPr>
            <a:endParaRPr lang="en-US"/>
          </a:p>
        </p:txBody>
      </p:sp>
      <p:sp>
        <p:nvSpPr>
          <p:cNvPr id="1484558626" name="Нижний колонтитул 5"/>
          <p:cNvSpPr>
            <a:spLocks noGrp="1"/>
          </p:cNvSpPr>
          <p:nvPr>
            <p:ph type="ftr" sz="quarter" idx="11"/>
          </p:nvPr>
        </p:nvSpPr>
        <p:spPr bwMode="auto"/>
        <p:txBody>
          <a:bodyPr/>
          <a:lstStyle/>
          <a:p>
            <a:pPr>
              <a:defRPr/>
            </a:pPr>
            <a:r>
              <a:rPr lang="ru-RU"/>
              <a:t>Введение</a:t>
            </a:r>
            <a:endParaRPr lang="en-US"/>
          </a:p>
        </p:txBody>
      </p:sp>
      <p:sp>
        <p:nvSpPr>
          <p:cNvPr id="176595799" name="Номер слайда 6"/>
          <p:cNvSpPr>
            <a:spLocks noGrp="1"/>
          </p:cNvSpPr>
          <p:nvPr>
            <p:ph type="sldNum" sz="quarter" idx="12"/>
          </p:nvPr>
        </p:nvSpPr>
        <p:spPr bwMode="auto"/>
        <p:txBody>
          <a:bodyPr/>
          <a:lstStyle/>
          <a:p>
            <a:pPr>
              <a:defRPr/>
            </a:pPr>
            <a:fld id="{B67FBA2B-964F-4C4D-AAF7-5A8399264638}"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type="vertTx" preserve="1" userDrawn="1">
  <p:cSld name="Заголовок и вертикальный текст">
    <p:spTree>
      <p:nvGrpSpPr>
        <p:cNvPr id="1" name=""/>
        <p:cNvGrpSpPr/>
        <p:nvPr/>
      </p:nvGrpSpPr>
      <p:grpSpPr bwMode="auto">
        <a:xfrm>
          <a:off x="0" y="0"/>
          <a:ext cx="0" cy="0"/>
          <a:chOff x="0" y="0"/>
          <a:chExt cx="0" cy="0"/>
        </a:xfrm>
      </p:grpSpPr>
      <p:sp>
        <p:nvSpPr>
          <p:cNvPr id="170175956" name="Заголовок 1"/>
          <p:cNvSpPr>
            <a:spLocks noGrp="1"/>
          </p:cNvSpPr>
          <p:nvPr>
            <p:ph type="title"/>
          </p:nvPr>
        </p:nvSpPr>
        <p:spPr bwMode="auto"/>
        <p:txBody>
          <a:bodyPr/>
          <a:lstStyle/>
          <a:p>
            <a:pPr>
              <a:defRPr/>
            </a:pPr>
            <a:r>
              <a:rPr lang="ru-RU"/>
              <a:t>Образец заголовка</a:t>
            </a:r>
            <a:endParaRPr lang="en-US"/>
          </a:p>
        </p:txBody>
      </p:sp>
      <p:sp>
        <p:nvSpPr>
          <p:cNvPr id="1483790924" name="Вертикальный текст 2"/>
          <p:cNvSpPr>
            <a:spLocks noGrp="1"/>
          </p:cNvSpPr>
          <p:nvPr>
            <p:ph type="body" orient="vert" idx="1"/>
          </p:nvPr>
        </p:nvSpPr>
        <p:spPr bwMode="auto"/>
        <p:txBody>
          <a:bodyPr vert="eaVert"/>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lang="en-US"/>
          </a:p>
        </p:txBody>
      </p:sp>
      <p:sp>
        <p:nvSpPr>
          <p:cNvPr id="285307932" name="Дата 3"/>
          <p:cNvSpPr>
            <a:spLocks noGrp="1"/>
          </p:cNvSpPr>
          <p:nvPr>
            <p:ph type="dt" sz="half" idx="10"/>
          </p:nvPr>
        </p:nvSpPr>
        <p:spPr bwMode="auto">
          <a:xfrm>
            <a:off x="838200" y="6356350"/>
            <a:ext cx="2743200" cy="365125"/>
          </a:xfrm>
          <a:prstGeom prst="rect">
            <a:avLst/>
          </a:prstGeom>
        </p:spPr>
        <p:txBody>
          <a:bodyPr/>
          <a:lstStyle/>
          <a:p>
            <a:pPr>
              <a:defRPr/>
            </a:pPr>
            <a:endParaRPr lang="en-US"/>
          </a:p>
        </p:txBody>
      </p:sp>
      <p:sp>
        <p:nvSpPr>
          <p:cNvPr id="682290872" name="Нижний колонтитул 4"/>
          <p:cNvSpPr>
            <a:spLocks noGrp="1"/>
          </p:cNvSpPr>
          <p:nvPr>
            <p:ph type="ftr" sz="quarter" idx="11"/>
          </p:nvPr>
        </p:nvSpPr>
        <p:spPr bwMode="auto"/>
        <p:txBody>
          <a:bodyPr/>
          <a:lstStyle/>
          <a:p>
            <a:pPr>
              <a:defRPr/>
            </a:pPr>
            <a:r>
              <a:rPr lang="ru-RU"/>
              <a:t>Введение</a:t>
            </a:r>
            <a:endParaRPr lang="en-US"/>
          </a:p>
        </p:txBody>
      </p:sp>
      <p:sp>
        <p:nvSpPr>
          <p:cNvPr id="1325084704" name="Номер слайда 5"/>
          <p:cNvSpPr>
            <a:spLocks noGrp="1"/>
          </p:cNvSpPr>
          <p:nvPr>
            <p:ph type="sldNum" sz="quarter" idx="12"/>
          </p:nvPr>
        </p:nvSpPr>
        <p:spPr bwMode="auto"/>
        <p:txBody>
          <a:bodyPr/>
          <a:lstStyle/>
          <a:p>
            <a:pPr>
              <a:defRPr/>
            </a:pPr>
            <a:fld id="{B67FBA2B-964F-4C4D-AAF7-5A8399264638}"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type="vertTitleAndTx" preserve="1" userDrawn="1">
  <p:cSld name="Вертикальный заголовок и текст">
    <p:spTree>
      <p:nvGrpSpPr>
        <p:cNvPr id="1" name=""/>
        <p:cNvGrpSpPr/>
        <p:nvPr/>
      </p:nvGrpSpPr>
      <p:grpSpPr bwMode="auto">
        <a:xfrm>
          <a:off x="0" y="0"/>
          <a:ext cx="0" cy="0"/>
          <a:chOff x="0" y="0"/>
          <a:chExt cx="0" cy="0"/>
        </a:xfrm>
      </p:grpSpPr>
      <p:sp>
        <p:nvSpPr>
          <p:cNvPr id="2115780283" name="Вертикальный заголовок 1"/>
          <p:cNvSpPr>
            <a:spLocks noGrp="1"/>
          </p:cNvSpPr>
          <p:nvPr>
            <p:ph type="title" orient="vert"/>
          </p:nvPr>
        </p:nvSpPr>
        <p:spPr bwMode="auto">
          <a:xfrm>
            <a:off x="8724900" y="365125"/>
            <a:ext cx="2628900" cy="5811838"/>
          </a:xfrm>
        </p:spPr>
        <p:txBody>
          <a:bodyPr vert="eaVert"/>
          <a:lstStyle/>
          <a:p>
            <a:pPr>
              <a:defRPr/>
            </a:pPr>
            <a:r>
              <a:rPr lang="ru-RU"/>
              <a:t>Образец заголовка</a:t>
            </a:r>
            <a:endParaRPr lang="en-US"/>
          </a:p>
        </p:txBody>
      </p:sp>
      <p:sp>
        <p:nvSpPr>
          <p:cNvPr id="1290447843" name="Вертикальный текст 2"/>
          <p:cNvSpPr>
            <a:spLocks noGrp="1"/>
          </p:cNvSpPr>
          <p:nvPr>
            <p:ph type="body" orient="vert" idx="1"/>
          </p:nvPr>
        </p:nvSpPr>
        <p:spPr bwMode="auto">
          <a:xfrm>
            <a:off x="838200" y="365125"/>
            <a:ext cx="7734300" cy="5811838"/>
          </a:xfrm>
        </p:spPr>
        <p:txBody>
          <a:bodyPr vert="eaVert"/>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lang="en-US"/>
          </a:p>
        </p:txBody>
      </p:sp>
      <p:sp>
        <p:nvSpPr>
          <p:cNvPr id="1923984061" name="Дата 3"/>
          <p:cNvSpPr>
            <a:spLocks noGrp="1"/>
          </p:cNvSpPr>
          <p:nvPr>
            <p:ph type="dt" sz="half" idx="10"/>
          </p:nvPr>
        </p:nvSpPr>
        <p:spPr bwMode="auto">
          <a:xfrm>
            <a:off x="838200" y="6356350"/>
            <a:ext cx="2743200" cy="365125"/>
          </a:xfrm>
          <a:prstGeom prst="rect">
            <a:avLst/>
          </a:prstGeom>
        </p:spPr>
        <p:txBody>
          <a:bodyPr/>
          <a:lstStyle/>
          <a:p>
            <a:pPr>
              <a:defRPr/>
            </a:pPr>
            <a:endParaRPr lang="en-US"/>
          </a:p>
        </p:txBody>
      </p:sp>
      <p:sp>
        <p:nvSpPr>
          <p:cNvPr id="1553707752" name="Нижний колонтитул 4"/>
          <p:cNvSpPr>
            <a:spLocks noGrp="1"/>
          </p:cNvSpPr>
          <p:nvPr>
            <p:ph type="ftr" sz="quarter" idx="11"/>
          </p:nvPr>
        </p:nvSpPr>
        <p:spPr bwMode="auto"/>
        <p:txBody>
          <a:bodyPr/>
          <a:lstStyle/>
          <a:p>
            <a:pPr>
              <a:defRPr/>
            </a:pPr>
            <a:r>
              <a:rPr lang="ru-RU"/>
              <a:t>Введение</a:t>
            </a:r>
            <a:endParaRPr lang="en-US"/>
          </a:p>
        </p:txBody>
      </p:sp>
      <p:sp>
        <p:nvSpPr>
          <p:cNvPr id="1723736936" name="Номер слайда 5"/>
          <p:cNvSpPr>
            <a:spLocks noGrp="1"/>
          </p:cNvSpPr>
          <p:nvPr>
            <p:ph type="sldNum" sz="quarter" idx="12"/>
          </p:nvPr>
        </p:nvSpPr>
        <p:spPr bwMode="auto"/>
        <p:txBody>
          <a:bodyPr/>
          <a:lstStyle/>
          <a:p>
            <a:pPr>
              <a:defRPr/>
            </a:pPr>
            <a:fld id="{B67FBA2B-964F-4C4D-AAF7-5A8399264638}"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177188108" name="Заголовок 1"/>
          <p:cNvSpPr>
            <a:spLocks noGrp="1"/>
          </p:cNvSpPr>
          <p:nvPr>
            <p:ph type="title"/>
          </p:nvPr>
        </p:nvSpPr>
        <p:spPr bwMode="auto">
          <a:xfrm>
            <a:off x="838200" y="365125"/>
            <a:ext cx="10515600" cy="1325563"/>
          </a:xfrm>
          <a:prstGeom prst="rect">
            <a:avLst/>
          </a:prstGeom>
        </p:spPr>
        <p:txBody>
          <a:bodyPr vert="horz" lIns="91440" tIns="45720" rIns="91440" bIns="45720" rtlCol="0" anchor="ctr">
            <a:normAutofit/>
          </a:bodyPr>
          <a:lstStyle/>
          <a:p>
            <a:pPr>
              <a:defRPr/>
            </a:pPr>
            <a:r>
              <a:rPr lang="ru-RU"/>
              <a:t>Образец заголовка</a:t>
            </a:r>
            <a:endParaRPr lang="en-US"/>
          </a:p>
        </p:txBody>
      </p:sp>
      <p:sp>
        <p:nvSpPr>
          <p:cNvPr id="294230592" name="Текст 2"/>
          <p:cNvSpPr>
            <a:spLocks noGrp="1"/>
          </p:cNvSpPr>
          <p:nvPr>
            <p:ph type="body" idx="1"/>
          </p:nvPr>
        </p:nvSpPr>
        <p:spPr bwMode="auto">
          <a:xfrm>
            <a:off x="838200" y="1825625"/>
            <a:ext cx="10515600" cy="4351338"/>
          </a:xfrm>
          <a:prstGeom prst="rect">
            <a:avLst/>
          </a:prstGeom>
        </p:spPr>
        <p:txBody>
          <a:bodyPr vert="horz" lIns="91440" tIns="45720" rIns="91440" bIns="45720" rtlCol="0">
            <a:normAutofit/>
          </a:bodyPr>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lang="en-US"/>
          </a:p>
        </p:txBody>
      </p:sp>
      <p:sp>
        <p:nvSpPr>
          <p:cNvPr id="350331825" name="Нижний колонтитул 4"/>
          <p:cNvSpPr>
            <a:spLocks noGrp="1"/>
          </p:cNvSpPr>
          <p:nvPr>
            <p:ph type="ftr" sz="quarter" idx="3"/>
          </p:nvPr>
        </p:nvSpPr>
        <p:spPr bwMode="auto">
          <a:xfrm>
            <a:off x="838200" y="6356350"/>
            <a:ext cx="7315200" cy="365125"/>
          </a:xfrm>
          <a:prstGeom prst="rect">
            <a:avLst/>
          </a:prstGeom>
        </p:spPr>
        <p:txBody>
          <a:bodyPr vert="horz" lIns="91440" tIns="45720" rIns="91440" bIns="45720" rtlCol="0" anchor="ctr"/>
          <a:lstStyle>
            <a:lvl1pPr algn="l">
              <a:defRPr sz="1800">
                <a:solidFill>
                  <a:schemeClr val="tx1">
                    <a:tint val="75000"/>
                  </a:schemeClr>
                </a:solidFill>
              </a:defRPr>
            </a:lvl1pPr>
          </a:lstStyle>
          <a:p>
            <a:pPr>
              <a:defRPr/>
            </a:pPr>
            <a:r>
              <a:rPr lang="ru-RU"/>
              <a:t>Введение</a:t>
            </a:r>
            <a:endParaRPr lang="en-US"/>
          </a:p>
        </p:txBody>
      </p:sp>
      <p:sp>
        <p:nvSpPr>
          <p:cNvPr id="870906696" name="Номер слайда 5"/>
          <p:cNvSpPr>
            <a:spLocks noGrp="1"/>
          </p:cNvSpPr>
          <p:nvPr>
            <p:ph type="sldNum" sz="quarter" idx="4"/>
          </p:nvPr>
        </p:nvSpPr>
        <p:spPr bwMode="auto">
          <a:xfrm>
            <a:off x="8610600" y="6356350"/>
            <a:ext cx="2743200" cy="365125"/>
          </a:xfrm>
          <a:prstGeom prst="rect">
            <a:avLst/>
          </a:prstGeom>
        </p:spPr>
        <p:txBody>
          <a:bodyPr vert="horz" lIns="91440" tIns="45720" rIns="91440" bIns="45720" rtlCol="0" anchor="ctr"/>
          <a:lstStyle>
            <a:lvl1pPr algn="r">
              <a:defRPr sz="1800">
                <a:solidFill>
                  <a:schemeClr val="tx1">
                    <a:tint val="75000"/>
                  </a:schemeClr>
                </a:solidFill>
              </a:defRPr>
            </a:lvl1pPr>
          </a:lstStyle>
          <a:p>
            <a:pPr>
              <a:defRPr/>
            </a:pPr>
            <a:fld id="{B67FBA2B-964F-4C4D-AAF7-5A8399264638}"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a:lnSpc>
          <a:spcPct val="90000"/>
        </a:lnSpc>
        <a:spcBef>
          <a:spcPts val="0"/>
        </a:spcBef>
        <a:buNone/>
        <a:defRPr sz="4400">
          <a:solidFill>
            <a:schemeClr val="tx1"/>
          </a:solidFill>
          <a:latin typeface="+mj-lt"/>
          <a:ea typeface="+mj-ea"/>
          <a:cs typeface="+mj-cs"/>
        </a:defRPr>
      </a:lvl1pPr>
    </p:titleStyle>
    <p:bodyStyle>
      <a:lvl1pPr marL="228600" indent="-228600" algn="l" defTabSz="914400" rtl="0">
        <a:lnSpc>
          <a:spcPct val="90000"/>
        </a:lnSpc>
        <a:spcBef>
          <a:spcPts val="1000"/>
        </a:spcBef>
        <a:buFont typeface="Arial"/>
        <a:buChar char="•"/>
        <a:defRPr sz="2400">
          <a:solidFill>
            <a:schemeClr val="tx1"/>
          </a:solidFill>
          <a:latin typeface="+mn-lt"/>
          <a:ea typeface="+mn-ea"/>
          <a:cs typeface="+mn-cs"/>
        </a:defRPr>
      </a:lvl1pPr>
      <a:lvl2pPr marL="685800" indent="-228600" algn="l" defTabSz="914400" rtl="0">
        <a:lnSpc>
          <a:spcPct val="90000"/>
        </a:lnSpc>
        <a:spcBef>
          <a:spcPts val="500"/>
        </a:spcBef>
        <a:buFont typeface="Arial"/>
        <a:buChar char="•"/>
        <a:defRPr sz="2000">
          <a:solidFill>
            <a:schemeClr val="tx1"/>
          </a:solidFill>
          <a:latin typeface="+mn-lt"/>
          <a:ea typeface="+mn-ea"/>
          <a:cs typeface="+mn-cs"/>
        </a:defRPr>
      </a:lvl2pPr>
      <a:lvl3pPr marL="1143000" indent="-228600" algn="l" defTabSz="914400" rtl="0">
        <a:lnSpc>
          <a:spcPct val="90000"/>
        </a:lnSpc>
        <a:spcBef>
          <a:spcPts val="500"/>
        </a:spcBef>
        <a:buFont typeface="Arial"/>
        <a:buChar char="•"/>
        <a:defRPr sz="1800">
          <a:solidFill>
            <a:schemeClr val="tx1"/>
          </a:solidFill>
          <a:latin typeface="+mn-lt"/>
          <a:ea typeface="+mn-ea"/>
          <a:cs typeface="+mn-cs"/>
        </a:defRPr>
      </a:lvl3pPr>
      <a:lvl4pPr marL="1600200" indent="-228600" algn="l" defTabSz="914400" rtl="0">
        <a:lnSpc>
          <a:spcPct val="90000"/>
        </a:lnSpc>
        <a:spcBef>
          <a:spcPts val="500"/>
        </a:spcBef>
        <a:buFont typeface="Arial"/>
        <a:buChar char="•"/>
        <a:defRPr sz="1600">
          <a:solidFill>
            <a:schemeClr val="tx1"/>
          </a:solidFill>
          <a:latin typeface="+mn-lt"/>
          <a:ea typeface="+mn-ea"/>
          <a:cs typeface="+mn-cs"/>
        </a:defRPr>
      </a:lvl4pPr>
      <a:lvl5pPr marL="2057400" indent="-228600" algn="l" defTabSz="914400" rtl="0">
        <a:lnSpc>
          <a:spcPct val="90000"/>
        </a:lnSpc>
        <a:spcBef>
          <a:spcPts val="500"/>
        </a:spcBef>
        <a:buFont typeface="Arial"/>
        <a:buChar char="•"/>
        <a:defRPr sz="1400">
          <a:solidFill>
            <a:schemeClr val="tx1"/>
          </a:solidFill>
          <a:latin typeface="+mn-lt"/>
          <a:ea typeface="+mn-ea"/>
          <a:cs typeface="+mn-cs"/>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godbolt.org/"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godbolt.org/z/sx1h5xnqf"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godbolt.org/z/Mbr7sbo5W"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hyperlink" Target="https://godbolt.org/z/3esdW9Yx4" TargetMode="External"/><Relationship Id="rId5" Type="http://schemas.openxmlformats.org/officeDocument/2006/relationships/hyperlink" Target="https://godbolt.org/z/3zPEddsqc" TargetMode="External"/><Relationship Id="rId4" Type="http://schemas.openxmlformats.org/officeDocument/2006/relationships/hyperlink" Target="https://godbolt.org/z/5E9z4ePYc"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godbolt.org/z/an1exsE8b"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hyperlink" Target="https://godbolt.org/z/r3nKTfGfn"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godbolt.org/z/YjqdzoWEx"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hyperlink" Target="https://godbolt.org/z/sKTdaW9cf"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godbolt.org/z/MrG6vrnTc"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godbolt.org/z/hMf9ozPdE"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godbolt.org/z/nT97bKbz8"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godbolt.org/z/nT97bKbz8"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godbolt.org/z/rf1jd3Wv6"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hyperlink" Target="https://agner.org/optimize/instruction_tables.pdf" TargetMode="External"/><Relationship Id="rId4" Type="http://schemas.openxmlformats.org/officeDocument/2006/relationships/hyperlink" Target="https://godbolt.org/z/4de1dx3fK" TargetMode="Externa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godbolt.org/z/hvvxYxs4W" TargetMode="External"/><Relationship Id="rId7" Type="http://schemas.openxmlformats.org/officeDocument/2006/relationships/hyperlink" Target="https://godbolt.org/z/aa7dsv8cW"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hyperlink" Target="https://godbolt.org/z/GrxjjjWsW" TargetMode="External"/><Relationship Id="rId5" Type="http://schemas.openxmlformats.org/officeDocument/2006/relationships/hyperlink" Target="https://godbolt.org/z/Gseq9cesr" TargetMode="External"/><Relationship Id="rId4" Type="http://schemas.openxmlformats.org/officeDocument/2006/relationships/hyperlink" Target="https://godbolt.org/z/MT8rsnYd8" TargetMode="External"/></Relationships>
</file>

<file path=ppt/slides/_rels/slide17.xml.rels><?xml version="1.0" encoding="UTF-8" standalone="yes"?>
<Relationships xmlns="http://schemas.openxmlformats.org/package/2006/relationships"><Relationship Id="rId3" Type="http://schemas.openxmlformats.org/officeDocument/2006/relationships/hyperlink" Target="https://godbolt.org/z/1W19G8xW5"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godbolt.org/z/6cWroda4n" TargetMode="External"/><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godbolt.org/z/6cWroda4n" TargetMode="External"/><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godbolt.org/z/6cWroda4n" TargetMode="External"/><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s://godbolt.org/z/dzKrz5rnv" TargetMode="External"/><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s://godbolt.org/z/Er77xqEWj" TargetMode="External"/><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s://godbolt.org/z/Er77xqEWj" TargetMode="External"/><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hyperlink" Target="https://godbolt.org/z/6Kn56GWxc" TargetMode="External"/><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hyperlink" Target="https://habr.com/ru/post/279111/"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799913166" name="Заголовок 1"/>
          <p:cNvSpPr>
            <a:spLocks noGrp="1"/>
          </p:cNvSpPr>
          <p:nvPr>
            <p:ph type="ctrTitle"/>
          </p:nvPr>
        </p:nvSpPr>
        <p:spPr bwMode="auto"/>
        <p:txBody>
          <a:bodyPr/>
          <a:lstStyle/>
          <a:p>
            <a:pPr>
              <a:defRPr/>
            </a:pPr>
            <a:r>
              <a:rPr lang="ru-RU"/>
              <a:t>Низкоуровневое программирование</a:t>
            </a:r>
            <a:endParaRPr lang="en-US"/>
          </a:p>
        </p:txBody>
      </p:sp>
      <p:sp>
        <p:nvSpPr>
          <p:cNvPr id="1960526260" name="Подзаголовок 2"/>
          <p:cNvSpPr>
            <a:spLocks noGrp="1"/>
          </p:cNvSpPr>
          <p:nvPr>
            <p:ph type="subTitle" idx="1"/>
          </p:nvPr>
        </p:nvSpPr>
        <p:spPr bwMode="auto">
          <a:xfrm>
            <a:off x="1524000" y="3602038"/>
            <a:ext cx="9144000" cy="2684462"/>
          </a:xfrm>
        </p:spPr>
        <p:txBody>
          <a:bodyPr>
            <a:normAutofit/>
          </a:bodyPr>
          <a:lstStyle/>
          <a:p>
            <a:pPr>
              <a:defRPr/>
            </a:pPr>
            <a:r>
              <a:rPr lang="ru-RU" dirty="0"/>
              <a:t>Лекция </a:t>
            </a:r>
            <a:r>
              <a:rPr lang="en-US" dirty="0"/>
              <a:t>4</a:t>
            </a:r>
            <a:endParaRPr dirty="0"/>
          </a:p>
          <a:p>
            <a:pPr>
              <a:defRPr/>
            </a:pPr>
            <a:endParaRPr lang="ru-RU" dirty="0"/>
          </a:p>
          <a:p>
            <a:pPr>
              <a:defRPr/>
            </a:pPr>
            <a:r>
              <a:rPr lang="ru-RU" dirty="0"/>
              <a:t>Основы декомпиляции</a:t>
            </a:r>
            <a:r>
              <a:rPr lang="en-US" dirty="0"/>
              <a:t> </a:t>
            </a:r>
            <a:r>
              <a:rPr lang="ru-RU" dirty="0"/>
              <a:t>программ на С/С++</a:t>
            </a:r>
            <a:endParaRPr dirty="0"/>
          </a:p>
          <a:p>
            <a:pPr>
              <a:defRPr/>
            </a:pPr>
            <a:endParaRPr lang="ru-RU"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359921614" name="Заголовок 1"/>
          <p:cNvSpPr>
            <a:spLocks noGrp="1"/>
          </p:cNvSpPr>
          <p:nvPr>
            <p:ph type="title"/>
          </p:nvPr>
        </p:nvSpPr>
        <p:spPr bwMode="auto"/>
        <p:txBody>
          <a:bodyPr/>
          <a:lstStyle/>
          <a:p>
            <a:pPr>
              <a:defRPr/>
            </a:pPr>
            <a:r>
              <a:rPr lang="en-US"/>
              <a:t>Compiler Explorer</a:t>
            </a:r>
            <a:endParaRPr lang="ru-RU"/>
          </a:p>
        </p:txBody>
      </p:sp>
      <p:sp>
        <p:nvSpPr>
          <p:cNvPr id="154131223" name="Объект 2"/>
          <p:cNvSpPr>
            <a:spLocks noGrp="1"/>
          </p:cNvSpPr>
          <p:nvPr>
            <p:ph idx="1"/>
          </p:nvPr>
        </p:nvSpPr>
        <p:spPr bwMode="auto">
          <a:xfrm>
            <a:off x="838198" y="1534435"/>
            <a:ext cx="10515600" cy="772102"/>
          </a:xfrm>
        </p:spPr>
        <p:txBody>
          <a:bodyPr>
            <a:normAutofit/>
          </a:bodyPr>
          <a:lstStyle/>
          <a:p>
            <a:pPr marL="0" indent="0">
              <a:buNone/>
              <a:defRPr/>
            </a:pPr>
            <a:r>
              <a:rPr lang="ru-RU" sz="2000"/>
              <a:t>Сайт </a:t>
            </a:r>
            <a:r>
              <a:rPr lang="en-US" sz="2000" u="sng">
                <a:hlinkClick r:id="rId3"/>
              </a:rPr>
              <a:t>https://godbolt.org</a:t>
            </a:r>
            <a:r>
              <a:rPr lang="en-US" sz="2000"/>
              <a:t> </a:t>
            </a:r>
            <a:r>
              <a:rPr lang="ru-RU" sz="2000"/>
              <a:t>позволяет посмотреть результат компиляции кода на С/С++ (и некоторых других языков) одним из компиляторов.</a:t>
            </a:r>
            <a:endParaRPr/>
          </a:p>
        </p:txBody>
      </p:sp>
      <p:sp>
        <p:nvSpPr>
          <p:cNvPr id="502524249" name="Номер слайда 4"/>
          <p:cNvSpPr>
            <a:spLocks noGrp="1"/>
          </p:cNvSpPr>
          <p:nvPr>
            <p:ph type="sldNum" sz="quarter" idx="12"/>
          </p:nvPr>
        </p:nvSpPr>
        <p:spPr bwMode="auto"/>
        <p:txBody>
          <a:bodyPr/>
          <a:lstStyle/>
          <a:p>
            <a:pPr>
              <a:defRPr/>
            </a:pPr>
            <a:fld id="{B67FBA2B-964F-4C4D-AAF7-5A8399264638}" type="slidenum">
              <a:rPr lang="en-US"/>
              <a:t>2</a:t>
            </a:fld>
            <a:endParaRPr lang="en-US"/>
          </a:p>
        </p:txBody>
      </p:sp>
      <p:pic>
        <p:nvPicPr>
          <p:cNvPr id="1100905781" name="Рисунок 6"/>
          <p:cNvPicPr>
            <a:picLocks noChangeAspect="1"/>
          </p:cNvPicPr>
          <p:nvPr/>
        </p:nvPicPr>
        <p:blipFill rotWithShape="1">
          <a:blip r:embed="rId4"/>
          <a:stretch/>
        </p:blipFill>
        <p:spPr bwMode="auto">
          <a:xfrm>
            <a:off x="1328307" y="2413855"/>
            <a:ext cx="8708512" cy="3592089"/>
          </a:xfrm>
          <a:prstGeom prst="rect">
            <a:avLst/>
          </a:prstGeom>
        </p:spPr>
      </p:pic>
      <p:sp>
        <p:nvSpPr>
          <p:cNvPr id="1466502107" name="Прямоугольник 8"/>
          <p:cNvSpPr/>
          <p:nvPr/>
        </p:nvSpPr>
        <p:spPr bwMode="auto">
          <a:xfrm>
            <a:off x="1341533" y="2923308"/>
            <a:ext cx="3901742" cy="3082635"/>
          </a:xfrm>
          <a:prstGeom prst="rect">
            <a:avLst/>
          </a:prstGeom>
          <a:noFill/>
          <a:ln w="381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ru-RU"/>
          </a:p>
        </p:txBody>
      </p:sp>
      <p:sp>
        <p:nvSpPr>
          <p:cNvPr id="82610456" name="Прямоугольник 9"/>
          <p:cNvSpPr/>
          <p:nvPr/>
        </p:nvSpPr>
        <p:spPr bwMode="auto">
          <a:xfrm>
            <a:off x="5714681" y="3108812"/>
            <a:ext cx="3914968" cy="2897132"/>
          </a:xfrm>
          <a:prstGeom prst="rect">
            <a:avLst/>
          </a:prstGeom>
          <a:noFill/>
          <a:ln w="381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ru-RU"/>
          </a:p>
        </p:txBody>
      </p:sp>
      <p:sp>
        <p:nvSpPr>
          <p:cNvPr id="603682522" name="Прямоугольник 10"/>
          <p:cNvSpPr/>
          <p:nvPr/>
        </p:nvSpPr>
        <p:spPr bwMode="auto">
          <a:xfrm>
            <a:off x="5682563" y="2758406"/>
            <a:ext cx="1009182" cy="164903"/>
          </a:xfrm>
          <a:prstGeom prst="rect">
            <a:avLst/>
          </a:prstGeom>
          <a:noFill/>
          <a:ln w="381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ru-RU"/>
          </a:p>
        </p:txBody>
      </p:sp>
      <p:sp>
        <p:nvSpPr>
          <p:cNvPr id="1068207317" name="Прямоугольник 11"/>
          <p:cNvSpPr/>
          <p:nvPr/>
        </p:nvSpPr>
        <p:spPr bwMode="auto">
          <a:xfrm>
            <a:off x="7093526" y="2755582"/>
            <a:ext cx="2763983" cy="187490"/>
          </a:xfrm>
          <a:prstGeom prst="rect">
            <a:avLst/>
          </a:prstGeom>
          <a:noFill/>
          <a:ln w="381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ru-RU"/>
          </a:p>
        </p:txBody>
      </p:sp>
      <p:sp>
        <p:nvSpPr>
          <p:cNvPr id="1461400193" name="TextBox 12"/>
          <p:cNvSpPr txBox="1"/>
          <p:nvPr/>
        </p:nvSpPr>
        <p:spPr bwMode="auto">
          <a:xfrm>
            <a:off x="533993" y="2839204"/>
            <a:ext cx="550087" cy="369332"/>
          </a:xfrm>
          <a:prstGeom prst="rect">
            <a:avLst/>
          </a:prstGeom>
          <a:noFill/>
        </p:spPr>
        <p:txBody>
          <a:bodyPr wrap="none" rtlCol="0">
            <a:spAutoFit/>
          </a:bodyPr>
          <a:lstStyle/>
          <a:p>
            <a:pPr>
              <a:defRPr/>
            </a:pPr>
            <a:r>
              <a:rPr lang="ru-RU"/>
              <a:t>Код</a:t>
            </a:r>
            <a:endParaRPr/>
          </a:p>
        </p:txBody>
      </p:sp>
      <p:sp>
        <p:nvSpPr>
          <p:cNvPr id="1002549757" name="TextBox 13"/>
          <p:cNvSpPr txBox="1"/>
          <p:nvPr/>
        </p:nvSpPr>
        <p:spPr bwMode="auto">
          <a:xfrm>
            <a:off x="10553700" y="4938052"/>
            <a:ext cx="1737324" cy="646331"/>
          </a:xfrm>
          <a:prstGeom prst="rect">
            <a:avLst/>
          </a:prstGeom>
          <a:noFill/>
        </p:spPr>
        <p:txBody>
          <a:bodyPr wrap="square" rtlCol="0">
            <a:spAutoFit/>
          </a:bodyPr>
          <a:lstStyle/>
          <a:p>
            <a:pPr>
              <a:defRPr/>
            </a:pPr>
            <a:r>
              <a:rPr lang="ru-RU"/>
              <a:t>Ассемблерный листинг</a:t>
            </a:r>
            <a:endParaRPr/>
          </a:p>
        </p:txBody>
      </p:sp>
      <p:sp>
        <p:nvSpPr>
          <p:cNvPr id="1790365255" name="TextBox 14"/>
          <p:cNvSpPr txBox="1"/>
          <p:nvPr/>
        </p:nvSpPr>
        <p:spPr bwMode="auto">
          <a:xfrm>
            <a:off x="10485137" y="2309148"/>
            <a:ext cx="1737324" cy="369332"/>
          </a:xfrm>
          <a:prstGeom prst="rect">
            <a:avLst/>
          </a:prstGeom>
          <a:noFill/>
        </p:spPr>
        <p:txBody>
          <a:bodyPr wrap="square" rtlCol="0">
            <a:spAutoFit/>
          </a:bodyPr>
          <a:lstStyle/>
          <a:p>
            <a:pPr>
              <a:defRPr/>
            </a:pPr>
            <a:r>
              <a:rPr lang="ru-RU"/>
              <a:t>Компилятор</a:t>
            </a:r>
            <a:endParaRPr/>
          </a:p>
        </p:txBody>
      </p:sp>
      <p:sp>
        <p:nvSpPr>
          <p:cNvPr id="297039409" name="TextBox 15"/>
          <p:cNvSpPr txBox="1"/>
          <p:nvPr/>
        </p:nvSpPr>
        <p:spPr bwMode="auto">
          <a:xfrm>
            <a:off x="10546769" y="2874074"/>
            <a:ext cx="1737324" cy="646331"/>
          </a:xfrm>
          <a:prstGeom prst="rect">
            <a:avLst/>
          </a:prstGeom>
          <a:noFill/>
        </p:spPr>
        <p:txBody>
          <a:bodyPr wrap="square" rtlCol="0">
            <a:spAutoFit/>
          </a:bodyPr>
          <a:lstStyle/>
          <a:p>
            <a:pPr>
              <a:defRPr/>
            </a:pPr>
            <a:r>
              <a:rPr lang="ru-RU"/>
              <a:t>Флаги компилятора</a:t>
            </a:r>
            <a:endParaRPr/>
          </a:p>
        </p:txBody>
      </p:sp>
      <p:cxnSp>
        <p:nvCxnSpPr>
          <p:cNvPr id="1056018501" name="Прямая со стрелкой 17"/>
          <p:cNvCxnSpPr>
            <a:stCxn id="1461400193" idx="2"/>
            <a:endCxn id="1466502107" idx="1"/>
          </p:cNvCxnSpPr>
          <p:nvPr/>
        </p:nvCxnSpPr>
        <p:spPr bwMode="auto">
          <a:xfrm>
            <a:off x="809037" y="3208536"/>
            <a:ext cx="532496" cy="125609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4811191" name="Прямая со стрелкой 20"/>
          <p:cNvCxnSpPr>
            <a:stCxn id="1790365255" idx="1"/>
            <a:endCxn id="603682522" idx="0"/>
          </p:cNvCxnSpPr>
          <p:nvPr/>
        </p:nvCxnSpPr>
        <p:spPr bwMode="auto">
          <a:xfrm flipH="1">
            <a:off x="6187154" y="2493814"/>
            <a:ext cx="4297983" cy="26459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5222004" name="Прямая со стрелкой 22"/>
          <p:cNvCxnSpPr>
            <a:stCxn id="297039409" idx="1"/>
            <a:endCxn id="1068207317" idx="3"/>
          </p:cNvCxnSpPr>
          <p:nvPr/>
        </p:nvCxnSpPr>
        <p:spPr bwMode="auto">
          <a:xfrm flipH="1" flipV="1">
            <a:off x="9857509" y="2849327"/>
            <a:ext cx="689260" cy="34791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51941750" name="Прямая со стрелкой 24"/>
          <p:cNvCxnSpPr>
            <a:stCxn id="1002549757" idx="1"/>
            <a:endCxn id="82610456" idx="3"/>
          </p:cNvCxnSpPr>
          <p:nvPr/>
        </p:nvCxnSpPr>
        <p:spPr bwMode="auto">
          <a:xfrm flipH="1" flipV="1">
            <a:off x="9629649" y="4557378"/>
            <a:ext cx="924051" cy="70384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758707281" name="Заголовок 1"/>
          <p:cNvSpPr>
            <a:spLocks noGrp="1"/>
          </p:cNvSpPr>
          <p:nvPr>
            <p:ph type="title"/>
          </p:nvPr>
        </p:nvSpPr>
        <p:spPr bwMode="auto"/>
        <p:txBody>
          <a:bodyPr/>
          <a:lstStyle/>
          <a:p>
            <a:pPr>
              <a:defRPr/>
            </a:pPr>
            <a:r>
              <a:rPr lang="ru-RU"/>
              <a:t>Правило </a:t>
            </a:r>
            <a:r>
              <a:rPr lang="en-US"/>
              <a:t>as-if</a:t>
            </a:r>
            <a:endParaRPr lang="ru-RU"/>
          </a:p>
        </p:txBody>
      </p:sp>
      <p:sp>
        <p:nvSpPr>
          <p:cNvPr id="85782693" name="Объект 2"/>
          <p:cNvSpPr>
            <a:spLocks noGrp="1"/>
          </p:cNvSpPr>
          <p:nvPr>
            <p:ph idx="1"/>
          </p:nvPr>
        </p:nvSpPr>
        <p:spPr bwMode="auto">
          <a:xfrm>
            <a:off x="838200" y="1825625"/>
            <a:ext cx="11277600" cy="4351338"/>
          </a:xfrm>
        </p:spPr>
        <p:txBody>
          <a:bodyPr>
            <a:normAutofit lnSpcReduction="10000"/>
          </a:bodyPr>
          <a:lstStyle/>
          <a:p>
            <a:pPr marL="0" indent="0">
              <a:buNone/>
              <a:defRPr/>
            </a:pPr>
            <a:r>
              <a:rPr lang="ru-RU" sz="2000" dirty="0"/>
              <a:t>Компиляторы С/С++ имеют право проводить любые преобразования с кодом, которые сохраняют итоговый порядок возникновения наблюдаемых эффектов (</a:t>
            </a:r>
            <a:r>
              <a:rPr lang="en-US" sz="2000" b="1" dirty="0"/>
              <a:t>side effects</a:t>
            </a:r>
            <a:r>
              <a:rPr lang="ru-RU" sz="2000" dirty="0"/>
              <a:t>) выполнения программы</a:t>
            </a:r>
            <a:r>
              <a:rPr lang="en-US" sz="2000" dirty="0"/>
              <a:t>, </a:t>
            </a:r>
            <a:r>
              <a:rPr lang="ru-RU" sz="2000" dirty="0"/>
              <a:t>к которым относятся:</a:t>
            </a:r>
            <a:endParaRPr dirty="0"/>
          </a:p>
          <a:p>
            <a:pPr>
              <a:defRPr/>
            </a:pPr>
            <a:r>
              <a:rPr lang="ru-RU" sz="2000" dirty="0"/>
              <a:t>операции ввода-вывода,</a:t>
            </a:r>
            <a:endParaRPr dirty="0"/>
          </a:p>
          <a:p>
            <a:pPr>
              <a:defRPr/>
            </a:pPr>
            <a:r>
              <a:rPr lang="ru-RU" sz="2000" dirty="0"/>
              <a:t>чтение/запись переменных, помеченных как </a:t>
            </a:r>
            <a:r>
              <a:rPr lang="en-US" sz="2000" i="1" dirty="0"/>
              <a:t>volatile</a:t>
            </a:r>
            <a:r>
              <a:rPr lang="ru-RU" sz="2000" i="1" dirty="0"/>
              <a:t>.</a:t>
            </a:r>
            <a:endParaRPr dirty="0"/>
          </a:p>
          <a:p>
            <a:pPr marL="0" indent="0">
              <a:buNone/>
              <a:defRPr/>
            </a:pPr>
            <a:r>
              <a:rPr lang="ru-RU" sz="2000" dirty="0"/>
              <a:t>Эти операции гарантированно производятся в том же порядке, что и в программе без оптимизаций</a:t>
            </a:r>
            <a:r>
              <a:rPr lang="en-US" sz="2000" dirty="0"/>
              <a:t> (</a:t>
            </a:r>
            <a:r>
              <a:rPr lang="en-US" sz="2000" u="sng" dirty="0"/>
              <a:t>as if </a:t>
            </a:r>
            <a:r>
              <a:rPr lang="en-US" sz="2000" dirty="0"/>
              <a:t>the program is executed as written)</a:t>
            </a:r>
            <a:r>
              <a:rPr lang="ru-RU" sz="2000" dirty="0"/>
              <a:t>.</a:t>
            </a:r>
            <a:endParaRPr dirty="0"/>
          </a:p>
          <a:p>
            <a:pPr marL="0" indent="0">
              <a:buNone/>
              <a:defRPr/>
            </a:pPr>
            <a:r>
              <a:rPr lang="ru-RU" sz="2000" dirty="0"/>
              <a:t>Типовые оптимизации:</a:t>
            </a:r>
            <a:endParaRPr dirty="0"/>
          </a:p>
          <a:p>
            <a:pPr>
              <a:defRPr/>
            </a:pPr>
            <a:r>
              <a:rPr lang="ru-RU" sz="2000" dirty="0"/>
              <a:t>переупорядочивание кода, в т.ч удаление недостижимого кода и встраивание функций (</a:t>
            </a:r>
            <a:r>
              <a:rPr lang="en-US" sz="2000" dirty="0"/>
              <a:t>inlining</a:t>
            </a:r>
            <a:r>
              <a:rPr lang="ru-RU" sz="2000" dirty="0"/>
              <a:t>);</a:t>
            </a:r>
            <a:endParaRPr dirty="0"/>
          </a:p>
          <a:p>
            <a:pPr>
              <a:defRPr/>
            </a:pPr>
            <a:r>
              <a:rPr lang="ru-RU" sz="2000" dirty="0"/>
              <a:t>предварительные вычисления</a:t>
            </a:r>
            <a:r>
              <a:rPr lang="en-US" sz="2000" dirty="0"/>
              <a:t> (</a:t>
            </a:r>
            <a:r>
              <a:rPr lang="en-US" sz="2000" dirty="0">
                <a:latin typeface="Consolas"/>
              </a:rPr>
              <a:t>a = 1; b = a++;  </a:t>
            </a:r>
            <a:r>
              <a:rPr lang="en-US" sz="2000" dirty="0"/>
              <a:t>=&gt;  </a:t>
            </a:r>
            <a:r>
              <a:rPr lang="en-US" sz="2000" dirty="0">
                <a:latin typeface="Consolas"/>
              </a:rPr>
              <a:t>a = 2; b = 1;</a:t>
            </a:r>
            <a:r>
              <a:rPr lang="en-US" sz="2000" dirty="0"/>
              <a:t>)</a:t>
            </a:r>
            <a:r>
              <a:rPr lang="ru-RU" sz="2000" dirty="0"/>
              <a:t>.</a:t>
            </a:r>
            <a:endParaRPr dirty="0"/>
          </a:p>
          <a:p>
            <a:pPr>
              <a:defRPr/>
            </a:pPr>
            <a:r>
              <a:rPr lang="ru-RU" sz="2000" dirty="0"/>
              <a:t>замена инструкций на эквивалентные им последовательности инструкций;</a:t>
            </a:r>
            <a:endParaRPr lang="en-US" sz="2000" dirty="0"/>
          </a:p>
          <a:p>
            <a:pPr marL="0" indent="0">
              <a:buNone/>
              <a:defRPr/>
            </a:pPr>
            <a:r>
              <a:rPr lang="ru-RU" sz="2000" dirty="0"/>
              <a:t>Включение/отключение отдельных оптимизаций контролируется флагами компилятора. </a:t>
            </a:r>
            <a:endParaRPr dirty="0"/>
          </a:p>
          <a:p>
            <a:pPr marL="0" indent="0">
              <a:buNone/>
              <a:defRPr/>
            </a:pPr>
            <a:endParaRPr lang="ru-RU" sz="2000" dirty="0"/>
          </a:p>
          <a:p>
            <a:pPr marL="0" indent="0">
              <a:buNone/>
              <a:defRPr/>
            </a:pPr>
            <a:endParaRPr lang="ru-RU" sz="2000" dirty="0"/>
          </a:p>
          <a:p>
            <a:pPr marL="0" indent="0">
              <a:buNone/>
              <a:defRPr/>
            </a:pPr>
            <a:endParaRPr lang="ru-RU" sz="2000" dirty="0"/>
          </a:p>
        </p:txBody>
      </p:sp>
      <p:sp>
        <p:nvSpPr>
          <p:cNvPr id="693490015" name="Номер слайда 4"/>
          <p:cNvSpPr>
            <a:spLocks noGrp="1"/>
          </p:cNvSpPr>
          <p:nvPr>
            <p:ph type="sldNum" sz="quarter" idx="12"/>
          </p:nvPr>
        </p:nvSpPr>
        <p:spPr bwMode="auto"/>
        <p:txBody>
          <a:bodyPr/>
          <a:lstStyle/>
          <a:p>
            <a:pPr>
              <a:defRPr/>
            </a:pPr>
            <a:fld id="{B67FBA2B-964F-4C4D-AAF7-5A8399264638}" type="slidenum">
              <a:rPr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967751879" name="Заголовок 1"/>
          <p:cNvSpPr>
            <a:spLocks noGrp="1"/>
          </p:cNvSpPr>
          <p:nvPr>
            <p:ph type="title"/>
          </p:nvPr>
        </p:nvSpPr>
        <p:spPr bwMode="auto"/>
        <p:txBody>
          <a:bodyPr/>
          <a:lstStyle/>
          <a:p>
            <a:pPr>
              <a:defRPr/>
            </a:pPr>
            <a:r>
              <a:rPr lang="ru-RU"/>
              <a:t>Границы оптимизаций</a:t>
            </a:r>
            <a:endParaRPr/>
          </a:p>
        </p:txBody>
      </p:sp>
      <p:sp>
        <p:nvSpPr>
          <p:cNvPr id="776029732" name="Объект 2"/>
          <p:cNvSpPr>
            <a:spLocks noGrp="1"/>
          </p:cNvSpPr>
          <p:nvPr>
            <p:ph idx="1"/>
          </p:nvPr>
        </p:nvSpPr>
        <p:spPr bwMode="auto"/>
        <p:txBody>
          <a:bodyPr vertOverflow="overflow" horzOverflow="overflow" vert="horz" wrap="square" lIns="91440" tIns="45720" rIns="91440" bIns="45720" numCol="1" spcCol="0" rtlCol="0" fromWordArt="0" anchor="t" anchorCtr="0" forceAA="0" compatLnSpc="0">
            <a:normAutofit/>
          </a:bodyPr>
          <a:lstStyle/>
          <a:p>
            <a:pPr marL="0" indent="0">
              <a:buNone/>
              <a:defRPr/>
            </a:pPr>
            <a:r>
              <a:rPr lang="ru-RU" sz="2000" dirty="0"/>
              <a:t>Поскольку каждый .</a:t>
            </a:r>
            <a:r>
              <a:rPr lang="en-US" sz="2000" dirty="0" err="1"/>
              <a:t>cpp</a:t>
            </a:r>
            <a:r>
              <a:rPr lang="en-US" sz="2000" dirty="0"/>
              <a:t>-</a:t>
            </a:r>
            <a:r>
              <a:rPr lang="ru-RU" sz="2000" dirty="0"/>
              <a:t>файл компилируется отдельно от остальных, информация о коде в других файлах недоступна. Как следствие, компилятор не может делать никаких предположений о работе этих функций </a:t>
            </a:r>
            <a:r>
              <a:rPr lang="en-US" sz="2000" dirty="0"/>
              <a:t>=&gt; </a:t>
            </a:r>
            <a:r>
              <a:rPr lang="ru-RU" sz="2000" dirty="0"/>
              <a:t>не имеет права оптимизировать их вызовы.</a:t>
            </a:r>
            <a:endParaRPr dirty="0"/>
          </a:p>
          <a:p>
            <a:pPr marL="0" indent="0">
              <a:buNone/>
              <a:defRPr/>
            </a:pPr>
            <a:endParaRPr lang="ru-RU" sz="2000" dirty="0"/>
          </a:p>
          <a:p>
            <a:pPr marL="0" indent="0">
              <a:buNone/>
              <a:defRPr/>
            </a:pPr>
            <a:r>
              <a:rPr lang="ru-RU" sz="2000" dirty="0"/>
              <a:t>Как следствие, порядок вызова внешних функций</a:t>
            </a:r>
            <a:r>
              <a:rPr lang="en-US" sz="2000" dirty="0"/>
              <a:t> (</a:t>
            </a:r>
            <a:r>
              <a:rPr lang="ru-RU" sz="2000" dirty="0"/>
              <a:t>т.е. функций, определение которых отсутствует в текущем файле</a:t>
            </a:r>
            <a:r>
              <a:rPr lang="en-US" sz="2000" dirty="0"/>
              <a:t>)</a:t>
            </a:r>
            <a:r>
              <a:rPr lang="ru-RU" sz="2000" dirty="0"/>
              <a:t> производится в том же порядке, что и в исходном файле*.</a:t>
            </a:r>
            <a:endParaRPr dirty="0"/>
          </a:p>
          <a:p>
            <a:pPr marL="0" indent="0">
              <a:buNone/>
              <a:defRPr/>
            </a:pPr>
            <a:endParaRPr lang="ru-RU" sz="2000" dirty="0"/>
          </a:p>
          <a:p>
            <a:pPr marL="0" indent="0">
              <a:buNone/>
              <a:defRPr/>
            </a:pPr>
            <a:r>
              <a:rPr lang="ru-RU" sz="2000" dirty="0"/>
              <a:t>Отдельным случаем является т.н. </a:t>
            </a:r>
            <a:r>
              <a:rPr lang="en-US" sz="2000" dirty="0"/>
              <a:t>link-time optimization, </a:t>
            </a:r>
            <a:r>
              <a:rPr lang="ru-RU" sz="2000" dirty="0"/>
              <a:t> при включении которой несколько изменяется процесс работы компилятора и итоговая оптимизация производится над всем доступным кодом программы. </a:t>
            </a:r>
            <a:endParaRPr dirty="0"/>
          </a:p>
          <a:p>
            <a:pPr marL="0" indent="0">
              <a:buNone/>
              <a:defRPr/>
            </a:pPr>
            <a:endParaRPr dirty="0"/>
          </a:p>
          <a:p>
            <a:pPr marL="0" indent="0">
              <a:buFont typeface="Arial"/>
              <a:buNone/>
              <a:defRPr/>
            </a:pPr>
            <a:r>
              <a:rPr lang="ru-RU" sz="1200" dirty="0"/>
              <a:t>*за исключением некоторых функций из стандартной библиотеки, реализуемых на уровне компилятора</a:t>
            </a:r>
            <a:endParaRPr dirty="0"/>
          </a:p>
        </p:txBody>
      </p:sp>
      <p:sp>
        <p:nvSpPr>
          <p:cNvPr id="1085244206" name="Номер слайда 4"/>
          <p:cNvSpPr>
            <a:spLocks noGrp="1"/>
          </p:cNvSpPr>
          <p:nvPr>
            <p:ph type="sldNum" sz="quarter" idx="12"/>
          </p:nvPr>
        </p:nvSpPr>
        <p:spPr bwMode="auto"/>
        <p:txBody>
          <a:bodyPr/>
          <a:lstStyle/>
          <a:p>
            <a:pPr>
              <a:defRPr/>
            </a:pPr>
            <a:fld id="{B67FBA2B-964F-4C4D-AAF7-5A8399264638}" type="slidenum">
              <a:rPr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66369956" name="Заголовок 1"/>
          <p:cNvSpPr>
            <a:spLocks noGrp="1"/>
          </p:cNvSpPr>
          <p:nvPr>
            <p:ph type="title"/>
          </p:nvPr>
        </p:nvSpPr>
        <p:spPr bwMode="auto"/>
        <p:txBody>
          <a:bodyPr/>
          <a:lstStyle/>
          <a:p>
            <a:pPr>
              <a:defRPr/>
            </a:pPr>
            <a:r>
              <a:rPr lang="ru-RU"/>
              <a:t>О </a:t>
            </a:r>
            <a:r>
              <a:rPr lang="en-US"/>
              <a:t>volatile</a:t>
            </a:r>
            <a:endParaRPr lang="ru-RU"/>
          </a:p>
        </p:txBody>
      </p:sp>
      <p:sp>
        <p:nvSpPr>
          <p:cNvPr id="1058767177" name="Объект 2"/>
          <p:cNvSpPr>
            <a:spLocks noGrp="1"/>
          </p:cNvSpPr>
          <p:nvPr>
            <p:ph idx="1"/>
          </p:nvPr>
        </p:nvSpPr>
        <p:spPr bwMode="auto"/>
        <p:txBody>
          <a:bodyPr>
            <a:normAutofit/>
          </a:bodyPr>
          <a:lstStyle/>
          <a:p>
            <a:pPr marL="0" indent="0">
              <a:buNone/>
              <a:defRPr/>
            </a:pPr>
            <a:r>
              <a:rPr lang="ru-RU" sz="2000"/>
              <a:t>Ключевое слово </a:t>
            </a:r>
            <a:r>
              <a:rPr lang="en-US" sz="2000" i="1"/>
              <a:t>volatile</a:t>
            </a:r>
            <a:r>
              <a:rPr lang="en-US" sz="2000"/>
              <a:t> </a:t>
            </a:r>
            <a:r>
              <a:rPr lang="ru-RU" sz="2000"/>
              <a:t>используется при объявлении переменных, которые могут изменить свое значение без видимых (с точки зрения отдельного потока) причин. </a:t>
            </a:r>
            <a:endParaRPr/>
          </a:p>
          <a:p>
            <a:pPr marL="0" indent="0">
              <a:buNone/>
              <a:defRPr/>
            </a:pPr>
            <a:r>
              <a:rPr lang="ru-RU" sz="2000"/>
              <a:t>По прямому назначению такие переменные используются в системном программировании для взаимодействия с различными устройствами,  и, </a:t>
            </a:r>
            <a:r>
              <a:rPr lang="ru-RU" sz="2000">
                <a:solidFill>
                  <a:srgbClr val="C00000"/>
                </a:solidFill>
              </a:rPr>
              <a:t>зачастую некорректно </a:t>
            </a:r>
            <a:r>
              <a:rPr lang="ru-RU" sz="2000"/>
              <a:t>– в многопоточном программировании для объявления некоторых общих переменных.</a:t>
            </a:r>
            <a:endParaRPr/>
          </a:p>
          <a:p>
            <a:pPr marL="0" indent="0">
              <a:buNone/>
              <a:defRPr/>
            </a:pPr>
            <a:r>
              <a:rPr lang="ru-RU" sz="2000"/>
              <a:t>Поскольку значение в переменной может быть изменено внезапно, компилятор не может проводить оптимизации над этой переменной. Более того, он сохранит порядок операций чтения/записи всех </a:t>
            </a:r>
            <a:r>
              <a:rPr lang="en-US" sz="2000"/>
              <a:t>volatile-</a:t>
            </a:r>
            <a:r>
              <a:rPr lang="ru-RU" sz="2000"/>
              <a:t>переменных (но переупорядочить чтение/запись обычной и </a:t>
            </a:r>
            <a:r>
              <a:rPr lang="en-US" sz="2000"/>
              <a:t>volatile</a:t>
            </a:r>
            <a:r>
              <a:rPr lang="ru-RU" sz="2000"/>
              <a:t>-переменной компилятор может). </a:t>
            </a:r>
            <a:endParaRPr/>
          </a:p>
          <a:p>
            <a:pPr marL="0" indent="0">
              <a:buNone/>
              <a:defRPr/>
            </a:pPr>
            <a:r>
              <a:rPr lang="ru-RU" sz="2000"/>
              <a:t>За пределами системного программирования </a:t>
            </a:r>
            <a:r>
              <a:rPr lang="en-US" sz="2000"/>
              <a:t>volatile-</a:t>
            </a:r>
            <a:r>
              <a:rPr lang="ru-RU" sz="2000"/>
              <a:t>переменные используются для </a:t>
            </a:r>
            <a:r>
              <a:rPr lang="ru-RU" sz="2000" u="sng">
                <a:hlinkClick r:id="rId3"/>
              </a:rPr>
              <a:t>подавления оптимизации</a:t>
            </a:r>
            <a:r>
              <a:rPr lang="ru-RU" sz="2000"/>
              <a:t>.</a:t>
            </a:r>
            <a:endParaRPr/>
          </a:p>
        </p:txBody>
      </p:sp>
      <p:sp>
        <p:nvSpPr>
          <p:cNvPr id="527904391" name="Номер слайда 4"/>
          <p:cNvSpPr>
            <a:spLocks noGrp="1"/>
          </p:cNvSpPr>
          <p:nvPr>
            <p:ph type="sldNum" sz="quarter" idx="12"/>
          </p:nvPr>
        </p:nvSpPr>
        <p:spPr bwMode="auto"/>
        <p:txBody>
          <a:bodyPr/>
          <a:lstStyle/>
          <a:p>
            <a:pPr>
              <a:defRPr/>
            </a:pPr>
            <a:fld id="{B67FBA2B-964F-4C4D-AAF7-5A8399264638}" type="slidenum">
              <a:rPr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413000713" name="Заголовок 1"/>
          <p:cNvSpPr>
            <a:spLocks noGrp="1"/>
          </p:cNvSpPr>
          <p:nvPr>
            <p:ph type="title"/>
          </p:nvPr>
        </p:nvSpPr>
        <p:spPr bwMode="auto"/>
        <p:txBody>
          <a:bodyPr/>
          <a:lstStyle/>
          <a:p>
            <a:pPr>
              <a:defRPr/>
            </a:pPr>
            <a:r>
              <a:rPr lang="ru-RU"/>
              <a:t>Замечания о локальных переменных</a:t>
            </a:r>
            <a:endParaRPr/>
          </a:p>
        </p:txBody>
      </p:sp>
      <p:sp>
        <p:nvSpPr>
          <p:cNvPr id="1912121915" name="Объект 2"/>
          <p:cNvSpPr>
            <a:spLocks noGrp="1"/>
          </p:cNvSpPr>
          <p:nvPr>
            <p:ph idx="1"/>
          </p:nvPr>
        </p:nvSpPr>
        <p:spPr bwMode="auto">
          <a:xfrm>
            <a:off x="838200" y="1439545"/>
            <a:ext cx="11262359" cy="5281930"/>
          </a:xfrm>
        </p:spPr>
        <p:txBody>
          <a:bodyPr>
            <a:normAutofit/>
          </a:bodyPr>
          <a:lstStyle/>
          <a:p>
            <a:pPr>
              <a:defRPr/>
            </a:pPr>
            <a:r>
              <a:rPr lang="ru-RU" sz="2000" dirty="0"/>
              <a:t>Если компилятор может поместить переменную в регистр – он поместит ее в регистр.</a:t>
            </a:r>
            <a:endParaRPr lang="en-US" sz="2000" dirty="0"/>
          </a:p>
          <a:p>
            <a:pPr>
              <a:defRPr/>
            </a:pPr>
            <a:r>
              <a:rPr lang="ru-RU" sz="2000" dirty="0"/>
              <a:t>Если компилятор обнаружит, что переменную можно убрать – </a:t>
            </a:r>
            <a:r>
              <a:rPr lang="ru-RU" sz="2000" u="sng" dirty="0">
                <a:hlinkClick r:id="rId3"/>
              </a:rPr>
              <a:t>он ее уберет</a:t>
            </a:r>
            <a:r>
              <a:rPr lang="ru-RU" sz="2000" dirty="0"/>
              <a:t>.</a:t>
            </a:r>
            <a:endParaRPr lang="en-US" sz="2000" dirty="0"/>
          </a:p>
          <a:p>
            <a:pPr>
              <a:defRPr/>
            </a:pPr>
            <a:r>
              <a:rPr lang="ru-RU" sz="2000" dirty="0"/>
              <a:t>Одно и то же место на стеке на разных этапах работы функции может быть занято </a:t>
            </a:r>
            <a:r>
              <a:rPr lang="ru-RU" sz="2000" u="sng" dirty="0">
                <a:hlinkClick r:id="rId4"/>
              </a:rPr>
              <a:t>разными переменными</a:t>
            </a:r>
            <a:r>
              <a:rPr lang="ru-RU" sz="2000" dirty="0"/>
              <a:t>. К примеру, компилятор может сбросить переменную на стек для того, чтобы взять ее адрес, а когда переменная станет не нужна – на это же место сбросить другую переменную. Исключение – переменные, помеченные как </a:t>
            </a:r>
            <a:r>
              <a:rPr lang="en-US" sz="2000" dirty="0"/>
              <a:t>volatile</a:t>
            </a:r>
            <a:r>
              <a:rPr lang="ru-RU" sz="2000" dirty="0"/>
              <a:t> (обязаны иметь уникальный адрес).</a:t>
            </a:r>
            <a:endParaRPr dirty="0"/>
          </a:p>
          <a:p>
            <a:pPr>
              <a:defRPr/>
            </a:pPr>
            <a:r>
              <a:rPr lang="ru-RU" sz="2000" i="1" dirty="0"/>
              <a:t>Примечание о константах: </a:t>
            </a:r>
            <a:r>
              <a:rPr lang="ru-RU" sz="2000" dirty="0"/>
              <a:t>дизассемблер не всегда может понять, как следует декодировать тот или иной набор байтов. Как следствие, вещественные константы могут быть декодированы, как целые числа, и положительные целые числа – как </a:t>
            </a:r>
            <a:r>
              <a:rPr lang="ru-RU" sz="2000" u="sng" dirty="0">
                <a:hlinkClick r:id="rId5"/>
              </a:rPr>
              <a:t>отрицательные</a:t>
            </a:r>
            <a:r>
              <a:rPr lang="ru-RU" sz="2000" dirty="0"/>
              <a:t> (или </a:t>
            </a:r>
            <a:r>
              <a:rPr lang="ru-RU" sz="2000" u="sng" dirty="0">
                <a:hlinkClick r:id="rId6"/>
              </a:rPr>
              <a:t>наоборот</a:t>
            </a:r>
            <a:r>
              <a:rPr lang="ru-RU" sz="2000" dirty="0"/>
              <a:t>).</a:t>
            </a:r>
            <a:endParaRPr dirty="0"/>
          </a:p>
          <a:p>
            <a:pPr>
              <a:defRPr/>
            </a:pPr>
            <a:r>
              <a:rPr lang="ru-RU" sz="2000" dirty="0"/>
              <a:t>Тип переменной можно определить по инструкциям, которые с ней работают (усложняется эквивалентными заменами).</a:t>
            </a:r>
            <a:endParaRPr dirty="0"/>
          </a:p>
          <a:p>
            <a:pPr marL="0" indent="0">
              <a:buNone/>
              <a:defRPr/>
            </a:pPr>
            <a:endParaRPr lang="ru-RU" sz="2000" dirty="0"/>
          </a:p>
        </p:txBody>
      </p:sp>
      <p:sp>
        <p:nvSpPr>
          <p:cNvPr id="1058775616" name="Номер слайда 4"/>
          <p:cNvSpPr>
            <a:spLocks noGrp="1"/>
          </p:cNvSpPr>
          <p:nvPr>
            <p:ph type="sldNum" sz="quarter" idx="12"/>
          </p:nvPr>
        </p:nvSpPr>
        <p:spPr bwMode="auto"/>
        <p:txBody>
          <a:bodyPr/>
          <a:lstStyle/>
          <a:p>
            <a:pPr>
              <a:defRPr/>
            </a:pPr>
            <a:fld id="{B67FBA2B-964F-4C4D-AAF7-5A8399264638}" type="slidenum">
              <a:rPr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71350586" name="Заголовок 1"/>
          <p:cNvSpPr>
            <a:spLocks noGrp="1"/>
          </p:cNvSpPr>
          <p:nvPr>
            <p:ph type="title"/>
          </p:nvPr>
        </p:nvSpPr>
        <p:spPr bwMode="auto"/>
        <p:txBody>
          <a:bodyPr/>
          <a:lstStyle/>
          <a:p>
            <a:pPr>
              <a:defRPr/>
            </a:pPr>
            <a:r>
              <a:rPr lang="ru-RU"/>
              <a:t>Переупорядочивание кода и встраивание функций</a:t>
            </a:r>
            <a:endParaRPr/>
          </a:p>
        </p:txBody>
      </p:sp>
      <p:sp>
        <p:nvSpPr>
          <p:cNvPr id="1933428955" name="Объект 2"/>
          <p:cNvSpPr>
            <a:spLocks noGrp="1"/>
          </p:cNvSpPr>
          <p:nvPr>
            <p:ph idx="1"/>
          </p:nvPr>
        </p:nvSpPr>
        <p:spPr bwMode="auto">
          <a:xfrm>
            <a:off x="838198" y="1825625"/>
            <a:ext cx="10958944" cy="4351338"/>
          </a:xfrm>
        </p:spPr>
        <p:txBody>
          <a:bodyPr>
            <a:normAutofit lnSpcReduction="10000"/>
          </a:bodyPr>
          <a:lstStyle/>
          <a:p>
            <a:pPr marL="0" indent="0">
              <a:buNone/>
              <a:defRPr/>
            </a:pPr>
            <a:r>
              <a:rPr lang="ru-RU" sz="2000"/>
              <a:t>Компилятор имеет право </a:t>
            </a:r>
            <a:r>
              <a:rPr lang="ru-RU" sz="2000" u="sng">
                <a:hlinkClick r:id="rId3"/>
              </a:rPr>
              <a:t>переупорядочить</a:t>
            </a:r>
            <a:r>
              <a:rPr lang="ru-RU" sz="2000"/>
              <a:t> расположение кода программы</a:t>
            </a:r>
            <a:r>
              <a:rPr lang="en-US" sz="2000"/>
              <a:t>, </a:t>
            </a:r>
            <a:r>
              <a:rPr lang="ru-RU" sz="2000"/>
              <a:t>например, расположить метку </a:t>
            </a:r>
            <a:r>
              <a:rPr lang="en-US" sz="2000" i="1"/>
              <a:t>else</a:t>
            </a:r>
            <a:r>
              <a:rPr lang="en-US" sz="2000"/>
              <a:t> </a:t>
            </a:r>
            <a:r>
              <a:rPr lang="ru-RU" sz="2000"/>
              <a:t>до </a:t>
            </a:r>
            <a:r>
              <a:rPr lang="en-US" sz="2000" i="1"/>
              <a:t>if</a:t>
            </a:r>
            <a:r>
              <a:rPr lang="ru-RU" sz="2000"/>
              <a:t> или разбить тело функции на несколько фрагментов, переупорядочить их и связать инструкциями перехода</a:t>
            </a:r>
            <a:r>
              <a:rPr lang="en-US" sz="2000"/>
              <a:t>.</a:t>
            </a:r>
            <a:r>
              <a:rPr lang="ru-RU" sz="2000"/>
              <a:t> </a:t>
            </a:r>
            <a:endParaRPr/>
          </a:p>
          <a:p>
            <a:pPr marL="0" indent="0">
              <a:buNone/>
              <a:defRPr/>
            </a:pPr>
            <a:r>
              <a:rPr lang="ru-RU" sz="2000"/>
              <a:t>Целью подобных решений является повышение локальности кода – если код сконцентрирован в одной области, ЦП сможет выполнять его быстрее по причине кэширования (см. лекцию о микроархитектуре). Поэтому компилятор стремится расположить код, вероятность выполнения которого более вероятна, близко.</a:t>
            </a:r>
            <a:r>
              <a:rPr lang="en-US" sz="2000"/>
              <a:t> </a:t>
            </a:r>
            <a:endParaRPr lang="ru-RU" sz="2000"/>
          </a:p>
          <a:p>
            <a:pPr marL="0" indent="0">
              <a:buNone/>
              <a:defRPr/>
            </a:pPr>
            <a:r>
              <a:rPr lang="ru-RU" sz="2000"/>
              <a:t>Частным случаем переупорядочивания является </a:t>
            </a:r>
            <a:r>
              <a:rPr lang="ru-RU" sz="2000" u="sng">
                <a:hlinkClick r:id="rId4"/>
              </a:rPr>
              <a:t>встраивание функций</a:t>
            </a:r>
            <a:r>
              <a:rPr lang="ru-RU" sz="2000"/>
              <a:t>.</a:t>
            </a:r>
            <a:r>
              <a:rPr lang="en-US" sz="2000"/>
              <a:t> </a:t>
            </a:r>
            <a:r>
              <a:rPr lang="ru-RU" sz="2000"/>
              <a:t>Компилятор может проводить встраивание любых функций, определение которых ему доступно на этапе компиляции, </a:t>
            </a:r>
            <a:r>
              <a:rPr lang="ru-RU" sz="2000" i="1"/>
              <a:t>если он сочтет это выгодным</a:t>
            </a:r>
            <a:r>
              <a:rPr lang="ru-RU" sz="2000"/>
              <a:t>. </a:t>
            </a:r>
            <a:endParaRPr/>
          </a:p>
          <a:p>
            <a:pPr marL="0" indent="0">
              <a:buNone/>
              <a:defRPr/>
            </a:pPr>
            <a:r>
              <a:rPr lang="ru-RU" sz="2000"/>
              <a:t>При встраивании компилятор может анализировать межпроцедурные зависимости и адаптировать код исходной функции к конкретному вызову.</a:t>
            </a:r>
            <a:endParaRPr/>
          </a:p>
          <a:p>
            <a:pPr marL="0" indent="0">
              <a:buNone/>
              <a:defRPr/>
            </a:pPr>
            <a:r>
              <a:rPr lang="ru-RU" sz="2000"/>
              <a:t>При этом, если вызываемая функция не помечена, как </a:t>
            </a:r>
            <a:r>
              <a:rPr lang="en-US" sz="2000"/>
              <a:t>static</a:t>
            </a:r>
            <a:r>
              <a:rPr lang="ru-RU" sz="2000"/>
              <a:t>, компилятор все равно обязан сгенерировать код функции.</a:t>
            </a:r>
            <a:endParaRPr/>
          </a:p>
        </p:txBody>
      </p:sp>
      <p:sp>
        <p:nvSpPr>
          <p:cNvPr id="1192631297" name="Номер слайда 4"/>
          <p:cNvSpPr>
            <a:spLocks noGrp="1"/>
          </p:cNvSpPr>
          <p:nvPr>
            <p:ph type="sldNum" sz="quarter" idx="12"/>
          </p:nvPr>
        </p:nvSpPr>
        <p:spPr bwMode="auto"/>
        <p:txBody>
          <a:bodyPr/>
          <a:lstStyle/>
          <a:p>
            <a:pPr>
              <a:defRPr/>
            </a:pPr>
            <a:fld id="{B67FBA2B-964F-4C4D-AAF7-5A8399264638}" type="slidenum">
              <a:rPr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876370984" name="Заголовок 1"/>
          <p:cNvSpPr>
            <a:spLocks noGrp="1"/>
          </p:cNvSpPr>
          <p:nvPr>
            <p:ph type="title"/>
          </p:nvPr>
        </p:nvSpPr>
        <p:spPr bwMode="auto"/>
        <p:txBody>
          <a:bodyPr/>
          <a:lstStyle/>
          <a:p>
            <a:pPr>
              <a:defRPr/>
            </a:pPr>
            <a:r>
              <a:rPr lang="ru-RU"/>
              <a:t>Простые оптимизации: хвостовой вызов</a:t>
            </a:r>
            <a:endParaRPr lang="en-US"/>
          </a:p>
        </p:txBody>
      </p:sp>
      <p:sp>
        <p:nvSpPr>
          <p:cNvPr id="2136895495" name="Номер слайда 4"/>
          <p:cNvSpPr>
            <a:spLocks noGrp="1"/>
          </p:cNvSpPr>
          <p:nvPr>
            <p:ph type="sldNum" sz="quarter" idx="12"/>
          </p:nvPr>
        </p:nvSpPr>
        <p:spPr bwMode="auto"/>
        <p:txBody>
          <a:bodyPr/>
          <a:lstStyle/>
          <a:p>
            <a:pPr>
              <a:defRPr/>
            </a:pPr>
            <a:fld id="{B67FBA2B-964F-4C4D-AAF7-5A8399264638}" type="slidenum">
              <a:rPr lang="en-US"/>
              <a:t>8</a:t>
            </a:fld>
            <a:endParaRPr lang="en-US"/>
          </a:p>
        </p:txBody>
      </p:sp>
      <p:sp>
        <p:nvSpPr>
          <p:cNvPr id="2103904055" name="TextBox 14"/>
          <p:cNvSpPr txBox="1"/>
          <p:nvPr/>
        </p:nvSpPr>
        <p:spPr bwMode="auto">
          <a:xfrm>
            <a:off x="838199" y="2041073"/>
            <a:ext cx="3517067" cy="3139321"/>
          </a:xfrm>
          <a:prstGeom prst="rect">
            <a:avLst/>
          </a:prstGeom>
          <a:noFill/>
        </p:spPr>
        <p:txBody>
          <a:bodyPr wrap="square">
            <a:spAutoFit/>
          </a:bodyPr>
          <a:lstStyle/>
          <a:p>
            <a:pPr>
              <a:defRPr/>
            </a:pPr>
            <a:r>
              <a:rPr lang="en-US" b="0">
                <a:solidFill>
                  <a:srgbClr val="0000FF"/>
                </a:solidFill>
                <a:latin typeface="Consolas"/>
              </a:rPr>
              <a:t>#include</a:t>
            </a:r>
            <a:r>
              <a:rPr lang="en-US" b="0">
                <a:solidFill>
                  <a:srgbClr val="000000"/>
                </a:solidFill>
                <a:latin typeface="Consolas"/>
              </a:rPr>
              <a:t> </a:t>
            </a:r>
            <a:r>
              <a:rPr lang="en-US" b="0">
                <a:solidFill>
                  <a:srgbClr val="0000FF"/>
                </a:solidFill>
                <a:latin typeface="Consolas"/>
              </a:rPr>
              <a:t>&lt;</a:t>
            </a:r>
            <a:r>
              <a:rPr lang="en-US" b="0">
                <a:solidFill>
                  <a:srgbClr val="A31515"/>
                </a:solidFill>
                <a:latin typeface="Consolas"/>
              </a:rPr>
              <a:t>cstdio</a:t>
            </a:r>
            <a:r>
              <a:rPr lang="en-US" b="0">
                <a:solidFill>
                  <a:srgbClr val="0000FF"/>
                </a:solidFill>
                <a:latin typeface="Consolas"/>
              </a:rPr>
              <a:t>&gt;</a:t>
            </a:r>
            <a:endParaRPr lang="en-US" b="0">
              <a:solidFill>
                <a:srgbClr val="000000"/>
              </a:solidFill>
              <a:latin typeface="Consolas"/>
            </a:endParaRPr>
          </a:p>
          <a:p>
            <a:pPr>
              <a:defRPr/>
            </a:pPr>
            <a:br>
              <a:rPr lang="en-US" b="0">
                <a:solidFill>
                  <a:srgbClr val="000000"/>
                </a:solidFill>
                <a:latin typeface="Consolas"/>
              </a:rPr>
            </a:br>
            <a:r>
              <a:rPr lang="en-US" b="0">
                <a:solidFill>
                  <a:srgbClr val="0000FF"/>
                </a:solidFill>
                <a:latin typeface="Consolas"/>
              </a:rPr>
              <a:t>void</a:t>
            </a:r>
            <a:r>
              <a:rPr lang="en-US" b="0">
                <a:solidFill>
                  <a:srgbClr val="000000"/>
                </a:solidFill>
                <a:latin typeface="Consolas"/>
              </a:rPr>
              <a:t> b(</a:t>
            </a:r>
            <a:r>
              <a:rPr lang="en-US" b="0">
                <a:solidFill>
                  <a:srgbClr val="0000FF"/>
                </a:solidFill>
                <a:latin typeface="Consolas"/>
              </a:rPr>
              <a:t>int</a:t>
            </a:r>
            <a:r>
              <a:rPr lang="en-US" b="0">
                <a:solidFill>
                  <a:srgbClr val="000000"/>
                </a:solidFill>
                <a:latin typeface="Consolas"/>
              </a:rPr>
              <a:t> x){</a:t>
            </a:r>
            <a:endParaRPr/>
          </a:p>
          <a:p>
            <a:pPr>
              <a:defRPr/>
            </a:pPr>
            <a:r>
              <a:rPr lang="en-US" b="0">
                <a:solidFill>
                  <a:srgbClr val="000000"/>
                </a:solidFill>
                <a:latin typeface="Consolas"/>
              </a:rPr>
              <a:t>    printf(</a:t>
            </a:r>
            <a:r>
              <a:rPr lang="en-US" b="0">
                <a:solidFill>
                  <a:srgbClr val="A31515"/>
                </a:solidFill>
                <a:latin typeface="Consolas"/>
              </a:rPr>
              <a:t>"%d"</a:t>
            </a:r>
            <a:r>
              <a:rPr lang="en-US" b="0">
                <a:solidFill>
                  <a:srgbClr val="000000"/>
                </a:solidFill>
                <a:latin typeface="Consolas"/>
              </a:rPr>
              <a:t>, x+</a:t>
            </a:r>
            <a:r>
              <a:rPr lang="en-US" b="0">
                <a:solidFill>
                  <a:srgbClr val="098658"/>
                </a:solidFill>
                <a:latin typeface="Consolas"/>
              </a:rPr>
              <a:t>1</a:t>
            </a:r>
            <a:r>
              <a:rPr lang="en-US" b="0">
                <a:solidFill>
                  <a:srgbClr val="000000"/>
                </a:solidFill>
                <a:latin typeface="Consolas"/>
              </a:rPr>
              <a:t>);</a:t>
            </a:r>
            <a:endParaRPr/>
          </a:p>
          <a:p>
            <a:pPr>
              <a:defRPr/>
            </a:pPr>
            <a:r>
              <a:rPr lang="en-US" b="0">
                <a:solidFill>
                  <a:srgbClr val="000000"/>
                </a:solidFill>
                <a:latin typeface="Consolas"/>
              </a:rPr>
              <a:t>}</a:t>
            </a:r>
            <a:endParaRPr/>
          </a:p>
          <a:p>
            <a:pPr>
              <a:defRPr/>
            </a:pPr>
            <a:br>
              <a:rPr lang="en-US" b="0">
                <a:solidFill>
                  <a:srgbClr val="000000"/>
                </a:solidFill>
                <a:latin typeface="Consolas"/>
              </a:rPr>
            </a:br>
            <a:r>
              <a:rPr lang="en-US" b="0">
                <a:solidFill>
                  <a:srgbClr val="0000FF"/>
                </a:solidFill>
                <a:latin typeface="Consolas"/>
              </a:rPr>
              <a:t>void</a:t>
            </a:r>
            <a:r>
              <a:rPr lang="en-US" b="0">
                <a:solidFill>
                  <a:srgbClr val="000000"/>
                </a:solidFill>
                <a:latin typeface="Consolas"/>
              </a:rPr>
              <a:t> a(){</a:t>
            </a:r>
            <a:endParaRPr/>
          </a:p>
          <a:p>
            <a:pPr>
              <a:defRPr/>
            </a:pPr>
            <a:r>
              <a:rPr lang="en-US" b="0">
                <a:solidFill>
                  <a:srgbClr val="000000"/>
                </a:solidFill>
                <a:latin typeface="Consolas"/>
              </a:rPr>
              <a:t>    </a:t>
            </a:r>
            <a:r>
              <a:rPr lang="en-US" b="0">
                <a:solidFill>
                  <a:srgbClr val="0000FF"/>
                </a:solidFill>
                <a:latin typeface="Consolas"/>
              </a:rPr>
              <a:t>int</a:t>
            </a:r>
            <a:r>
              <a:rPr lang="en-US" b="0">
                <a:solidFill>
                  <a:srgbClr val="000000"/>
                </a:solidFill>
                <a:latin typeface="Consolas"/>
              </a:rPr>
              <a:t> x;</a:t>
            </a:r>
            <a:endParaRPr/>
          </a:p>
          <a:p>
            <a:pPr>
              <a:defRPr/>
            </a:pPr>
            <a:r>
              <a:rPr lang="en-US" b="0">
                <a:solidFill>
                  <a:srgbClr val="000000"/>
                </a:solidFill>
                <a:latin typeface="Consolas"/>
              </a:rPr>
              <a:t>    scanf(</a:t>
            </a:r>
            <a:r>
              <a:rPr lang="en-US" b="0">
                <a:solidFill>
                  <a:srgbClr val="A31515"/>
                </a:solidFill>
                <a:latin typeface="Consolas"/>
              </a:rPr>
              <a:t>"%d"</a:t>
            </a:r>
            <a:r>
              <a:rPr lang="en-US" b="0">
                <a:solidFill>
                  <a:srgbClr val="000000"/>
                </a:solidFill>
                <a:latin typeface="Consolas"/>
              </a:rPr>
              <a:t>, &amp;x);</a:t>
            </a:r>
            <a:endParaRPr/>
          </a:p>
          <a:p>
            <a:pPr>
              <a:defRPr/>
            </a:pPr>
            <a:r>
              <a:rPr lang="en-US" b="0">
                <a:solidFill>
                  <a:srgbClr val="000000"/>
                </a:solidFill>
                <a:latin typeface="Consolas"/>
              </a:rPr>
              <a:t>    b(x);</a:t>
            </a:r>
            <a:endParaRPr/>
          </a:p>
          <a:p>
            <a:pPr>
              <a:defRPr/>
            </a:pPr>
            <a:r>
              <a:rPr lang="en-US" b="0">
                <a:solidFill>
                  <a:srgbClr val="000000"/>
                </a:solidFill>
                <a:latin typeface="Consolas"/>
              </a:rPr>
              <a:t>}</a:t>
            </a:r>
            <a:endParaRPr/>
          </a:p>
        </p:txBody>
      </p:sp>
      <p:sp>
        <p:nvSpPr>
          <p:cNvPr id="451640636" name="TextBox 18">
            <a:hlinkClick r:id="rId3"/>
          </p:cNvPr>
          <p:cNvSpPr txBox="1"/>
          <p:nvPr/>
        </p:nvSpPr>
        <p:spPr bwMode="auto">
          <a:xfrm>
            <a:off x="703332" y="6308722"/>
            <a:ext cx="6094987" cy="366119"/>
          </a:xfrm>
          <a:prstGeom prst="rect">
            <a:avLst/>
          </a:prstGeom>
          <a:noFill/>
        </p:spPr>
        <p:txBody>
          <a:bodyPr wrap="square">
            <a:spAutoFit/>
          </a:bodyPr>
          <a:lstStyle/>
          <a:p>
            <a:pPr>
              <a:defRPr/>
            </a:pPr>
            <a:r>
              <a:rPr lang="ru-RU" u="sng" dirty="0">
                <a:solidFill>
                  <a:schemeClr val="hlink"/>
                </a:solidFill>
                <a:hlinkClick r:id="rId4"/>
              </a:rPr>
              <a:t>https://godbolt.org/z/sKTdaW9cf</a:t>
            </a:r>
            <a:endParaRPr lang="ru-RU" dirty="0"/>
          </a:p>
        </p:txBody>
      </p:sp>
      <p:sp>
        <p:nvSpPr>
          <p:cNvPr id="1527676575" name="TextBox 8"/>
          <p:cNvSpPr txBox="1"/>
          <p:nvPr/>
        </p:nvSpPr>
        <p:spPr bwMode="auto">
          <a:xfrm>
            <a:off x="6064294" y="1993704"/>
            <a:ext cx="6094268" cy="4801314"/>
          </a:xfrm>
          <a:prstGeom prst="rect">
            <a:avLst/>
          </a:prstGeom>
          <a:noFill/>
        </p:spPr>
        <p:txBody>
          <a:bodyPr wrap="square">
            <a:spAutoFit/>
          </a:bodyPr>
          <a:lstStyle/>
          <a:p>
            <a:pPr>
              <a:defRPr/>
            </a:pPr>
            <a:r>
              <a:rPr lang="en-US" b="0">
                <a:solidFill>
                  <a:srgbClr val="008080"/>
                </a:solidFill>
                <a:latin typeface="Consolas"/>
              </a:rPr>
              <a:t>.LC0:</a:t>
            </a:r>
            <a:endParaRPr lang="en-US" b="0">
              <a:solidFill>
                <a:srgbClr val="000000"/>
              </a:solidFill>
              <a:latin typeface="Consolas"/>
            </a:endParaRPr>
          </a:p>
          <a:p>
            <a:pPr>
              <a:defRPr/>
            </a:pPr>
            <a:r>
              <a:rPr lang="en-US" b="0">
                <a:solidFill>
                  <a:srgbClr val="000000"/>
                </a:solidFill>
                <a:latin typeface="Consolas"/>
              </a:rPr>
              <a:t>        </a:t>
            </a:r>
            <a:r>
              <a:rPr lang="en-US" b="0">
                <a:solidFill>
                  <a:srgbClr val="0000FF"/>
                </a:solidFill>
                <a:latin typeface="Consolas"/>
              </a:rPr>
              <a:t>.string</a:t>
            </a:r>
            <a:r>
              <a:rPr lang="en-US" b="0">
                <a:solidFill>
                  <a:srgbClr val="000000"/>
                </a:solidFill>
                <a:latin typeface="Consolas"/>
              </a:rPr>
              <a:t> </a:t>
            </a:r>
            <a:r>
              <a:rPr lang="en-US" b="0">
                <a:solidFill>
                  <a:srgbClr val="A31515"/>
                </a:solidFill>
                <a:latin typeface="Consolas"/>
              </a:rPr>
              <a:t>"%d"</a:t>
            </a:r>
            <a:endParaRPr lang="en-US" b="0">
              <a:solidFill>
                <a:srgbClr val="000000"/>
              </a:solidFill>
              <a:latin typeface="Consolas"/>
            </a:endParaRPr>
          </a:p>
          <a:p>
            <a:pPr>
              <a:defRPr/>
            </a:pPr>
            <a:r>
              <a:rPr lang="en-US" b="0">
                <a:solidFill>
                  <a:srgbClr val="008080"/>
                </a:solidFill>
                <a:latin typeface="Consolas"/>
              </a:rPr>
              <a:t>b(int):</a:t>
            </a:r>
            <a:endParaRPr lang="en-US" b="0">
              <a:solidFill>
                <a:srgbClr val="000000"/>
              </a:solidFill>
              <a:latin typeface="Consolas"/>
            </a:endParaRPr>
          </a:p>
          <a:p>
            <a:pPr>
              <a:defRPr/>
            </a:pPr>
            <a:r>
              <a:rPr lang="en-US" b="0">
                <a:solidFill>
                  <a:srgbClr val="000000"/>
                </a:solidFill>
                <a:latin typeface="Consolas"/>
              </a:rPr>
              <a:t>        </a:t>
            </a:r>
            <a:r>
              <a:rPr lang="en-US" b="0">
                <a:solidFill>
                  <a:srgbClr val="0000FF"/>
                </a:solidFill>
                <a:latin typeface="Consolas"/>
              </a:rPr>
              <a:t>lea</a:t>
            </a:r>
            <a:r>
              <a:rPr lang="en-US" b="0">
                <a:solidFill>
                  <a:srgbClr val="000000"/>
                </a:solidFill>
                <a:latin typeface="Consolas"/>
              </a:rPr>
              <a:t>     </a:t>
            </a:r>
            <a:r>
              <a:rPr lang="en-US" b="0">
                <a:solidFill>
                  <a:srgbClr val="4864AA"/>
                </a:solidFill>
                <a:latin typeface="Consolas"/>
              </a:rPr>
              <a:t>esi</a:t>
            </a:r>
            <a:r>
              <a:rPr lang="en-US" b="0">
                <a:solidFill>
                  <a:srgbClr val="000000"/>
                </a:solidFill>
                <a:latin typeface="Consolas"/>
              </a:rPr>
              <a:t>, [</a:t>
            </a:r>
            <a:r>
              <a:rPr lang="en-US" b="0">
                <a:solidFill>
                  <a:srgbClr val="4864AA"/>
                </a:solidFill>
                <a:latin typeface="Consolas"/>
              </a:rPr>
              <a:t>rdi</a:t>
            </a:r>
            <a:r>
              <a:rPr lang="en-US" b="0">
                <a:solidFill>
                  <a:srgbClr val="000000"/>
                </a:solidFill>
                <a:latin typeface="Consolas"/>
              </a:rPr>
              <a:t>+</a:t>
            </a:r>
            <a:r>
              <a:rPr lang="en-US" b="0">
                <a:solidFill>
                  <a:srgbClr val="098658"/>
                </a:solidFill>
                <a:latin typeface="Consolas"/>
              </a:rPr>
              <a:t>1</a:t>
            </a:r>
            <a:r>
              <a:rPr lang="en-US" b="0">
                <a:solidFill>
                  <a:srgbClr val="000000"/>
                </a:solidFill>
                <a:latin typeface="Consolas"/>
              </a:rPr>
              <a:t>]</a:t>
            </a:r>
            <a:endParaRPr/>
          </a:p>
          <a:p>
            <a:pPr>
              <a:defRPr/>
            </a:pPr>
            <a:r>
              <a:rPr lang="en-US" b="0">
                <a:solidFill>
                  <a:srgbClr val="000000"/>
                </a:solidFill>
                <a:latin typeface="Consolas"/>
              </a:rPr>
              <a:t>        </a:t>
            </a:r>
            <a:r>
              <a:rPr lang="en-US" b="0">
                <a:solidFill>
                  <a:srgbClr val="0000FF"/>
                </a:solidFill>
                <a:latin typeface="Consolas"/>
              </a:rPr>
              <a:t>xor</a:t>
            </a:r>
            <a:r>
              <a:rPr lang="en-US" b="0">
                <a:solidFill>
                  <a:srgbClr val="000000"/>
                </a:solidFill>
                <a:latin typeface="Consolas"/>
              </a:rPr>
              <a:t>     </a:t>
            </a:r>
            <a:r>
              <a:rPr lang="en-US" b="0">
                <a:solidFill>
                  <a:srgbClr val="4864AA"/>
                </a:solidFill>
                <a:latin typeface="Consolas"/>
              </a:rPr>
              <a:t>eax</a:t>
            </a:r>
            <a:r>
              <a:rPr lang="en-US" b="0">
                <a:solidFill>
                  <a:srgbClr val="000000"/>
                </a:solidFill>
                <a:latin typeface="Consolas"/>
              </a:rPr>
              <a:t>, </a:t>
            </a:r>
            <a:r>
              <a:rPr lang="en-US" b="0">
                <a:solidFill>
                  <a:srgbClr val="4864AA"/>
                </a:solidFill>
                <a:latin typeface="Consolas"/>
              </a:rPr>
              <a:t>eax</a:t>
            </a:r>
            <a:endParaRPr lang="en-US" b="0">
              <a:solidFill>
                <a:srgbClr val="000000"/>
              </a:solidFill>
              <a:latin typeface="Consolas"/>
            </a:endParaRPr>
          </a:p>
          <a:p>
            <a:pPr>
              <a:defRPr/>
            </a:pPr>
            <a:r>
              <a:rPr lang="en-US" b="0">
                <a:solidFill>
                  <a:srgbClr val="000000"/>
                </a:solidFill>
                <a:latin typeface="Consolas"/>
              </a:rPr>
              <a:t>        </a:t>
            </a:r>
            <a:r>
              <a:rPr lang="en-US" b="0">
                <a:solidFill>
                  <a:srgbClr val="0000FF"/>
                </a:solidFill>
                <a:latin typeface="Consolas"/>
              </a:rPr>
              <a:t>mov</a:t>
            </a:r>
            <a:r>
              <a:rPr lang="en-US" b="0">
                <a:solidFill>
                  <a:srgbClr val="000000"/>
                </a:solidFill>
                <a:latin typeface="Consolas"/>
              </a:rPr>
              <a:t>     </a:t>
            </a:r>
            <a:r>
              <a:rPr lang="en-US" b="0">
                <a:solidFill>
                  <a:srgbClr val="4864AA"/>
                </a:solidFill>
                <a:latin typeface="Consolas"/>
              </a:rPr>
              <a:t>edi</a:t>
            </a:r>
            <a:r>
              <a:rPr lang="en-US" b="0">
                <a:solidFill>
                  <a:srgbClr val="000000"/>
                </a:solidFill>
                <a:latin typeface="Consolas"/>
              </a:rPr>
              <a:t>, </a:t>
            </a:r>
            <a:r>
              <a:rPr lang="en-US" b="0">
                <a:solidFill>
                  <a:srgbClr val="008080"/>
                </a:solidFill>
                <a:latin typeface="Consolas"/>
              </a:rPr>
              <a:t>OFFSET</a:t>
            </a:r>
            <a:r>
              <a:rPr lang="en-US" b="0">
                <a:solidFill>
                  <a:srgbClr val="000000"/>
                </a:solidFill>
                <a:latin typeface="Consolas"/>
              </a:rPr>
              <a:t> </a:t>
            </a:r>
            <a:r>
              <a:rPr lang="en-US" b="0">
                <a:solidFill>
                  <a:srgbClr val="008080"/>
                </a:solidFill>
                <a:latin typeface="Consolas"/>
              </a:rPr>
              <a:t>FLAT</a:t>
            </a:r>
            <a:r>
              <a:rPr lang="en-US" b="0">
                <a:solidFill>
                  <a:srgbClr val="000000"/>
                </a:solidFill>
                <a:latin typeface="Consolas"/>
              </a:rPr>
              <a:t>:</a:t>
            </a:r>
            <a:r>
              <a:rPr lang="en-US" b="0">
                <a:solidFill>
                  <a:srgbClr val="008080"/>
                </a:solidFill>
                <a:latin typeface="Consolas"/>
              </a:rPr>
              <a:t>.LC0</a:t>
            </a:r>
            <a:endParaRPr lang="en-US" b="0">
              <a:solidFill>
                <a:srgbClr val="000000"/>
              </a:solidFill>
              <a:latin typeface="Consolas"/>
            </a:endParaRPr>
          </a:p>
          <a:p>
            <a:pPr>
              <a:defRPr/>
            </a:pPr>
            <a:r>
              <a:rPr lang="en-US" b="0">
                <a:solidFill>
                  <a:srgbClr val="000000"/>
                </a:solidFill>
                <a:latin typeface="Consolas"/>
              </a:rPr>
              <a:t>        </a:t>
            </a:r>
            <a:r>
              <a:rPr lang="en-US" b="1">
                <a:solidFill>
                  <a:srgbClr val="0000FF"/>
                </a:solidFill>
                <a:latin typeface="Consolas"/>
              </a:rPr>
              <a:t>jmp</a:t>
            </a:r>
            <a:r>
              <a:rPr lang="en-US" b="1">
                <a:solidFill>
                  <a:srgbClr val="000000"/>
                </a:solidFill>
                <a:latin typeface="Consolas"/>
              </a:rPr>
              <a:t>     </a:t>
            </a:r>
            <a:r>
              <a:rPr lang="en-US" b="1">
                <a:solidFill>
                  <a:srgbClr val="008080"/>
                </a:solidFill>
                <a:latin typeface="Consolas"/>
              </a:rPr>
              <a:t>printf</a:t>
            </a:r>
            <a:endParaRPr lang="en-US" b="1">
              <a:solidFill>
                <a:srgbClr val="000000"/>
              </a:solidFill>
              <a:latin typeface="Consolas"/>
            </a:endParaRPr>
          </a:p>
          <a:p>
            <a:pPr>
              <a:defRPr/>
            </a:pPr>
            <a:r>
              <a:rPr lang="en-US" b="0">
                <a:solidFill>
                  <a:srgbClr val="008080"/>
                </a:solidFill>
                <a:latin typeface="Consolas"/>
              </a:rPr>
              <a:t>a():</a:t>
            </a:r>
            <a:endParaRPr lang="en-US" b="0">
              <a:solidFill>
                <a:srgbClr val="000000"/>
              </a:solidFill>
              <a:latin typeface="Consolas"/>
            </a:endParaRPr>
          </a:p>
          <a:p>
            <a:pPr>
              <a:defRPr/>
            </a:pPr>
            <a:r>
              <a:rPr lang="en-US" b="0">
                <a:solidFill>
                  <a:srgbClr val="000000"/>
                </a:solidFill>
                <a:latin typeface="Consolas"/>
              </a:rPr>
              <a:t>        </a:t>
            </a:r>
            <a:r>
              <a:rPr lang="en-US" b="0">
                <a:solidFill>
                  <a:srgbClr val="0000FF"/>
                </a:solidFill>
                <a:latin typeface="Consolas"/>
              </a:rPr>
              <a:t>sub</a:t>
            </a:r>
            <a:r>
              <a:rPr lang="en-US" b="0">
                <a:solidFill>
                  <a:srgbClr val="000000"/>
                </a:solidFill>
                <a:latin typeface="Consolas"/>
              </a:rPr>
              <a:t>     </a:t>
            </a:r>
            <a:r>
              <a:rPr lang="en-US" b="0">
                <a:solidFill>
                  <a:srgbClr val="4864AA"/>
                </a:solidFill>
                <a:latin typeface="Consolas"/>
              </a:rPr>
              <a:t>rsp</a:t>
            </a:r>
            <a:r>
              <a:rPr lang="en-US" b="0">
                <a:solidFill>
                  <a:srgbClr val="000000"/>
                </a:solidFill>
                <a:latin typeface="Consolas"/>
              </a:rPr>
              <a:t>, </a:t>
            </a:r>
            <a:r>
              <a:rPr lang="en-US" b="0">
                <a:solidFill>
                  <a:srgbClr val="098658"/>
                </a:solidFill>
                <a:latin typeface="Consolas"/>
              </a:rPr>
              <a:t>24</a:t>
            </a:r>
            <a:endParaRPr lang="en-US" b="0">
              <a:solidFill>
                <a:srgbClr val="000000"/>
              </a:solidFill>
              <a:latin typeface="Consolas"/>
            </a:endParaRPr>
          </a:p>
          <a:p>
            <a:pPr>
              <a:defRPr/>
            </a:pPr>
            <a:r>
              <a:rPr lang="en-US" b="0">
                <a:solidFill>
                  <a:srgbClr val="000000"/>
                </a:solidFill>
                <a:latin typeface="Consolas"/>
              </a:rPr>
              <a:t>        </a:t>
            </a:r>
            <a:r>
              <a:rPr lang="en-US" b="0">
                <a:solidFill>
                  <a:srgbClr val="0000FF"/>
                </a:solidFill>
                <a:latin typeface="Consolas"/>
              </a:rPr>
              <a:t>mov</a:t>
            </a:r>
            <a:r>
              <a:rPr lang="en-US" b="0">
                <a:solidFill>
                  <a:srgbClr val="000000"/>
                </a:solidFill>
                <a:latin typeface="Consolas"/>
              </a:rPr>
              <a:t>     </a:t>
            </a:r>
            <a:r>
              <a:rPr lang="en-US" b="0">
                <a:solidFill>
                  <a:srgbClr val="4864AA"/>
                </a:solidFill>
                <a:latin typeface="Consolas"/>
              </a:rPr>
              <a:t>edi</a:t>
            </a:r>
            <a:r>
              <a:rPr lang="en-US" b="0">
                <a:solidFill>
                  <a:srgbClr val="000000"/>
                </a:solidFill>
                <a:latin typeface="Consolas"/>
              </a:rPr>
              <a:t>, </a:t>
            </a:r>
            <a:r>
              <a:rPr lang="en-US" b="0">
                <a:solidFill>
                  <a:srgbClr val="008080"/>
                </a:solidFill>
                <a:latin typeface="Consolas"/>
              </a:rPr>
              <a:t>OFFSET</a:t>
            </a:r>
            <a:r>
              <a:rPr lang="en-US" b="0">
                <a:solidFill>
                  <a:srgbClr val="000000"/>
                </a:solidFill>
                <a:latin typeface="Consolas"/>
              </a:rPr>
              <a:t> </a:t>
            </a:r>
            <a:r>
              <a:rPr lang="en-US" b="0">
                <a:solidFill>
                  <a:srgbClr val="008080"/>
                </a:solidFill>
                <a:latin typeface="Consolas"/>
              </a:rPr>
              <a:t>FLAT</a:t>
            </a:r>
            <a:r>
              <a:rPr lang="en-US" b="0">
                <a:solidFill>
                  <a:srgbClr val="000000"/>
                </a:solidFill>
                <a:latin typeface="Consolas"/>
              </a:rPr>
              <a:t>:</a:t>
            </a:r>
            <a:r>
              <a:rPr lang="en-US" b="0">
                <a:solidFill>
                  <a:srgbClr val="008080"/>
                </a:solidFill>
                <a:latin typeface="Consolas"/>
              </a:rPr>
              <a:t>.LC0</a:t>
            </a:r>
            <a:endParaRPr lang="en-US" b="0">
              <a:solidFill>
                <a:srgbClr val="000000"/>
              </a:solidFill>
              <a:latin typeface="Consolas"/>
            </a:endParaRPr>
          </a:p>
          <a:p>
            <a:pPr>
              <a:defRPr/>
            </a:pPr>
            <a:r>
              <a:rPr lang="en-US" b="0">
                <a:solidFill>
                  <a:srgbClr val="000000"/>
                </a:solidFill>
                <a:latin typeface="Consolas"/>
              </a:rPr>
              <a:t>        </a:t>
            </a:r>
            <a:r>
              <a:rPr lang="en-US" b="0">
                <a:solidFill>
                  <a:srgbClr val="0000FF"/>
                </a:solidFill>
                <a:latin typeface="Consolas"/>
              </a:rPr>
              <a:t>xor</a:t>
            </a:r>
            <a:r>
              <a:rPr lang="en-US" b="0">
                <a:solidFill>
                  <a:srgbClr val="000000"/>
                </a:solidFill>
                <a:latin typeface="Consolas"/>
              </a:rPr>
              <a:t>     </a:t>
            </a:r>
            <a:r>
              <a:rPr lang="en-US" b="0">
                <a:solidFill>
                  <a:srgbClr val="4864AA"/>
                </a:solidFill>
                <a:latin typeface="Consolas"/>
              </a:rPr>
              <a:t>eax</a:t>
            </a:r>
            <a:r>
              <a:rPr lang="en-US" b="0">
                <a:solidFill>
                  <a:srgbClr val="000000"/>
                </a:solidFill>
                <a:latin typeface="Consolas"/>
              </a:rPr>
              <a:t>, </a:t>
            </a:r>
            <a:r>
              <a:rPr lang="en-US" b="0">
                <a:solidFill>
                  <a:srgbClr val="4864AA"/>
                </a:solidFill>
                <a:latin typeface="Consolas"/>
              </a:rPr>
              <a:t>eax</a:t>
            </a:r>
            <a:endParaRPr lang="en-US" b="0">
              <a:solidFill>
                <a:srgbClr val="000000"/>
              </a:solidFill>
              <a:latin typeface="Consolas"/>
            </a:endParaRPr>
          </a:p>
          <a:p>
            <a:pPr>
              <a:defRPr/>
            </a:pPr>
            <a:r>
              <a:rPr lang="en-US" b="0">
                <a:solidFill>
                  <a:srgbClr val="000000"/>
                </a:solidFill>
                <a:latin typeface="Consolas"/>
              </a:rPr>
              <a:t>        </a:t>
            </a:r>
            <a:r>
              <a:rPr lang="en-US" b="0">
                <a:solidFill>
                  <a:srgbClr val="0000FF"/>
                </a:solidFill>
                <a:latin typeface="Consolas"/>
              </a:rPr>
              <a:t>lea</a:t>
            </a:r>
            <a:r>
              <a:rPr lang="en-US" b="0">
                <a:solidFill>
                  <a:srgbClr val="000000"/>
                </a:solidFill>
                <a:latin typeface="Consolas"/>
              </a:rPr>
              <a:t>     </a:t>
            </a:r>
            <a:r>
              <a:rPr lang="en-US" b="0">
                <a:solidFill>
                  <a:srgbClr val="4864AA"/>
                </a:solidFill>
                <a:latin typeface="Consolas"/>
              </a:rPr>
              <a:t>rsi</a:t>
            </a:r>
            <a:r>
              <a:rPr lang="en-US" b="0">
                <a:solidFill>
                  <a:srgbClr val="000000"/>
                </a:solidFill>
                <a:latin typeface="Consolas"/>
              </a:rPr>
              <a:t>, [</a:t>
            </a:r>
            <a:r>
              <a:rPr lang="en-US" b="0">
                <a:solidFill>
                  <a:srgbClr val="4864AA"/>
                </a:solidFill>
                <a:latin typeface="Consolas"/>
              </a:rPr>
              <a:t>rsp</a:t>
            </a:r>
            <a:r>
              <a:rPr lang="en-US" b="0">
                <a:solidFill>
                  <a:srgbClr val="000000"/>
                </a:solidFill>
                <a:latin typeface="Consolas"/>
              </a:rPr>
              <a:t>+</a:t>
            </a:r>
            <a:r>
              <a:rPr lang="en-US" b="0">
                <a:solidFill>
                  <a:srgbClr val="098658"/>
                </a:solidFill>
                <a:latin typeface="Consolas"/>
              </a:rPr>
              <a:t>12</a:t>
            </a:r>
            <a:r>
              <a:rPr lang="en-US" b="0">
                <a:solidFill>
                  <a:srgbClr val="000000"/>
                </a:solidFill>
                <a:latin typeface="Consolas"/>
              </a:rPr>
              <a:t>]</a:t>
            </a:r>
            <a:endParaRPr/>
          </a:p>
          <a:p>
            <a:pPr>
              <a:defRPr/>
            </a:pPr>
            <a:r>
              <a:rPr lang="en-US" b="0">
                <a:solidFill>
                  <a:srgbClr val="000000"/>
                </a:solidFill>
                <a:latin typeface="Consolas"/>
              </a:rPr>
              <a:t>        </a:t>
            </a:r>
            <a:r>
              <a:rPr lang="en-US" b="0">
                <a:solidFill>
                  <a:srgbClr val="0000FF"/>
                </a:solidFill>
                <a:latin typeface="Consolas"/>
              </a:rPr>
              <a:t>call</a:t>
            </a:r>
            <a:r>
              <a:rPr lang="en-US" b="0">
                <a:solidFill>
                  <a:srgbClr val="000000"/>
                </a:solidFill>
                <a:latin typeface="Consolas"/>
              </a:rPr>
              <a:t>    </a:t>
            </a:r>
            <a:r>
              <a:rPr lang="en-US" b="0">
                <a:solidFill>
                  <a:srgbClr val="008080"/>
                </a:solidFill>
                <a:latin typeface="Consolas"/>
              </a:rPr>
              <a:t>scanf</a:t>
            </a:r>
            <a:endParaRPr lang="en-US" b="0">
              <a:solidFill>
                <a:srgbClr val="000000"/>
              </a:solidFill>
              <a:latin typeface="Consolas"/>
            </a:endParaRPr>
          </a:p>
          <a:p>
            <a:pPr>
              <a:defRPr/>
            </a:pPr>
            <a:r>
              <a:rPr lang="en-US" b="0">
                <a:solidFill>
                  <a:srgbClr val="000000"/>
                </a:solidFill>
                <a:latin typeface="Consolas"/>
              </a:rPr>
              <a:t>        </a:t>
            </a:r>
            <a:r>
              <a:rPr lang="en-US" b="0">
                <a:solidFill>
                  <a:srgbClr val="0000FF"/>
                </a:solidFill>
                <a:latin typeface="Consolas"/>
              </a:rPr>
              <a:t>mov</a:t>
            </a:r>
            <a:r>
              <a:rPr lang="en-US" b="0">
                <a:solidFill>
                  <a:srgbClr val="000000"/>
                </a:solidFill>
                <a:latin typeface="Consolas"/>
              </a:rPr>
              <a:t>     </a:t>
            </a:r>
            <a:r>
              <a:rPr lang="en-US" b="0">
                <a:solidFill>
                  <a:srgbClr val="4864AA"/>
                </a:solidFill>
                <a:latin typeface="Consolas"/>
              </a:rPr>
              <a:t>edi</a:t>
            </a:r>
            <a:r>
              <a:rPr lang="en-US" b="0">
                <a:solidFill>
                  <a:srgbClr val="000000"/>
                </a:solidFill>
                <a:latin typeface="Consolas"/>
              </a:rPr>
              <a:t>, </a:t>
            </a:r>
            <a:r>
              <a:rPr lang="en-US" b="0">
                <a:solidFill>
                  <a:srgbClr val="808080"/>
                </a:solidFill>
                <a:latin typeface="Consolas"/>
              </a:rPr>
              <a:t>DWORD</a:t>
            </a:r>
            <a:r>
              <a:rPr lang="en-US" b="0">
                <a:solidFill>
                  <a:srgbClr val="000000"/>
                </a:solidFill>
                <a:latin typeface="Consolas"/>
              </a:rPr>
              <a:t> </a:t>
            </a:r>
            <a:r>
              <a:rPr lang="en-US" b="0">
                <a:solidFill>
                  <a:srgbClr val="808080"/>
                </a:solidFill>
                <a:latin typeface="Consolas"/>
              </a:rPr>
              <a:t>PTR</a:t>
            </a:r>
            <a:r>
              <a:rPr lang="en-US" b="0">
                <a:solidFill>
                  <a:srgbClr val="000000"/>
                </a:solidFill>
                <a:latin typeface="Consolas"/>
              </a:rPr>
              <a:t> [</a:t>
            </a:r>
            <a:r>
              <a:rPr lang="en-US" b="0">
                <a:solidFill>
                  <a:srgbClr val="4864AA"/>
                </a:solidFill>
                <a:latin typeface="Consolas"/>
              </a:rPr>
              <a:t>rsp</a:t>
            </a:r>
            <a:r>
              <a:rPr lang="en-US" b="0">
                <a:solidFill>
                  <a:srgbClr val="000000"/>
                </a:solidFill>
                <a:latin typeface="Consolas"/>
              </a:rPr>
              <a:t>+</a:t>
            </a:r>
            <a:r>
              <a:rPr lang="en-US" b="0">
                <a:solidFill>
                  <a:srgbClr val="098658"/>
                </a:solidFill>
                <a:latin typeface="Consolas"/>
              </a:rPr>
              <a:t>12</a:t>
            </a:r>
            <a:r>
              <a:rPr lang="en-US" b="0">
                <a:solidFill>
                  <a:srgbClr val="000000"/>
                </a:solidFill>
                <a:latin typeface="Consolas"/>
              </a:rPr>
              <a:t>]</a:t>
            </a:r>
            <a:endParaRPr/>
          </a:p>
          <a:p>
            <a:pPr>
              <a:defRPr/>
            </a:pPr>
            <a:r>
              <a:rPr lang="en-US" b="0">
                <a:solidFill>
                  <a:srgbClr val="000000"/>
                </a:solidFill>
                <a:latin typeface="Consolas"/>
              </a:rPr>
              <a:t>        </a:t>
            </a:r>
            <a:r>
              <a:rPr lang="en-US" b="0">
                <a:solidFill>
                  <a:srgbClr val="0000FF"/>
                </a:solidFill>
                <a:latin typeface="Consolas"/>
              </a:rPr>
              <a:t>call</a:t>
            </a:r>
            <a:r>
              <a:rPr lang="en-US" b="0">
                <a:solidFill>
                  <a:srgbClr val="000000"/>
                </a:solidFill>
                <a:latin typeface="Consolas"/>
              </a:rPr>
              <a:t>    </a:t>
            </a:r>
            <a:r>
              <a:rPr lang="en-US" b="0">
                <a:solidFill>
                  <a:srgbClr val="008080"/>
                </a:solidFill>
                <a:latin typeface="Consolas"/>
              </a:rPr>
              <a:t>b</a:t>
            </a:r>
            <a:r>
              <a:rPr lang="en-US" b="0">
                <a:solidFill>
                  <a:srgbClr val="000000"/>
                </a:solidFill>
                <a:latin typeface="Consolas"/>
              </a:rPr>
              <a:t>(</a:t>
            </a:r>
            <a:r>
              <a:rPr lang="en-US" b="0">
                <a:solidFill>
                  <a:srgbClr val="008080"/>
                </a:solidFill>
                <a:latin typeface="Consolas"/>
              </a:rPr>
              <a:t>int</a:t>
            </a:r>
            <a:r>
              <a:rPr lang="en-US" b="0">
                <a:solidFill>
                  <a:srgbClr val="000000"/>
                </a:solidFill>
                <a:latin typeface="Consolas"/>
              </a:rPr>
              <a:t>)</a:t>
            </a:r>
            <a:endParaRPr/>
          </a:p>
          <a:p>
            <a:pPr>
              <a:defRPr/>
            </a:pPr>
            <a:r>
              <a:rPr lang="en-US" b="0">
                <a:solidFill>
                  <a:srgbClr val="000000"/>
                </a:solidFill>
                <a:latin typeface="Consolas"/>
              </a:rPr>
              <a:t>        </a:t>
            </a:r>
            <a:r>
              <a:rPr lang="en-US" b="0">
                <a:solidFill>
                  <a:srgbClr val="0000FF"/>
                </a:solidFill>
                <a:latin typeface="Consolas"/>
              </a:rPr>
              <a:t>add</a:t>
            </a:r>
            <a:r>
              <a:rPr lang="en-US" b="0">
                <a:solidFill>
                  <a:srgbClr val="000000"/>
                </a:solidFill>
                <a:latin typeface="Consolas"/>
              </a:rPr>
              <a:t>     </a:t>
            </a:r>
            <a:r>
              <a:rPr lang="en-US" b="0">
                <a:solidFill>
                  <a:srgbClr val="4864AA"/>
                </a:solidFill>
                <a:latin typeface="Consolas"/>
              </a:rPr>
              <a:t>rsp</a:t>
            </a:r>
            <a:r>
              <a:rPr lang="en-US" b="0">
                <a:solidFill>
                  <a:srgbClr val="000000"/>
                </a:solidFill>
                <a:latin typeface="Consolas"/>
              </a:rPr>
              <a:t>, </a:t>
            </a:r>
            <a:r>
              <a:rPr lang="en-US" b="0">
                <a:solidFill>
                  <a:srgbClr val="098658"/>
                </a:solidFill>
                <a:latin typeface="Consolas"/>
              </a:rPr>
              <a:t>24</a:t>
            </a:r>
            <a:endParaRPr lang="en-US" b="0">
              <a:solidFill>
                <a:srgbClr val="000000"/>
              </a:solidFill>
              <a:latin typeface="Consolas"/>
            </a:endParaRPr>
          </a:p>
          <a:p>
            <a:pPr>
              <a:defRPr/>
            </a:pPr>
            <a:r>
              <a:rPr lang="en-US" b="0">
                <a:solidFill>
                  <a:srgbClr val="000000"/>
                </a:solidFill>
                <a:latin typeface="Consolas"/>
              </a:rPr>
              <a:t>        </a:t>
            </a:r>
            <a:r>
              <a:rPr lang="en-US" b="0">
                <a:solidFill>
                  <a:srgbClr val="0000FF"/>
                </a:solidFill>
                <a:latin typeface="Consolas"/>
              </a:rPr>
              <a:t>ret</a:t>
            </a:r>
            <a:endParaRPr lang="en-US" b="0">
              <a:solidFill>
                <a:srgbClr val="000000"/>
              </a:solidFill>
              <a:latin typeface="Consolas"/>
            </a:endParaRPr>
          </a:p>
        </p:txBody>
      </p:sp>
      <p:sp>
        <p:nvSpPr>
          <p:cNvPr id="197604094" name="TextBox 9"/>
          <p:cNvSpPr txBox="1"/>
          <p:nvPr/>
        </p:nvSpPr>
        <p:spPr bwMode="auto">
          <a:xfrm>
            <a:off x="4664673" y="4742145"/>
            <a:ext cx="1171575" cy="369332"/>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a:spAutoFit/>
          </a:bodyPr>
          <a:lstStyle/>
          <a:p>
            <a:pPr>
              <a:defRPr/>
            </a:pPr>
            <a:r>
              <a:rPr lang="en-US" b="0">
                <a:solidFill>
                  <a:srgbClr val="008080"/>
                </a:solidFill>
                <a:latin typeface="Consolas"/>
              </a:rPr>
              <a:t>printf</a:t>
            </a:r>
            <a:endParaRPr lang="ru-RU"/>
          </a:p>
        </p:txBody>
      </p:sp>
      <p:sp>
        <p:nvSpPr>
          <p:cNvPr id="1365120426" name="Прямоугольник 10"/>
          <p:cNvSpPr/>
          <p:nvPr/>
        </p:nvSpPr>
        <p:spPr bwMode="auto">
          <a:xfrm>
            <a:off x="6978692" y="2627055"/>
            <a:ext cx="270163" cy="415636"/>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defRPr/>
            </a:pPr>
            <a:endParaRPr lang="ru-RU"/>
          </a:p>
        </p:txBody>
      </p:sp>
      <p:sp>
        <p:nvSpPr>
          <p:cNvPr id="674599406" name="Прямоугольник 11"/>
          <p:cNvSpPr/>
          <p:nvPr/>
        </p:nvSpPr>
        <p:spPr bwMode="auto">
          <a:xfrm>
            <a:off x="7160532" y="5857677"/>
            <a:ext cx="176645" cy="336029"/>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defRPr/>
            </a:pPr>
            <a:endParaRPr lang="ru-RU"/>
          </a:p>
        </p:txBody>
      </p:sp>
      <p:cxnSp>
        <p:nvCxnSpPr>
          <p:cNvPr id="1782991767" name="Соединитель: изогнутый 12"/>
          <p:cNvCxnSpPr>
            <a:stCxn id="674599406" idx="1"/>
            <a:endCxn id="1365120426" idx="1"/>
          </p:cNvCxnSpPr>
          <p:nvPr/>
        </p:nvCxnSpPr>
        <p:spPr bwMode="auto">
          <a:xfrm rot="10800000">
            <a:off x="6978692" y="2834874"/>
            <a:ext cx="181840" cy="3190819"/>
          </a:xfrm>
          <a:prstGeom prst="curvedConnector3">
            <a:avLst>
              <a:gd name="adj1" fmla="val 225715"/>
            </a:avLst>
          </a:prstGeom>
          <a:ln>
            <a:tailEnd type="triangle"/>
          </a:ln>
        </p:spPr>
        <p:style>
          <a:lnRef idx="2">
            <a:schemeClr val="dk1"/>
          </a:lnRef>
          <a:fillRef idx="1">
            <a:schemeClr val="lt1"/>
          </a:fillRef>
          <a:effectRef idx="0">
            <a:schemeClr val="dk1"/>
          </a:effectRef>
          <a:fontRef idx="minor">
            <a:schemeClr val="dk1"/>
          </a:fontRef>
        </p:style>
      </p:cxnSp>
      <p:sp>
        <p:nvSpPr>
          <p:cNvPr id="1860011110" name="Прямоугольник 13"/>
          <p:cNvSpPr/>
          <p:nvPr/>
        </p:nvSpPr>
        <p:spPr bwMode="auto">
          <a:xfrm>
            <a:off x="4936779" y="4801129"/>
            <a:ext cx="397768" cy="293873"/>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defRPr/>
            </a:pPr>
            <a:endParaRPr lang="ru-RU"/>
          </a:p>
        </p:txBody>
      </p:sp>
      <p:sp>
        <p:nvSpPr>
          <p:cNvPr id="1439217290" name="Прямоугольник 15"/>
          <p:cNvSpPr/>
          <p:nvPr/>
        </p:nvSpPr>
        <p:spPr bwMode="auto">
          <a:xfrm>
            <a:off x="7014942" y="3765937"/>
            <a:ext cx="135082" cy="139924"/>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defRPr/>
            </a:pPr>
            <a:endParaRPr lang="ru-RU"/>
          </a:p>
        </p:txBody>
      </p:sp>
      <p:cxnSp>
        <p:nvCxnSpPr>
          <p:cNvPr id="110829040" name="Соединитель: изогнутый 17"/>
          <p:cNvCxnSpPr>
            <a:stCxn id="1439217290" idx="1"/>
            <a:endCxn id="1860011110" idx="0"/>
          </p:cNvCxnSpPr>
          <p:nvPr/>
        </p:nvCxnSpPr>
        <p:spPr bwMode="auto">
          <a:xfrm rot="10800000" flipV="1">
            <a:off x="5135663" y="3835899"/>
            <a:ext cx="1879277" cy="965230"/>
          </a:xfrm>
          <a:prstGeom prst="curvedConnector2">
            <a:avLst/>
          </a:prstGeom>
          <a:ln>
            <a:tailEnd type="triangle"/>
          </a:ln>
        </p:spPr>
        <p:style>
          <a:lnRef idx="2">
            <a:schemeClr val="dk1"/>
          </a:lnRef>
          <a:fillRef idx="1">
            <a:schemeClr val="lt1"/>
          </a:fillRef>
          <a:effectRef idx="0">
            <a:schemeClr val="dk1"/>
          </a:effectRef>
          <a:fontRef idx="minor">
            <a:schemeClr val="dk1"/>
          </a:fontRef>
        </p:style>
      </p:cxnSp>
      <p:cxnSp>
        <p:nvCxnSpPr>
          <p:cNvPr id="1151963178" name="Соединитель: изогнутый 19"/>
          <p:cNvCxnSpPr>
            <a:stCxn id="1860011110" idx="2"/>
            <a:endCxn id="2049154448" idx="1"/>
          </p:cNvCxnSpPr>
          <p:nvPr/>
        </p:nvCxnSpPr>
        <p:spPr bwMode="auto">
          <a:xfrm rot="16199999" flipH="1">
            <a:off x="5517858" y="4712807"/>
            <a:ext cx="1213720" cy="1978110"/>
          </a:xfrm>
          <a:prstGeom prst="curvedConnector2">
            <a:avLst/>
          </a:prstGeom>
          <a:ln>
            <a:tailEnd type="triangle"/>
          </a:ln>
        </p:spPr>
        <p:style>
          <a:lnRef idx="2">
            <a:schemeClr val="dk1"/>
          </a:lnRef>
          <a:fillRef idx="1">
            <a:schemeClr val="lt1"/>
          </a:fillRef>
          <a:effectRef idx="0">
            <a:schemeClr val="dk1"/>
          </a:effectRef>
          <a:fontRef idx="minor">
            <a:schemeClr val="dk1"/>
          </a:fontRef>
        </p:style>
      </p:cxnSp>
      <p:sp>
        <p:nvSpPr>
          <p:cNvPr id="2049154448" name="Прямоугольник 23"/>
          <p:cNvSpPr/>
          <p:nvPr/>
        </p:nvSpPr>
        <p:spPr bwMode="auto">
          <a:xfrm>
            <a:off x="7113773" y="6217630"/>
            <a:ext cx="256841" cy="182183"/>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defRPr/>
            </a:pPr>
            <a:endParaRPr lang="ru-RU"/>
          </a:p>
        </p:txBody>
      </p:sp>
      <p:sp>
        <p:nvSpPr>
          <p:cNvPr id="2050874105" name="TextBox 2050874104"/>
          <p:cNvSpPr txBox="1"/>
          <p:nvPr/>
        </p:nvSpPr>
        <p:spPr bwMode="auto">
          <a:xfrm>
            <a:off x="838199" y="1300524"/>
            <a:ext cx="10919358" cy="640440"/>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marL="0" indent="0" algn="l">
              <a:buNone/>
              <a:defRPr/>
            </a:pPr>
            <a:r>
              <a:rPr lang="ru-RU"/>
              <a:t>Если функция оканчивается вызовом другой функции, то компилятор может заменить </a:t>
            </a:r>
            <a:r>
              <a:rPr lang="en-US"/>
              <a:t>call </a:t>
            </a:r>
            <a:r>
              <a:rPr lang="ru-RU"/>
              <a:t>на </a:t>
            </a:r>
            <a:r>
              <a:rPr lang="en-US"/>
              <a:t>jmp</a:t>
            </a:r>
            <a:r>
              <a:rPr lang="ru-RU"/>
              <a:t>. При этом на стеке остается исходный адрес возврата, который используется вызванной функцией.</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279192559" name="Заголовок 1"/>
          <p:cNvSpPr>
            <a:spLocks noGrp="1"/>
          </p:cNvSpPr>
          <p:nvPr>
            <p:ph type="title"/>
          </p:nvPr>
        </p:nvSpPr>
        <p:spPr bwMode="auto"/>
        <p:txBody>
          <a:bodyPr/>
          <a:lstStyle/>
          <a:p>
            <a:pPr>
              <a:defRPr/>
            </a:pPr>
            <a:r>
              <a:rPr lang="ru-RU"/>
              <a:t>Простые оптимизации: хвостовая рекурсия</a:t>
            </a:r>
            <a:endParaRPr lang="en-US"/>
          </a:p>
        </p:txBody>
      </p:sp>
      <p:sp>
        <p:nvSpPr>
          <p:cNvPr id="844218211" name="Номер слайда 4"/>
          <p:cNvSpPr>
            <a:spLocks noGrp="1"/>
          </p:cNvSpPr>
          <p:nvPr>
            <p:ph type="sldNum" sz="quarter" idx="12"/>
          </p:nvPr>
        </p:nvSpPr>
        <p:spPr bwMode="auto"/>
        <p:txBody>
          <a:bodyPr/>
          <a:lstStyle/>
          <a:p>
            <a:pPr>
              <a:defRPr/>
            </a:pPr>
            <a:fld id="{48BE01C5-06D9-F94E-10B9-D9F786B2DE9C}" type="slidenum">
              <a:rPr lang="en-US"/>
              <a:t>9</a:t>
            </a:fld>
            <a:endParaRPr lang="en-US"/>
          </a:p>
        </p:txBody>
      </p:sp>
      <p:sp>
        <p:nvSpPr>
          <p:cNvPr id="1328631751" name=" 1328631750"/>
          <p:cNvSpPr/>
          <p:nvPr/>
        </p:nvSpPr>
        <p:spPr bwMode="auto">
          <a:xfrm>
            <a:off x="5597853" y="1459488"/>
            <a:ext cx="6673979" cy="4633319"/>
          </a:xfr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defRPr/>
            </a:pPr>
            <a:r>
              <a:rPr sz="1600" b="0" i="0" u="none" dirty="0">
                <a:solidFill>
                  <a:srgbClr val="0000FF"/>
                </a:solidFill>
                <a:latin typeface="Consolas"/>
                <a:ea typeface="Consolas"/>
                <a:cs typeface="Consolas"/>
              </a:rPr>
              <a:t>const</a:t>
            </a:r>
            <a:r>
              <a:rPr sz="1600" b="0" i="0" u="none" dirty="0">
                <a:solidFill>
                  <a:srgbClr val="000000"/>
                </a:solidFill>
                <a:latin typeface="Consolas"/>
                <a:ea typeface="Consolas"/>
                <a:cs typeface="Consolas"/>
              </a:rPr>
              <a:t> </a:t>
            </a:r>
            <a:r>
              <a:rPr sz="1600" b="0" i="0" u="none" dirty="0">
                <a:solidFill>
                  <a:srgbClr val="0000FF"/>
                </a:solidFill>
                <a:latin typeface="Consolas"/>
                <a:ea typeface="Consolas"/>
                <a:cs typeface="Consolas"/>
              </a:rPr>
              <a:t>int</a:t>
            </a:r>
            <a:r>
              <a:rPr sz="1600" b="0" i="0" u="none" dirty="0">
                <a:solidFill>
                  <a:srgbClr val="000000"/>
                </a:solidFill>
                <a:latin typeface="Consolas"/>
                <a:ea typeface="Consolas"/>
                <a:cs typeface="Consolas"/>
              </a:rPr>
              <a:t>*  search(</a:t>
            </a:r>
            <a:r>
              <a:rPr sz="1600" b="0" i="0" u="none" dirty="0">
                <a:solidFill>
                  <a:srgbClr val="0000FF"/>
                </a:solidFill>
                <a:latin typeface="Consolas"/>
                <a:ea typeface="Consolas"/>
                <a:cs typeface="Consolas"/>
              </a:rPr>
              <a:t>const</a:t>
            </a:r>
            <a:r>
              <a:rPr sz="1600" b="0" i="0" u="none" dirty="0">
                <a:solidFill>
                  <a:srgbClr val="000000"/>
                </a:solidFill>
                <a:latin typeface="Consolas"/>
                <a:ea typeface="Consolas"/>
                <a:cs typeface="Consolas"/>
              </a:rPr>
              <a:t> </a:t>
            </a:r>
            <a:r>
              <a:rPr sz="1600" b="0" i="0" u="none" dirty="0">
                <a:solidFill>
                  <a:srgbClr val="0000FF"/>
                </a:solidFill>
                <a:latin typeface="Consolas"/>
                <a:ea typeface="Consolas"/>
                <a:cs typeface="Consolas"/>
              </a:rPr>
              <a:t>int</a:t>
            </a:r>
            <a:r>
              <a:rPr sz="1600" b="0" i="0" u="none" dirty="0">
                <a:solidFill>
                  <a:srgbClr val="000000"/>
                </a:solidFill>
                <a:latin typeface="Consolas"/>
                <a:ea typeface="Consolas"/>
                <a:cs typeface="Consolas"/>
              </a:rPr>
              <a:t>* start, </a:t>
            </a:r>
            <a:r>
              <a:rPr sz="1600" b="0" i="0" u="none" dirty="0">
                <a:solidFill>
                  <a:srgbClr val="0000FF"/>
                </a:solidFill>
                <a:latin typeface="Consolas"/>
                <a:ea typeface="Consolas"/>
                <a:cs typeface="Consolas"/>
              </a:rPr>
              <a:t>const</a:t>
            </a:r>
            <a:r>
              <a:rPr sz="1600" b="0" i="0" u="none" dirty="0">
                <a:solidFill>
                  <a:srgbClr val="000000"/>
                </a:solidFill>
                <a:latin typeface="Consolas"/>
                <a:ea typeface="Consolas"/>
                <a:cs typeface="Consolas"/>
              </a:rPr>
              <a:t> </a:t>
            </a:r>
            <a:r>
              <a:rPr sz="1600" b="0" i="0" u="none" dirty="0">
                <a:solidFill>
                  <a:srgbClr val="0000FF"/>
                </a:solidFill>
                <a:latin typeface="Consolas"/>
                <a:ea typeface="Consolas"/>
                <a:cs typeface="Consolas"/>
              </a:rPr>
              <a:t>int</a:t>
            </a:r>
            <a:r>
              <a:rPr sz="1600" b="0" i="0" u="none" dirty="0">
                <a:solidFill>
                  <a:srgbClr val="000000"/>
                </a:solidFill>
                <a:latin typeface="Consolas"/>
                <a:ea typeface="Consolas"/>
                <a:cs typeface="Consolas"/>
              </a:rPr>
              <a:t>* end, </a:t>
            </a:r>
            <a:endParaRPr sz="2600" dirty="0"/>
          </a:p>
          <a:p>
            <a:pPr>
              <a:defRPr/>
            </a:pPr>
            <a:r>
              <a:rPr sz="1600" b="0" i="0" u="none" dirty="0">
                <a:solidFill>
                  <a:srgbClr val="000000"/>
                </a:solidFill>
                <a:latin typeface="Consolas"/>
                <a:ea typeface="Consolas"/>
                <a:cs typeface="Consolas"/>
              </a:rPr>
              <a:t>                                        </a:t>
            </a:r>
            <a:r>
              <a:rPr sz="1600" b="0" i="0" u="none" dirty="0">
                <a:solidFill>
                  <a:srgbClr val="0000FF"/>
                </a:solidFill>
                <a:latin typeface="Consolas"/>
                <a:ea typeface="Consolas"/>
                <a:cs typeface="Consolas"/>
              </a:rPr>
              <a:t>int</a:t>
            </a:r>
            <a:r>
              <a:rPr sz="1600" b="0" i="0" u="none" dirty="0">
                <a:solidFill>
                  <a:srgbClr val="000000"/>
                </a:solidFill>
                <a:latin typeface="Consolas"/>
                <a:ea typeface="Consolas"/>
                <a:cs typeface="Consolas"/>
              </a:rPr>
              <a:t> value){</a:t>
            </a:r>
            <a:endParaRPr sz="2600" dirty="0"/>
          </a:p>
          <a:p>
            <a:pPr>
              <a:defRPr/>
            </a:pPr>
            <a:r>
              <a:rPr sz="1600" b="0" i="0" u="none" dirty="0">
                <a:solidFill>
                  <a:srgbClr val="000000"/>
                </a:solidFill>
                <a:latin typeface="Consolas"/>
                <a:ea typeface="Consolas"/>
                <a:cs typeface="Consolas"/>
              </a:rPr>
              <a:t>    </a:t>
            </a:r>
            <a:r>
              <a:rPr sz="1600" b="0" i="0" u="none" dirty="0">
                <a:solidFill>
                  <a:srgbClr val="0000FF"/>
                </a:solidFill>
                <a:latin typeface="Consolas"/>
                <a:ea typeface="Consolas"/>
                <a:cs typeface="Consolas"/>
              </a:rPr>
              <a:t>while</a:t>
            </a:r>
            <a:r>
              <a:rPr sz="1600" b="0" i="0" u="none" dirty="0">
                <a:solidFill>
                  <a:srgbClr val="000000"/>
                </a:solidFill>
                <a:latin typeface="Consolas"/>
                <a:ea typeface="Consolas"/>
                <a:cs typeface="Consolas"/>
              </a:rPr>
              <a:t>(start != end){</a:t>
            </a:r>
            <a:endParaRPr sz="2600" dirty="0"/>
          </a:p>
          <a:p>
            <a:pPr>
              <a:defRPr/>
            </a:pPr>
            <a:r>
              <a:rPr sz="1600" b="0" i="0" u="none" dirty="0">
                <a:solidFill>
                  <a:srgbClr val="000000"/>
                </a:solidFill>
                <a:latin typeface="Consolas"/>
                <a:ea typeface="Consolas"/>
                <a:cs typeface="Consolas"/>
              </a:rPr>
              <a:t>        </a:t>
            </a:r>
            <a:r>
              <a:rPr sz="1600" b="0" i="0" u="none" dirty="0">
                <a:solidFill>
                  <a:srgbClr val="0000FF"/>
                </a:solidFill>
                <a:latin typeface="Consolas"/>
                <a:ea typeface="Consolas"/>
                <a:cs typeface="Consolas"/>
              </a:rPr>
              <a:t>if</a:t>
            </a:r>
            <a:r>
              <a:rPr sz="1600" b="0" i="0" u="none" dirty="0">
                <a:solidFill>
                  <a:srgbClr val="000000"/>
                </a:solidFill>
                <a:latin typeface="Consolas"/>
                <a:ea typeface="Consolas"/>
                <a:cs typeface="Consolas"/>
              </a:rPr>
              <a:t>(*start == value)</a:t>
            </a:r>
            <a:endParaRPr sz="2600" dirty="0"/>
          </a:p>
          <a:p>
            <a:pPr>
              <a:defRPr/>
            </a:pPr>
            <a:r>
              <a:rPr sz="1600" b="0" i="0" u="none" dirty="0">
                <a:solidFill>
                  <a:srgbClr val="000000"/>
                </a:solidFill>
                <a:latin typeface="Consolas"/>
                <a:ea typeface="Consolas"/>
                <a:cs typeface="Consolas"/>
              </a:rPr>
              <a:t>            </a:t>
            </a:r>
            <a:r>
              <a:rPr sz="1600" b="0" i="0" u="none" dirty="0">
                <a:solidFill>
                  <a:srgbClr val="0000FF"/>
                </a:solidFill>
                <a:latin typeface="Consolas"/>
                <a:ea typeface="Consolas"/>
                <a:cs typeface="Consolas"/>
              </a:rPr>
              <a:t>return</a:t>
            </a:r>
            <a:r>
              <a:rPr sz="1600" b="0" i="0" u="none" dirty="0">
                <a:solidFill>
                  <a:srgbClr val="000000"/>
                </a:solidFill>
                <a:latin typeface="Consolas"/>
                <a:ea typeface="Consolas"/>
                <a:cs typeface="Consolas"/>
              </a:rPr>
              <a:t> start;</a:t>
            </a:r>
            <a:endParaRPr sz="2600" dirty="0"/>
          </a:p>
          <a:p>
            <a:pPr>
              <a:defRPr/>
            </a:pPr>
            <a:r>
              <a:rPr sz="1600" b="0" i="0" u="none" dirty="0">
                <a:solidFill>
                  <a:srgbClr val="000000"/>
                </a:solidFill>
                <a:latin typeface="Consolas"/>
                <a:ea typeface="Consolas"/>
                <a:cs typeface="Consolas"/>
              </a:rPr>
              <a:t>        ++start;</a:t>
            </a:r>
            <a:endParaRPr sz="2600" dirty="0"/>
          </a:p>
          <a:p>
            <a:pPr>
              <a:defRPr/>
            </a:pPr>
            <a:r>
              <a:rPr sz="1600" b="0" i="0" u="none" dirty="0">
                <a:solidFill>
                  <a:srgbClr val="000000"/>
                </a:solidFill>
                <a:latin typeface="Consolas"/>
                <a:ea typeface="Consolas"/>
                <a:cs typeface="Consolas"/>
              </a:rPr>
              <a:t>    }</a:t>
            </a:r>
            <a:endParaRPr sz="2600" dirty="0"/>
          </a:p>
          <a:p>
            <a:pPr>
              <a:defRPr/>
            </a:pPr>
            <a:r>
              <a:rPr sz="1600" b="0" i="0" u="none" dirty="0">
                <a:solidFill>
                  <a:srgbClr val="000000"/>
                </a:solidFill>
                <a:latin typeface="Consolas"/>
                <a:ea typeface="Consolas"/>
                <a:cs typeface="Consolas"/>
              </a:rPr>
              <a:t>    </a:t>
            </a:r>
            <a:r>
              <a:rPr sz="1600" b="0" i="0" u="none" dirty="0">
                <a:solidFill>
                  <a:srgbClr val="0000FF"/>
                </a:solidFill>
                <a:latin typeface="Consolas"/>
                <a:ea typeface="Consolas"/>
                <a:cs typeface="Consolas"/>
              </a:rPr>
              <a:t>return</a:t>
            </a:r>
            <a:r>
              <a:rPr sz="1600" b="0" i="0" u="none" dirty="0">
                <a:solidFill>
                  <a:srgbClr val="000000"/>
                </a:solidFill>
                <a:latin typeface="Consolas"/>
                <a:ea typeface="Consolas"/>
                <a:cs typeface="Consolas"/>
              </a:rPr>
              <a:t> </a:t>
            </a:r>
            <a:r>
              <a:rPr sz="1600" b="0" i="0" u="none" dirty="0" err="1">
                <a:solidFill>
                  <a:srgbClr val="0000FF"/>
                </a:solidFill>
                <a:latin typeface="Consolas"/>
                <a:ea typeface="Consolas"/>
                <a:cs typeface="Consolas"/>
              </a:rPr>
              <a:t>nullptr</a:t>
            </a:r>
            <a:r>
              <a:rPr sz="1600" b="0" i="0" u="none" dirty="0">
                <a:solidFill>
                  <a:srgbClr val="000000"/>
                </a:solidFill>
                <a:latin typeface="Consolas"/>
                <a:ea typeface="Consolas"/>
                <a:cs typeface="Consolas"/>
              </a:rPr>
              <a:t>;</a:t>
            </a:r>
            <a:endParaRPr sz="2600" dirty="0"/>
          </a:p>
          <a:p>
            <a:pPr>
              <a:defRPr/>
            </a:pPr>
            <a:r>
              <a:rPr sz="1600" b="0" i="0" u="none" dirty="0">
                <a:solidFill>
                  <a:srgbClr val="000000"/>
                </a:solidFill>
                <a:latin typeface="Consolas"/>
                <a:ea typeface="Consolas"/>
                <a:cs typeface="Consolas"/>
              </a:rPr>
              <a:t>}</a:t>
            </a:r>
            <a:br>
              <a:rPr sz="1600" b="0" i="0" u="none" dirty="0">
                <a:solidFill>
                  <a:srgbClr val="000000"/>
                </a:solidFill>
                <a:latin typeface="Consolas"/>
                <a:ea typeface="Consolas"/>
                <a:cs typeface="Consolas"/>
              </a:rPr>
            </a:br>
            <a:endParaRPr sz="2600" dirty="0"/>
          </a:p>
          <a:p>
            <a:pPr>
              <a:defRPr/>
            </a:pPr>
            <a:r>
              <a:rPr sz="1600" b="0" i="0" u="none" dirty="0">
                <a:solidFill>
                  <a:srgbClr val="0000FF"/>
                </a:solidFill>
                <a:latin typeface="Consolas"/>
                <a:ea typeface="Consolas"/>
                <a:cs typeface="Consolas"/>
              </a:rPr>
              <a:t>const</a:t>
            </a:r>
            <a:r>
              <a:rPr sz="1600" b="0" i="0" u="none" dirty="0">
                <a:solidFill>
                  <a:srgbClr val="000000"/>
                </a:solidFill>
                <a:latin typeface="Consolas"/>
                <a:ea typeface="Consolas"/>
                <a:cs typeface="Consolas"/>
              </a:rPr>
              <a:t> </a:t>
            </a:r>
            <a:r>
              <a:rPr sz="1600" b="0" i="0" u="none" dirty="0">
                <a:solidFill>
                  <a:srgbClr val="0000FF"/>
                </a:solidFill>
                <a:latin typeface="Consolas"/>
                <a:ea typeface="Consolas"/>
                <a:cs typeface="Consolas"/>
              </a:rPr>
              <a:t>int</a:t>
            </a:r>
            <a:r>
              <a:rPr sz="1600" b="0" i="0" u="none" dirty="0">
                <a:solidFill>
                  <a:srgbClr val="000000"/>
                </a:solidFill>
                <a:latin typeface="Consolas"/>
                <a:ea typeface="Consolas"/>
                <a:cs typeface="Consolas"/>
              </a:rPr>
              <a:t>*  </a:t>
            </a:r>
            <a:r>
              <a:rPr sz="1600" b="0" i="0" u="none" dirty="0" err="1">
                <a:solidFill>
                  <a:srgbClr val="000000"/>
                </a:solidFill>
                <a:latin typeface="Consolas"/>
                <a:ea typeface="Consolas"/>
                <a:cs typeface="Consolas"/>
              </a:rPr>
              <a:t>search_rec</a:t>
            </a:r>
            <a:r>
              <a:rPr sz="1600" b="0" i="0" u="none" dirty="0">
                <a:solidFill>
                  <a:srgbClr val="000000"/>
                </a:solidFill>
                <a:latin typeface="Consolas"/>
                <a:ea typeface="Consolas"/>
                <a:cs typeface="Consolas"/>
              </a:rPr>
              <a:t>(</a:t>
            </a:r>
            <a:r>
              <a:rPr sz="1600" b="0" i="0" u="none" dirty="0">
                <a:solidFill>
                  <a:srgbClr val="0000FF"/>
                </a:solidFill>
                <a:latin typeface="Consolas"/>
                <a:ea typeface="Consolas"/>
                <a:cs typeface="Consolas"/>
              </a:rPr>
              <a:t>const</a:t>
            </a:r>
            <a:r>
              <a:rPr sz="1600" b="0" i="0" u="none" dirty="0">
                <a:solidFill>
                  <a:srgbClr val="000000"/>
                </a:solidFill>
                <a:latin typeface="Consolas"/>
                <a:ea typeface="Consolas"/>
                <a:cs typeface="Consolas"/>
              </a:rPr>
              <a:t> </a:t>
            </a:r>
            <a:r>
              <a:rPr sz="1600" b="0" i="0" u="none" dirty="0">
                <a:solidFill>
                  <a:srgbClr val="0000FF"/>
                </a:solidFill>
                <a:latin typeface="Consolas"/>
                <a:ea typeface="Consolas"/>
                <a:cs typeface="Consolas"/>
              </a:rPr>
              <a:t>int</a:t>
            </a:r>
            <a:r>
              <a:rPr sz="1600" b="0" i="0" u="none" dirty="0">
                <a:solidFill>
                  <a:srgbClr val="000000"/>
                </a:solidFill>
                <a:latin typeface="Consolas"/>
                <a:ea typeface="Consolas"/>
                <a:cs typeface="Consolas"/>
              </a:rPr>
              <a:t>* start, </a:t>
            </a:r>
            <a:r>
              <a:rPr sz="1600" b="0" i="0" u="none" dirty="0">
                <a:solidFill>
                  <a:srgbClr val="0000FF"/>
                </a:solidFill>
                <a:latin typeface="Consolas"/>
                <a:ea typeface="Consolas"/>
                <a:cs typeface="Consolas"/>
              </a:rPr>
              <a:t>const</a:t>
            </a:r>
            <a:r>
              <a:rPr sz="1600" b="0" i="0" u="none" dirty="0">
                <a:solidFill>
                  <a:srgbClr val="000000"/>
                </a:solidFill>
                <a:latin typeface="Consolas"/>
                <a:ea typeface="Consolas"/>
                <a:cs typeface="Consolas"/>
              </a:rPr>
              <a:t> </a:t>
            </a:r>
            <a:r>
              <a:rPr sz="1600" b="0" i="0" u="none" dirty="0">
                <a:solidFill>
                  <a:srgbClr val="0000FF"/>
                </a:solidFill>
                <a:latin typeface="Consolas"/>
                <a:ea typeface="Consolas"/>
                <a:cs typeface="Consolas"/>
              </a:rPr>
              <a:t>int</a:t>
            </a:r>
            <a:r>
              <a:rPr sz="1600" b="0" i="0" u="none" dirty="0">
                <a:solidFill>
                  <a:srgbClr val="000000"/>
                </a:solidFill>
                <a:latin typeface="Consolas"/>
                <a:ea typeface="Consolas"/>
                <a:cs typeface="Consolas"/>
              </a:rPr>
              <a:t>* end, </a:t>
            </a:r>
            <a:endParaRPr sz="2600" dirty="0"/>
          </a:p>
          <a:p>
            <a:pPr>
              <a:defRPr/>
            </a:pPr>
            <a:r>
              <a:rPr sz="1600" b="0" i="0" u="none" dirty="0">
                <a:solidFill>
                  <a:srgbClr val="000000"/>
                </a:solidFill>
                <a:latin typeface="Consolas"/>
                <a:ea typeface="Consolas"/>
                <a:cs typeface="Consolas"/>
              </a:rPr>
              <a:t>                                            </a:t>
            </a:r>
            <a:r>
              <a:rPr sz="1600" b="0" i="0" u="none" dirty="0">
                <a:solidFill>
                  <a:srgbClr val="0000FF"/>
                </a:solidFill>
                <a:latin typeface="Consolas"/>
                <a:ea typeface="Consolas"/>
                <a:cs typeface="Consolas"/>
              </a:rPr>
              <a:t>int</a:t>
            </a:r>
            <a:r>
              <a:rPr sz="1600" b="0" i="0" u="none" dirty="0">
                <a:solidFill>
                  <a:srgbClr val="000000"/>
                </a:solidFill>
                <a:latin typeface="Consolas"/>
                <a:ea typeface="Consolas"/>
                <a:cs typeface="Consolas"/>
              </a:rPr>
              <a:t> value){</a:t>
            </a:r>
            <a:endParaRPr sz="2600" dirty="0"/>
          </a:p>
          <a:p>
            <a:pPr>
              <a:defRPr/>
            </a:pPr>
            <a:r>
              <a:rPr sz="1600" b="0" i="0" u="none" dirty="0">
                <a:solidFill>
                  <a:srgbClr val="000000"/>
                </a:solidFill>
                <a:latin typeface="Consolas"/>
                <a:ea typeface="Consolas"/>
                <a:cs typeface="Consolas"/>
              </a:rPr>
              <a:t>    </a:t>
            </a:r>
            <a:r>
              <a:rPr sz="1600" b="0" i="0" u="none" dirty="0">
                <a:solidFill>
                  <a:srgbClr val="0000FF"/>
                </a:solidFill>
                <a:latin typeface="Consolas"/>
                <a:ea typeface="Consolas"/>
                <a:cs typeface="Consolas"/>
              </a:rPr>
              <a:t>if</a:t>
            </a:r>
            <a:r>
              <a:rPr sz="1600" b="0" i="0" u="none" dirty="0">
                <a:solidFill>
                  <a:srgbClr val="000000"/>
                </a:solidFill>
                <a:latin typeface="Consolas"/>
                <a:ea typeface="Consolas"/>
                <a:cs typeface="Consolas"/>
              </a:rPr>
              <a:t>(start == end)</a:t>
            </a:r>
            <a:endParaRPr sz="2600" dirty="0"/>
          </a:p>
          <a:p>
            <a:pPr>
              <a:defRPr/>
            </a:pPr>
            <a:r>
              <a:rPr sz="1600" b="0" i="0" u="none" dirty="0">
                <a:solidFill>
                  <a:srgbClr val="000000"/>
                </a:solidFill>
                <a:latin typeface="Consolas"/>
                <a:ea typeface="Consolas"/>
                <a:cs typeface="Consolas"/>
              </a:rPr>
              <a:t>        </a:t>
            </a:r>
            <a:r>
              <a:rPr sz="1600" b="0" i="0" u="none" dirty="0">
                <a:solidFill>
                  <a:srgbClr val="0000FF"/>
                </a:solidFill>
                <a:latin typeface="Consolas"/>
                <a:ea typeface="Consolas"/>
                <a:cs typeface="Consolas"/>
              </a:rPr>
              <a:t>return</a:t>
            </a:r>
            <a:r>
              <a:rPr sz="1600" b="0" i="0" u="none" dirty="0">
                <a:solidFill>
                  <a:srgbClr val="000000"/>
                </a:solidFill>
                <a:latin typeface="Consolas"/>
                <a:ea typeface="Consolas"/>
                <a:cs typeface="Consolas"/>
              </a:rPr>
              <a:t> </a:t>
            </a:r>
            <a:r>
              <a:rPr sz="1600" b="0" i="0" u="none" dirty="0" err="1">
                <a:solidFill>
                  <a:srgbClr val="0000FF"/>
                </a:solidFill>
                <a:latin typeface="Consolas"/>
                <a:ea typeface="Consolas"/>
                <a:cs typeface="Consolas"/>
              </a:rPr>
              <a:t>nullptr</a:t>
            </a:r>
            <a:r>
              <a:rPr sz="1600" b="0" i="0" u="none" dirty="0">
                <a:solidFill>
                  <a:srgbClr val="000000"/>
                </a:solidFill>
                <a:latin typeface="Consolas"/>
                <a:ea typeface="Consolas"/>
                <a:cs typeface="Consolas"/>
              </a:rPr>
              <a:t>;</a:t>
            </a:r>
            <a:endParaRPr sz="2600" dirty="0"/>
          </a:p>
          <a:p>
            <a:pPr>
              <a:defRPr/>
            </a:pPr>
            <a:r>
              <a:rPr sz="1600" b="0" i="0" u="none" dirty="0">
                <a:solidFill>
                  <a:srgbClr val="000000"/>
                </a:solidFill>
                <a:latin typeface="Consolas"/>
                <a:ea typeface="Consolas"/>
                <a:cs typeface="Consolas"/>
              </a:rPr>
              <a:t>    </a:t>
            </a:r>
            <a:r>
              <a:rPr sz="1600" b="0" i="0" u="none" dirty="0">
                <a:solidFill>
                  <a:srgbClr val="0000FF"/>
                </a:solidFill>
                <a:latin typeface="Consolas"/>
                <a:ea typeface="Consolas"/>
                <a:cs typeface="Consolas"/>
              </a:rPr>
              <a:t>if</a:t>
            </a:r>
            <a:r>
              <a:rPr sz="1600" b="0" i="0" u="none" dirty="0">
                <a:solidFill>
                  <a:srgbClr val="000000"/>
                </a:solidFill>
                <a:latin typeface="Consolas"/>
                <a:ea typeface="Consolas"/>
                <a:cs typeface="Consolas"/>
              </a:rPr>
              <a:t>(*start == value)</a:t>
            </a:r>
            <a:endParaRPr sz="2600" dirty="0"/>
          </a:p>
          <a:p>
            <a:pPr>
              <a:defRPr/>
            </a:pPr>
            <a:r>
              <a:rPr sz="1600" b="0" i="0" u="none" dirty="0">
                <a:solidFill>
                  <a:srgbClr val="000000"/>
                </a:solidFill>
                <a:latin typeface="Consolas"/>
                <a:ea typeface="Consolas"/>
                <a:cs typeface="Consolas"/>
              </a:rPr>
              <a:t>        </a:t>
            </a:r>
            <a:r>
              <a:rPr sz="1600" b="0" i="0" u="none" dirty="0">
                <a:solidFill>
                  <a:srgbClr val="0000FF"/>
                </a:solidFill>
                <a:latin typeface="Consolas"/>
                <a:ea typeface="Consolas"/>
                <a:cs typeface="Consolas"/>
              </a:rPr>
              <a:t>return</a:t>
            </a:r>
            <a:r>
              <a:rPr sz="1600" b="0" i="0" u="none" dirty="0">
                <a:solidFill>
                  <a:srgbClr val="000000"/>
                </a:solidFill>
                <a:latin typeface="Consolas"/>
                <a:ea typeface="Consolas"/>
                <a:cs typeface="Consolas"/>
              </a:rPr>
              <a:t> start;</a:t>
            </a:r>
            <a:endParaRPr sz="2600" dirty="0"/>
          </a:p>
          <a:p>
            <a:pPr>
              <a:defRPr/>
            </a:pPr>
            <a:r>
              <a:rPr sz="1600" b="0" i="0" u="none" dirty="0">
                <a:solidFill>
                  <a:srgbClr val="000000"/>
                </a:solidFill>
                <a:latin typeface="Consolas"/>
                <a:ea typeface="Consolas"/>
                <a:cs typeface="Consolas"/>
              </a:rPr>
              <a:t>    </a:t>
            </a:r>
            <a:r>
              <a:rPr sz="1600" b="0" i="0" u="none" dirty="0">
                <a:solidFill>
                  <a:srgbClr val="0000FF"/>
                </a:solidFill>
                <a:latin typeface="Consolas"/>
                <a:ea typeface="Consolas"/>
                <a:cs typeface="Consolas"/>
              </a:rPr>
              <a:t>return</a:t>
            </a:r>
            <a:r>
              <a:rPr sz="1600" b="0" i="0" u="none" dirty="0">
                <a:solidFill>
                  <a:srgbClr val="000000"/>
                </a:solidFill>
                <a:latin typeface="Consolas"/>
                <a:ea typeface="Consolas"/>
                <a:cs typeface="Consolas"/>
              </a:rPr>
              <a:t> </a:t>
            </a:r>
            <a:r>
              <a:rPr sz="1600" b="0" i="0" u="none" dirty="0" err="1">
                <a:solidFill>
                  <a:srgbClr val="000000"/>
                </a:solidFill>
                <a:latin typeface="Consolas"/>
                <a:ea typeface="Consolas"/>
                <a:cs typeface="Consolas"/>
              </a:rPr>
              <a:t>search</a:t>
            </a:r>
            <a:r>
              <a:rPr lang="en-US" sz="1600" b="0" i="0" u="none" dirty="0" err="1">
                <a:solidFill>
                  <a:srgbClr val="000000"/>
                </a:solidFill>
                <a:latin typeface="Consolas"/>
                <a:ea typeface="Consolas"/>
                <a:cs typeface="Consolas"/>
              </a:rPr>
              <a:t>_rec</a:t>
            </a:r>
            <a:r>
              <a:rPr sz="1600" b="0" i="0" u="none" dirty="0">
                <a:solidFill>
                  <a:srgbClr val="000000"/>
                </a:solidFill>
                <a:latin typeface="Consolas"/>
                <a:ea typeface="Consolas"/>
                <a:cs typeface="Consolas"/>
              </a:rPr>
              <a:t>(++start, end, value);</a:t>
            </a:r>
            <a:endParaRPr sz="2600" dirty="0"/>
          </a:p>
          <a:p>
            <a:pPr>
              <a:defRPr/>
            </a:pPr>
            <a:r>
              <a:rPr sz="1600" b="0" i="0" u="none" dirty="0">
                <a:solidFill>
                  <a:srgbClr val="000000"/>
                </a:solidFill>
                <a:latin typeface="Consolas"/>
                <a:ea typeface="Consolas"/>
                <a:cs typeface="Consolas"/>
              </a:rPr>
              <a:t>}</a:t>
            </a:r>
            <a:endParaRPr sz="11000" dirty="0"/>
          </a:p>
        </p:txBody>
      </p:sp>
      <p:sp>
        <p:nvSpPr>
          <p:cNvPr id="2091570302" name="TextBox 2091570301"/>
          <p:cNvSpPr txBox="1"/>
          <p:nvPr/>
        </p:nvSpPr>
        <p:spPr bwMode="auto">
          <a:xfrm>
            <a:off x="889003" y="5909748"/>
            <a:ext cx="3300104" cy="374141"/>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lang="en-US" u="sng" dirty="0">
                <a:hlinkClick r:id="rId3"/>
              </a:rPr>
              <a:t>https://godbolt.org/z/MrG6vrnTc</a:t>
            </a:r>
            <a:endParaRPr dirty="0"/>
          </a:p>
        </p:txBody>
      </p:sp>
      <p:sp>
        <p:nvSpPr>
          <p:cNvPr id="885425563" name="Объект 2"/>
          <p:cNvSpPr>
            <a:spLocks noGrp="1"/>
          </p:cNvSpPr>
          <p:nvPr>
            <p:ph idx="1"/>
          </p:nvPr>
        </p:nvSpPr>
        <p:spPr bwMode="auto">
          <a:xfrm>
            <a:off x="616527" y="1584690"/>
            <a:ext cx="4762166" cy="4351338"/>
          </a:xfrm>
        </p:spPr>
        <p:txBody>
          <a:bodyPr vertOverflow="overflow" horzOverflow="overflow" vert="horz" wrap="square" lIns="91440" tIns="45720" rIns="91440" bIns="45720" numCol="1" spcCol="0" rtlCol="0" fromWordArt="0" anchor="t" anchorCtr="0" forceAA="0" compatLnSpc="0">
            <a:normAutofit/>
          </a:bodyPr>
          <a:lstStyle/>
          <a:p>
            <a:pPr marL="0" indent="0">
              <a:buNone/>
              <a:defRPr/>
            </a:pPr>
            <a:r>
              <a:rPr lang="ru-RU" sz="2000" dirty="0"/>
              <a:t>Отдельным случаем оптимизации хвостовых вызовов является хвостовая рекурсия.</a:t>
            </a:r>
          </a:p>
          <a:p>
            <a:pPr marL="0" indent="0">
              <a:buNone/>
              <a:defRPr/>
            </a:pPr>
            <a:r>
              <a:rPr lang="ru-RU" sz="2000" dirty="0"/>
              <a:t>Если функция оканчивается рекурсивным вызовом, и при этом возвращаемый результат не модифицируется, то цепочка рекурсивных вызовов может быть оптимизирована компилятором в цикл.</a:t>
            </a:r>
          </a:p>
          <a:p>
            <a:pPr marL="0" indent="0">
              <a:buNone/>
              <a:defRPr/>
            </a:pPr>
            <a:r>
              <a:rPr lang="ru-RU" sz="2000" dirty="0"/>
              <a:t>При этом, в отличие от полноценной рекурсии, на стеке не создается новый кадр стека, а используется текущий.</a:t>
            </a:r>
          </a:p>
          <a:p>
            <a:pPr marL="0" indent="0">
              <a:buNone/>
              <a:defRPr/>
            </a:pP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46183742" name="Объект 2"/>
          <p:cNvSpPr>
            <a:spLocks noGrp="1"/>
          </p:cNvSpPr>
          <p:nvPr>
            <p:ph idx="1"/>
          </p:nvPr>
        </p:nvSpPr>
        <p:spPr bwMode="auto">
          <a:xfrm>
            <a:off x="838200" y="1522137"/>
            <a:ext cx="11007436" cy="1567428"/>
          </a:xfrm>
        </p:spPr>
        <p:txBody>
          <a:bodyPr>
            <a:normAutofit/>
          </a:bodyPr>
          <a:lstStyle/>
          <a:p>
            <a:pPr marL="0" indent="0">
              <a:buNone/>
              <a:defRPr/>
            </a:pPr>
            <a:r>
              <a:rPr lang="ru-RU" sz="2000"/>
              <a:t>Часто в программах встречаются условные операторы </a:t>
            </a:r>
            <a:r>
              <a:rPr lang="en-US" sz="2000"/>
              <a:t>switch </a:t>
            </a:r>
            <a:r>
              <a:rPr lang="ru-RU" sz="2000"/>
              <a:t>или цепочки </a:t>
            </a:r>
            <a:r>
              <a:rPr lang="en-US" sz="2000"/>
              <a:t>if-else.</a:t>
            </a:r>
            <a:r>
              <a:rPr lang="ru-RU" sz="2000"/>
              <a:t> </a:t>
            </a:r>
            <a:r>
              <a:rPr lang="en-US" sz="2000"/>
              <a:t> </a:t>
            </a:r>
            <a:endParaRPr lang="ru-RU" sz="2000"/>
          </a:p>
          <a:p>
            <a:pPr marL="0" indent="0">
              <a:buNone/>
              <a:defRPr/>
            </a:pPr>
            <a:r>
              <a:rPr lang="ru-RU" sz="2000"/>
              <a:t>Вместо того, чтобы честно выполнять </a:t>
            </a:r>
            <a:r>
              <a:rPr lang="en-US" sz="2000"/>
              <a:t>N </a:t>
            </a:r>
            <a:r>
              <a:rPr lang="ru-RU" sz="2000"/>
              <a:t>сравнений, компилятор может создать таблицу переходов (</a:t>
            </a:r>
            <a:r>
              <a:rPr lang="en-US" sz="2000" b="1"/>
              <a:t>jump table</a:t>
            </a:r>
            <a:r>
              <a:rPr lang="ru-RU" sz="2000"/>
              <a:t>) в которой находятся адреса кода соответствующего </a:t>
            </a:r>
            <a:r>
              <a:rPr lang="en-US" sz="2000"/>
              <a:t>case</a:t>
            </a:r>
            <a:r>
              <a:rPr lang="ru-RU" sz="2000"/>
              <a:t> или тела </a:t>
            </a:r>
            <a:r>
              <a:rPr lang="en-US" sz="2000"/>
              <a:t>if,</a:t>
            </a:r>
            <a:r>
              <a:rPr lang="ru-RU" sz="2000"/>
              <a:t> и</a:t>
            </a:r>
            <a:r>
              <a:rPr lang="en-US" sz="2000"/>
              <a:t> </a:t>
            </a:r>
            <a:r>
              <a:rPr lang="ru-RU" sz="2000"/>
              <a:t>сгенерировать код, который вычисляет индекс в таблице переходов,</a:t>
            </a:r>
            <a:endParaRPr lang="en-US" sz="2000"/>
          </a:p>
          <a:p>
            <a:pPr marL="0" indent="0">
              <a:buNone/>
              <a:defRPr/>
            </a:pPr>
            <a:endParaRPr lang="ru-RU" sz="1800"/>
          </a:p>
        </p:txBody>
      </p:sp>
      <p:sp>
        <p:nvSpPr>
          <p:cNvPr id="883677466" name="Заголовок 1"/>
          <p:cNvSpPr>
            <a:spLocks noGrp="1"/>
          </p:cNvSpPr>
          <p:nvPr>
            <p:ph type="title"/>
          </p:nvPr>
        </p:nvSpPr>
        <p:spPr bwMode="auto"/>
        <p:txBody>
          <a:bodyPr/>
          <a:lstStyle/>
          <a:p>
            <a:pPr>
              <a:defRPr/>
            </a:pPr>
            <a:r>
              <a:rPr lang="ru-RU"/>
              <a:t>Простые оптимизации: таблица переходов</a:t>
            </a:r>
            <a:endParaRPr lang="en-US"/>
          </a:p>
        </p:txBody>
      </p:sp>
      <p:sp>
        <p:nvSpPr>
          <p:cNvPr id="1987006146" name="Номер слайда 4"/>
          <p:cNvSpPr>
            <a:spLocks noGrp="1"/>
          </p:cNvSpPr>
          <p:nvPr>
            <p:ph type="sldNum" sz="quarter" idx="12"/>
          </p:nvPr>
        </p:nvSpPr>
        <p:spPr bwMode="auto"/>
        <p:txBody>
          <a:bodyPr/>
          <a:lstStyle/>
          <a:p>
            <a:pPr>
              <a:defRPr/>
            </a:pPr>
            <a:fld id="{B67FBA2B-964F-4C4D-AAF7-5A8399264638}" type="slidenum">
              <a:rPr lang="en-US"/>
              <a:t>10</a:t>
            </a:fld>
            <a:endParaRPr lang="en-US"/>
          </a:p>
        </p:txBody>
      </p:sp>
      <p:sp>
        <p:nvSpPr>
          <p:cNvPr id="1169202826" name="TextBox 20"/>
          <p:cNvSpPr txBox="1"/>
          <p:nvPr/>
        </p:nvSpPr>
        <p:spPr bwMode="auto">
          <a:xfrm>
            <a:off x="3766273" y="3027153"/>
            <a:ext cx="3530670" cy="366119"/>
          </a:xfrm>
          <a:prstGeom prst="rect">
            <a:avLst/>
          </a:prstGeom>
          <a:noFill/>
        </p:spPr>
        <p:txBody>
          <a:bodyPr wrap="square">
            <a:spAutoFit/>
          </a:bodyPr>
          <a:lstStyle/>
          <a:p>
            <a:pPr>
              <a:defRPr/>
            </a:pPr>
            <a:r>
              <a:rPr lang="ru-RU" u="sng">
                <a:solidFill>
                  <a:schemeClr val="hlink"/>
                </a:solidFill>
                <a:hlinkClick r:id="rId3"/>
              </a:rPr>
              <a:t>https://godbolt.org/z/hMf9ozPdE</a:t>
            </a:r>
            <a:endParaRPr lang="ru-RU"/>
          </a:p>
        </p:txBody>
      </p:sp>
      <p:sp>
        <p:nvSpPr>
          <p:cNvPr id="656691654" name="TextBox 24"/>
          <p:cNvSpPr txBox="1"/>
          <p:nvPr/>
        </p:nvSpPr>
        <p:spPr bwMode="auto">
          <a:xfrm>
            <a:off x="64168" y="3434156"/>
            <a:ext cx="3993572" cy="2862322"/>
          </a:xfrm>
          <a:prstGeom prst="rect">
            <a:avLst/>
          </a:prstGeom>
          <a:noFill/>
        </p:spPr>
        <p:txBody>
          <a:bodyPr wrap="square">
            <a:spAutoFit/>
          </a:bodyPr>
          <a:lstStyle/>
          <a:p>
            <a:pPr>
              <a:defRPr/>
            </a:pPr>
            <a:r>
              <a:rPr lang="en-US" b="0">
                <a:solidFill>
                  <a:srgbClr val="0000FF"/>
                </a:solidFill>
                <a:latin typeface="Consolas"/>
              </a:rPr>
              <a:t>int</a:t>
            </a:r>
            <a:r>
              <a:rPr lang="en-US" b="0">
                <a:solidFill>
                  <a:srgbClr val="000000"/>
                </a:solidFill>
                <a:latin typeface="Consolas"/>
              </a:rPr>
              <a:t> foo(</a:t>
            </a:r>
            <a:r>
              <a:rPr lang="en-US" b="0">
                <a:solidFill>
                  <a:srgbClr val="0000FF"/>
                </a:solidFill>
                <a:latin typeface="Consolas"/>
              </a:rPr>
              <a:t>int</a:t>
            </a:r>
            <a:r>
              <a:rPr lang="en-US" b="0">
                <a:solidFill>
                  <a:srgbClr val="000000"/>
                </a:solidFill>
                <a:latin typeface="Consolas"/>
              </a:rPr>
              <a:t> c, </a:t>
            </a:r>
            <a:r>
              <a:rPr lang="en-US" b="0">
                <a:solidFill>
                  <a:srgbClr val="0000FF"/>
                </a:solidFill>
                <a:latin typeface="Consolas"/>
              </a:rPr>
              <a:t>int</a:t>
            </a:r>
            <a:r>
              <a:rPr lang="en-US" b="0">
                <a:solidFill>
                  <a:srgbClr val="000000"/>
                </a:solidFill>
                <a:latin typeface="Consolas"/>
              </a:rPr>
              <a:t> x, </a:t>
            </a:r>
            <a:r>
              <a:rPr lang="en-US" b="0">
                <a:solidFill>
                  <a:srgbClr val="0000FF"/>
                </a:solidFill>
                <a:latin typeface="Consolas"/>
              </a:rPr>
              <a:t>int</a:t>
            </a:r>
            <a:r>
              <a:rPr lang="en-US" b="0">
                <a:solidFill>
                  <a:srgbClr val="000000"/>
                </a:solidFill>
                <a:latin typeface="Consolas"/>
              </a:rPr>
              <a:t> y){</a:t>
            </a:r>
            <a:endParaRPr/>
          </a:p>
          <a:p>
            <a:pPr>
              <a:defRPr/>
            </a:pPr>
            <a:r>
              <a:rPr lang="en-US" b="0">
                <a:solidFill>
                  <a:srgbClr val="000000"/>
                </a:solidFill>
                <a:latin typeface="Consolas"/>
              </a:rPr>
              <a:t>    </a:t>
            </a:r>
            <a:r>
              <a:rPr lang="en-US" b="0">
                <a:solidFill>
                  <a:srgbClr val="0000FF"/>
                </a:solidFill>
                <a:latin typeface="Consolas"/>
              </a:rPr>
              <a:t>switch</a:t>
            </a:r>
            <a:r>
              <a:rPr lang="en-US" b="0">
                <a:solidFill>
                  <a:srgbClr val="000000"/>
                </a:solidFill>
                <a:latin typeface="Consolas"/>
              </a:rPr>
              <a:t>(c){</a:t>
            </a:r>
            <a:endParaRPr/>
          </a:p>
          <a:p>
            <a:pPr>
              <a:defRPr/>
            </a:pPr>
            <a:r>
              <a:rPr lang="en-US" b="0">
                <a:solidFill>
                  <a:srgbClr val="000000"/>
                </a:solidFill>
                <a:latin typeface="Consolas"/>
              </a:rPr>
              <a:t>        </a:t>
            </a:r>
            <a:r>
              <a:rPr lang="en-US" b="0">
                <a:solidFill>
                  <a:srgbClr val="0000FF"/>
                </a:solidFill>
                <a:latin typeface="Consolas"/>
              </a:rPr>
              <a:t>case</a:t>
            </a:r>
            <a:r>
              <a:rPr lang="en-US" b="0">
                <a:solidFill>
                  <a:srgbClr val="000000"/>
                </a:solidFill>
                <a:latin typeface="Consolas"/>
              </a:rPr>
              <a:t> </a:t>
            </a:r>
            <a:r>
              <a:rPr lang="en-US" b="0">
                <a:solidFill>
                  <a:srgbClr val="098658"/>
                </a:solidFill>
                <a:latin typeface="Consolas"/>
              </a:rPr>
              <a:t>1</a:t>
            </a:r>
            <a:r>
              <a:rPr lang="en-US" b="0">
                <a:solidFill>
                  <a:srgbClr val="000000"/>
                </a:solidFill>
                <a:latin typeface="Consolas"/>
              </a:rPr>
              <a:t>:</a:t>
            </a:r>
            <a:endParaRPr/>
          </a:p>
          <a:p>
            <a:pPr>
              <a:defRPr/>
            </a:pPr>
            <a:r>
              <a:rPr lang="en-US" b="0">
                <a:solidFill>
                  <a:srgbClr val="000000"/>
                </a:solidFill>
                <a:latin typeface="Consolas"/>
              </a:rPr>
              <a:t>            x+=y; </a:t>
            </a:r>
            <a:r>
              <a:rPr lang="en-US" b="0">
                <a:solidFill>
                  <a:srgbClr val="0000FF"/>
                </a:solidFill>
                <a:latin typeface="Consolas"/>
              </a:rPr>
              <a:t>break</a:t>
            </a:r>
            <a:r>
              <a:rPr lang="en-US" b="0">
                <a:solidFill>
                  <a:srgbClr val="000000"/>
                </a:solidFill>
                <a:latin typeface="Consolas"/>
              </a:rPr>
              <a:t>;</a:t>
            </a:r>
            <a:endParaRPr/>
          </a:p>
          <a:p>
            <a:pPr>
              <a:defRPr/>
            </a:pPr>
            <a:r>
              <a:rPr lang="en-US" b="0">
                <a:solidFill>
                  <a:srgbClr val="000000"/>
                </a:solidFill>
                <a:latin typeface="Consolas"/>
              </a:rPr>
              <a:t>        </a:t>
            </a:r>
            <a:r>
              <a:rPr lang="en-US" b="0">
                <a:solidFill>
                  <a:srgbClr val="0000FF"/>
                </a:solidFill>
                <a:latin typeface="Consolas"/>
              </a:rPr>
              <a:t>case</a:t>
            </a:r>
            <a:r>
              <a:rPr lang="en-US" b="0">
                <a:solidFill>
                  <a:srgbClr val="000000"/>
                </a:solidFill>
                <a:latin typeface="Consolas"/>
              </a:rPr>
              <a:t> </a:t>
            </a:r>
            <a:r>
              <a:rPr lang="en-US" b="0">
                <a:solidFill>
                  <a:srgbClr val="098658"/>
                </a:solidFill>
                <a:latin typeface="Consolas"/>
              </a:rPr>
              <a:t>2</a:t>
            </a:r>
            <a:r>
              <a:rPr lang="en-US" b="0">
                <a:solidFill>
                  <a:srgbClr val="000000"/>
                </a:solidFill>
                <a:latin typeface="Consolas"/>
              </a:rPr>
              <a:t>:</a:t>
            </a:r>
            <a:endParaRPr/>
          </a:p>
          <a:p>
            <a:pPr>
              <a:defRPr/>
            </a:pPr>
            <a:r>
              <a:rPr lang="en-US" b="0">
                <a:solidFill>
                  <a:srgbClr val="000000"/>
                </a:solidFill>
                <a:latin typeface="Consolas"/>
              </a:rPr>
              <a:t>            x+=y; </a:t>
            </a:r>
            <a:r>
              <a:rPr lang="en-US" b="0">
                <a:solidFill>
                  <a:srgbClr val="0000FF"/>
                </a:solidFill>
                <a:latin typeface="Consolas"/>
              </a:rPr>
              <a:t>break</a:t>
            </a:r>
            <a:r>
              <a:rPr lang="en-US" b="0">
                <a:solidFill>
                  <a:srgbClr val="000000"/>
                </a:solidFill>
                <a:latin typeface="Consolas"/>
              </a:rPr>
              <a:t>;</a:t>
            </a:r>
            <a:endParaRPr/>
          </a:p>
          <a:p>
            <a:pPr>
              <a:defRPr/>
            </a:pPr>
            <a:r>
              <a:rPr lang="en-US" b="0">
                <a:solidFill>
                  <a:srgbClr val="000000"/>
                </a:solidFill>
                <a:latin typeface="Consolas"/>
              </a:rPr>
              <a:t>        </a:t>
            </a:r>
            <a:r>
              <a:rPr lang="en-US" b="0">
                <a:solidFill>
                  <a:srgbClr val="0000FF"/>
                </a:solidFill>
                <a:latin typeface="Consolas"/>
              </a:rPr>
              <a:t>case</a:t>
            </a:r>
            <a:r>
              <a:rPr lang="en-US" b="0">
                <a:solidFill>
                  <a:srgbClr val="000000"/>
                </a:solidFill>
                <a:latin typeface="Consolas"/>
              </a:rPr>
              <a:t> </a:t>
            </a:r>
            <a:r>
              <a:rPr lang="en-US" b="0">
                <a:solidFill>
                  <a:srgbClr val="098658"/>
                </a:solidFill>
                <a:latin typeface="Consolas"/>
              </a:rPr>
              <a:t>3</a:t>
            </a:r>
            <a:r>
              <a:rPr lang="en-US" b="0">
                <a:solidFill>
                  <a:srgbClr val="000000"/>
                </a:solidFill>
                <a:latin typeface="Consolas"/>
              </a:rPr>
              <a:t>:</a:t>
            </a:r>
            <a:r>
              <a:rPr lang="ru-RU" b="0">
                <a:solidFill>
                  <a:srgbClr val="000000"/>
                </a:solidFill>
                <a:latin typeface="Consolas"/>
              </a:rPr>
              <a:t> </a:t>
            </a:r>
            <a:r>
              <a:rPr lang="en-US" b="0">
                <a:solidFill>
                  <a:srgbClr val="000000"/>
                </a:solidFill>
                <a:latin typeface="Consolas"/>
              </a:rPr>
              <a:t>x-=y </a:t>
            </a:r>
            <a:endParaRPr lang="ru-RU" b="0">
              <a:solidFill>
                <a:srgbClr val="000000"/>
              </a:solidFill>
              <a:latin typeface="Consolas"/>
            </a:endParaRPr>
          </a:p>
          <a:p>
            <a:pPr>
              <a:defRPr/>
            </a:pPr>
            <a:r>
              <a:rPr lang="en-US" b="0">
                <a:solidFill>
                  <a:srgbClr val="000000"/>
                </a:solidFill>
                <a:latin typeface="Consolas"/>
              </a:rPr>
              <a:t>    }</a:t>
            </a:r>
            <a:endParaRPr/>
          </a:p>
          <a:p>
            <a:pPr>
              <a:defRPr/>
            </a:pPr>
            <a:r>
              <a:rPr lang="en-US" b="0">
                <a:solidFill>
                  <a:srgbClr val="000000"/>
                </a:solidFill>
                <a:latin typeface="Consolas"/>
              </a:rPr>
              <a:t>    </a:t>
            </a:r>
            <a:r>
              <a:rPr lang="en-US" b="0">
                <a:solidFill>
                  <a:srgbClr val="0000FF"/>
                </a:solidFill>
                <a:latin typeface="Consolas"/>
              </a:rPr>
              <a:t>return</a:t>
            </a:r>
            <a:r>
              <a:rPr lang="en-US" b="0">
                <a:solidFill>
                  <a:srgbClr val="000000"/>
                </a:solidFill>
                <a:latin typeface="Consolas"/>
              </a:rPr>
              <a:t> x;</a:t>
            </a:r>
            <a:endParaRPr/>
          </a:p>
          <a:p>
            <a:pPr>
              <a:defRPr/>
            </a:pPr>
            <a:r>
              <a:rPr lang="en-US" b="0">
                <a:solidFill>
                  <a:srgbClr val="000000"/>
                </a:solidFill>
                <a:latin typeface="Consolas"/>
              </a:rPr>
              <a:t>}</a:t>
            </a:r>
            <a:endParaRPr/>
          </a:p>
        </p:txBody>
      </p:sp>
      <p:sp>
        <p:nvSpPr>
          <p:cNvPr id="1441750138" name="TextBox 25"/>
          <p:cNvSpPr txBox="1"/>
          <p:nvPr/>
        </p:nvSpPr>
        <p:spPr bwMode="auto">
          <a:xfrm>
            <a:off x="5253607" y="3429000"/>
            <a:ext cx="7032354" cy="2862322"/>
          </a:xfrm>
          <a:prstGeom prst="rect">
            <a:avLst/>
          </a:prstGeom>
          <a:noFill/>
        </p:spPr>
        <p:txBody>
          <a:bodyPr wrap="square">
            <a:spAutoFit/>
          </a:bodyPr>
          <a:lstStyle/>
          <a:p>
            <a:pPr>
              <a:defRPr/>
            </a:pPr>
            <a:r>
              <a:rPr lang="en-US" b="0">
                <a:solidFill>
                  <a:srgbClr val="0000FF"/>
                </a:solidFill>
                <a:latin typeface="Consolas"/>
              </a:rPr>
              <a:t>int</a:t>
            </a:r>
            <a:r>
              <a:rPr lang="en-US" b="0">
                <a:solidFill>
                  <a:srgbClr val="000000"/>
                </a:solidFill>
                <a:latin typeface="Consolas"/>
              </a:rPr>
              <a:t> foo(</a:t>
            </a:r>
            <a:r>
              <a:rPr lang="en-US" b="0">
                <a:solidFill>
                  <a:srgbClr val="0000FF"/>
                </a:solidFill>
                <a:latin typeface="Consolas"/>
              </a:rPr>
              <a:t>int</a:t>
            </a:r>
            <a:r>
              <a:rPr lang="en-US" b="0">
                <a:solidFill>
                  <a:srgbClr val="000000"/>
                </a:solidFill>
                <a:latin typeface="Consolas"/>
              </a:rPr>
              <a:t> c, </a:t>
            </a:r>
            <a:r>
              <a:rPr lang="en-US" b="0">
                <a:solidFill>
                  <a:srgbClr val="0000FF"/>
                </a:solidFill>
                <a:latin typeface="Consolas"/>
              </a:rPr>
              <a:t>int</a:t>
            </a:r>
            <a:r>
              <a:rPr lang="en-US" b="0">
                <a:solidFill>
                  <a:srgbClr val="000000"/>
                </a:solidFill>
                <a:latin typeface="Consolas"/>
              </a:rPr>
              <a:t> x, </a:t>
            </a:r>
            <a:r>
              <a:rPr lang="en-US" b="0">
                <a:solidFill>
                  <a:srgbClr val="0000FF"/>
                </a:solidFill>
                <a:latin typeface="Consolas"/>
              </a:rPr>
              <a:t>int</a:t>
            </a:r>
            <a:r>
              <a:rPr lang="en-US" b="0">
                <a:solidFill>
                  <a:srgbClr val="000000"/>
                </a:solidFill>
                <a:latin typeface="Consolas"/>
              </a:rPr>
              <a:t> y){</a:t>
            </a:r>
            <a:endParaRPr/>
          </a:p>
          <a:p>
            <a:pPr lvl="1">
              <a:defRPr/>
            </a:pPr>
            <a:r>
              <a:rPr lang="en-US" b="0">
                <a:solidFill>
                  <a:srgbClr val="0000FF"/>
                </a:solidFill>
                <a:latin typeface="Consolas"/>
              </a:rPr>
              <a:t>int</a:t>
            </a:r>
            <a:r>
              <a:rPr lang="en-US" b="0">
                <a:solidFill>
                  <a:srgbClr val="000000"/>
                </a:solidFill>
                <a:latin typeface="Consolas"/>
              </a:rPr>
              <a:t>* table[] = {&amp;&amp;end, &amp;&amp;case1, &amp;&amp;case2, &amp;&amp;case3};</a:t>
            </a:r>
            <a:endParaRPr/>
          </a:p>
          <a:p>
            <a:pPr lvl="1">
              <a:defRPr/>
            </a:pPr>
            <a:r>
              <a:rPr lang="en-US" b="0">
                <a:solidFill>
                  <a:srgbClr val="0000FF"/>
                </a:solidFill>
                <a:latin typeface="Consolas"/>
              </a:rPr>
              <a:t>if</a:t>
            </a:r>
            <a:r>
              <a:rPr lang="en-US" b="0">
                <a:solidFill>
                  <a:srgbClr val="000000"/>
                </a:solidFill>
                <a:latin typeface="Consolas"/>
              </a:rPr>
              <a:t>(c &lt; </a:t>
            </a:r>
            <a:r>
              <a:rPr lang="en-US" b="0">
                <a:solidFill>
                  <a:srgbClr val="098658"/>
                </a:solidFill>
                <a:latin typeface="Consolas"/>
              </a:rPr>
              <a:t>4</a:t>
            </a:r>
            <a:r>
              <a:rPr lang="en-US" b="0">
                <a:solidFill>
                  <a:srgbClr val="000000"/>
                </a:solidFill>
                <a:latin typeface="Consolas"/>
              </a:rPr>
              <a:t>) </a:t>
            </a:r>
            <a:r>
              <a:rPr lang="en-US" b="0">
                <a:solidFill>
                  <a:srgbClr val="0000FF"/>
                </a:solidFill>
                <a:latin typeface="Consolas"/>
              </a:rPr>
              <a:t>goto</a:t>
            </a:r>
            <a:r>
              <a:rPr lang="en-US" b="0">
                <a:solidFill>
                  <a:srgbClr val="000000"/>
                </a:solidFill>
                <a:latin typeface="Consolas"/>
              </a:rPr>
              <a:t> *table[c];</a:t>
            </a:r>
            <a:endParaRPr/>
          </a:p>
          <a:p>
            <a:pPr lvl="1">
              <a:defRPr/>
            </a:pPr>
            <a:r>
              <a:rPr lang="en-US" b="0">
                <a:solidFill>
                  <a:srgbClr val="0000FF"/>
                </a:solidFill>
                <a:latin typeface="Consolas"/>
              </a:rPr>
              <a:t>goto</a:t>
            </a:r>
            <a:r>
              <a:rPr lang="en-US" b="0">
                <a:solidFill>
                  <a:srgbClr val="000000"/>
                </a:solidFill>
                <a:latin typeface="Consolas"/>
              </a:rPr>
              <a:t> end;</a:t>
            </a:r>
            <a:endParaRPr/>
          </a:p>
          <a:p>
            <a:pPr lvl="1">
              <a:defRPr/>
            </a:pPr>
            <a:br>
              <a:rPr lang="en-US" b="0">
                <a:solidFill>
                  <a:srgbClr val="000000"/>
                </a:solidFill>
                <a:latin typeface="Consolas"/>
              </a:rPr>
            </a:br>
            <a:r>
              <a:rPr lang="en-US" b="0">
                <a:solidFill>
                  <a:srgbClr val="000000"/>
                </a:solidFill>
                <a:latin typeface="Consolas"/>
              </a:rPr>
              <a:t>case1:  x+=y; </a:t>
            </a:r>
            <a:r>
              <a:rPr lang="en-US" b="0">
                <a:solidFill>
                  <a:srgbClr val="0000FF"/>
                </a:solidFill>
                <a:latin typeface="Consolas"/>
              </a:rPr>
              <a:t>goto</a:t>
            </a:r>
            <a:r>
              <a:rPr lang="en-US" b="0">
                <a:solidFill>
                  <a:srgbClr val="000000"/>
                </a:solidFill>
                <a:latin typeface="Consolas"/>
              </a:rPr>
              <a:t> end;</a:t>
            </a:r>
            <a:endParaRPr/>
          </a:p>
          <a:p>
            <a:pPr lvl="1">
              <a:defRPr/>
            </a:pPr>
            <a:r>
              <a:rPr lang="en-US" b="0">
                <a:solidFill>
                  <a:srgbClr val="000000"/>
                </a:solidFill>
                <a:latin typeface="Consolas"/>
              </a:rPr>
              <a:t>case2:  x+=y; </a:t>
            </a:r>
            <a:r>
              <a:rPr lang="en-US" b="0">
                <a:solidFill>
                  <a:srgbClr val="0000FF"/>
                </a:solidFill>
                <a:latin typeface="Consolas"/>
              </a:rPr>
              <a:t>goto</a:t>
            </a:r>
            <a:r>
              <a:rPr lang="en-US" b="0">
                <a:solidFill>
                  <a:srgbClr val="000000"/>
                </a:solidFill>
                <a:latin typeface="Consolas"/>
              </a:rPr>
              <a:t> end;</a:t>
            </a:r>
            <a:endParaRPr/>
          </a:p>
          <a:p>
            <a:pPr lvl="1">
              <a:defRPr/>
            </a:pPr>
            <a:r>
              <a:rPr lang="en-US" b="0">
                <a:solidFill>
                  <a:srgbClr val="000000"/>
                </a:solidFill>
                <a:latin typeface="Consolas"/>
              </a:rPr>
              <a:t>case3:  x-=y; </a:t>
            </a:r>
            <a:endParaRPr/>
          </a:p>
          <a:p>
            <a:pPr lvl="1">
              <a:defRPr/>
            </a:pPr>
            <a:r>
              <a:rPr lang="en-US" b="0">
                <a:solidFill>
                  <a:srgbClr val="000000"/>
                </a:solidFill>
                <a:latin typeface="Consolas"/>
              </a:rPr>
              <a:t>end:    </a:t>
            </a:r>
            <a:r>
              <a:rPr lang="en-US" b="0">
                <a:solidFill>
                  <a:srgbClr val="0000FF"/>
                </a:solidFill>
                <a:latin typeface="Consolas"/>
              </a:rPr>
              <a:t>return</a:t>
            </a:r>
            <a:r>
              <a:rPr lang="en-US" b="0">
                <a:solidFill>
                  <a:srgbClr val="000000"/>
                </a:solidFill>
                <a:latin typeface="Consolas"/>
              </a:rPr>
              <a:t> x;</a:t>
            </a:r>
            <a:endParaRPr/>
          </a:p>
          <a:p>
            <a:pPr>
              <a:defRPr/>
            </a:pPr>
            <a:r>
              <a:rPr lang="en-US" b="0">
                <a:solidFill>
                  <a:srgbClr val="000000"/>
                </a:solidFill>
                <a:latin typeface="Consolas"/>
              </a:rPr>
              <a:t>}</a:t>
            </a:r>
            <a:endParaRPr/>
          </a:p>
        </p:txBody>
      </p:sp>
      <p:cxnSp>
        <p:nvCxnSpPr>
          <p:cNvPr id="271951601" name="Прямая со стрелкой 27"/>
          <p:cNvCxnSpPr/>
          <p:nvPr/>
        </p:nvCxnSpPr>
        <p:spPr bwMode="auto">
          <a:xfrm flipV="1">
            <a:off x="4177692" y="4721661"/>
            <a:ext cx="955964" cy="1385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829752586" name="Заголовок 1"/>
          <p:cNvSpPr>
            <a:spLocks noGrp="1"/>
          </p:cNvSpPr>
          <p:nvPr>
            <p:ph type="title"/>
          </p:nvPr>
        </p:nvSpPr>
        <p:spPr bwMode="auto"/>
        <p:txBody>
          <a:bodyPr/>
          <a:lstStyle/>
          <a:p>
            <a:pPr>
              <a:defRPr/>
            </a:pPr>
            <a:r>
              <a:rPr lang="ru-RU"/>
              <a:t>Простые оптимизации: развертка циклов</a:t>
            </a:r>
            <a:endParaRPr lang="en-US"/>
          </a:p>
        </p:txBody>
      </p:sp>
      <p:sp>
        <p:nvSpPr>
          <p:cNvPr id="283041270" name="Номер слайда 4"/>
          <p:cNvSpPr>
            <a:spLocks noGrp="1"/>
          </p:cNvSpPr>
          <p:nvPr>
            <p:ph type="sldNum" sz="quarter" idx="12"/>
          </p:nvPr>
        </p:nvSpPr>
        <p:spPr bwMode="auto"/>
        <p:txBody>
          <a:bodyPr/>
          <a:lstStyle/>
          <a:p>
            <a:pPr>
              <a:defRPr/>
            </a:pPr>
            <a:fld id="{B67FBA2B-964F-4C4D-AAF7-5A8399264638}" type="slidenum">
              <a:rPr lang="en-US"/>
              <a:t>11</a:t>
            </a:fld>
            <a:endParaRPr lang="en-US"/>
          </a:p>
        </p:txBody>
      </p:sp>
      <p:sp>
        <p:nvSpPr>
          <p:cNvPr id="1588186521" name="Объект 2"/>
          <p:cNvSpPr>
            <a:spLocks noGrp="1"/>
          </p:cNvSpPr>
          <p:nvPr>
            <p:ph idx="1"/>
          </p:nvPr>
        </p:nvSpPr>
        <p:spPr bwMode="auto">
          <a:xfrm>
            <a:off x="838200" y="1522137"/>
            <a:ext cx="11028218" cy="2532760"/>
          </a:xfrm>
        </p:spPr>
        <p:txBody>
          <a:bodyPr>
            <a:normAutofit/>
          </a:bodyPr>
          <a:lstStyle/>
          <a:p>
            <a:pPr marL="0" indent="0">
              <a:buNone/>
              <a:defRPr/>
            </a:pPr>
            <a:r>
              <a:rPr lang="ru-RU" sz="2000"/>
              <a:t>На уровне ассемблера в начале/конце тела цикла </a:t>
            </a:r>
            <a:r>
              <a:rPr lang="en-US" sz="2000"/>
              <a:t>for</a:t>
            </a:r>
            <a:r>
              <a:rPr lang="ru-RU" sz="2000"/>
              <a:t> находятся инструкции уменьшения счетчика, сравнения</a:t>
            </a:r>
            <a:r>
              <a:rPr lang="en-US" sz="2000"/>
              <a:t> </a:t>
            </a:r>
            <a:r>
              <a:rPr lang="ru-RU" sz="2000"/>
              <a:t>и условного перехода. </a:t>
            </a:r>
            <a:endParaRPr/>
          </a:p>
          <a:p>
            <a:pPr marL="0" indent="0">
              <a:buNone/>
              <a:defRPr/>
            </a:pPr>
            <a:r>
              <a:rPr lang="ru-RU" sz="2000"/>
              <a:t>Пусть тело цикла – 1 инструкция. Тогда в теле цикла полезная нагрузка приходится лишь на 1/4 инструкций, а 3/4 инструкций нужны только для организации цикла.</a:t>
            </a:r>
            <a:endParaRPr/>
          </a:p>
          <a:p>
            <a:pPr marL="0" indent="0">
              <a:buNone/>
              <a:defRPr/>
            </a:pPr>
            <a:r>
              <a:rPr lang="ru-RU" sz="2000"/>
              <a:t>Если цикл имеет фиксированную длину </a:t>
            </a:r>
            <a:r>
              <a:rPr lang="en-US" sz="2000"/>
              <a:t>N, </a:t>
            </a:r>
            <a:r>
              <a:rPr lang="ru-RU" sz="2000"/>
              <a:t>то можно повторить тело цикла </a:t>
            </a:r>
            <a:r>
              <a:rPr lang="en-US" sz="2000"/>
              <a:t>N </a:t>
            </a:r>
            <a:r>
              <a:rPr lang="ru-RU" sz="2000"/>
              <a:t>раз (развернуть цикл) и избавиться от сравнений вовсе.</a:t>
            </a:r>
            <a:endParaRPr/>
          </a:p>
          <a:p>
            <a:pPr marL="0" indent="0">
              <a:buNone/>
              <a:defRPr/>
            </a:pPr>
            <a:endParaRPr lang="en-US" sz="2000"/>
          </a:p>
          <a:p>
            <a:pPr marL="0" indent="0">
              <a:buNone/>
              <a:defRPr/>
            </a:pPr>
            <a:endParaRPr lang="ru-RU" sz="2000"/>
          </a:p>
        </p:txBody>
      </p:sp>
      <p:sp>
        <p:nvSpPr>
          <p:cNvPr id="2025564860" name="TextBox 10"/>
          <p:cNvSpPr txBox="1"/>
          <p:nvPr/>
        </p:nvSpPr>
        <p:spPr bwMode="auto">
          <a:xfrm>
            <a:off x="1575954" y="4150897"/>
            <a:ext cx="3519921" cy="1754326"/>
          </a:xfrm>
          <a:prstGeom prst="rect">
            <a:avLst/>
          </a:prstGeom>
          <a:noFill/>
        </p:spPr>
        <p:txBody>
          <a:bodyPr wrap="square">
            <a:spAutoFit/>
          </a:bodyPr>
          <a:lstStyle/>
          <a:p>
            <a:pPr>
              <a:defRPr/>
            </a:pPr>
            <a:r>
              <a:rPr lang="en-US" b="0">
                <a:solidFill>
                  <a:srgbClr val="0000FF"/>
                </a:solidFill>
                <a:latin typeface="Consolas"/>
              </a:rPr>
              <a:t>int</a:t>
            </a:r>
            <a:r>
              <a:rPr lang="en-US" b="0">
                <a:solidFill>
                  <a:srgbClr val="000000"/>
                </a:solidFill>
                <a:latin typeface="Consolas"/>
              </a:rPr>
              <a:t> pow5(</a:t>
            </a:r>
            <a:r>
              <a:rPr lang="en-US" b="0">
                <a:solidFill>
                  <a:srgbClr val="0000FF"/>
                </a:solidFill>
                <a:latin typeface="Consolas"/>
              </a:rPr>
              <a:t>int</a:t>
            </a:r>
            <a:r>
              <a:rPr lang="en-US" b="0">
                <a:solidFill>
                  <a:srgbClr val="000000"/>
                </a:solidFill>
                <a:latin typeface="Consolas"/>
              </a:rPr>
              <a:t> x){</a:t>
            </a:r>
            <a:endParaRPr/>
          </a:p>
          <a:p>
            <a:pPr>
              <a:defRPr/>
            </a:pPr>
            <a:r>
              <a:rPr lang="en-US" b="0">
                <a:solidFill>
                  <a:srgbClr val="000000"/>
                </a:solidFill>
                <a:latin typeface="Consolas"/>
              </a:rPr>
              <a:t>    </a:t>
            </a:r>
            <a:r>
              <a:rPr lang="en-US" b="0">
                <a:solidFill>
                  <a:srgbClr val="0000FF"/>
                </a:solidFill>
                <a:latin typeface="Consolas"/>
              </a:rPr>
              <a:t>int</a:t>
            </a:r>
            <a:r>
              <a:rPr lang="en-US" b="0">
                <a:solidFill>
                  <a:srgbClr val="000000"/>
                </a:solidFill>
                <a:latin typeface="Consolas"/>
              </a:rPr>
              <a:t> r = </a:t>
            </a:r>
            <a:r>
              <a:rPr lang="en-US" b="0">
                <a:solidFill>
                  <a:srgbClr val="098658"/>
                </a:solidFill>
                <a:latin typeface="Consolas"/>
              </a:rPr>
              <a:t>1</a:t>
            </a:r>
            <a:r>
              <a:rPr lang="en-US" b="0">
                <a:solidFill>
                  <a:srgbClr val="000000"/>
                </a:solidFill>
                <a:latin typeface="Consolas"/>
              </a:rPr>
              <a:t>;</a:t>
            </a:r>
            <a:endParaRPr/>
          </a:p>
          <a:p>
            <a:pPr>
              <a:defRPr/>
            </a:pPr>
            <a:r>
              <a:rPr lang="en-US" b="0">
                <a:solidFill>
                  <a:srgbClr val="000000"/>
                </a:solidFill>
                <a:latin typeface="Consolas"/>
              </a:rPr>
              <a:t>    </a:t>
            </a:r>
            <a:r>
              <a:rPr lang="en-US" b="0">
                <a:solidFill>
                  <a:srgbClr val="0000FF"/>
                </a:solidFill>
                <a:latin typeface="Consolas"/>
              </a:rPr>
              <a:t>for</a:t>
            </a:r>
            <a:r>
              <a:rPr lang="en-US" b="0">
                <a:solidFill>
                  <a:srgbClr val="000000"/>
                </a:solidFill>
                <a:latin typeface="Consolas"/>
              </a:rPr>
              <a:t>(</a:t>
            </a:r>
            <a:r>
              <a:rPr lang="en-US" b="0">
                <a:solidFill>
                  <a:srgbClr val="0000FF"/>
                </a:solidFill>
                <a:latin typeface="Consolas"/>
              </a:rPr>
              <a:t>int</a:t>
            </a:r>
            <a:r>
              <a:rPr lang="en-US" b="0">
                <a:solidFill>
                  <a:srgbClr val="000000"/>
                </a:solidFill>
                <a:latin typeface="Consolas"/>
              </a:rPr>
              <a:t> i=</a:t>
            </a:r>
            <a:r>
              <a:rPr lang="en-US" b="0">
                <a:solidFill>
                  <a:srgbClr val="098658"/>
                </a:solidFill>
                <a:latin typeface="Consolas"/>
              </a:rPr>
              <a:t>0</a:t>
            </a:r>
            <a:r>
              <a:rPr lang="en-US" b="0">
                <a:solidFill>
                  <a:srgbClr val="000000"/>
                </a:solidFill>
                <a:latin typeface="Consolas"/>
              </a:rPr>
              <a:t>; i&lt;</a:t>
            </a:r>
            <a:r>
              <a:rPr lang="en-US" b="0">
                <a:solidFill>
                  <a:srgbClr val="098658"/>
                </a:solidFill>
                <a:latin typeface="Consolas"/>
              </a:rPr>
              <a:t>5</a:t>
            </a:r>
            <a:r>
              <a:rPr lang="en-US" b="0">
                <a:solidFill>
                  <a:srgbClr val="000000"/>
                </a:solidFill>
                <a:latin typeface="Consolas"/>
              </a:rPr>
              <a:t>;++i)</a:t>
            </a:r>
            <a:endParaRPr/>
          </a:p>
          <a:p>
            <a:pPr>
              <a:defRPr/>
            </a:pPr>
            <a:r>
              <a:rPr lang="en-US" b="0">
                <a:solidFill>
                  <a:srgbClr val="000000"/>
                </a:solidFill>
                <a:latin typeface="Consolas"/>
              </a:rPr>
              <a:t>        r*=x;</a:t>
            </a:r>
            <a:endParaRPr/>
          </a:p>
          <a:p>
            <a:pPr>
              <a:defRPr/>
            </a:pPr>
            <a:r>
              <a:rPr lang="en-US" b="0">
                <a:solidFill>
                  <a:srgbClr val="000000"/>
                </a:solidFill>
                <a:latin typeface="Consolas"/>
              </a:rPr>
              <a:t>    </a:t>
            </a:r>
            <a:r>
              <a:rPr lang="en-US" b="0">
                <a:solidFill>
                  <a:srgbClr val="0000FF"/>
                </a:solidFill>
                <a:latin typeface="Consolas"/>
              </a:rPr>
              <a:t>return</a:t>
            </a:r>
            <a:r>
              <a:rPr lang="en-US" b="0">
                <a:solidFill>
                  <a:srgbClr val="000000"/>
                </a:solidFill>
                <a:latin typeface="Consolas"/>
              </a:rPr>
              <a:t> r;</a:t>
            </a:r>
            <a:endParaRPr/>
          </a:p>
          <a:p>
            <a:pPr>
              <a:defRPr/>
            </a:pPr>
            <a:r>
              <a:rPr lang="en-US" b="0">
                <a:solidFill>
                  <a:srgbClr val="000000"/>
                </a:solidFill>
                <a:latin typeface="Consolas"/>
              </a:rPr>
              <a:t>}</a:t>
            </a:r>
            <a:endParaRPr/>
          </a:p>
        </p:txBody>
      </p:sp>
      <p:sp>
        <p:nvSpPr>
          <p:cNvPr id="1706068284" name="TextBox 15"/>
          <p:cNvSpPr txBox="1"/>
          <p:nvPr/>
        </p:nvSpPr>
        <p:spPr bwMode="auto">
          <a:xfrm>
            <a:off x="7193972" y="4057747"/>
            <a:ext cx="3519921" cy="2308324"/>
          </a:xfrm>
          <a:prstGeom prst="rect">
            <a:avLst/>
          </a:prstGeom>
          <a:noFill/>
        </p:spPr>
        <p:txBody>
          <a:bodyPr wrap="square">
            <a:spAutoFit/>
          </a:bodyPr>
          <a:lstStyle/>
          <a:p>
            <a:pPr>
              <a:defRPr/>
            </a:pPr>
            <a:r>
              <a:rPr lang="en-US" b="0">
                <a:solidFill>
                  <a:srgbClr val="0000FF"/>
                </a:solidFill>
                <a:latin typeface="Consolas"/>
              </a:rPr>
              <a:t>int</a:t>
            </a:r>
            <a:r>
              <a:rPr lang="en-US" b="0">
                <a:solidFill>
                  <a:srgbClr val="000000"/>
                </a:solidFill>
                <a:latin typeface="Consolas"/>
              </a:rPr>
              <a:t> pow5(</a:t>
            </a:r>
            <a:r>
              <a:rPr lang="en-US" b="0">
                <a:solidFill>
                  <a:srgbClr val="0000FF"/>
                </a:solidFill>
                <a:latin typeface="Consolas"/>
              </a:rPr>
              <a:t>int</a:t>
            </a:r>
            <a:r>
              <a:rPr lang="en-US" b="0">
                <a:solidFill>
                  <a:srgbClr val="000000"/>
                </a:solidFill>
                <a:latin typeface="Consolas"/>
              </a:rPr>
              <a:t> x){</a:t>
            </a:r>
            <a:endParaRPr/>
          </a:p>
          <a:p>
            <a:pPr>
              <a:defRPr/>
            </a:pPr>
            <a:r>
              <a:rPr lang="en-US" b="0">
                <a:solidFill>
                  <a:srgbClr val="000000"/>
                </a:solidFill>
                <a:latin typeface="Consolas"/>
              </a:rPr>
              <a:t>    </a:t>
            </a:r>
            <a:r>
              <a:rPr lang="pt-BR" b="0">
                <a:solidFill>
                  <a:srgbClr val="0000FF"/>
                </a:solidFill>
                <a:latin typeface="Consolas"/>
              </a:rPr>
              <a:t>int</a:t>
            </a:r>
            <a:r>
              <a:rPr lang="pt-BR" b="0">
                <a:solidFill>
                  <a:srgbClr val="000000"/>
                </a:solidFill>
                <a:latin typeface="Consolas"/>
              </a:rPr>
              <a:t> r = x;</a:t>
            </a:r>
            <a:endParaRPr/>
          </a:p>
          <a:p>
            <a:pPr>
              <a:defRPr/>
            </a:pPr>
            <a:r>
              <a:rPr lang="pt-BR" b="0">
                <a:solidFill>
                  <a:srgbClr val="000000"/>
                </a:solidFill>
                <a:latin typeface="Consolas"/>
              </a:rPr>
              <a:t>    r*=x;</a:t>
            </a:r>
            <a:endParaRPr/>
          </a:p>
          <a:p>
            <a:pPr>
              <a:defRPr/>
            </a:pPr>
            <a:r>
              <a:rPr lang="pt-BR" b="0">
                <a:solidFill>
                  <a:srgbClr val="000000"/>
                </a:solidFill>
                <a:latin typeface="Consolas"/>
              </a:rPr>
              <a:t>    r*=x;</a:t>
            </a:r>
            <a:endParaRPr/>
          </a:p>
          <a:p>
            <a:pPr>
              <a:defRPr/>
            </a:pPr>
            <a:r>
              <a:rPr lang="pt-BR" b="0">
                <a:solidFill>
                  <a:srgbClr val="000000"/>
                </a:solidFill>
                <a:latin typeface="Consolas"/>
              </a:rPr>
              <a:t>    r*=x;</a:t>
            </a:r>
            <a:endParaRPr/>
          </a:p>
          <a:p>
            <a:pPr>
              <a:defRPr/>
            </a:pPr>
            <a:r>
              <a:rPr lang="pt-BR" b="0">
                <a:solidFill>
                  <a:srgbClr val="000000"/>
                </a:solidFill>
                <a:latin typeface="Consolas"/>
              </a:rPr>
              <a:t>    </a:t>
            </a:r>
            <a:r>
              <a:rPr lang="pt-BR" b="0">
                <a:solidFill>
                  <a:srgbClr val="0000FF"/>
                </a:solidFill>
                <a:latin typeface="Consolas"/>
              </a:rPr>
              <a:t>return</a:t>
            </a:r>
            <a:r>
              <a:rPr lang="pt-BR" b="0">
                <a:solidFill>
                  <a:srgbClr val="000000"/>
                </a:solidFill>
                <a:latin typeface="Consolas"/>
              </a:rPr>
              <a:t> r*x;</a:t>
            </a:r>
            <a:endParaRPr/>
          </a:p>
          <a:p>
            <a:pPr>
              <a:defRPr/>
            </a:pPr>
            <a:endParaRPr lang="en-US" b="0">
              <a:solidFill>
                <a:srgbClr val="000000"/>
              </a:solidFill>
              <a:latin typeface="Consolas"/>
            </a:endParaRPr>
          </a:p>
          <a:p>
            <a:pPr>
              <a:defRPr/>
            </a:pPr>
            <a:r>
              <a:rPr lang="en-US" b="0">
                <a:solidFill>
                  <a:srgbClr val="000000"/>
                </a:solidFill>
                <a:latin typeface="Consolas"/>
              </a:rPr>
              <a:t>}</a:t>
            </a:r>
            <a:endParaRPr/>
          </a:p>
        </p:txBody>
      </p:sp>
      <p:cxnSp>
        <p:nvCxnSpPr>
          <p:cNvPr id="743942664" name="Прямая со стрелкой 16"/>
          <p:cNvCxnSpPr/>
          <p:nvPr/>
        </p:nvCxnSpPr>
        <p:spPr bwMode="auto">
          <a:xfrm flipV="1">
            <a:off x="5618018" y="4711270"/>
            <a:ext cx="955964"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435302619" name="Заголовок 1"/>
          <p:cNvSpPr>
            <a:spLocks noGrp="1"/>
          </p:cNvSpPr>
          <p:nvPr>
            <p:ph type="title"/>
          </p:nvPr>
        </p:nvSpPr>
        <p:spPr bwMode="auto"/>
        <p:txBody>
          <a:bodyPr/>
          <a:lstStyle/>
          <a:p>
            <a:pPr>
              <a:defRPr/>
            </a:pPr>
            <a:r>
              <a:rPr lang="ru-RU"/>
              <a:t>Простые оптимизации: развертка циклов</a:t>
            </a:r>
            <a:endParaRPr lang="en-US"/>
          </a:p>
        </p:txBody>
      </p:sp>
      <p:sp>
        <p:nvSpPr>
          <p:cNvPr id="1991654507" name="Номер слайда 4"/>
          <p:cNvSpPr>
            <a:spLocks noGrp="1"/>
          </p:cNvSpPr>
          <p:nvPr>
            <p:ph type="sldNum" sz="quarter" idx="12"/>
          </p:nvPr>
        </p:nvSpPr>
        <p:spPr bwMode="auto"/>
        <p:txBody>
          <a:bodyPr/>
          <a:lstStyle/>
          <a:p>
            <a:pPr>
              <a:defRPr/>
            </a:pPr>
            <a:fld id="{B67FBA2B-964F-4C4D-AAF7-5A8399264638}" type="slidenum">
              <a:rPr lang="en-US"/>
              <a:t>12</a:t>
            </a:fld>
            <a:endParaRPr lang="en-US"/>
          </a:p>
        </p:txBody>
      </p:sp>
      <p:sp>
        <p:nvSpPr>
          <p:cNvPr id="1563348721" name="Объект 2"/>
          <p:cNvSpPr>
            <a:spLocks noGrp="1"/>
          </p:cNvSpPr>
          <p:nvPr>
            <p:ph idx="1"/>
          </p:nvPr>
        </p:nvSpPr>
        <p:spPr bwMode="auto">
          <a:xfrm>
            <a:off x="838200" y="1522136"/>
            <a:ext cx="11028218" cy="4587719"/>
          </a:xfrm>
        </p:spPr>
        <p:txBody>
          <a:bodyPr>
            <a:normAutofit/>
          </a:bodyPr>
          <a:lstStyle/>
          <a:p>
            <a:pPr marL="0" indent="0">
              <a:buNone/>
              <a:defRPr/>
            </a:pPr>
            <a:r>
              <a:rPr lang="ru-RU" sz="2000" dirty="0"/>
              <a:t>Если количество итераций цикла неизвестно заранее, но известно в момент входа в цикл, то можно частично развернуть цикл, разделив его на 2 части.</a:t>
            </a:r>
            <a:endParaRPr dirty="0"/>
          </a:p>
          <a:p>
            <a:pPr marL="0" indent="0">
              <a:buNone/>
              <a:defRPr/>
            </a:pPr>
            <a:r>
              <a:rPr lang="ru-RU" sz="2000" dirty="0"/>
              <a:t>Первая часть обрабатывает «голову» цикла, если общее число итераций не кратно </a:t>
            </a:r>
            <a:r>
              <a:rPr lang="en-US" sz="2000" dirty="0"/>
              <a:t>K. </a:t>
            </a:r>
            <a:endParaRPr lang="ru-RU" sz="2000" dirty="0"/>
          </a:p>
          <a:p>
            <a:pPr marL="0" indent="0">
              <a:buNone/>
              <a:defRPr/>
            </a:pPr>
            <a:r>
              <a:rPr lang="ru-RU" sz="2000" dirty="0"/>
              <a:t>Вторая часть выполняет итерации группами по </a:t>
            </a:r>
            <a:r>
              <a:rPr lang="en-US" sz="2000" dirty="0"/>
              <a:t>K (</a:t>
            </a:r>
            <a:r>
              <a:rPr lang="ru-RU" sz="2000" dirty="0"/>
              <a:t>т.е. содержит тело цикла, повторенное </a:t>
            </a:r>
            <a:r>
              <a:rPr lang="en-US" sz="2000" dirty="0"/>
              <a:t>K </a:t>
            </a:r>
            <a:r>
              <a:rPr lang="ru-RU" sz="2000" dirty="0"/>
              <a:t>раз.</a:t>
            </a:r>
            <a:r>
              <a:rPr lang="en-US" sz="2000" dirty="0"/>
              <a:t>)</a:t>
            </a:r>
            <a:endParaRPr lang="ru-RU" sz="2000" dirty="0"/>
          </a:p>
          <a:p>
            <a:pPr marL="0" indent="0">
              <a:buNone/>
              <a:defRPr/>
            </a:pPr>
            <a:endParaRPr lang="en-US" sz="2000" dirty="0"/>
          </a:p>
          <a:p>
            <a:pPr marL="0" indent="0">
              <a:buNone/>
              <a:defRPr/>
            </a:pPr>
            <a:endParaRPr lang="ru-RU" sz="2000" dirty="0"/>
          </a:p>
        </p:txBody>
      </p:sp>
      <p:sp>
        <p:nvSpPr>
          <p:cNvPr id="1509500015" name="TextBox 2"/>
          <p:cNvSpPr txBox="1"/>
          <p:nvPr/>
        </p:nvSpPr>
        <p:spPr bwMode="auto">
          <a:xfrm>
            <a:off x="6504710" y="3164681"/>
            <a:ext cx="4694093" cy="3693319"/>
          </a:xfrm>
          <a:prstGeom prst="rect">
            <a:avLst/>
          </a:prstGeom>
          <a:noFill/>
        </p:spPr>
        <p:txBody>
          <a:bodyPr wrap="square">
            <a:spAutoFit/>
          </a:bodyPr>
          <a:lstStyle/>
          <a:p>
            <a:pPr>
              <a:defRPr/>
            </a:pPr>
            <a:r>
              <a:rPr lang="pt-BR" b="0" dirty="0">
                <a:solidFill>
                  <a:srgbClr val="0000FF"/>
                </a:solidFill>
                <a:latin typeface="Consolas"/>
              </a:rPr>
              <a:t>int</a:t>
            </a:r>
            <a:r>
              <a:rPr lang="pt-BR" b="0" dirty="0">
                <a:solidFill>
                  <a:srgbClr val="000000"/>
                </a:solidFill>
                <a:latin typeface="Consolas"/>
              </a:rPr>
              <a:t> pow(</a:t>
            </a:r>
            <a:r>
              <a:rPr lang="pt-BR" b="0" dirty="0">
                <a:solidFill>
                  <a:srgbClr val="0000FF"/>
                </a:solidFill>
                <a:latin typeface="Consolas"/>
              </a:rPr>
              <a:t>int</a:t>
            </a:r>
            <a:r>
              <a:rPr lang="pt-BR" b="0" dirty="0">
                <a:solidFill>
                  <a:srgbClr val="000000"/>
                </a:solidFill>
                <a:latin typeface="Consolas"/>
              </a:rPr>
              <a:t> x, </a:t>
            </a:r>
            <a:r>
              <a:rPr lang="pt-BR" b="0" dirty="0">
                <a:solidFill>
                  <a:srgbClr val="0000FF"/>
                </a:solidFill>
                <a:latin typeface="Consolas"/>
              </a:rPr>
              <a:t>int</a:t>
            </a:r>
            <a:r>
              <a:rPr lang="pt-BR" b="0" dirty="0">
                <a:solidFill>
                  <a:srgbClr val="000000"/>
                </a:solidFill>
                <a:latin typeface="Consolas"/>
              </a:rPr>
              <a:t> c){</a:t>
            </a:r>
            <a:endParaRPr dirty="0"/>
          </a:p>
          <a:p>
            <a:pPr>
              <a:defRPr/>
            </a:pPr>
            <a:r>
              <a:rPr lang="pt-BR" b="0" dirty="0">
                <a:solidFill>
                  <a:srgbClr val="000000"/>
                </a:solidFill>
                <a:latin typeface="Consolas"/>
              </a:rPr>
              <a:t>    </a:t>
            </a:r>
            <a:r>
              <a:rPr lang="pt-BR" b="0" dirty="0">
                <a:solidFill>
                  <a:srgbClr val="0000FF"/>
                </a:solidFill>
                <a:latin typeface="Consolas"/>
              </a:rPr>
              <a:t>int</a:t>
            </a:r>
            <a:r>
              <a:rPr lang="pt-BR" b="0" dirty="0">
                <a:solidFill>
                  <a:srgbClr val="000000"/>
                </a:solidFill>
                <a:latin typeface="Consolas"/>
              </a:rPr>
              <a:t> r = </a:t>
            </a:r>
            <a:r>
              <a:rPr lang="pt-BR" b="0" dirty="0">
                <a:solidFill>
                  <a:srgbClr val="098658"/>
                </a:solidFill>
                <a:latin typeface="Consolas"/>
              </a:rPr>
              <a:t>1</a:t>
            </a:r>
            <a:r>
              <a:rPr lang="pt-BR" b="0" dirty="0">
                <a:solidFill>
                  <a:srgbClr val="000000"/>
                </a:solidFill>
                <a:latin typeface="Consolas"/>
              </a:rPr>
              <a:t>;</a:t>
            </a:r>
            <a:endParaRPr lang="ru-RU" dirty="0">
              <a:solidFill>
                <a:srgbClr val="000000"/>
              </a:solidFill>
              <a:latin typeface="Consolas"/>
            </a:endParaRPr>
          </a:p>
          <a:p>
            <a:pPr>
              <a:defRPr/>
            </a:pPr>
            <a:r>
              <a:rPr lang="ru-RU" dirty="0">
                <a:solidFill>
                  <a:srgbClr val="000000"/>
                </a:solidFill>
                <a:latin typeface="Consolas"/>
              </a:rPr>
              <a:t>    </a:t>
            </a:r>
            <a:r>
              <a:rPr lang="pt-BR" b="0" dirty="0">
                <a:solidFill>
                  <a:srgbClr val="0000FF"/>
                </a:solidFill>
                <a:latin typeface="Consolas"/>
              </a:rPr>
              <a:t>switch</a:t>
            </a:r>
            <a:r>
              <a:rPr lang="pt-BR" b="0" dirty="0">
                <a:solidFill>
                  <a:srgbClr val="000000"/>
                </a:solidFill>
                <a:latin typeface="Consolas"/>
              </a:rPr>
              <a:t>(c % </a:t>
            </a:r>
            <a:r>
              <a:rPr lang="pt-BR" b="0" dirty="0">
                <a:solidFill>
                  <a:srgbClr val="098658"/>
                </a:solidFill>
                <a:latin typeface="Consolas"/>
              </a:rPr>
              <a:t>5</a:t>
            </a:r>
            <a:r>
              <a:rPr lang="pt-BR" b="0" dirty="0">
                <a:solidFill>
                  <a:srgbClr val="000000"/>
                </a:solidFill>
                <a:latin typeface="Consolas"/>
              </a:rPr>
              <a:t>){</a:t>
            </a:r>
            <a:endParaRPr dirty="0"/>
          </a:p>
          <a:p>
            <a:pPr>
              <a:defRPr/>
            </a:pPr>
            <a:r>
              <a:rPr lang="pt-BR" b="0" dirty="0">
                <a:solidFill>
                  <a:srgbClr val="000000"/>
                </a:solidFill>
                <a:latin typeface="Consolas"/>
              </a:rPr>
              <a:t>        </a:t>
            </a:r>
            <a:r>
              <a:rPr lang="pt-BR" b="0" dirty="0">
                <a:solidFill>
                  <a:srgbClr val="0000FF"/>
                </a:solidFill>
                <a:latin typeface="Consolas"/>
              </a:rPr>
              <a:t>case</a:t>
            </a:r>
            <a:r>
              <a:rPr lang="pt-BR" b="0" dirty="0">
                <a:solidFill>
                  <a:srgbClr val="000000"/>
                </a:solidFill>
                <a:latin typeface="Consolas"/>
              </a:rPr>
              <a:t> </a:t>
            </a:r>
            <a:r>
              <a:rPr lang="pt-BR" b="0" dirty="0">
                <a:solidFill>
                  <a:srgbClr val="098658"/>
                </a:solidFill>
                <a:latin typeface="Consolas"/>
              </a:rPr>
              <a:t>4</a:t>
            </a:r>
            <a:r>
              <a:rPr lang="pt-BR" b="0" dirty="0">
                <a:solidFill>
                  <a:srgbClr val="000000"/>
                </a:solidFill>
                <a:latin typeface="Consolas"/>
              </a:rPr>
              <a:t>: r*=x;</a:t>
            </a:r>
            <a:endParaRPr dirty="0"/>
          </a:p>
          <a:p>
            <a:pPr>
              <a:defRPr/>
            </a:pPr>
            <a:r>
              <a:rPr lang="pt-BR" b="0" dirty="0">
                <a:solidFill>
                  <a:srgbClr val="000000"/>
                </a:solidFill>
                <a:latin typeface="Consolas"/>
              </a:rPr>
              <a:t>        </a:t>
            </a:r>
            <a:r>
              <a:rPr lang="pt-BR" b="0" dirty="0">
                <a:solidFill>
                  <a:srgbClr val="0000FF"/>
                </a:solidFill>
                <a:latin typeface="Consolas"/>
              </a:rPr>
              <a:t>case</a:t>
            </a:r>
            <a:r>
              <a:rPr lang="pt-BR" b="0" dirty="0">
                <a:solidFill>
                  <a:srgbClr val="000000"/>
                </a:solidFill>
                <a:latin typeface="Consolas"/>
              </a:rPr>
              <a:t> </a:t>
            </a:r>
            <a:r>
              <a:rPr lang="pt-BR" b="0" dirty="0">
                <a:solidFill>
                  <a:srgbClr val="098658"/>
                </a:solidFill>
                <a:latin typeface="Consolas"/>
              </a:rPr>
              <a:t>3</a:t>
            </a:r>
            <a:r>
              <a:rPr lang="pt-BR" b="0" dirty="0">
                <a:solidFill>
                  <a:srgbClr val="000000"/>
                </a:solidFill>
                <a:latin typeface="Consolas"/>
              </a:rPr>
              <a:t>: r*=x;</a:t>
            </a:r>
            <a:endParaRPr dirty="0"/>
          </a:p>
          <a:p>
            <a:pPr>
              <a:defRPr/>
            </a:pPr>
            <a:r>
              <a:rPr lang="pt-BR" b="0" dirty="0">
                <a:solidFill>
                  <a:srgbClr val="000000"/>
                </a:solidFill>
                <a:latin typeface="Consolas"/>
              </a:rPr>
              <a:t>        </a:t>
            </a:r>
            <a:r>
              <a:rPr lang="pt-BR" b="0" dirty="0">
                <a:solidFill>
                  <a:srgbClr val="0000FF"/>
                </a:solidFill>
                <a:latin typeface="Consolas"/>
              </a:rPr>
              <a:t>case</a:t>
            </a:r>
            <a:r>
              <a:rPr lang="pt-BR" b="0" dirty="0">
                <a:solidFill>
                  <a:srgbClr val="000000"/>
                </a:solidFill>
                <a:latin typeface="Consolas"/>
              </a:rPr>
              <a:t> </a:t>
            </a:r>
            <a:r>
              <a:rPr lang="pt-BR" b="0" dirty="0">
                <a:solidFill>
                  <a:srgbClr val="098658"/>
                </a:solidFill>
                <a:latin typeface="Consolas"/>
              </a:rPr>
              <a:t>2</a:t>
            </a:r>
            <a:r>
              <a:rPr lang="pt-BR" b="0" dirty="0">
                <a:solidFill>
                  <a:srgbClr val="000000"/>
                </a:solidFill>
                <a:latin typeface="Consolas"/>
              </a:rPr>
              <a:t>: r*=x;</a:t>
            </a:r>
            <a:endParaRPr dirty="0"/>
          </a:p>
          <a:p>
            <a:pPr>
              <a:defRPr/>
            </a:pPr>
            <a:r>
              <a:rPr lang="pt-BR" b="0" dirty="0">
                <a:solidFill>
                  <a:srgbClr val="000000"/>
                </a:solidFill>
                <a:latin typeface="Consolas"/>
              </a:rPr>
              <a:t>        </a:t>
            </a:r>
            <a:r>
              <a:rPr lang="pt-BR" b="0" dirty="0">
                <a:solidFill>
                  <a:srgbClr val="0000FF"/>
                </a:solidFill>
                <a:latin typeface="Consolas"/>
              </a:rPr>
              <a:t>case</a:t>
            </a:r>
            <a:r>
              <a:rPr lang="pt-BR" b="0" dirty="0">
                <a:solidFill>
                  <a:srgbClr val="000000"/>
                </a:solidFill>
                <a:latin typeface="Consolas"/>
              </a:rPr>
              <a:t> </a:t>
            </a:r>
            <a:r>
              <a:rPr lang="pt-BR" b="0" dirty="0">
                <a:solidFill>
                  <a:srgbClr val="098658"/>
                </a:solidFill>
                <a:latin typeface="Consolas"/>
              </a:rPr>
              <a:t>1</a:t>
            </a:r>
            <a:r>
              <a:rPr lang="pt-BR" b="0" dirty="0">
                <a:solidFill>
                  <a:srgbClr val="000000"/>
                </a:solidFill>
                <a:latin typeface="Consolas"/>
              </a:rPr>
              <a:t>: r*=x;</a:t>
            </a:r>
            <a:endParaRPr dirty="0"/>
          </a:p>
          <a:p>
            <a:pPr>
              <a:defRPr/>
            </a:pPr>
            <a:r>
              <a:rPr lang="pt-BR" b="0" dirty="0">
                <a:solidFill>
                  <a:srgbClr val="000000"/>
                </a:solidFill>
                <a:latin typeface="Consolas"/>
              </a:rPr>
              <a:t>    }</a:t>
            </a:r>
            <a:endParaRPr dirty="0"/>
          </a:p>
          <a:p>
            <a:pPr>
              <a:defRPr/>
            </a:pPr>
            <a:r>
              <a:rPr lang="pt-BR" b="0" dirty="0">
                <a:solidFill>
                  <a:srgbClr val="000000"/>
                </a:solidFill>
                <a:latin typeface="Consolas"/>
              </a:rPr>
              <a:t>    </a:t>
            </a:r>
            <a:r>
              <a:rPr lang="pt-BR" b="0" dirty="0">
                <a:solidFill>
                  <a:srgbClr val="0000FF"/>
                </a:solidFill>
                <a:latin typeface="Consolas"/>
              </a:rPr>
              <a:t>for</a:t>
            </a:r>
            <a:r>
              <a:rPr lang="pt-BR" b="0" dirty="0">
                <a:solidFill>
                  <a:srgbClr val="000000"/>
                </a:solidFill>
                <a:latin typeface="Consolas"/>
              </a:rPr>
              <a:t>(; c &gt; </a:t>
            </a:r>
            <a:r>
              <a:rPr lang="pt-BR" b="0" dirty="0">
                <a:solidFill>
                  <a:srgbClr val="098658"/>
                </a:solidFill>
                <a:latin typeface="Consolas"/>
              </a:rPr>
              <a:t>4</a:t>
            </a:r>
            <a:r>
              <a:rPr lang="pt-BR" b="0" dirty="0">
                <a:solidFill>
                  <a:srgbClr val="000000"/>
                </a:solidFill>
                <a:latin typeface="Consolas"/>
              </a:rPr>
              <a:t>; c-=</a:t>
            </a:r>
            <a:r>
              <a:rPr lang="pt-BR" b="0" dirty="0">
                <a:solidFill>
                  <a:srgbClr val="098658"/>
                </a:solidFill>
                <a:latin typeface="Consolas"/>
              </a:rPr>
              <a:t>5</a:t>
            </a:r>
            <a:r>
              <a:rPr lang="pt-BR" b="0" dirty="0">
                <a:solidFill>
                  <a:srgbClr val="000000"/>
                </a:solidFill>
                <a:latin typeface="Consolas"/>
              </a:rPr>
              <a:t>)</a:t>
            </a:r>
            <a:endParaRPr dirty="0"/>
          </a:p>
          <a:p>
            <a:pPr>
              <a:defRPr/>
            </a:pPr>
            <a:r>
              <a:rPr lang="pt-BR" b="0" dirty="0">
                <a:solidFill>
                  <a:srgbClr val="000000"/>
                </a:solidFill>
                <a:latin typeface="Consolas"/>
              </a:rPr>
              <a:t>        {r*=x;r*=x;r*=x;r*=x;r*=x;}</a:t>
            </a:r>
            <a:endParaRPr dirty="0"/>
          </a:p>
          <a:p>
            <a:pPr>
              <a:defRPr/>
            </a:pPr>
            <a:br>
              <a:rPr lang="pt-BR" b="0" dirty="0">
                <a:solidFill>
                  <a:srgbClr val="000000"/>
                </a:solidFill>
                <a:latin typeface="Consolas"/>
              </a:rPr>
            </a:br>
            <a:r>
              <a:rPr lang="pt-BR" b="0" dirty="0">
                <a:solidFill>
                  <a:srgbClr val="000000"/>
                </a:solidFill>
                <a:latin typeface="Consolas"/>
              </a:rPr>
              <a:t>    </a:t>
            </a:r>
            <a:r>
              <a:rPr lang="pt-BR" b="0" dirty="0">
                <a:solidFill>
                  <a:srgbClr val="0000FF"/>
                </a:solidFill>
                <a:latin typeface="Consolas"/>
              </a:rPr>
              <a:t>return</a:t>
            </a:r>
            <a:r>
              <a:rPr lang="pt-BR" b="0" dirty="0">
                <a:solidFill>
                  <a:srgbClr val="000000"/>
                </a:solidFill>
                <a:latin typeface="Consolas"/>
              </a:rPr>
              <a:t> r;</a:t>
            </a:r>
            <a:endParaRPr dirty="0"/>
          </a:p>
          <a:p>
            <a:pPr>
              <a:defRPr/>
            </a:pPr>
            <a:r>
              <a:rPr lang="pt-BR" b="0" dirty="0">
                <a:solidFill>
                  <a:srgbClr val="000000"/>
                </a:solidFill>
                <a:latin typeface="Consolas"/>
              </a:rPr>
              <a:t>}</a:t>
            </a:r>
            <a:endParaRPr dirty="0"/>
          </a:p>
        </p:txBody>
      </p:sp>
      <p:sp>
        <p:nvSpPr>
          <p:cNvPr id="1611955796" name="TextBox 3"/>
          <p:cNvSpPr txBox="1"/>
          <p:nvPr/>
        </p:nvSpPr>
        <p:spPr bwMode="auto">
          <a:xfrm>
            <a:off x="993197" y="3429000"/>
            <a:ext cx="3177021" cy="1754326"/>
          </a:xfrm>
          <a:prstGeom prst="rect">
            <a:avLst/>
          </a:prstGeom>
          <a:noFill/>
        </p:spPr>
        <p:txBody>
          <a:bodyPr wrap="square">
            <a:spAutoFit/>
          </a:bodyPr>
          <a:lstStyle/>
          <a:p>
            <a:pPr>
              <a:defRPr/>
            </a:pPr>
            <a:r>
              <a:rPr lang="en-US" b="0">
                <a:solidFill>
                  <a:srgbClr val="0000FF"/>
                </a:solidFill>
                <a:latin typeface="Consolas"/>
              </a:rPr>
              <a:t>int</a:t>
            </a:r>
            <a:r>
              <a:rPr lang="en-US" b="0">
                <a:solidFill>
                  <a:srgbClr val="000000"/>
                </a:solidFill>
                <a:latin typeface="Consolas"/>
              </a:rPr>
              <a:t> pow(</a:t>
            </a:r>
            <a:r>
              <a:rPr lang="en-US" b="0">
                <a:solidFill>
                  <a:srgbClr val="0000FF"/>
                </a:solidFill>
                <a:latin typeface="Consolas"/>
              </a:rPr>
              <a:t>int</a:t>
            </a:r>
            <a:r>
              <a:rPr lang="en-US" b="0">
                <a:solidFill>
                  <a:srgbClr val="000000"/>
                </a:solidFill>
                <a:latin typeface="Consolas"/>
              </a:rPr>
              <a:t> x, </a:t>
            </a:r>
            <a:r>
              <a:rPr lang="en-US" b="0">
                <a:solidFill>
                  <a:srgbClr val="0000FF"/>
                </a:solidFill>
                <a:latin typeface="Consolas"/>
              </a:rPr>
              <a:t>int</a:t>
            </a:r>
            <a:r>
              <a:rPr lang="en-US" b="0">
                <a:solidFill>
                  <a:srgbClr val="000000"/>
                </a:solidFill>
                <a:latin typeface="Consolas"/>
              </a:rPr>
              <a:t> c){</a:t>
            </a:r>
            <a:endParaRPr/>
          </a:p>
          <a:p>
            <a:pPr>
              <a:defRPr/>
            </a:pPr>
            <a:r>
              <a:rPr lang="en-US" b="0">
                <a:solidFill>
                  <a:srgbClr val="000000"/>
                </a:solidFill>
                <a:latin typeface="Consolas"/>
              </a:rPr>
              <a:t>    </a:t>
            </a:r>
            <a:r>
              <a:rPr lang="en-US" b="0">
                <a:solidFill>
                  <a:srgbClr val="0000FF"/>
                </a:solidFill>
                <a:latin typeface="Consolas"/>
              </a:rPr>
              <a:t>int</a:t>
            </a:r>
            <a:r>
              <a:rPr lang="en-US" b="0">
                <a:solidFill>
                  <a:srgbClr val="000000"/>
                </a:solidFill>
                <a:latin typeface="Consolas"/>
              </a:rPr>
              <a:t> r = </a:t>
            </a:r>
            <a:r>
              <a:rPr lang="en-US" b="0">
                <a:solidFill>
                  <a:srgbClr val="098658"/>
                </a:solidFill>
                <a:latin typeface="Consolas"/>
              </a:rPr>
              <a:t>1</a:t>
            </a:r>
            <a:r>
              <a:rPr lang="en-US" b="0">
                <a:solidFill>
                  <a:srgbClr val="000000"/>
                </a:solidFill>
                <a:latin typeface="Consolas"/>
              </a:rPr>
              <a:t>;</a:t>
            </a:r>
            <a:endParaRPr/>
          </a:p>
          <a:p>
            <a:pPr>
              <a:defRPr/>
            </a:pPr>
            <a:r>
              <a:rPr lang="en-US" b="0">
                <a:solidFill>
                  <a:srgbClr val="000000"/>
                </a:solidFill>
                <a:latin typeface="Consolas"/>
              </a:rPr>
              <a:t>    </a:t>
            </a:r>
            <a:r>
              <a:rPr lang="en-US" b="0">
                <a:solidFill>
                  <a:srgbClr val="0000FF"/>
                </a:solidFill>
                <a:latin typeface="Consolas"/>
              </a:rPr>
              <a:t>for</a:t>
            </a:r>
            <a:r>
              <a:rPr lang="en-US" b="0">
                <a:solidFill>
                  <a:srgbClr val="000000"/>
                </a:solidFill>
                <a:latin typeface="Consolas"/>
              </a:rPr>
              <a:t>(c; c &gt;</a:t>
            </a:r>
            <a:r>
              <a:rPr lang="en-US" b="0">
                <a:solidFill>
                  <a:srgbClr val="098658"/>
                </a:solidFill>
                <a:latin typeface="Consolas"/>
              </a:rPr>
              <a:t>0</a:t>
            </a:r>
            <a:r>
              <a:rPr lang="en-US" b="0">
                <a:solidFill>
                  <a:srgbClr val="000000"/>
                </a:solidFill>
                <a:latin typeface="Consolas"/>
              </a:rPr>
              <a:t>; c--)</a:t>
            </a:r>
            <a:endParaRPr/>
          </a:p>
          <a:p>
            <a:pPr>
              <a:defRPr/>
            </a:pPr>
            <a:r>
              <a:rPr lang="en-US" b="0">
                <a:solidFill>
                  <a:srgbClr val="000000"/>
                </a:solidFill>
                <a:latin typeface="Consolas"/>
              </a:rPr>
              <a:t>        r*=x;</a:t>
            </a:r>
            <a:endParaRPr/>
          </a:p>
          <a:p>
            <a:pPr>
              <a:defRPr/>
            </a:pPr>
            <a:r>
              <a:rPr lang="en-US" b="0">
                <a:solidFill>
                  <a:srgbClr val="000000"/>
                </a:solidFill>
                <a:latin typeface="Consolas"/>
              </a:rPr>
              <a:t>    </a:t>
            </a:r>
            <a:r>
              <a:rPr lang="en-US" b="0">
                <a:solidFill>
                  <a:srgbClr val="0000FF"/>
                </a:solidFill>
                <a:latin typeface="Consolas"/>
              </a:rPr>
              <a:t>return</a:t>
            </a:r>
            <a:r>
              <a:rPr lang="en-US" b="0">
                <a:solidFill>
                  <a:srgbClr val="000000"/>
                </a:solidFill>
                <a:latin typeface="Consolas"/>
              </a:rPr>
              <a:t> r;</a:t>
            </a:r>
            <a:endParaRPr/>
          </a:p>
          <a:p>
            <a:pPr>
              <a:defRPr/>
            </a:pPr>
            <a:r>
              <a:rPr lang="en-US" b="0">
                <a:solidFill>
                  <a:srgbClr val="000000"/>
                </a:solidFill>
                <a:latin typeface="Consolas"/>
              </a:rPr>
              <a:t>}</a:t>
            </a:r>
            <a:endParaRPr/>
          </a:p>
        </p:txBody>
      </p:sp>
      <p:cxnSp>
        <p:nvCxnSpPr>
          <p:cNvPr id="1037043912" name="Прямая со стрелкой 5"/>
          <p:cNvCxnSpPr/>
          <p:nvPr/>
        </p:nvCxnSpPr>
        <p:spPr bwMode="auto">
          <a:xfrm>
            <a:off x="4726997" y="4306163"/>
            <a:ext cx="144433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88334464" name="TextBox 6"/>
          <p:cNvSpPr txBox="1"/>
          <p:nvPr/>
        </p:nvSpPr>
        <p:spPr bwMode="auto">
          <a:xfrm>
            <a:off x="1263360" y="6044475"/>
            <a:ext cx="3616036" cy="369332"/>
          </a:xfrm>
          <a:prstGeom prst="rect">
            <a:avLst/>
          </a:prstGeom>
          <a:noFill/>
        </p:spPr>
        <p:txBody>
          <a:bodyPr wrap="square">
            <a:spAutoFit/>
          </a:bodyPr>
          <a:lstStyle/>
          <a:p>
            <a:pPr>
              <a:defRPr/>
            </a:pPr>
            <a:r>
              <a:rPr lang="en-US" u="sng">
                <a:hlinkClick r:id="rId3"/>
              </a:rPr>
              <a:t>https://godbolt.org/z/nT97bKbz8</a:t>
            </a:r>
            <a:endParaRPr lang="ru-RU"/>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515838384" name="Заголовок 1"/>
          <p:cNvSpPr>
            <a:spLocks noGrp="1"/>
          </p:cNvSpPr>
          <p:nvPr>
            <p:ph type="title"/>
          </p:nvPr>
        </p:nvSpPr>
        <p:spPr bwMode="auto"/>
        <p:txBody>
          <a:bodyPr/>
          <a:lstStyle/>
          <a:p>
            <a:pPr>
              <a:defRPr/>
            </a:pPr>
            <a:r>
              <a:rPr lang="en-US"/>
              <a:t>Duff’s Device</a:t>
            </a:r>
            <a:endParaRPr/>
          </a:p>
        </p:txBody>
      </p:sp>
      <p:sp>
        <p:nvSpPr>
          <p:cNvPr id="632407747" name="Номер слайда 4"/>
          <p:cNvSpPr>
            <a:spLocks noGrp="1"/>
          </p:cNvSpPr>
          <p:nvPr>
            <p:ph type="sldNum" sz="quarter" idx="12"/>
          </p:nvPr>
        </p:nvSpPr>
        <p:spPr bwMode="auto"/>
        <p:txBody>
          <a:bodyPr/>
          <a:lstStyle/>
          <a:p>
            <a:pPr>
              <a:defRPr/>
            </a:pPr>
            <a:fld id="{B67FBA2B-964F-4C4D-AAF7-5A8399264638}" type="slidenum">
              <a:rPr lang="en-US"/>
              <a:t>13</a:t>
            </a:fld>
            <a:endParaRPr lang="en-US"/>
          </a:p>
        </p:txBody>
      </p:sp>
      <p:sp>
        <p:nvSpPr>
          <p:cNvPr id="1655737825" name="Объект 2"/>
          <p:cNvSpPr>
            <a:spLocks noGrp="1"/>
          </p:cNvSpPr>
          <p:nvPr>
            <p:ph idx="1"/>
          </p:nvPr>
        </p:nvSpPr>
        <p:spPr bwMode="auto">
          <a:xfrm>
            <a:off x="838200" y="1522136"/>
            <a:ext cx="5624945" cy="4834214"/>
          </a:xfrm>
        </p:spPr>
        <p:txBody>
          <a:bodyPr>
            <a:normAutofit/>
          </a:bodyPr>
          <a:lstStyle/>
          <a:p>
            <a:pPr marL="0" indent="0">
              <a:buNone/>
              <a:defRPr/>
            </a:pPr>
            <a:r>
              <a:rPr lang="ru-RU" sz="2000"/>
              <a:t>Особенность реализации </a:t>
            </a:r>
            <a:r>
              <a:rPr lang="en-US" sz="2000"/>
              <a:t>switch </a:t>
            </a:r>
            <a:r>
              <a:rPr lang="ru-RU" sz="2000"/>
              <a:t>в языке </a:t>
            </a:r>
            <a:r>
              <a:rPr lang="en-US" sz="2000"/>
              <a:t>C </a:t>
            </a:r>
            <a:r>
              <a:rPr lang="ru-RU" sz="2000"/>
              <a:t>позволяет не делить цикл на 2 части для обработки основной части и «хвоста». Можно вместо этого использовать химерную конструкцию под названием</a:t>
            </a:r>
            <a:r>
              <a:rPr lang="en-US" sz="2000"/>
              <a:t> Duff’s Device. </a:t>
            </a:r>
            <a:endParaRPr lang="ru-RU" sz="2000"/>
          </a:p>
          <a:p>
            <a:pPr marL="0" indent="0">
              <a:buNone/>
              <a:defRPr/>
            </a:pPr>
            <a:r>
              <a:rPr lang="ru-RU" sz="2000"/>
              <a:t>Устройство Даффа в начале выполнения осуществляет </a:t>
            </a:r>
            <a:r>
              <a:rPr lang="ru-RU" sz="2000" i="1"/>
              <a:t>прыжок в тело цикла</a:t>
            </a:r>
            <a:r>
              <a:rPr lang="ru-RU" sz="2000"/>
              <a:t>, пропуская часть лишних итераций. После этого цикл продолжается, как положено.</a:t>
            </a:r>
            <a:endParaRPr lang="en-US" sz="2000"/>
          </a:p>
          <a:p>
            <a:pPr marL="0" indent="0">
              <a:buNone/>
              <a:defRPr/>
            </a:pPr>
            <a:endParaRPr lang="ru-RU" sz="2000"/>
          </a:p>
        </p:txBody>
      </p:sp>
      <p:sp>
        <p:nvSpPr>
          <p:cNvPr id="600935952" name="TextBox 6"/>
          <p:cNvSpPr txBox="1"/>
          <p:nvPr/>
        </p:nvSpPr>
        <p:spPr bwMode="auto">
          <a:xfrm>
            <a:off x="7598352" y="1522136"/>
            <a:ext cx="3935557" cy="4524315"/>
          </a:xfrm>
          <a:prstGeom prst="rect">
            <a:avLst/>
          </a:prstGeom>
          <a:noFill/>
        </p:spPr>
        <p:txBody>
          <a:bodyPr wrap="square">
            <a:spAutoFit/>
          </a:bodyPr>
          <a:lstStyle/>
          <a:p>
            <a:pPr>
              <a:defRPr/>
            </a:pPr>
            <a:r>
              <a:rPr lang="en-US" b="0">
                <a:solidFill>
                  <a:srgbClr val="0000FF"/>
                </a:solidFill>
                <a:latin typeface="Consolas"/>
              </a:rPr>
              <a:t>int</a:t>
            </a:r>
            <a:r>
              <a:rPr lang="en-US" b="0">
                <a:solidFill>
                  <a:srgbClr val="000000"/>
                </a:solidFill>
                <a:latin typeface="Consolas"/>
              </a:rPr>
              <a:t> pow_duff(</a:t>
            </a:r>
            <a:r>
              <a:rPr lang="en-US" b="0">
                <a:solidFill>
                  <a:srgbClr val="0000FF"/>
                </a:solidFill>
                <a:latin typeface="Consolas"/>
              </a:rPr>
              <a:t>int</a:t>
            </a:r>
            <a:r>
              <a:rPr lang="en-US" b="0">
                <a:solidFill>
                  <a:srgbClr val="000000"/>
                </a:solidFill>
                <a:latin typeface="Consolas"/>
              </a:rPr>
              <a:t> x, </a:t>
            </a:r>
            <a:r>
              <a:rPr lang="en-US" b="0">
                <a:solidFill>
                  <a:srgbClr val="0000FF"/>
                </a:solidFill>
                <a:latin typeface="Consolas"/>
              </a:rPr>
              <a:t>int</a:t>
            </a:r>
            <a:r>
              <a:rPr lang="en-US" b="0">
                <a:solidFill>
                  <a:srgbClr val="000000"/>
                </a:solidFill>
                <a:latin typeface="Consolas"/>
              </a:rPr>
              <a:t> c){</a:t>
            </a:r>
            <a:endParaRPr/>
          </a:p>
          <a:p>
            <a:pPr>
              <a:defRPr/>
            </a:pPr>
            <a:r>
              <a:rPr lang="en-US" b="0">
                <a:solidFill>
                  <a:srgbClr val="000000"/>
                </a:solidFill>
                <a:latin typeface="Consolas"/>
              </a:rPr>
              <a:t>    </a:t>
            </a:r>
            <a:r>
              <a:rPr lang="en-US" b="0">
                <a:solidFill>
                  <a:srgbClr val="0000FF"/>
                </a:solidFill>
                <a:latin typeface="Consolas"/>
              </a:rPr>
              <a:t>int</a:t>
            </a:r>
            <a:r>
              <a:rPr lang="en-US" b="0">
                <a:solidFill>
                  <a:srgbClr val="000000"/>
                </a:solidFill>
                <a:latin typeface="Consolas"/>
              </a:rPr>
              <a:t> r = </a:t>
            </a:r>
            <a:r>
              <a:rPr lang="en-US" b="0">
                <a:solidFill>
                  <a:srgbClr val="098658"/>
                </a:solidFill>
                <a:latin typeface="Consolas"/>
              </a:rPr>
              <a:t>1</a:t>
            </a:r>
            <a:r>
              <a:rPr lang="en-US" b="0">
                <a:solidFill>
                  <a:srgbClr val="000000"/>
                </a:solidFill>
                <a:latin typeface="Consolas"/>
              </a:rPr>
              <a:t>;</a:t>
            </a:r>
            <a:endParaRPr/>
          </a:p>
          <a:p>
            <a:pPr>
              <a:defRPr/>
            </a:pPr>
            <a:r>
              <a:rPr lang="en-US" b="0">
                <a:solidFill>
                  <a:srgbClr val="000000"/>
                </a:solidFill>
                <a:latin typeface="Consolas"/>
              </a:rPr>
              <a:t>    </a:t>
            </a:r>
            <a:r>
              <a:rPr lang="en-US" b="0">
                <a:solidFill>
                  <a:srgbClr val="0000FF"/>
                </a:solidFill>
                <a:latin typeface="Consolas"/>
              </a:rPr>
              <a:t>if</a:t>
            </a:r>
            <a:r>
              <a:rPr lang="en-US" b="0">
                <a:solidFill>
                  <a:srgbClr val="000000"/>
                </a:solidFill>
                <a:latin typeface="Consolas"/>
              </a:rPr>
              <a:t> (c &lt; </a:t>
            </a:r>
            <a:r>
              <a:rPr lang="en-US" b="0">
                <a:solidFill>
                  <a:srgbClr val="098658"/>
                </a:solidFill>
                <a:latin typeface="Consolas"/>
              </a:rPr>
              <a:t>1</a:t>
            </a:r>
            <a:r>
              <a:rPr lang="en-US" b="0">
                <a:solidFill>
                  <a:srgbClr val="000000"/>
                </a:solidFill>
                <a:latin typeface="Consolas"/>
              </a:rPr>
              <a:t>) </a:t>
            </a:r>
            <a:r>
              <a:rPr lang="en-US" b="0">
                <a:solidFill>
                  <a:srgbClr val="0000FF"/>
                </a:solidFill>
                <a:latin typeface="Consolas"/>
              </a:rPr>
              <a:t>return</a:t>
            </a:r>
            <a:r>
              <a:rPr lang="en-US" b="0">
                <a:solidFill>
                  <a:srgbClr val="000000"/>
                </a:solidFill>
                <a:latin typeface="Consolas"/>
              </a:rPr>
              <a:t> r;</a:t>
            </a:r>
            <a:endParaRPr/>
          </a:p>
          <a:p>
            <a:pPr>
              <a:defRPr/>
            </a:pPr>
            <a:r>
              <a:rPr lang="en-US" b="0">
                <a:solidFill>
                  <a:srgbClr val="000000"/>
                </a:solidFill>
                <a:latin typeface="Consolas"/>
              </a:rPr>
              <a:t>    </a:t>
            </a:r>
            <a:endParaRPr/>
          </a:p>
          <a:p>
            <a:pPr>
              <a:defRPr/>
            </a:pPr>
            <a:r>
              <a:rPr lang="en-US">
                <a:solidFill>
                  <a:srgbClr val="000000"/>
                </a:solidFill>
                <a:latin typeface="Consolas"/>
              </a:rPr>
              <a:t>    </a:t>
            </a:r>
            <a:r>
              <a:rPr lang="en-US" b="0">
                <a:solidFill>
                  <a:srgbClr val="0000FF"/>
                </a:solidFill>
                <a:latin typeface="Consolas"/>
              </a:rPr>
              <a:t>switch</a:t>
            </a:r>
            <a:r>
              <a:rPr lang="en-US" b="0">
                <a:solidFill>
                  <a:srgbClr val="000000"/>
                </a:solidFill>
                <a:latin typeface="Consolas"/>
              </a:rPr>
              <a:t>(c%</a:t>
            </a:r>
            <a:r>
              <a:rPr lang="en-US" b="0">
                <a:solidFill>
                  <a:srgbClr val="098658"/>
                </a:solidFill>
                <a:latin typeface="Consolas"/>
              </a:rPr>
              <a:t>5</a:t>
            </a:r>
            <a:r>
              <a:rPr lang="en-US" b="0">
                <a:solidFill>
                  <a:srgbClr val="000000"/>
                </a:solidFill>
                <a:latin typeface="Consolas"/>
              </a:rPr>
              <a:t>){ </a:t>
            </a:r>
            <a:endParaRPr/>
          </a:p>
          <a:p>
            <a:pPr>
              <a:defRPr/>
            </a:pPr>
            <a:r>
              <a:rPr lang="en-US" b="0">
                <a:solidFill>
                  <a:srgbClr val="0000FF"/>
                </a:solidFill>
                <a:latin typeface="Consolas"/>
              </a:rPr>
              <a:t>      do</a:t>
            </a:r>
            <a:r>
              <a:rPr lang="en-US" b="0">
                <a:solidFill>
                  <a:srgbClr val="000000"/>
                </a:solidFill>
                <a:latin typeface="Consolas"/>
              </a:rPr>
              <a:t>{</a:t>
            </a:r>
            <a:endParaRPr/>
          </a:p>
          <a:p>
            <a:pPr>
              <a:defRPr/>
            </a:pPr>
            <a:r>
              <a:rPr lang="en-US" b="0">
                <a:solidFill>
                  <a:srgbClr val="000000"/>
                </a:solidFill>
                <a:latin typeface="Consolas"/>
              </a:rPr>
              <a:t>        </a:t>
            </a:r>
            <a:r>
              <a:rPr lang="en-US" b="0">
                <a:solidFill>
                  <a:srgbClr val="0000FF"/>
                </a:solidFill>
                <a:latin typeface="Consolas"/>
              </a:rPr>
              <a:t>case</a:t>
            </a:r>
            <a:r>
              <a:rPr lang="en-US" b="0">
                <a:solidFill>
                  <a:srgbClr val="000000"/>
                </a:solidFill>
                <a:latin typeface="Consolas"/>
              </a:rPr>
              <a:t> </a:t>
            </a:r>
            <a:r>
              <a:rPr lang="en-US" b="0">
                <a:solidFill>
                  <a:srgbClr val="098658"/>
                </a:solidFill>
                <a:latin typeface="Consolas"/>
              </a:rPr>
              <a:t>0</a:t>
            </a:r>
            <a:r>
              <a:rPr lang="en-US" b="0">
                <a:solidFill>
                  <a:srgbClr val="000000"/>
                </a:solidFill>
                <a:latin typeface="Consolas"/>
              </a:rPr>
              <a:t>: r*=x;</a:t>
            </a:r>
            <a:endParaRPr/>
          </a:p>
          <a:p>
            <a:pPr>
              <a:defRPr/>
            </a:pPr>
            <a:r>
              <a:rPr lang="en-US" b="0">
                <a:solidFill>
                  <a:srgbClr val="000000"/>
                </a:solidFill>
                <a:latin typeface="Consolas"/>
              </a:rPr>
              <a:t>        </a:t>
            </a:r>
            <a:r>
              <a:rPr lang="en-US" b="0">
                <a:solidFill>
                  <a:srgbClr val="0000FF"/>
                </a:solidFill>
                <a:latin typeface="Consolas"/>
              </a:rPr>
              <a:t>case</a:t>
            </a:r>
            <a:r>
              <a:rPr lang="en-US" b="0">
                <a:solidFill>
                  <a:srgbClr val="000000"/>
                </a:solidFill>
                <a:latin typeface="Consolas"/>
              </a:rPr>
              <a:t> </a:t>
            </a:r>
            <a:r>
              <a:rPr lang="en-US" b="0">
                <a:solidFill>
                  <a:srgbClr val="098658"/>
                </a:solidFill>
                <a:latin typeface="Consolas"/>
              </a:rPr>
              <a:t>4</a:t>
            </a:r>
            <a:r>
              <a:rPr lang="en-US" b="0">
                <a:solidFill>
                  <a:srgbClr val="000000"/>
                </a:solidFill>
                <a:latin typeface="Consolas"/>
              </a:rPr>
              <a:t>: r*=x;</a:t>
            </a:r>
            <a:endParaRPr/>
          </a:p>
          <a:p>
            <a:pPr>
              <a:defRPr/>
            </a:pPr>
            <a:r>
              <a:rPr lang="en-US" b="0">
                <a:solidFill>
                  <a:srgbClr val="000000"/>
                </a:solidFill>
                <a:latin typeface="Consolas"/>
              </a:rPr>
              <a:t>        </a:t>
            </a:r>
            <a:r>
              <a:rPr lang="en-US" b="0">
                <a:solidFill>
                  <a:srgbClr val="0000FF"/>
                </a:solidFill>
                <a:latin typeface="Consolas"/>
              </a:rPr>
              <a:t>case</a:t>
            </a:r>
            <a:r>
              <a:rPr lang="en-US" b="0">
                <a:solidFill>
                  <a:srgbClr val="000000"/>
                </a:solidFill>
                <a:latin typeface="Consolas"/>
              </a:rPr>
              <a:t> </a:t>
            </a:r>
            <a:r>
              <a:rPr lang="en-US" b="0">
                <a:solidFill>
                  <a:srgbClr val="098658"/>
                </a:solidFill>
                <a:latin typeface="Consolas"/>
              </a:rPr>
              <a:t>3</a:t>
            </a:r>
            <a:r>
              <a:rPr lang="en-US" b="0">
                <a:solidFill>
                  <a:srgbClr val="000000"/>
                </a:solidFill>
                <a:latin typeface="Consolas"/>
              </a:rPr>
              <a:t>: r*=x;</a:t>
            </a:r>
            <a:endParaRPr/>
          </a:p>
          <a:p>
            <a:pPr>
              <a:defRPr/>
            </a:pPr>
            <a:r>
              <a:rPr lang="en-US" b="0">
                <a:solidFill>
                  <a:srgbClr val="000000"/>
                </a:solidFill>
                <a:latin typeface="Consolas"/>
              </a:rPr>
              <a:t>        </a:t>
            </a:r>
            <a:r>
              <a:rPr lang="en-US" b="0">
                <a:solidFill>
                  <a:srgbClr val="0000FF"/>
                </a:solidFill>
                <a:latin typeface="Consolas"/>
              </a:rPr>
              <a:t>case</a:t>
            </a:r>
            <a:r>
              <a:rPr lang="en-US" b="0">
                <a:solidFill>
                  <a:srgbClr val="000000"/>
                </a:solidFill>
                <a:latin typeface="Consolas"/>
              </a:rPr>
              <a:t> </a:t>
            </a:r>
            <a:r>
              <a:rPr lang="en-US" b="0">
                <a:solidFill>
                  <a:srgbClr val="098658"/>
                </a:solidFill>
                <a:latin typeface="Consolas"/>
              </a:rPr>
              <a:t>2</a:t>
            </a:r>
            <a:r>
              <a:rPr lang="en-US" b="0">
                <a:solidFill>
                  <a:srgbClr val="000000"/>
                </a:solidFill>
                <a:latin typeface="Consolas"/>
              </a:rPr>
              <a:t>: r*=x;</a:t>
            </a:r>
            <a:endParaRPr/>
          </a:p>
          <a:p>
            <a:pPr>
              <a:defRPr/>
            </a:pPr>
            <a:r>
              <a:rPr lang="en-US" b="0">
                <a:solidFill>
                  <a:srgbClr val="000000"/>
                </a:solidFill>
                <a:latin typeface="Consolas"/>
              </a:rPr>
              <a:t>        </a:t>
            </a:r>
            <a:r>
              <a:rPr lang="en-US" b="0">
                <a:solidFill>
                  <a:srgbClr val="0000FF"/>
                </a:solidFill>
                <a:latin typeface="Consolas"/>
              </a:rPr>
              <a:t>case</a:t>
            </a:r>
            <a:r>
              <a:rPr lang="en-US" b="0">
                <a:solidFill>
                  <a:srgbClr val="000000"/>
                </a:solidFill>
                <a:latin typeface="Consolas"/>
              </a:rPr>
              <a:t> </a:t>
            </a:r>
            <a:r>
              <a:rPr lang="en-US" b="0">
                <a:solidFill>
                  <a:srgbClr val="098658"/>
                </a:solidFill>
                <a:latin typeface="Consolas"/>
              </a:rPr>
              <a:t>1</a:t>
            </a:r>
            <a:r>
              <a:rPr lang="en-US" b="0">
                <a:solidFill>
                  <a:srgbClr val="000000"/>
                </a:solidFill>
                <a:latin typeface="Consolas"/>
              </a:rPr>
              <a:t>: r*=x;</a:t>
            </a:r>
            <a:endParaRPr/>
          </a:p>
          <a:p>
            <a:pPr>
              <a:defRPr/>
            </a:pPr>
            <a:r>
              <a:rPr lang="en-US" b="0">
                <a:solidFill>
                  <a:srgbClr val="000000"/>
                </a:solidFill>
                <a:latin typeface="Consolas"/>
              </a:rPr>
              <a:t>      }</a:t>
            </a:r>
            <a:r>
              <a:rPr lang="en-US" b="0">
                <a:solidFill>
                  <a:srgbClr val="0000FF"/>
                </a:solidFill>
                <a:latin typeface="Consolas"/>
              </a:rPr>
              <a:t>while</a:t>
            </a:r>
            <a:r>
              <a:rPr lang="en-US" b="0">
                <a:solidFill>
                  <a:srgbClr val="000000"/>
                </a:solidFill>
                <a:latin typeface="Consolas"/>
              </a:rPr>
              <a:t>((c-=</a:t>
            </a:r>
            <a:r>
              <a:rPr lang="en-US" b="0">
                <a:solidFill>
                  <a:srgbClr val="098658"/>
                </a:solidFill>
                <a:latin typeface="Consolas"/>
              </a:rPr>
              <a:t>5</a:t>
            </a:r>
            <a:r>
              <a:rPr lang="en-US" b="0">
                <a:solidFill>
                  <a:srgbClr val="000000"/>
                </a:solidFill>
                <a:latin typeface="Consolas"/>
              </a:rPr>
              <a:t>) &gt; </a:t>
            </a:r>
            <a:r>
              <a:rPr lang="en-US" b="0">
                <a:solidFill>
                  <a:srgbClr val="098658"/>
                </a:solidFill>
                <a:latin typeface="Consolas"/>
              </a:rPr>
              <a:t>0</a:t>
            </a:r>
            <a:r>
              <a:rPr lang="en-US" b="0">
                <a:solidFill>
                  <a:srgbClr val="000000"/>
                </a:solidFill>
                <a:latin typeface="Consolas"/>
              </a:rPr>
              <a:t> );</a:t>
            </a:r>
            <a:endParaRPr/>
          </a:p>
          <a:p>
            <a:pPr>
              <a:defRPr/>
            </a:pPr>
            <a:r>
              <a:rPr lang="en-US" b="0">
                <a:solidFill>
                  <a:srgbClr val="000000"/>
                </a:solidFill>
                <a:latin typeface="Consolas"/>
              </a:rPr>
              <a:t>    }</a:t>
            </a:r>
            <a:endParaRPr/>
          </a:p>
          <a:p>
            <a:pPr>
              <a:defRPr/>
            </a:pPr>
            <a:r>
              <a:rPr lang="en-US" b="0">
                <a:solidFill>
                  <a:srgbClr val="000000"/>
                </a:solidFill>
                <a:latin typeface="Consolas"/>
              </a:rPr>
              <a:t>    </a:t>
            </a:r>
            <a:endParaRPr/>
          </a:p>
          <a:p>
            <a:pPr>
              <a:defRPr/>
            </a:pPr>
            <a:r>
              <a:rPr lang="en-US">
                <a:solidFill>
                  <a:srgbClr val="000000"/>
                </a:solidFill>
                <a:latin typeface="Consolas"/>
              </a:rPr>
              <a:t>    </a:t>
            </a:r>
            <a:r>
              <a:rPr lang="en-US" b="0">
                <a:solidFill>
                  <a:srgbClr val="0000FF"/>
                </a:solidFill>
                <a:latin typeface="Consolas"/>
              </a:rPr>
              <a:t>return</a:t>
            </a:r>
            <a:r>
              <a:rPr lang="en-US" b="0">
                <a:solidFill>
                  <a:srgbClr val="000000"/>
                </a:solidFill>
                <a:latin typeface="Consolas"/>
              </a:rPr>
              <a:t> r;</a:t>
            </a:r>
            <a:endParaRPr/>
          </a:p>
          <a:p>
            <a:pPr>
              <a:defRPr/>
            </a:pPr>
            <a:r>
              <a:rPr lang="en-US" b="0">
                <a:solidFill>
                  <a:srgbClr val="000000"/>
                </a:solidFill>
                <a:latin typeface="Consolas"/>
              </a:rPr>
              <a:t>}</a:t>
            </a:r>
            <a:endParaRPr/>
          </a:p>
        </p:txBody>
      </p:sp>
      <p:sp>
        <p:nvSpPr>
          <p:cNvPr id="1532338746" name="TextBox 2"/>
          <p:cNvSpPr txBox="1"/>
          <p:nvPr/>
        </p:nvSpPr>
        <p:spPr bwMode="auto">
          <a:xfrm>
            <a:off x="1263360" y="6044475"/>
            <a:ext cx="3616036" cy="369332"/>
          </a:xfrm>
          <a:prstGeom prst="rect">
            <a:avLst/>
          </a:prstGeom>
          <a:noFill/>
        </p:spPr>
        <p:txBody>
          <a:bodyPr wrap="square">
            <a:spAutoFit/>
          </a:bodyPr>
          <a:lstStyle/>
          <a:p>
            <a:pPr>
              <a:defRPr/>
            </a:pPr>
            <a:r>
              <a:rPr lang="en-US" u="sng">
                <a:hlinkClick r:id="rId3"/>
              </a:rPr>
              <a:t>https://godbolt.org/z/nT97bKbz8</a:t>
            </a:r>
            <a:endParaRPr lang="ru-RU"/>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749851600" name="Заголовок 1"/>
          <p:cNvSpPr>
            <a:spLocks noGrp="1"/>
          </p:cNvSpPr>
          <p:nvPr>
            <p:ph type="title"/>
          </p:nvPr>
        </p:nvSpPr>
        <p:spPr bwMode="auto"/>
        <p:txBody>
          <a:bodyPr/>
          <a:lstStyle/>
          <a:p>
            <a:pPr>
              <a:defRPr/>
            </a:pPr>
            <a:r>
              <a:rPr lang="ru-RU"/>
              <a:t>Эквивалентные замены</a:t>
            </a:r>
            <a:endParaRPr/>
          </a:p>
        </p:txBody>
      </p:sp>
      <p:sp>
        <p:nvSpPr>
          <p:cNvPr id="1644355205" name="Объект 2"/>
          <p:cNvSpPr>
            <a:spLocks noGrp="1"/>
          </p:cNvSpPr>
          <p:nvPr>
            <p:ph idx="1"/>
          </p:nvPr>
        </p:nvSpPr>
        <p:spPr bwMode="auto"/>
        <p:txBody>
          <a:bodyPr>
            <a:normAutofit/>
          </a:bodyPr>
          <a:lstStyle/>
          <a:p>
            <a:pPr marL="0" indent="0">
              <a:buNone/>
              <a:defRPr/>
            </a:pPr>
            <a:r>
              <a:rPr lang="ru-RU" sz="2000" dirty="0"/>
              <a:t>Каждая инструкция выполняется целое число тактов, при этом это число отличается для разных инструкций. Как следствие, имеет смысл заменять «дорогие» инструкции на «дешевые» (</a:t>
            </a:r>
            <a:r>
              <a:rPr lang="en-US" sz="2000" dirty="0"/>
              <a:t>strength reduction</a:t>
            </a:r>
            <a:r>
              <a:rPr lang="ru-RU" sz="2000" dirty="0"/>
              <a:t>).</a:t>
            </a:r>
            <a:endParaRPr dirty="0"/>
          </a:p>
          <a:p>
            <a:pPr marL="0" indent="0">
              <a:buNone/>
              <a:defRPr/>
            </a:pPr>
            <a:r>
              <a:rPr lang="ru-RU" sz="2000" dirty="0"/>
              <a:t>Типовыми примерами являются:</a:t>
            </a:r>
            <a:endParaRPr dirty="0"/>
          </a:p>
          <a:p>
            <a:pPr>
              <a:defRPr/>
            </a:pPr>
            <a:r>
              <a:rPr lang="ru-RU" sz="2000" dirty="0"/>
              <a:t>замена умножения/деления на степень 2 на сдвиги;</a:t>
            </a:r>
            <a:endParaRPr lang="en-US" sz="2000" dirty="0"/>
          </a:p>
          <a:p>
            <a:pPr>
              <a:defRPr/>
            </a:pPr>
            <a:r>
              <a:rPr lang="ru-RU" sz="2000" dirty="0"/>
              <a:t>замена умножений на сдвиги и сложения (в т.ч. с помощью </a:t>
            </a:r>
            <a:r>
              <a:rPr lang="en-US" sz="2000" dirty="0">
                <a:latin typeface="Courier New"/>
                <a:cs typeface="Courier New"/>
              </a:rPr>
              <a:t>LEA</a:t>
            </a:r>
            <a:r>
              <a:rPr lang="ru-RU" sz="2000" dirty="0"/>
              <a:t>);</a:t>
            </a:r>
            <a:endParaRPr dirty="0"/>
          </a:p>
          <a:p>
            <a:pPr>
              <a:defRPr/>
            </a:pPr>
            <a:r>
              <a:rPr lang="ru-RU" sz="2000" u="sng" dirty="0">
                <a:hlinkClick r:id="rId3"/>
              </a:rPr>
              <a:t>замена вещественных операций целочисленными</a:t>
            </a:r>
            <a:r>
              <a:rPr lang="ru-RU" sz="2000" dirty="0"/>
              <a:t>;</a:t>
            </a:r>
            <a:endParaRPr dirty="0"/>
          </a:p>
          <a:p>
            <a:pPr>
              <a:defRPr/>
            </a:pPr>
            <a:r>
              <a:rPr lang="ru-RU" sz="2000" u="sng" dirty="0">
                <a:hlinkClick r:id="rId4"/>
              </a:rPr>
              <a:t>замена целочисленного деления </a:t>
            </a:r>
            <a:r>
              <a:rPr lang="ru-RU" sz="2000" dirty="0"/>
              <a:t>(</a:t>
            </a:r>
            <a:r>
              <a:rPr lang="ru-RU" sz="2000" i="1" dirty="0"/>
              <a:t>самая дорогая целочисленная операция!</a:t>
            </a:r>
            <a:r>
              <a:rPr lang="ru-RU" sz="2000" dirty="0"/>
              <a:t>).</a:t>
            </a:r>
            <a:endParaRPr dirty="0"/>
          </a:p>
          <a:p>
            <a:pPr marL="0" indent="0">
              <a:buNone/>
              <a:defRPr/>
            </a:pPr>
            <a:r>
              <a:rPr lang="ru-RU" sz="2000" dirty="0"/>
              <a:t>Дороговизна/дешевизна инструкций определяется точнее, если указать целевую микроархитектуру при компиляции (флаги </a:t>
            </a:r>
            <a:r>
              <a:rPr lang="en-US" sz="2000" dirty="0"/>
              <a:t>-march</a:t>
            </a:r>
            <a:r>
              <a:rPr lang="ru-RU" sz="2000" dirty="0"/>
              <a:t>/-</a:t>
            </a:r>
            <a:r>
              <a:rPr lang="en-US" sz="2000" dirty="0" err="1"/>
              <a:t>mtune</a:t>
            </a:r>
            <a:r>
              <a:rPr lang="en-US" sz="2000" dirty="0"/>
              <a:t> </a:t>
            </a:r>
            <a:r>
              <a:rPr lang="ru-RU" sz="2000" dirty="0"/>
              <a:t>на </a:t>
            </a:r>
            <a:r>
              <a:rPr lang="en-US" sz="2000" dirty="0"/>
              <a:t>GCC/clang).</a:t>
            </a:r>
            <a:endParaRPr lang="ru-RU" sz="2000" dirty="0"/>
          </a:p>
          <a:p>
            <a:pPr marL="0" indent="0">
              <a:buNone/>
              <a:defRPr/>
            </a:pPr>
            <a:r>
              <a:rPr lang="ru-RU" sz="2000" dirty="0"/>
              <a:t>См. также: </a:t>
            </a:r>
            <a:r>
              <a:rPr lang="ru-RU" sz="2000" u="sng" dirty="0">
                <a:hlinkClick r:id="rId5"/>
              </a:rPr>
              <a:t>таблицы времени выполнения инструкций (англ.)</a:t>
            </a:r>
            <a:endParaRPr lang="ru-RU" sz="2000" dirty="0"/>
          </a:p>
        </p:txBody>
      </p:sp>
      <p:sp>
        <p:nvSpPr>
          <p:cNvPr id="1051138270" name="Номер слайда 4"/>
          <p:cNvSpPr>
            <a:spLocks noGrp="1"/>
          </p:cNvSpPr>
          <p:nvPr>
            <p:ph type="sldNum" sz="quarter" idx="12"/>
          </p:nvPr>
        </p:nvSpPr>
        <p:spPr bwMode="auto"/>
        <p:txBody>
          <a:bodyPr/>
          <a:lstStyle/>
          <a:p>
            <a:pPr>
              <a:defRPr/>
            </a:pPr>
            <a:fld id="{B67FBA2B-964F-4C4D-AAF7-5A8399264638}" type="slidenum">
              <a:rPr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46117911" name="Заголовок 1"/>
          <p:cNvSpPr>
            <a:spLocks noGrp="1"/>
          </p:cNvSpPr>
          <p:nvPr>
            <p:ph type="title"/>
          </p:nvPr>
        </p:nvSpPr>
        <p:spPr bwMode="auto"/>
        <p:txBody>
          <a:bodyPr/>
          <a:lstStyle/>
          <a:p>
            <a:pPr>
              <a:defRPr/>
            </a:pPr>
            <a:r>
              <a:rPr lang="ru-RU"/>
              <a:t>Неопределенное поведение</a:t>
            </a:r>
            <a:endParaRPr/>
          </a:p>
        </p:txBody>
      </p:sp>
      <p:sp>
        <p:nvSpPr>
          <p:cNvPr id="1970124442" name="Объект 2"/>
          <p:cNvSpPr>
            <a:spLocks noGrp="1"/>
          </p:cNvSpPr>
          <p:nvPr>
            <p:ph idx="1"/>
          </p:nvPr>
        </p:nvSpPr>
        <p:spPr bwMode="auto">
          <a:xfrm>
            <a:off x="838198" y="1825625"/>
            <a:ext cx="11152909" cy="4895850"/>
          </a:xfrm>
        </p:spPr>
        <p:txBody>
          <a:bodyPr>
            <a:normAutofit lnSpcReduction="10000"/>
          </a:bodyPr>
          <a:lstStyle/>
          <a:p>
            <a:pPr marL="0" indent="0">
              <a:buNone/>
              <a:defRPr/>
            </a:pPr>
            <a:r>
              <a:rPr lang="ru-RU" sz="2000" b="1" dirty="0"/>
              <a:t>Неопределенное поведение (</a:t>
            </a:r>
            <a:r>
              <a:rPr lang="en-US" sz="2000" b="1" dirty="0"/>
              <a:t>Undefined </a:t>
            </a:r>
            <a:r>
              <a:rPr lang="en-US" sz="2000" b="1" dirty="0" err="1"/>
              <a:t>behaviour</a:t>
            </a:r>
            <a:r>
              <a:rPr lang="en-US" sz="2000" b="1" dirty="0"/>
              <a:t>, UB</a:t>
            </a:r>
            <a:r>
              <a:rPr lang="ru-RU" sz="2000" b="1" dirty="0"/>
              <a:t>) </a:t>
            </a:r>
            <a:r>
              <a:rPr lang="ru-RU" sz="2000" dirty="0"/>
              <a:t>– поведение программы, которое возникает при нарушении требований стандарта С++ и ведет к непредсказуемому результату работы программы.</a:t>
            </a:r>
            <a:endParaRPr dirty="0"/>
          </a:p>
          <a:p>
            <a:pPr marL="0" indent="0">
              <a:buNone/>
              <a:defRPr/>
            </a:pPr>
            <a:r>
              <a:rPr lang="ru-RU" sz="2000" dirty="0"/>
              <a:t>Обычно проблемы «неопределенного поведения» возникают при сборке с оптимизациями, т.к. компилятор имеет право считать, что </a:t>
            </a:r>
            <a:r>
              <a:rPr lang="ru-RU" sz="2000" i="1" dirty="0"/>
              <a:t>ситуации неопределенного поведения не происходят</a:t>
            </a:r>
            <a:r>
              <a:rPr lang="ru-RU" sz="2000" dirty="0"/>
              <a:t>. Как следствие, компилятор может, в результате оптимизаций, изменить или убрать важную с точки зрения логики работы часть кода, приводящую к неопределенному поведению </a:t>
            </a:r>
            <a:br>
              <a:rPr lang="en-US" sz="2000" dirty="0"/>
            </a:br>
            <a:r>
              <a:rPr lang="ru-RU" sz="2000" dirty="0"/>
              <a:t>(</a:t>
            </a:r>
            <a:r>
              <a:rPr lang="en-US" sz="2000" dirty="0"/>
              <a:t>UB </a:t>
            </a:r>
            <a:r>
              <a:rPr lang="ru-RU" sz="2000" dirty="0"/>
              <a:t>не происходит </a:t>
            </a:r>
            <a:r>
              <a:rPr lang="en-US" sz="2000" dirty="0"/>
              <a:t>-&gt; </a:t>
            </a:r>
            <a:r>
              <a:rPr lang="ru-RU" sz="2000" dirty="0"/>
              <a:t>код приводящий к </a:t>
            </a:r>
            <a:r>
              <a:rPr lang="en-US" sz="2000" dirty="0"/>
              <a:t>UB </a:t>
            </a:r>
            <a:r>
              <a:rPr lang="ru-RU" sz="2000" dirty="0"/>
              <a:t>никогда не выполняется </a:t>
            </a:r>
            <a:r>
              <a:rPr lang="en-US" sz="2000" dirty="0"/>
              <a:t>–&gt; </a:t>
            </a:r>
            <a:r>
              <a:rPr lang="ru-RU" sz="2000" dirty="0"/>
              <a:t>код можно убрать).</a:t>
            </a:r>
            <a:endParaRPr dirty="0"/>
          </a:p>
          <a:p>
            <a:pPr marL="0" indent="0">
              <a:buNone/>
              <a:defRPr/>
            </a:pPr>
            <a:r>
              <a:rPr lang="ru-RU" sz="2000" dirty="0"/>
              <a:t>К ситуациям неопределенного поведения стандарт С/С++  относит чаще всего или явные ошибки программиста, или ситуации, которые на разных архитектурах обрабатываются по-разному, и потому не могут быть сведены к 1 стандарту.</a:t>
            </a:r>
            <a:endParaRPr dirty="0"/>
          </a:p>
          <a:p>
            <a:pPr marL="0" indent="0">
              <a:buNone/>
              <a:defRPr/>
            </a:pPr>
            <a:r>
              <a:rPr lang="ru-RU" sz="2000" dirty="0"/>
              <a:t>Современные компиляторы детектируют большую часть источников неопределенного поведения =</a:t>
            </a:r>
            <a:r>
              <a:rPr lang="en-US" sz="2000" dirty="0"/>
              <a:t>&gt; </a:t>
            </a:r>
            <a:r>
              <a:rPr lang="ru-RU" sz="2000" b="1" u="sng" dirty="0">
                <a:solidFill>
                  <a:srgbClr val="FF0000"/>
                </a:solidFill>
              </a:rPr>
              <a:t>предупреждения компилятора надо читать и принимать во внимание</a:t>
            </a:r>
            <a:r>
              <a:rPr lang="ru-RU" sz="2000" dirty="0"/>
              <a:t>.</a:t>
            </a:r>
            <a:endParaRPr dirty="0"/>
          </a:p>
          <a:p>
            <a:pPr marL="0" indent="0">
              <a:buNone/>
              <a:defRPr/>
            </a:pPr>
            <a:endParaRPr lang="ru-RU" sz="2000" dirty="0"/>
          </a:p>
          <a:p>
            <a:pPr marL="0" indent="0">
              <a:buNone/>
              <a:defRPr/>
            </a:pPr>
            <a:r>
              <a:rPr lang="ru-RU" sz="2000" dirty="0"/>
              <a:t>В языке ассемблера нет неопределенного поведения – поведение программы жестко задано поведением инструкций.</a:t>
            </a:r>
            <a:endParaRPr dirty="0"/>
          </a:p>
          <a:p>
            <a:pPr marL="0" indent="0">
              <a:buNone/>
              <a:defRPr/>
            </a:pPr>
            <a:endParaRPr lang="ru-RU" sz="2000" dirty="0"/>
          </a:p>
        </p:txBody>
      </p:sp>
      <p:sp>
        <p:nvSpPr>
          <p:cNvPr id="1596186307" name="Номер слайда 4"/>
          <p:cNvSpPr>
            <a:spLocks noGrp="1"/>
          </p:cNvSpPr>
          <p:nvPr>
            <p:ph type="sldNum" sz="quarter" idx="12"/>
          </p:nvPr>
        </p:nvSpPr>
        <p:spPr bwMode="auto"/>
        <p:txBody>
          <a:bodyPr/>
          <a:lstStyle/>
          <a:p>
            <a:pPr>
              <a:defRPr/>
            </a:pPr>
            <a:fld id="{B67FBA2B-964F-4C4D-AAF7-5A8399264638}" type="slidenum">
              <a:rPr lang="en-US"/>
              <a:t>15</a:t>
            </a:fld>
            <a:endParaRPr lang="en-US"/>
          </a:p>
        </p:txBody>
      </p:sp>
      <p:sp>
        <p:nvSpPr>
          <p:cNvPr id="1605895863" name="Rectangle 3"/>
          <p:cNvSpPr/>
          <p:nvPr/>
        </p:nvSpPr>
        <p:spPr bwMode="auto">
          <a:xfrm>
            <a:off x="838198" y="5183891"/>
            <a:ext cx="8326428" cy="25438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defRPr/>
            </a:pPr>
            <a:endParaRPr lang="ru-RU"/>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639868138" name="Заголовок 1"/>
          <p:cNvSpPr>
            <a:spLocks noGrp="1"/>
          </p:cNvSpPr>
          <p:nvPr>
            <p:ph type="title"/>
          </p:nvPr>
        </p:nvSpPr>
        <p:spPr bwMode="auto"/>
        <p:txBody>
          <a:bodyPr/>
          <a:lstStyle/>
          <a:p>
            <a:pPr>
              <a:defRPr/>
            </a:pPr>
            <a:r>
              <a:rPr lang="ru-RU"/>
              <a:t>Примеры неопределенного поведения</a:t>
            </a:r>
            <a:endParaRPr/>
          </a:p>
        </p:txBody>
      </p:sp>
      <p:sp>
        <p:nvSpPr>
          <p:cNvPr id="1105031785" name="Объект 2"/>
          <p:cNvSpPr>
            <a:spLocks noGrp="1"/>
          </p:cNvSpPr>
          <p:nvPr>
            <p:ph idx="1"/>
          </p:nvPr>
        </p:nvSpPr>
        <p:spPr bwMode="auto"/>
        <p:txBody>
          <a:bodyPr>
            <a:normAutofit/>
          </a:bodyPr>
          <a:lstStyle/>
          <a:p>
            <a:pPr>
              <a:defRPr/>
            </a:pPr>
            <a:r>
              <a:rPr lang="ru-RU" sz="2000" u="sng" dirty="0">
                <a:hlinkClick r:id="rId3" tooltip="результат знакового переполнения определен на разных архитектурах по-разному, поэтом его проще запретить"/>
              </a:rPr>
              <a:t>знаковое переполнение</a:t>
            </a:r>
            <a:r>
              <a:rPr lang="ru-RU" sz="2000" dirty="0"/>
              <a:t>; </a:t>
            </a:r>
            <a:endParaRPr dirty="0"/>
          </a:p>
          <a:p>
            <a:pPr>
              <a:defRPr/>
            </a:pPr>
            <a:r>
              <a:rPr lang="ru-RU" sz="2000" u="sng" dirty="0">
                <a:hlinkClick r:id="rId4" tooltip="пустой вечный цикл практически никогда не является желаемым поведением, поэтому компилятор оптимизирует код под случай, когда цикл вечным не является"/>
              </a:rPr>
              <a:t>вечный цикл без наблюдаемых извне действий (без </a:t>
            </a:r>
            <a:r>
              <a:rPr lang="ru-RU" sz="2000" u="sng" dirty="0" err="1">
                <a:hlinkClick r:id="rId4" tooltip="пустой вечный цикл практически никогда не является желаемым поведением, поэтому компилятор оптимизирует код под случай, когда цикл вечным не является"/>
              </a:rPr>
              <a:t>side</a:t>
            </a:r>
            <a:r>
              <a:rPr lang="ru-RU" sz="2000" u="sng" dirty="0">
                <a:hlinkClick r:id="rId4" tooltip="пустой вечный цикл практически никогда не является желаемым поведением, поэтому компилятор оптимизирует код под случай, когда цикл вечным не является"/>
              </a:rPr>
              <a:t> </a:t>
            </a:r>
            <a:r>
              <a:rPr lang="ru-RU" sz="2000" u="sng" dirty="0" err="1">
                <a:hlinkClick r:id="rId4" tooltip="пустой вечный цикл практически никогда не является желаемым поведением, поэтому компилятор оптимизирует код под случай, когда цикл вечным не является"/>
              </a:rPr>
              <a:t>effects</a:t>
            </a:r>
            <a:r>
              <a:rPr lang="ru-RU" sz="2000" u="sng" dirty="0">
                <a:hlinkClick r:id="rId4" tooltip="пустой вечный цикл практически никогда не является желаемым поведением, поэтому компилятор оптимизирует код под случай, когда цикл вечным не является"/>
              </a:rPr>
              <a:t>)</a:t>
            </a:r>
            <a:r>
              <a:rPr lang="ru-RU" sz="2000" dirty="0"/>
              <a:t>; </a:t>
            </a:r>
            <a:endParaRPr dirty="0"/>
          </a:p>
          <a:p>
            <a:pPr>
              <a:defRPr/>
            </a:pPr>
            <a:r>
              <a:rPr lang="ru-RU" sz="2000" u="sng" dirty="0">
                <a:hlinkClick r:id="rId5" tooltip="значение неинициализированной переменной может быть любым - значит и результат работы может быть любой"/>
              </a:rPr>
              <a:t>использование неинициализированных переменных</a:t>
            </a:r>
            <a:r>
              <a:rPr lang="ru-RU" sz="2000" dirty="0"/>
              <a:t>;</a:t>
            </a:r>
            <a:endParaRPr dirty="0"/>
          </a:p>
          <a:p>
            <a:pPr>
              <a:defRPr/>
            </a:pPr>
            <a:r>
              <a:rPr lang="ru-RU" sz="2000" u="sng" dirty="0">
                <a:hlinkClick r:id="rId6" tooltip="почти всегда (исключая случаи программирования ОС и микроконтроллеров) ошибка программиста"/>
              </a:rPr>
              <a:t>разыменование нулевого указателя</a:t>
            </a:r>
            <a:r>
              <a:rPr lang="ru-RU" sz="2000" dirty="0"/>
              <a:t>;</a:t>
            </a:r>
            <a:endParaRPr dirty="0"/>
          </a:p>
          <a:p>
            <a:pPr>
              <a:defRPr/>
            </a:pPr>
            <a:r>
              <a:rPr lang="ru-RU" sz="2000" dirty="0"/>
              <a:t>доступ к элементу за границами массива;</a:t>
            </a:r>
            <a:endParaRPr dirty="0"/>
          </a:p>
          <a:p>
            <a:pPr>
              <a:defRPr/>
            </a:pPr>
            <a:r>
              <a:rPr lang="ru-RU" sz="2000" u="sng" dirty="0">
                <a:hlinkClick r:id="rId7" tooltip="почти всегда - ошибка программиста"/>
              </a:rPr>
              <a:t>доступ к переменной через указатель другого типа</a:t>
            </a:r>
            <a:r>
              <a:rPr lang="ru-RU" sz="2000" dirty="0"/>
              <a:t>;</a:t>
            </a:r>
            <a:endParaRPr dirty="0"/>
          </a:p>
          <a:p>
            <a:pPr>
              <a:defRPr/>
            </a:pPr>
            <a:r>
              <a:rPr lang="ru-RU" sz="2000" dirty="0"/>
              <a:t>и т.д.</a:t>
            </a:r>
            <a:endParaRPr dirty="0"/>
          </a:p>
          <a:p>
            <a:pPr>
              <a:defRPr/>
            </a:pPr>
            <a:endParaRPr lang="ru-RU" sz="2000" dirty="0"/>
          </a:p>
        </p:txBody>
      </p:sp>
      <p:sp>
        <p:nvSpPr>
          <p:cNvPr id="10557636" name="Номер слайда 3"/>
          <p:cNvSpPr>
            <a:spLocks noGrp="1"/>
          </p:cNvSpPr>
          <p:nvPr>
            <p:ph type="sldNum" sz="quarter" idx="12"/>
          </p:nvPr>
        </p:nvSpPr>
        <p:spPr bwMode="auto"/>
        <p:txBody>
          <a:bodyPr/>
          <a:lstStyle/>
          <a:p>
            <a:pPr>
              <a:defRPr/>
            </a:pPr>
            <a:fld id="{B67FBA2B-964F-4C4D-AAF7-5A8399264638}" type="slidenum">
              <a:rPr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429294854" name="Заголовок 1"/>
          <p:cNvSpPr>
            <a:spLocks noGrp="1"/>
          </p:cNvSpPr>
          <p:nvPr>
            <p:ph type="title"/>
          </p:nvPr>
        </p:nvSpPr>
        <p:spPr bwMode="auto"/>
        <p:txBody>
          <a:bodyPr/>
          <a:lstStyle/>
          <a:p>
            <a:pPr>
              <a:defRPr/>
            </a:pPr>
            <a:r>
              <a:rPr lang="ru-RU"/>
              <a:t>О расположении локальных переменных и полей структур</a:t>
            </a:r>
            <a:endParaRPr/>
          </a:p>
        </p:txBody>
      </p:sp>
      <p:sp>
        <p:nvSpPr>
          <p:cNvPr id="1567196361" name="Объект 2"/>
          <p:cNvSpPr>
            <a:spLocks noGrp="1"/>
          </p:cNvSpPr>
          <p:nvPr>
            <p:ph idx="1"/>
          </p:nvPr>
        </p:nvSpPr>
        <p:spPr bwMode="auto">
          <a:xfrm>
            <a:off x="838198" y="1825624"/>
            <a:ext cx="7528905" cy="4895851"/>
          </a:xfrm>
        </p:spPr>
        <p:txBody>
          <a:bodyPr>
            <a:normAutofit lnSpcReduction="10000"/>
          </a:bodyPr>
          <a:lstStyle/>
          <a:p>
            <a:pPr>
              <a:defRPr/>
            </a:pPr>
            <a:r>
              <a:rPr lang="ru-RU" sz="2000"/>
              <a:t>Отличить группу переменных от структуры/объекта можно только по семантике  - </a:t>
            </a:r>
            <a:r>
              <a:rPr lang="ru-RU" sz="2000" u="sng">
                <a:hlinkClick r:id="rId3"/>
              </a:rPr>
              <a:t>структура копируется целиком, но используется по частям</a:t>
            </a:r>
            <a:r>
              <a:rPr lang="ru-RU" sz="2000"/>
              <a:t>. Например, если структура передавалась в регистре, то потом ее поля будут извлекаться битовыми операциями.</a:t>
            </a:r>
            <a:endParaRPr/>
          </a:p>
          <a:p>
            <a:pPr>
              <a:defRPr/>
            </a:pPr>
            <a:r>
              <a:rPr lang="ru-RU" sz="2000"/>
              <a:t>Компилятор имеет право переупорядочивать порядок локальных переменных, но не порядок полей структуры – они идут в том же порядке.</a:t>
            </a:r>
            <a:endParaRPr/>
          </a:p>
          <a:p>
            <a:pPr>
              <a:defRPr/>
            </a:pPr>
            <a:r>
              <a:rPr lang="ru-RU" sz="2000"/>
              <a:t>Локальные переменные, если они располагаются не в регистре, могут располагаться непоследовательно в памяти </a:t>
            </a:r>
            <a:r>
              <a:rPr lang="en-US" sz="2000"/>
              <a:t>– </a:t>
            </a:r>
            <a:r>
              <a:rPr lang="ru-RU" sz="2000"/>
              <a:t>между ними могут быть небольшие «пустоты» в несколько байт.</a:t>
            </a:r>
            <a:endParaRPr/>
          </a:p>
          <a:p>
            <a:pPr>
              <a:defRPr/>
            </a:pPr>
            <a:r>
              <a:rPr lang="ru-RU" sz="2000"/>
              <a:t>Теоретически размер структуры должен быть равен сумме размеров полей, на практике он может отличаться в большую сторону. </a:t>
            </a:r>
            <a:endParaRPr lang="en-US" sz="2000"/>
          </a:p>
          <a:p>
            <a:pPr marL="0" indent="0">
              <a:buNone/>
              <a:defRPr/>
            </a:pPr>
            <a:endParaRPr lang="ru-RU" sz="2000"/>
          </a:p>
          <a:p>
            <a:pPr marL="0" indent="0">
              <a:buNone/>
              <a:defRPr/>
            </a:pPr>
            <a:r>
              <a:rPr lang="ru-RU" sz="2000"/>
              <a:t>Последние 2 явления можно объяснить требованиями на выравнивание данных.</a:t>
            </a:r>
            <a:endParaRPr/>
          </a:p>
        </p:txBody>
      </p:sp>
      <p:sp>
        <p:nvSpPr>
          <p:cNvPr id="187899134" name="Номер слайда 3"/>
          <p:cNvSpPr>
            <a:spLocks noGrp="1"/>
          </p:cNvSpPr>
          <p:nvPr>
            <p:ph type="sldNum" sz="quarter" idx="12"/>
          </p:nvPr>
        </p:nvSpPr>
        <p:spPr bwMode="auto"/>
        <p:txBody>
          <a:bodyPr/>
          <a:lstStyle/>
          <a:p>
            <a:pPr>
              <a:defRPr/>
            </a:pPr>
            <a:fld id="{B67FBA2B-964F-4C4D-AAF7-5A8399264638}" type="slidenum">
              <a:rPr lang="en-US"/>
              <a:t>17</a:t>
            </a:fld>
            <a:endParaRPr lang="en-US"/>
          </a:p>
        </p:txBody>
      </p:sp>
      <p:sp>
        <p:nvSpPr>
          <p:cNvPr id="620422261" name="TextBox 4"/>
          <p:cNvSpPr txBox="1"/>
          <p:nvPr/>
        </p:nvSpPr>
        <p:spPr bwMode="auto">
          <a:xfrm>
            <a:off x="9104525" y="3838853"/>
            <a:ext cx="3015932" cy="369332"/>
          </a:xfrm>
          <a:prstGeom prst="rect">
            <a:avLst/>
          </a:prstGeom>
          <a:noFill/>
        </p:spPr>
        <p:txBody>
          <a:bodyPr wrap="square">
            <a:spAutoFit/>
          </a:bodyPr>
          <a:lstStyle/>
          <a:p>
            <a:pPr>
              <a:defRPr/>
            </a:pPr>
            <a:r>
              <a:rPr lang="en-US">
                <a:latin typeface="Consolas, "/>
              </a:rPr>
              <a:t>std::cout &lt;&lt;</a:t>
            </a:r>
            <a:r>
              <a:rPr lang="en-US">
                <a:solidFill>
                  <a:srgbClr val="0000FF"/>
                </a:solidFill>
                <a:latin typeface="Consolas, "/>
              </a:rPr>
              <a:t> sizeof</a:t>
            </a:r>
            <a:r>
              <a:rPr lang="en-US">
                <a:solidFill>
                  <a:srgbClr val="000000"/>
                </a:solidFill>
                <a:latin typeface="Consolas, "/>
              </a:rPr>
              <a:t>(A)</a:t>
            </a:r>
            <a:endParaRPr/>
          </a:p>
        </p:txBody>
      </p:sp>
      <p:sp>
        <p:nvSpPr>
          <p:cNvPr id="1361950001" name="TextBox 5"/>
          <p:cNvSpPr txBox="1"/>
          <p:nvPr/>
        </p:nvSpPr>
        <p:spPr bwMode="auto">
          <a:xfrm>
            <a:off x="9104526" y="4088883"/>
            <a:ext cx="3015932" cy="369332"/>
          </a:xfrm>
          <a:prstGeom prst="rect">
            <a:avLst/>
          </a:prstGeom>
          <a:noFill/>
        </p:spPr>
        <p:txBody>
          <a:bodyPr wrap="square">
            <a:spAutoFit/>
          </a:bodyPr>
          <a:lstStyle/>
          <a:p>
            <a:pPr>
              <a:defRPr/>
            </a:pPr>
            <a:r>
              <a:rPr lang="en-US" b="1">
                <a:solidFill>
                  <a:srgbClr val="000000"/>
                </a:solidFill>
                <a:latin typeface="Consolas, "/>
              </a:rPr>
              <a:t>Output: </a:t>
            </a:r>
            <a:r>
              <a:rPr lang="ru-RU" b="1">
                <a:solidFill>
                  <a:srgbClr val="000000"/>
                </a:solidFill>
                <a:latin typeface="Consolas, "/>
              </a:rPr>
              <a:t>16 (???)</a:t>
            </a:r>
            <a:endParaRPr lang="en-US" b="1">
              <a:solidFill>
                <a:srgbClr val="000000"/>
              </a:solidFill>
              <a:latin typeface="Consolas, "/>
            </a:endParaRPr>
          </a:p>
        </p:txBody>
      </p:sp>
      <p:sp>
        <p:nvSpPr>
          <p:cNvPr id="660166292" name="TextBox 6"/>
          <p:cNvSpPr txBox="1"/>
          <p:nvPr/>
        </p:nvSpPr>
        <p:spPr bwMode="auto">
          <a:xfrm>
            <a:off x="9104526" y="1925848"/>
            <a:ext cx="2730983" cy="1754326"/>
          </a:xfrm>
          <a:prstGeom prst="rect">
            <a:avLst/>
          </a:prstGeom>
          <a:noFill/>
        </p:spPr>
        <p:txBody>
          <a:bodyPr wrap="square">
            <a:spAutoFit/>
          </a:bodyPr>
          <a:lstStyle/>
          <a:p>
            <a:pPr>
              <a:defRPr/>
            </a:pPr>
            <a:r>
              <a:rPr lang="en-US">
                <a:solidFill>
                  <a:srgbClr val="0000FF"/>
                </a:solidFill>
                <a:latin typeface="Consolas, "/>
              </a:rPr>
              <a:t>struct</a:t>
            </a:r>
            <a:r>
              <a:rPr lang="en-US">
                <a:solidFill>
                  <a:srgbClr val="000000"/>
                </a:solidFill>
                <a:latin typeface="Consolas, "/>
              </a:rPr>
              <a:t> A{</a:t>
            </a:r>
            <a:endParaRPr/>
          </a:p>
          <a:p>
            <a:pPr>
              <a:defRPr/>
            </a:pPr>
            <a:r>
              <a:rPr lang="en-US">
                <a:solidFill>
                  <a:srgbClr val="000000"/>
                </a:solidFill>
                <a:latin typeface="Consolas, "/>
              </a:rPr>
              <a:t>    </a:t>
            </a:r>
            <a:r>
              <a:rPr lang="en-US">
                <a:solidFill>
                  <a:srgbClr val="0000FF"/>
                </a:solidFill>
                <a:latin typeface="Consolas, "/>
              </a:rPr>
              <a:t>char</a:t>
            </a:r>
            <a:r>
              <a:rPr lang="en-US">
                <a:solidFill>
                  <a:srgbClr val="000000"/>
                </a:solidFill>
                <a:latin typeface="Consolas, "/>
              </a:rPr>
              <a:t> x;</a:t>
            </a:r>
            <a:endParaRPr/>
          </a:p>
          <a:p>
            <a:pPr>
              <a:defRPr/>
            </a:pPr>
            <a:r>
              <a:rPr lang="en-US">
                <a:solidFill>
                  <a:srgbClr val="000000"/>
                </a:solidFill>
                <a:latin typeface="Consolas, "/>
              </a:rPr>
              <a:t>    </a:t>
            </a:r>
            <a:r>
              <a:rPr lang="en-US">
                <a:solidFill>
                  <a:srgbClr val="0000FF"/>
                </a:solidFill>
                <a:latin typeface="Consolas, "/>
              </a:rPr>
              <a:t>long</a:t>
            </a:r>
            <a:r>
              <a:rPr lang="en-US">
                <a:solidFill>
                  <a:srgbClr val="000000"/>
                </a:solidFill>
                <a:latin typeface="Consolas, "/>
              </a:rPr>
              <a:t> </a:t>
            </a:r>
            <a:r>
              <a:rPr lang="en-US">
                <a:solidFill>
                  <a:srgbClr val="0000FF"/>
                </a:solidFill>
                <a:latin typeface="Consolas, "/>
              </a:rPr>
              <a:t>long</a:t>
            </a:r>
            <a:r>
              <a:rPr lang="en-US">
                <a:solidFill>
                  <a:srgbClr val="000000"/>
                </a:solidFill>
                <a:latin typeface="Consolas, "/>
              </a:rPr>
              <a:t> y;</a:t>
            </a:r>
            <a:endParaRPr/>
          </a:p>
          <a:p>
            <a:pPr>
              <a:defRPr/>
            </a:pPr>
            <a:r>
              <a:rPr lang="en-US">
                <a:solidFill>
                  <a:srgbClr val="000000"/>
                </a:solidFill>
                <a:latin typeface="Consolas, "/>
              </a:rPr>
              <a:t>};</a:t>
            </a:r>
            <a:endParaRPr/>
          </a:p>
          <a:p>
            <a:pPr>
              <a:defRPr/>
            </a:pPr>
            <a:br>
              <a:rPr lang="en-US">
                <a:solidFill>
                  <a:srgbClr val="000000"/>
                </a:solidFill>
                <a:latin typeface="Consolas, "/>
              </a:rPr>
            </a:br>
            <a:endParaRPr lang="en-US">
              <a:solidFill>
                <a:srgbClr val="000000"/>
              </a:solidFill>
              <a:latin typeface="Consolas, "/>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274231016" name="Заголовок 1"/>
          <p:cNvSpPr>
            <a:spLocks noGrp="1"/>
          </p:cNvSpPr>
          <p:nvPr>
            <p:ph type="title"/>
          </p:nvPr>
        </p:nvSpPr>
        <p:spPr bwMode="auto"/>
        <p:txBody>
          <a:bodyPr/>
          <a:lstStyle/>
          <a:p>
            <a:pPr>
              <a:defRPr/>
            </a:pPr>
            <a:r>
              <a:rPr lang="ru-RU" dirty="0"/>
              <a:t>Выравнивание</a:t>
            </a:r>
            <a:endParaRPr lang="en-US" dirty="0"/>
          </a:p>
        </p:txBody>
      </p:sp>
      <p:sp>
        <p:nvSpPr>
          <p:cNvPr id="90202121" name="Объект 2"/>
          <p:cNvSpPr>
            <a:spLocks noGrp="1"/>
          </p:cNvSpPr>
          <p:nvPr>
            <p:ph idx="1"/>
          </p:nvPr>
        </p:nvSpPr>
        <p:spPr bwMode="auto">
          <a:xfrm>
            <a:off x="838200" y="1825625"/>
            <a:ext cx="11035145" cy="4351338"/>
          </a:xfrm>
        </p:spPr>
        <p:txBody>
          <a:bodyPr/>
          <a:lstStyle/>
          <a:p>
            <a:pPr marL="0" indent="0">
              <a:buNone/>
              <a:defRPr/>
            </a:pPr>
            <a:r>
              <a:rPr lang="ru-RU" sz="2000" dirty="0"/>
              <a:t>Говорят, что данные </a:t>
            </a:r>
            <a:r>
              <a:rPr lang="ru-RU" sz="2000" b="1" dirty="0"/>
              <a:t>выровнены</a:t>
            </a:r>
            <a:r>
              <a:rPr lang="ru-RU" sz="2000" dirty="0"/>
              <a:t> по границе в </a:t>
            </a:r>
            <a:r>
              <a:rPr lang="en-US" sz="2000" dirty="0"/>
              <a:t>N </a:t>
            </a:r>
            <a:r>
              <a:rPr lang="ru-RU" sz="2000" dirty="0"/>
              <a:t>байт, если адрес данных делится без остатка на </a:t>
            </a:r>
            <a:r>
              <a:rPr lang="en-US" sz="2000" dirty="0"/>
              <a:t>N.</a:t>
            </a:r>
            <a:endParaRPr dirty="0"/>
          </a:p>
          <a:p>
            <a:pPr marL="0" indent="0">
              <a:buNone/>
              <a:defRPr/>
            </a:pPr>
            <a:r>
              <a:rPr lang="ru-RU" sz="2000" dirty="0"/>
              <a:t>Обычно данные выравниваются по границе 2/4/8/16 байт.</a:t>
            </a:r>
            <a:endParaRPr lang="en-US" sz="2000" dirty="0"/>
          </a:p>
          <a:p>
            <a:pPr marL="0" indent="0">
              <a:buNone/>
              <a:defRPr/>
            </a:pPr>
            <a:endParaRPr lang="en-US" dirty="0"/>
          </a:p>
          <a:p>
            <a:pPr marL="0" indent="0">
              <a:buNone/>
              <a:defRPr/>
            </a:pPr>
            <a:r>
              <a:rPr lang="ru-RU" sz="1800" i="1" dirty="0"/>
              <a:t>На рисунке: </a:t>
            </a:r>
            <a:br>
              <a:rPr lang="ru-RU" sz="1800" i="1" dirty="0"/>
            </a:br>
            <a:r>
              <a:rPr lang="ru-RU" sz="1800" i="1" dirty="0"/>
              <a:t>	</a:t>
            </a:r>
            <a:r>
              <a:rPr lang="en-US" sz="1800" i="1" dirty="0" err="1"/>
              <a:t>i</a:t>
            </a:r>
            <a:r>
              <a:rPr lang="en-US" sz="1800" i="1" dirty="0"/>
              <a:t> </a:t>
            </a:r>
            <a:r>
              <a:rPr lang="ru-RU" sz="1800" i="1" dirty="0"/>
              <a:t>выровнена по границе в 2 и 4 байта,</a:t>
            </a:r>
            <a:br>
              <a:rPr lang="ru-RU" sz="1800" i="1" dirty="0"/>
            </a:br>
            <a:r>
              <a:rPr lang="en-US" sz="1800" i="1" dirty="0"/>
              <a:t> </a:t>
            </a:r>
            <a:r>
              <a:rPr lang="ru-RU" sz="1800" i="1" dirty="0"/>
              <a:t>	</a:t>
            </a:r>
            <a:r>
              <a:rPr lang="en-US" sz="1800" i="1" dirty="0"/>
              <a:t>j </a:t>
            </a:r>
            <a:r>
              <a:rPr lang="ru-RU" sz="1800" i="1" dirty="0"/>
              <a:t>выровнена по границе 2 байта,</a:t>
            </a:r>
            <a:br>
              <a:rPr lang="ru-RU" sz="1800" i="1" dirty="0"/>
            </a:br>
            <a:r>
              <a:rPr lang="ru-RU" sz="1800" i="1" dirty="0"/>
              <a:t>	</a:t>
            </a:r>
            <a:r>
              <a:rPr lang="en-US" sz="1800" i="1" dirty="0"/>
              <a:t>k </a:t>
            </a:r>
            <a:r>
              <a:rPr lang="ru-RU" sz="1800" i="1" dirty="0"/>
              <a:t>выровнена по границе 2,4</a:t>
            </a:r>
            <a:r>
              <a:rPr lang="en-US" sz="1800" i="1" dirty="0"/>
              <a:t>,</a:t>
            </a:r>
            <a:r>
              <a:rPr lang="ru-RU" sz="1800" i="1" dirty="0"/>
              <a:t> 8 и 16 байт.</a:t>
            </a:r>
            <a:endParaRPr lang="en-US" sz="1800" i="1" dirty="0"/>
          </a:p>
        </p:txBody>
      </p:sp>
      <p:sp>
        <p:nvSpPr>
          <p:cNvPr id="130541384" name="Номер слайда 4"/>
          <p:cNvSpPr>
            <a:spLocks noGrp="1"/>
          </p:cNvSpPr>
          <p:nvPr>
            <p:ph type="sldNum" sz="quarter" idx="12"/>
          </p:nvPr>
        </p:nvSpPr>
        <p:spPr bwMode="auto"/>
        <p:txBody>
          <a:bodyPr/>
          <a:lstStyle/>
          <a:p>
            <a:pPr>
              <a:defRPr/>
            </a:pPr>
            <a:fld id="{B67FBA2B-964F-4C4D-AAF7-5A8399264638}" type="slidenum">
              <a:rPr lang="en-US"/>
              <a:t>18</a:t>
            </a:fld>
            <a:endParaRPr lang="en-US"/>
          </a:p>
        </p:txBody>
      </p:sp>
      <p:sp>
        <p:nvSpPr>
          <p:cNvPr id="2128114782" name="Прямоугольник 6"/>
          <p:cNvSpPr/>
          <p:nvPr/>
        </p:nvSpPr>
        <p:spPr bwMode="auto">
          <a:xfrm>
            <a:off x="8094880" y="4323937"/>
            <a:ext cx="2880000" cy="39903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defRPr/>
            </a:pPr>
            <a:endParaRPr lang="en-US"/>
          </a:p>
        </p:txBody>
      </p:sp>
      <p:sp>
        <p:nvSpPr>
          <p:cNvPr id="1386309715" name="Прямоугольник 7"/>
          <p:cNvSpPr/>
          <p:nvPr/>
        </p:nvSpPr>
        <p:spPr bwMode="auto">
          <a:xfrm>
            <a:off x="8094880" y="4724217"/>
            <a:ext cx="2880000" cy="39903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defRPr/>
            </a:pPr>
            <a:endParaRPr lang="en-US"/>
          </a:p>
        </p:txBody>
      </p:sp>
      <p:sp>
        <p:nvSpPr>
          <p:cNvPr id="1052718480" name="Прямоугольник 8"/>
          <p:cNvSpPr/>
          <p:nvPr/>
        </p:nvSpPr>
        <p:spPr bwMode="auto">
          <a:xfrm>
            <a:off x="8094880" y="3922075"/>
            <a:ext cx="2880000" cy="39903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defRPr/>
            </a:pPr>
            <a:endParaRPr lang="en-US"/>
          </a:p>
        </p:txBody>
      </p:sp>
      <p:sp>
        <p:nvSpPr>
          <p:cNvPr id="1451669354" name="TextBox 17"/>
          <p:cNvSpPr txBox="1"/>
          <p:nvPr/>
        </p:nvSpPr>
        <p:spPr bwMode="auto">
          <a:xfrm>
            <a:off x="7459770" y="3861096"/>
            <a:ext cx="635110" cy="369332"/>
          </a:xfrm>
          <a:prstGeom prst="rect">
            <a:avLst/>
          </a:prstGeom>
          <a:noFill/>
        </p:spPr>
        <p:txBody>
          <a:bodyPr wrap="none" rtlCol="0">
            <a:spAutoFit/>
          </a:bodyPr>
          <a:lstStyle/>
          <a:p>
            <a:pPr>
              <a:defRPr/>
            </a:pPr>
            <a:r>
              <a:rPr lang="en-US"/>
              <a:t>0x00</a:t>
            </a:r>
            <a:endParaRPr/>
          </a:p>
        </p:txBody>
      </p:sp>
      <p:sp>
        <p:nvSpPr>
          <p:cNvPr id="864450587" name="TextBox 18"/>
          <p:cNvSpPr txBox="1"/>
          <p:nvPr/>
        </p:nvSpPr>
        <p:spPr bwMode="auto">
          <a:xfrm>
            <a:off x="7459770" y="4300554"/>
            <a:ext cx="635110" cy="369332"/>
          </a:xfrm>
          <a:prstGeom prst="rect">
            <a:avLst/>
          </a:prstGeom>
          <a:noFill/>
        </p:spPr>
        <p:txBody>
          <a:bodyPr wrap="none" rtlCol="0">
            <a:spAutoFit/>
          </a:bodyPr>
          <a:lstStyle/>
          <a:p>
            <a:pPr>
              <a:defRPr/>
            </a:pPr>
            <a:r>
              <a:rPr lang="en-US"/>
              <a:t>0x08</a:t>
            </a:r>
            <a:endParaRPr/>
          </a:p>
        </p:txBody>
      </p:sp>
      <p:sp>
        <p:nvSpPr>
          <p:cNvPr id="165892482" name="TextBox 19"/>
          <p:cNvSpPr txBox="1"/>
          <p:nvPr/>
        </p:nvSpPr>
        <p:spPr bwMode="auto">
          <a:xfrm>
            <a:off x="7458860" y="4683037"/>
            <a:ext cx="635110" cy="369332"/>
          </a:xfrm>
          <a:prstGeom prst="rect">
            <a:avLst/>
          </a:prstGeom>
          <a:noFill/>
        </p:spPr>
        <p:txBody>
          <a:bodyPr wrap="none" rtlCol="0">
            <a:spAutoFit/>
          </a:bodyPr>
          <a:lstStyle/>
          <a:p>
            <a:pPr>
              <a:defRPr/>
            </a:pPr>
            <a:r>
              <a:rPr lang="en-US"/>
              <a:t>0x10</a:t>
            </a:r>
            <a:endParaRPr/>
          </a:p>
        </p:txBody>
      </p:sp>
      <p:sp>
        <p:nvSpPr>
          <p:cNvPr id="292603758" name="Прямоугольник 20"/>
          <p:cNvSpPr/>
          <p:nvPr/>
        </p:nvSpPr>
        <p:spPr bwMode="auto">
          <a:xfrm>
            <a:off x="9530782" y="3922075"/>
            <a:ext cx="1440000" cy="399032"/>
          </a:xfrm>
          <a:prstGeom prst="rect">
            <a:avLst/>
          </a:prstGeom>
          <a:solidFill>
            <a:schemeClr val="accent6">
              <a:lumMod val="60000"/>
              <a:lumOff val="40000"/>
            </a:schemeClr>
          </a:solidFill>
        </p:spPr>
        <p:style>
          <a:lnRef idx="2">
            <a:schemeClr val="dk1"/>
          </a:lnRef>
          <a:fillRef idx="1">
            <a:schemeClr val="lt1"/>
          </a:fillRef>
          <a:effectRef idx="0">
            <a:schemeClr val="dk1"/>
          </a:effectRef>
          <a:fontRef idx="minor">
            <a:schemeClr val="dk1"/>
          </a:fontRef>
        </p:style>
        <p:txBody>
          <a:bodyPr rtlCol="0" anchor="ctr"/>
          <a:lstStyle/>
          <a:p>
            <a:pPr algn="ctr">
              <a:defRPr/>
            </a:pPr>
            <a:r>
              <a:rPr lang="en-US"/>
              <a:t>i</a:t>
            </a:r>
            <a:endParaRPr/>
          </a:p>
        </p:txBody>
      </p:sp>
      <p:sp>
        <p:nvSpPr>
          <p:cNvPr id="586324558" name="Прямоугольник 21"/>
          <p:cNvSpPr/>
          <p:nvPr/>
        </p:nvSpPr>
        <p:spPr bwMode="auto">
          <a:xfrm>
            <a:off x="8810782" y="4322689"/>
            <a:ext cx="720000" cy="399032"/>
          </a:xfrm>
          <a:prstGeom prst="rect">
            <a:avLst/>
          </a:prstGeom>
          <a:solidFill>
            <a:schemeClr val="accent6">
              <a:lumMod val="60000"/>
              <a:lumOff val="40000"/>
            </a:schemeClr>
          </a:solidFill>
        </p:spPr>
        <p:style>
          <a:lnRef idx="2">
            <a:schemeClr val="dk1"/>
          </a:lnRef>
          <a:fillRef idx="1">
            <a:schemeClr val="lt1"/>
          </a:fillRef>
          <a:effectRef idx="0">
            <a:schemeClr val="dk1"/>
          </a:effectRef>
          <a:fontRef idx="minor">
            <a:schemeClr val="dk1"/>
          </a:fontRef>
        </p:style>
        <p:txBody>
          <a:bodyPr rtlCol="0" anchor="ctr"/>
          <a:lstStyle/>
          <a:p>
            <a:pPr algn="ctr">
              <a:defRPr/>
            </a:pPr>
            <a:r>
              <a:rPr lang="en-US"/>
              <a:t>j</a:t>
            </a:r>
            <a:endParaRPr/>
          </a:p>
        </p:txBody>
      </p:sp>
      <p:sp>
        <p:nvSpPr>
          <p:cNvPr id="1343351453" name="Прямоугольник 22"/>
          <p:cNvSpPr/>
          <p:nvPr/>
        </p:nvSpPr>
        <p:spPr bwMode="auto">
          <a:xfrm>
            <a:off x="8094243" y="4724217"/>
            <a:ext cx="360000" cy="399032"/>
          </a:xfrm>
          <a:prstGeom prst="rect">
            <a:avLst/>
          </a:prstGeom>
          <a:solidFill>
            <a:schemeClr val="accent6">
              <a:lumMod val="60000"/>
              <a:lumOff val="40000"/>
            </a:schemeClr>
          </a:solidFill>
        </p:spPr>
        <p:style>
          <a:lnRef idx="2">
            <a:schemeClr val="dk1"/>
          </a:lnRef>
          <a:fillRef idx="1">
            <a:schemeClr val="lt1"/>
          </a:fillRef>
          <a:effectRef idx="0">
            <a:schemeClr val="dk1"/>
          </a:effectRef>
          <a:fontRef idx="minor">
            <a:schemeClr val="dk1"/>
          </a:fontRef>
        </p:style>
        <p:txBody>
          <a:bodyPr rtlCol="0" anchor="ctr"/>
          <a:lstStyle/>
          <a:p>
            <a:pPr algn="ctr">
              <a:defRPr/>
            </a:pPr>
            <a:r>
              <a:rPr lang="en-US"/>
              <a:t>k</a:t>
            </a:r>
            <a:endParaRPr/>
          </a:p>
        </p:txBody>
      </p:sp>
      <p:sp>
        <p:nvSpPr>
          <p:cNvPr id="921608320" name="TextBox 23"/>
          <p:cNvSpPr txBox="1"/>
          <p:nvPr/>
        </p:nvSpPr>
        <p:spPr bwMode="auto">
          <a:xfrm>
            <a:off x="9459793" y="3602472"/>
            <a:ext cx="635110" cy="369332"/>
          </a:xfrm>
          <a:prstGeom prst="rect">
            <a:avLst/>
          </a:prstGeom>
          <a:noFill/>
        </p:spPr>
        <p:txBody>
          <a:bodyPr wrap="none" rtlCol="0">
            <a:spAutoFit/>
          </a:bodyPr>
          <a:lstStyle/>
          <a:p>
            <a:pPr>
              <a:defRPr/>
            </a:pPr>
            <a:r>
              <a:rPr lang="en-US"/>
              <a:t>0x0</a:t>
            </a:r>
            <a:r>
              <a:rPr lang="ru-RU"/>
              <a:t>4</a:t>
            </a: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660920275" name="Заголовок 1"/>
          <p:cNvSpPr>
            <a:spLocks noGrp="1"/>
          </p:cNvSpPr>
          <p:nvPr>
            <p:ph type="title"/>
          </p:nvPr>
        </p:nvSpPr>
        <p:spPr bwMode="auto"/>
        <p:txBody>
          <a:bodyPr/>
          <a:lstStyle/>
          <a:p>
            <a:pPr>
              <a:defRPr/>
            </a:pPr>
            <a:r>
              <a:rPr lang="ru-RU"/>
              <a:t>Аппаратные особенности ОЗУ</a:t>
            </a:r>
            <a:endParaRPr lang="en-US"/>
          </a:p>
        </p:txBody>
      </p:sp>
      <p:sp>
        <p:nvSpPr>
          <p:cNvPr id="839767315" name="Объект 2"/>
          <p:cNvSpPr>
            <a:spLocks noGrp="1"/>
          </p:cNvSpPr>
          <p:nvPr>
            <p:ph idx="1"/>
          </p:nvPr>
        </p:nvSpPr>
        <p:spPr bwMode="auto">
          <a:xfrm>
            <a:off x="838201" y="1825625"/>
            <a:ext cx="8676388" cy="4895850"/>
          </a:xfrm>
        </p:spPr>
        <p:txBody>
          <a:bodyPr>
            <a:normAutofit/>
          </a:bodyPr>
          <a:lstStyle/>
          <a:p>
            <a:pPr marL="0" indent="0">
              <a:buNone/>
              <a:defRPr/>
            </a:pPr>
            <a:r>
              <a:rPr lang="ru-RU" sz="2000" b="1" dirty="0"/>
              <a:t>Байт</a:t>
            </a:r>
            <a:r>
              <a:rPr lang="ru-RU" sz="2000" dirty="0"/>
              <a:t> – минимальная адресуемая единица информации.</a:t>
            </a:r>
            <a:endParaRPr dirty="0"/>
          </a:p>
          <a:p>
            <a:pPr marL="0" indent="0">
              <a:buNone/>
              <a:defRPr/>
            </a:pPr>
            <a:r>
              <a:rPr lang="ru-RU" sz="2000" dirty="0"/>
              <a:t>Формально, каждый байт ОЗУ имеет свой адрес. Это верно только на программном уровне.</a:t>
            </a:r>
            <a:endParaRPr dirty="0"/>
          </a:p>
          <a:p>
            <a:pPr marL="0" indent="0">
              <a:buNone/>
              <a:defRPr/>
            </a:pPr>
            <a:r>
              <a:rPr lang="ru-RU" sz="2000" dirty="0"/>
              <a:t>На аппаратном уровне процессор соединен с ОЗУ шиной данных. В современных системах </a:t>
            </a:r>
            <a:r>
              <a:rPr lang="en-US" sz="2000" dirty="0"/>
              <a:t>x86-64</a:t>
            </a:r>
            <a:r>
              <a:rPr lang="ru-RU" sz="2000" dirty="0"/>
              <a:t> ширина шины данных равна 64 битам</a:t>
            </a:r>
            <a:r>
              <a:rPr lang="en-US" sz="2000" dirty="0"/>
              <a:t> </a:t>
            </a:r>
            <a:br>
              <a:rPr lang="en-US" sz="2000" dirty="0"/>
            </a:br>
            <a:r>
              <a:rPr lang="en-US" sz="2000" dirty="0"/>
              <a:t>(32 </a:t>
            </a:r>
            <a:r>
              <a:rPr lang="ru-RU" sz="2000" dirty="0"/>
              <a:t>битам для </a:t>
            </a:r>
            <a:r>
              <a:rPr lang="en-US" sz="2000" dirty="0"/>
              <a:t>DDR5)</a:t>
            </a:r>
            <a:r>
              <a:rPr lang="ru-RU" sz="2000" dirty="0"/>
              <a:t>. </a:t>
            </a:r>
            <a:endParaRPr dirty="0"/>
          </a:p>
          <a:p>
            <a:pPr marL="0" indent="0">
              <a:buNone/>
              <a:defRPr/>
            </a:pPr>
            <a:r>
              <a:rPr lang="ru-RU" sz="2000" dirty="0"/>
              <a:t>Оперативная память делится на блоки, каждый из которых равен ширине шины данных. Чтение данных выполняется  блоками (лишние данные не используются). Операции записи тоже оперируют блоками, но могут выполнять частичное изменение блока.</a:t>
            </a:r>
            <a:endParaRPr dirty="0"/>
          </a:p>
          <a:p>
            <a:pPr marL="0" indent="0">
              <a:buNone/>
              <a:defRPr/>
            </a:pPr>
            <a:endParaRPr lang="ru-RU" sz="2000" dirty="0"/>
          </a:p>
          <a:p>
            <a:pPr marL="0" indent="0">
              <a:buNone/>
              <a:defRPr/>
            </a:pPr>
            <a:endParaRPr lang="ru-RU" sz="2000" dirty="0"/>
          </a:p>
        </p:txBody>
      </p:sp>
      <p:sp>
        <p:nvSpPr>
          <p:cNvPr id="855541116" name="Номер слайда 4"/>
          <p:cNvSpPr>
            <a:spLocks noGrp="1"/>
          </p:cNvSpPr>
          <p:nvPr>
            <p:ph type="sldNum" sz="quarter" idx="12"/>
          </p:nvPr>
        </p:nvSpPr>
        <p:spPr bwMode="auto"/>
        <p:txBody>
          <a:bodyPr/>
          <a:lstStyle/>
          <a:p>
            <a:pPr>
              <a:defRPr/>
            </a:pPr>
            <a:fld id="{B67FBA2B-964F-4C4D-AAF7-5A8399264638}" type="slidenum">
              <a:rPr lang="en-US"/>
              <a:t>19</a:t>
            </a:fld>
            <a:endParaRPr lang="en-US"/>
          </a:p>
        </p:txBody>
      </p:sp>
      <p:pic>
        <p:nvPicPr>
          <p:cNvPr id="646464450" name="Picture 4" descr="CPU, processor PNG images free download"/>
          <p:cNvPicPr>
            <a:picLocks noChangeAspect="1" noChangeArrowheads="1"/>
          </p:cNvPicPr>
          <p:nvPr/>
        </p:nvPicPr>
        <p:blipFill rotWithShape="1">
          <a:blip r:embed="rId3"/>
          <a:stretch/>
        </p:blipFill>
        <p:spPr bwMode="auto">
          <a:xfrm>
            <a:off x="9773358" y="3401499"/>
            <a:ext cx="1851415" cy="1855280"/>
          </a:xfrm>
          <a:prstGeom prst="rect">
            <a:avLst/>
          </a:prstGeom>
          <a:noFill/>
        </p:spPr>
      </p:pic>
      <p:sp>
        <p:nvSpPr>
          <p:cNvPr id="535858441" name="TextBox 6"/>
          <p:cNvSpPr txBox="1"/>
          <p:nvPr/>
        </p:nvSpPr>
        <p:spPr bwMode="auto">
          <a:xfrm>
            <a:off x="10412768" y="4098305"/>
            <a:ext cx="572593" cy="461665"/>
          </a:xfrm>
          <a:prstGeom prst="rect">
            <a:avLst/>
          </a:prstGeom>
          <a:noFill/>
        </p:spPr>
        <p:txBody>
          <a:bodyPr wrap="none" rtlCol="0">
            <a:spAutoFit/>
          </a:bodyPr>
          <a:lstStyle/>
          <a:p>
            <a:pPr>
              <a:defRPr/>
            </a:pPr>
            <a:r>
              <a:rPr lang="ru-RU" sz="2400"/>
              <a:t>ЦП</a:t>
            </a:r>
            <a:endParaRPr/>
          </a:p>
        </p:txBody>
      </p:sp>
      <p:pic>
        <p:nvPicPr>
          <p:cNvPr id="29132822" name="Picture 10" descr="Download RAM PNG Image for Free"/>
          <p:cNvPicPr>
            <a:picLocks noChangeAspect="1" noChangeArrowheads="1"/>
          </p:cNvPicPr>
          <p:nvPr/>
        </p:nvPicPr>
        <p:blipFill rotWithShape="1">
          <a:blip r:embed="rId4"/>
          <a:stretch/>
        </p:blipFill>
        <p:spPr bwMode="auto">
          <a:xfrm>
            <a:off x="9392717" y="226705"/>
            <a:ext cx="2470099" cy="1145959"/>
          </a:xfrm>
          <a:prstGeom prst="rect">
            <a:avLst/>
          </a:prstGeom>
          <a:noFill/>
        </p:spPr>
      </p:pic>
      <p:sp>
        <p:nvSpPr>
          <p:cNvPr id="1515012528" name="Стрелка: вверх-вниз 7"/>
          <p:cNvSpPr/>
          <p:nvPr/>
        </p:nvSpPr>
        <p:spPr bwMode="auto">
          <a:xfrm>
            <a:off x="10154001" y="1459442"/>
            <a:ext cx="1090131" cy="1855280"/>
          </a:xfrm>
          <a:prstGeom prst="upDownArrow">
            <a:avLst>
              <a:gd name="adj1" fmla="val 61435"/>
              <a:gd name="adj2" fmla="val 3541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ru-RU" sz="1100"/>
              <a:t>Шина</a:t>
            </a:r>
            <a:br>
              <a:rPr lang="ru-RU" sz="1100"/>
            </a:br>
            <a:r>
              <a:rPr lang="ru-RU" sz="1100"/>
              <a:t>данных</a:t>
            </a:r>
            <a:endParaRPr/>
          </a:p>
        </p:txBody>
      </p:sp>
      <p:sp>
        <p:nvSpPr>
          <p:cNvPr id="1073019131" name="TextBox 3"/>
          <p:cNvSpPr txBox="1"/>
          <p:nvPr/>
        </p:nvSpPr>
        <p:spPr bwMode="auto">
          <a:xfrm>
            <a:off x="4768622" y="5252918"/>
            <a:ext cx="2654755" cy="369332"/>
          </a:xfrm>
          <a:prstGeom prst="rect">
            <a:avLst/>
          </a:prstGeom>
          <a:noFill/>
        </p:spPr>
        <p:txBody>
          <a:bodyPr wrap="square">
            <a:spAutoFit/>
          </a:bodyPr>
          <a:lstStyle/>
          <a:p>
            <a:pPr>
              <a:defRPr/>
            </a:pPr>
            <a:r>
              <a:rPr lang="en-US">
                <a:solidFill>
                  <a:srgbClr val="0000FF"/>
                </a:solidFill>
                <a:latin typeface="Courier New"/>
                <a:cs typeface="Courier New"/>
              </a:rPr>
              <a:t>mov</a:t>
            </a:r>
            <a:r>
              <a:rPr lang="en-US">
                <a:solidFill>
                  <a:srgbClr val="000000"/>
                </a:solidFill>
                <a:latin typeface="Courier New"/>
                <a:cs typeface="Courier New"/>
              </a:rPr>
              <a:t>     </a:t>
            </a:r>
            <a:r>
              <a:rPr lang="en-US">
                <a:solidFill>
                  <a:srgbClr val="4864AA"/>
                </a:solidFill>
                <a:latin typeface="Courier New"/>
                <a:cs typeface="Courier New"/>
              </a:rPr>
              <a:t>al</a:t>
            </a:r>
            <a:r>
              <a:rPr lang="en-US">
                <a:solidFill>
                  <a:srgbClr val="000000"/>
                </a:solidFill>
                <a:latin typeface="Courier New"/>
                <a:cs typeface="Courier New"/>
              </a:rPr>
              <a:t>, </a:t>
            </a:r>
            <a:r>
              <a:rPr lang="en-US">
                <a:solidFill>
                  <a:srgbClr val="4864AA"/>
                </a:solidFill>
                <a:latin typeface="Courier New"/>
                <a:cs typeface="Courier New"/>
              </a:rPr>
              <a:t>[0xA]</a:t>
            </a:r>
            <a:endParaRPr lang="en-US">
              <a:solidFill>
                <a:srgbClr val="000000"/>
              </a:solidFill>
              <a:latin typeface="Courier New"/>
              <a:cs typeface="Courier New"/>
            </a:endParaRPr>
          </a:p>
        </p:txBody>
      </p:sp>
      <p:sp>
        <p:nvSpPr>
          <p:cNvPr id="155555419" name="Прямоугольник 5"/>
          <p:cNvSpPr/>
          <p:nvPr/>
        </p:nvSpPr>
        <p:spPr bwMode="auto">
          <a:xfrm>
            <a:off x="1464003" y="6001625"/>
            <a:ext cx="2880000" cy="399032"/>
          </a:xfrm>
          <a:prstGeom prst="rect">
            <a:avLst/>
          </a:prstGeom>
          <a:solidFill>
            <a:schemeClr val="accent1">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defRPr/>
            </a:pPr>
            <a:endParaRPr lang="en-US"/>
          </a:p>
        </p:txBody>
      </p:sp>
      <p:sp>
        <p:nvSpPr>
          <p:cNvPr id="800824773" name="Прямоугольник 8"/>
          <p:cNvSpPr/>
          <p:nvPr/>
        </p:nvSpPr>
        <p:spPr bwMode="auto">
          <a:xfrm>
            <a:off x="1464003" y="6409220"/>
            <a:ext cx="2880000" cy="39903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defRPr/>
            </a:pPr>
            <a:endParaRPr lang="en-US"/>
          </a:p>
        </p:txBody>
      </p:sp>
      <p:sp>
        <p:nvSpPr>
          <p:cNvPr id="1307993168" name="Прямоугольник 9"/>
          <p:cNvSpPr/>
          <p:nvPr/>
        </p:nvSpPr>
        <p:spPr bwMode="auto">
          <a:xfrm>
            <a:off x="1464003" y="5600203"/>
            <a:ext cx="2880000" cy="39903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defRPr/>
            </a:pPr>
            <a:endParaRPr lang="en-US"/>
          </a:p>
        </p:txBody>
      </p:sp>
      <p:sp>
        <p:nvSpPr>
          <p:cNvPr id="1412497113" name="TextBox 10"/>
          <p:cNvSpPr txBox="1"/>
          <p:nvPr/>
        </p:nvSpPr>
        <p:spPr bwMode="auto">
          <a:xfrm>
            <a:off x="839110" y="5497362"/>
            <a:ext cx="635110" cy="369332"/>
          </a:xfrm>
          <a:prstGeom prst="rect">
            <a:avLst/>
          </a:prstGeom>
          <a:noFill/>
        </p:spPr>
        <p:txBody>
          <a:bodyPr wrap="square" rtlCol="0">
            <a:spAutoFit/>
          </a:bodyPr>
          <a:lstStyle/>
          <a:p>
            <a:pPr>
              <a:defRPr/>
            </a:pPr>
            <a:r>
              <a:rPr lang="en-US"/>
              <a:t>0x10</a:t>
            </a:r>
            <a:endParaRPr/>
          </a:p>
        </p:txBody>
      </p:sp>
      <p:sp>
        <p:nvSpPr>
          <p:cNvPr id="1223175516" name="TextBox 11"/>
          <p:cNvSpPr txBox="1"/>
          <p:nvPr/>
        </p:nvSpPr>
        <p:spPr bwMode="auto">
          <a:xfrm>
            <a:off x="839110" y="5936820"/>
            <a:ext cx="635110" cy="369332"/>
          </a:xfrm>
          <a:prstGeom prst="rect">
            <a:avLst/>
          </a:prstGeom>
          <a:noFill/>
        </p:spPr>
        <p:txBody>
          <a:bodyPr wrap="square" rtlCol="0">
            <a:spAutoFit/>
          </a:bodyPr>
          <a:lstStyle/>
          <a:p>
            <a:pPr>
              <a:defRPr/>
            </a:pPr>
            <a:r>
              <a:rPr lang="en-US"/>
              <a:t>0x08</a:t>
            </a:r>
            <a:endParaRPr/>
          </a:p>
        </p:txBody>
      </p:sp>
      <p:sp>
        <p:nvSpPr>
          <p:cNvPr id="422483376" name="TextBox 12"/>
          <p:cNvSpPr txBox="1"/>
          <p:nvPr/>
        </p:nvSpPr>
        <p:spPr bwMode="auto">
          <a:xfrm>
            <a:off x="838200" y="6319303"/>
            <a:ext cx="635110" cy="369332"/>
          </a:xfrm>
          <a:prstGeom prst="rect">
            <a:avLst/>
          </a:prstGeom>
          <a:noFill/>
        </p:spPr>
        <p:txBody>
          <a:bodyPr wrap="square" rtlCol="0">
            <a:spAutoFit/>
          </a:bodyPr>
          <a:lstStyle/>
          <a:p>
            <a:pPr>
              <a:defRPr/>
            </a:pPr>
            <a:r>
              <a:rPr lang="en-US"/>
              <a:t>0x00</a:t>
            </a:r>
            <a:endParaRPr/>
          </a:p>
        </p:txBody>
      </p:sp>
      <p:sp>
        <p:nvSpPr>
          <p:cNvPr id="752524333" name="Прямоугольник 13"/>
          <p:cNvSpPr/>
          <p:nvPr/>
        </p:nvSpPr>
        <p:spPr bwMode="auto">
          <a:xfrm>
            <a:off x="5758957" y="6028495"/>
            <a:ext cx="2880000" cy="399032"/>
          </a:xfrm>
          <a:prstGeom prst="rect">
            <a:avLst/>
          </a:prstGeom>
          <a:solidFill>
            <a:schemeClr val="accent1">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defRPr/>
            </a:pPr>
            <a:endParaRPr lang="en-US"/>
          </a:p>
        </p:txBody>
      </p:sp>
      <p:sp>
        <p:nvSpPr>
          <p:cNvPr id="946016718" name="Прямоугольник 14"/>
          <p:cNvSpPr/>
          <p:nvPr/>
        </p:nvSpPr>
        <p:spPr bwMode="auto">
          <a:xfrm>
            <a:off x="6478957" y="6029999"/>
            <a:ext cx="360000" cy="3990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323222723" name="TextBox 15"/>
          <p:cNvSpPr txBox="1"/>
          <p:nvPr/>
        </p:nvSpPr>
        <p:spPr bwMode="auto">
          <a:xfrm>
            <a:off x="6341402" y="5672226"/>
            <a:ext cx="651140" cy="369332"/>
          </a:xfrm>
          <a:prstGeom prst="rect">
            <a:avLst/>
          </a:prstGeom>
          <a:noFill/>
        </p:spPr>
        <p:txBody>
          <a:bodyPr wrap="none" rtlCol="0">
            <a:spAutoFit/>
          </a:bodyPr>
          <a:lstStyle/>
          <a:p>
            <a:pPr>
              <a:defRPr/>
            </a:pPr>
            <a:r>
              <a:rPr lang="en-US"/>
              <a:t>0x0A</a:t>
            </a:r>
            <a:endParaRPr/>
          </a:p>
        </p:txBody>
      </p:sp>
      <p:sp>
        <p:nvSpPr>
          <p:cNvPr id="447635445" name="Стрелка: вправо 16"/>
          <p:cNvSpPr/>
          <p:nvPr/>
        </p:nvSpPr>
        <p:spPr bwMode="auto">
          <a:xfrm>
            <a:off x="4391347" y="5985050"/>
            <a:ext cx="1309949" cy="492210"/>
          </a:xfrm>
          <a:prstGeom prst="rightArrow">
            <a:avLst>
              <a:gd name="adj1" fmla="val 50000"/>
              <a:gd name="adj2" fmla="val 50000"/>
            </a:avLst>
          </a:prstGeom>
        </p:spPr>
        <p:style>
          <a:lnRef idx="3">
            <a:schemeClr val="lt1"/>
          </a:lnRef>
          <a:fillRef idx="1">
            <a:schemeClr val="accent1"/>
          </a:fillRef>
          <a:effectRef idx="1">
            <a:schemeClr val="accent1"/>
          </a:effectRef>
          <a:fontRef idx="minor">
            <a:schemeClr val="lt1"/>
          </a:fontRef>
        </p:style>
        <p:txBody>
          <a:bodyPr rtlCol="0" anchor="ctr"/>
          <a:lstStyle/>
          <a:p>
            <a:pPr algn="ctr">
              <a:defRPr/>
            </a:pPr>
            <a:endParaRPr lang="ru-RU"/>
          </a:p>
        </p:txBody>
      </p:sp>
      <p:cxnSp>
        <p:nvCxnSpPr>
          <p:cNvPr id="775678199" name="Прямая со стрелкой 17"/>
          <p:cNvCxnSpPr>
            <a:stCxn id="752524333" idx="3"/>
            <a:endCxn id="1715191401" idx="1"/>
          </p:cNvCxnSpPr>
          <p:nvPr/>
        </p:nvCxnSpPr>
        <p:spPr bwMode="auto">
          <a:xfrm flipV="1">
            <a:off x="8638957" y="6225905"/>
            <a:ext cx="818842" cy="210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15191401" name="Прямоугольник 18"/>
          <p:cNvSpPr/>
          <p:nvPr/>
        </p:nvSpPr>
        <p:spPr bwMode="auto">
          <a:xfrm>
            <a:off x="9457799" y="6026389"/>
            <a:ext cx="360000" cy="3990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214058327" name="TextBox 19"/>
          <p:cNvSpPr txBox="1"/>
          <p:nvPr/>
        </p:nvSpPr>
        <p:spPr bwMode="auto">
          <a:xfrm>
            <a:off x="9457799" y="5662336"/>
            <a:ext cx="415498" cy="369332"/>
          </a:xfrm>
          <a:prstGeom prst="rect">
            <a:avLst/>
          </a:prstGeom>
          <a:noFill/>
        </p:spPr>
        <p:txBody>
          <a:bodyPr wrap="none" rtlCol="0">
            <a:spAutoFit/>
          </a:bodyPr>
          <a:lstStyle/>
          <a:p>
            <a:pPr>
              <a:defRPr/>
            </a:pPr>
            <a:r>
              <a:rPr lang="en-US"/>
              <a:t>AL</a:t>
            </a:r>
            <a:endParaRPr/>
          </a:p>
        </p:txBody>
      </p:sp>
      <p:sp>
        <p:nvSpPr>
          <p:cNvPr id="203214932" name="TextBox 20"/>
          <p:cNvSpPr txBox="1"/>
          <p:nvPr/>
        </p:nvSpPr>
        <p:spPr bwMode="auto">
          <a:xfrm>
            <a:off x="4414962" y="6306152"/>
            <a:ext cx="1050305" cy="461665"/>
          </a:xfrm>
          <a:prstGeom prst="rect">
            <a:avLst/>
          </a:prstGeom>
          <a:noFill/>
        </p:spPr>
        <p:txBody>
          <a:bodyPr wrap="square" rtlCol="0">
            <a:spAutoFit/>
          </a:bodyPr>
          <a:lstStyle/>
          <a:p>
            <a:pPr algn="ctr">
              <a:defRPr/>
            </a:pPr>
            <a:r>
              <a:rPr lang="ru-RU" sz="1200"/>
              <a:t>Шина данных</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824552260" name="Заголовок 1"/>
          <p:cNvSpPr>
            <a:spLocks noGrp="1"/>
          </p:cNvSpPr>
          <p:nvPr>
            <p:ph type="title"/>
          </p:nvPr>
        </p:nvSpPr>
        <p:spPr bwMode="auto"/>
        <p:txBody>
          <a:bodyPr/>
          <a:lstStyle/>
          <a:p>
            <a:pPr>
              <a:defRPr/>
            </a:pPr>
            <a:r>
              <a:rPr lang="ru-RU"/>
              <a:t>Выравнивание переменных компилятором</a:t>
            </a:r>
            <a:endParaRPr/>
          </a:p>
        </p:txBody>
      </p:sp>
      <p:sp>
        <p:nvSpPr>
          <p:cNvPr id="1021125191" name="Объект 2"/>
          <p:cNvSpPr>
            <a:spLocks noGrp="1"/>
          </p:cNvSpPr>
          <p:nvPr>
            <p:ph idx="1"/>
          </p:nvPr>
        </p:nvSpPr>
        <p:spPr bwMode="auto">
          <a:xfrm>
            <a:off x="838200" y="1825625"/>
            <a:ext cx="6116782" cy="4351338"/>
          </a:xfrm>
        </p:spPr>
        <p:txBody>
          <a:bodyPr>
            <a:normAutofit/>
          </a:bodyPr>
          <a:lstStyle/>
          <a:p>
            <a:pPr marL="0" indent="0">
              <a:buNone/>
              <a:defRPr/>
            </a:pPr>
            <a:r>
              <a:rPr lang="ru-RU" sz="2000"/>
              <a:t>Пусть дан код справа и компилятор решает расположить обе переменные на стеке.</a:t>
            </a:r>
            <a:endParaRPr/>
          </a:p>
          <a:p>
            <a:pPr marL="0" indent="0">
              <a:buNone/>
              <a:defRPr/>
            </a:pPr>
            <a:r>
              <a:rPr lang="ru-RU" sz="2000"/>
              <a:t>Если компилятор расположит переменные рядом, то чтение переменной </a:t>
            </a:r>
            <a:r>
              <a:rPr lang="en-US" sz="2000"/>
              <a:t>Y </a:t>
            </a:r>
            <a:r>
              <a:rPr lang="ru-RU" sz="2000"/>
              <a:t>потребует 2-х аппаратных чтений.</a:t>
            </a:r>
            <a:endParaRPr/>
          </a:p>
          <a:p>
            <a:pPr marL="0" indent="0">
              <a:buNone/>
              <a:defRPr/>
            </a:pPr>
            <a:r>
              <a:rPr lang="ru-RU" sz="2000"/>
              <a:t>Если компилятор выровняет переменную, то она будет прочитана за 1 чтение, но между переменными возникнет неиспользуемое пространство.</a:t>
            </a:r>
            <a:endParaRPr/>
          </a:p>
        </p:txBody>
      </p:sp>
      <p:sp>
        <p:nvSpPr>
          <p:cNvPr id="1137877663" name="Номер слайда 4"/>
          <p:cNvSpPr>
            <a:spLocks noGrp="1"/>
          </p:cNvSpPr>
          <p:nvPr>
            <p:ph type="sldNum" sz="quarter" idx="12"/>
          </p:nvPr>
        </p:nvSpPr>
        <p:spPr bwMode="auto"/>
        <p:txBody>
          <a:bodyPr/>
          <a:lstStyle/>
          <a:p>
            <a:pPr>
              <a:defRPr/>
            </a:pPr>
            <a:fld id="{B67FBA2B-964F-4C4D-AAF7-5A8399264638}" type="slidenum">
              <a:rPr lang="en-US"/>
              <a:t>20</a:t>
            </a:fld>
            <a:endParaRPr lang="en-US"/>
          </a:p>
        </p:txBody>
      </p:sp>
      <p:sp>
        <p:nvSpPr>
          <p:cNvPr id="1971841044" name="TextBox 5"/>
          <p:cNvSpPr txBox="1"/>
          <p:nvPr/>
        </p:nvSpPr>
        <p:spPr bwMode="auto">
          <a:xfrm>
            <a:off x="7999344" y="2310590"/>
            <a:ext cx="2730983" cy="2031325"/>
          </a:xfrm>
          <a:prstGeom prst="rect">
            <a:avLst/>
          </a:prstGeom>
          <a:noFill/>
        </p:spPr>
        <p:txBody>
          <a:bodyPr wrap="square">
            <a:spAutoFit/>
          </a:bodyPr>
          <a:lstStyle/>
          <a:p>
            <a:pPr>
              <a:defRPr/>
            </a:pPr>
            <a:r>
              <a:rPr lang="en-US">
                <a:solidFill>
                  <a:srgbClr val="0000FF"/>
                </a:solidFill>
                <a:latin typeface="Consolas, "/>
              </a:rPr>
              <a:t>void</a:t>
            </a:r>
            <a:r>
              <a:rPr lang="en-US">
                <a:solidFill>
                  <a:srgbClr val="000000"/>
                </a:solidFill>
                <a:latin typeface="Consolas, "/>
              </a:rPr>
              <a:t> main(){</a:t>
            </a:r>
            <a:endParaRPr/>
          </a:p>
          <a:p>
            <a:pPr>
              <a:defRPr/>
            </a:pPr>
            <a:r>
              <a:rPr lang="en-US">
                <a:solidFill>
                  <a:srgbClr val="000000"/>
                </a:solidFill>
                <a:latin typeface="Consolas, "/>
              </a:rPr>
              <a:t>    </a:t>
            </a:r>
            <a:r>
              <a:rPr lang="en-US">
                <a:solidFill>
                  <a:srgbClr val="0000FF"/>
                </a:solidFill>
                <a:latin typeface="Consolas, "/>
              </a:rPr>
              <a:t>char</a:t>
            </a:r>
            <a:r>
              <a:rPr lang="en-US">
                <a:solidFill>
                  <a:srgbClr val="000000"/>
                </a:solidFill>
                <a:latin typeface="Consolas, "/>
              </a:rPr>
              <a:t> x;</a:t>
            </a:r>
            <a:endParaRPr lang="en-US">
              <a:solidFill>
                <a:schemeClr val="bg2">
                  <a:lumMod val="75000"/>
                </a:schemeClr>
              </a:solidFill>
              <a:latin typeface="Consolas, "/>
            </a:endParaRPr>
          </a:p>
          <a:p>
            <a:pPr>
              <a:defRPr/>
            </a:pPr>
            <a:r>
              <a:rPr lang="en-US">
                <a:solidFill>
                  <a:srgbClr val="000000"/>
                </a:solidFill>
                <a:latin typeface="Consolas, "/>
              </a:rPr>
              <a:t>    </a:t>
            </a:r>
            <a:r>
              <a:rPr lang="en-US">
                <a:solidFill>
                  <a:srgbClr val="0000FF"/>
                </a:solidFill>
                <a:latin typeface="Consolas, "/>
              </a:rPr>
              <a:t>long</a:t>
            </a:r>
            <a:r>
              <a:rPr lang="en-US">
                <a:solidFill>
                  <a:srgbClr val="000000"/>
                </a:solidFill>
                <a:latin typeface="Consolas, "/>
              </a:rPr>
              <a:t> </a:t>
            </a:r>
            <a:r>
              <a:rPr lang="en-US">
                <a:solidFill>
                  <a:srgbClr val="0000FF"/>
                </a:solidFill>
                <a:latin typeface="Consolas, "/>
              </a:rPr>
              <a:t>long</a:t>
            </a:r>
            <a:r>
              <a:rPr lang="en-US">
                <a:solidFill>
                  <a:srgbClr val="000000"/>
                </a:solidFill>
                <a:latin typeface="Consolas, "/>
              </a:rPr>
              <a:t> y;</a:t>
            </a:r>
            <a:endParaRPr/>
          </a:p>
          <a:p>
            <a:pPr>
              <a:defRPr/>
            </a:pPr>
            <a:r>
              <a:rPr lang="en-US">
                <a:solidFill>
                  <a:srgbClr val="000000"/>
                </a:solidFill>
                <a:latin typeface="Consolas, "/>
              </a:rPr>
              <a:t>    </a:t>
            </a:r>
            <a:r>
              <a:rPr lang="en-US">
                <a:solidFill>
                  <a:schemeClr val="accent6">
                    <a:lumMod val="75000"/>
                  </a:schemeClr>
                </a:solidFill>
                <a:latin typeface="Consolas, "/>
              </a:rPr>
              <a:t>/*…*/</a:t>
            </a:r>
          </a:p>
          <a:p>
            <a:pPr>
              <a:defRPr/>
            </a:pPr>
            <a:r>
              <a:rPr lang="en-US">
                <a:solidFill>
                  <a:srgbClr val="000000"/>
                </a:solidFill>
                <a:latin typeface="Consolas, "/>
              </a:rPr>
              <a:t>};</a:t>
            </a:r>
            <a:endParaRPr/>
          </a:p>
          <a:p>
            <a:pPr>
              <a:defRPr/>
            </a:pPr>
            <a:br>
              <a:rPr lang="en-US">
                <a:solidFill>
                  <a:srgbClr val="000000"/>
                </a:solidFill>
                <a:latin typeface="Consolas, "/>
              </a:rPr>
            </a:br>
            <a:endParaRPr lang="en-US">
              <a:solidFill>
                <a:srgbClr val="000000"/>
              </a:solidFill>
              <a:latin typeface="Consolas, "/>
            </a:endParaRPr>
          </a:p>
        </p:txBody>
      </p:sp>
      <p:sp>
        <p:nvSpPr>
          <p:cNvPr id="18788640" name="Прямоугольник 6"/>
          <p:cNvSpPr/>
          <p:nvPr/>
        </p:nvSpPr>
        <p:spPr bwMode="auto">
          <a:xfrm>
            <a:off x="7400055" y="5862560"/>
            <a:ext cx="2880000" cy="39903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defRPr/>
            </a:pPr>
            <a:endParaRPr lang="en-US"/>
          </a:p>
        </p:txBody>
      </p:sp>
      <p:sp>
        <p:nvSpPr>
          <p:cNvPr id="890318768" name="Прямоугольник 7"/>
          <p:cNvSpPr/>
          <p:nvPr/>
        </p:nvSpPr>
        <p:spPr bwMode="auto">
          <a:xfrm>
            <a:off x="7400055" y="6262840"/>
            <a:ext cx="2880000" cy="39903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defRPr/>
            </a:pPr>
            <a:endParaRPr lang="en-US"/>
          </a:p>
        </p:txBody>
      </p:sp>
      <p:sp>
        <p:nvSpPr>
          <p:cNvPr id="1280100649" name="Прямоугольник 8"/>
          <p:cNvSpPr/>
          <p:nvPr/>
        </p:nvSpPr>
        <p:spPr bwMode="auto">
          <a:xfrm>
            <a:off x="7400055" y="5453823"/>
            <a:ext cx="2880000" cy="39903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defRPr/>
            </a:pPr>
            <a:endParaRPr lang="en-US"/>
          </a:p>
        </p:txBody>
      </p:sp>
      <p:sp>
        <p:nvSpPr>
          <p:cNvPr id="1658555316" name="Прямоугольник 9"/>
          <p:cNvSpPr/>
          <p:nvPr/>
        </p:nvSpPr>
        <p:spPr bwMode="auto">
          <a:xfrm>
            <a:off x="7400055" y="5452575"/>
            <a:ext cx="360000" cy="399032"/>
          </a:xfrm>
          <a:prstGeom prst="rect">
            <a:avLst/>
          </a:prstGeom>
          <a:solidFill>
            <a:schemeClr val="accent1">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defRPr/>
            </a:pPr>
            <a:r>
              <a:rPr lang="en-US"/>
              <a:t>x</a:t>
            </a:r>
            <a:endParaRPr/>
          </a:p>
        </p:txBody>
      </p:sp>
      <p:sp>
        <p:nvSpPr>
          <p:cNvPr id="388904577" name="Прямоугольник 10"/>
          <p:cNvSpPr/>
          <p:nvPr/>
        </p:nvSpPr>
        <p:spPr bwMode="auto">
          <a:xfrm>
            <a:off x="7400055" y="5861976"/>
            <a:ext cx="2880000" cy="399032"/>
          </a:xfrm>
          <a:prstGeom prst="rect">
            <a:avLst/>
          </a:prstGeom>
          <a:solidFill>
            <a:schemeClr val="accent1">
              <a:lumMod val="60000"/>
              <a:lumOff val="40000"/>
            </a:schemeClr>
          </a:solidFill>
        </p:spPr>
        <p:style>
          <a:lnRef idx="2">
            <a:schemeClr val="dk1"/>
          </a:lnRef>
          <a:fillRef idx="1">
            <a:schemeClr val="lt1"/>
          </a:fillRef>
          <a:effectRef idx="0">
            <a:schemeClr val="dk1"/>
          </a:effectRef>
          <a:fontRef idx="minor">
            <a:schemeClr val="dk1"/>
          </a:fontRef>
        </p:style>
        <p:txBody>
          <a:bodyPr rtlCol="0" anchor="ctr"/>
          <a:lstStyle/>
          <a:p>
            <a:pPr algn="ctr">
              <a:defRPr/>
            </a:pPr>
            <a:r>
              <a:rPr lang="en-US"/>
              <a:t>y</a:t>
            </a:r>
            <a:endParaRPr/>
          </a:p>
        </p:txBody>
      </p:sp>
      <p:sp>
        <p:nvSpPr>
          <p:cNvPr id="245271978" name="Прямоугольник 14"/>
          <p:cNvSpPr/>
          <p:nvPr/>
        </p:nvSpPr>
        <p:spPr bwMode="auto">
          <a:xfrm>
            <a:off x="7760055" y="5452575"/>
            <a:ext cx="2520000" cy="399032"/>
          </a:xfrm>
          <a:prstGeom prst="rect">
            <a:avLst/>
          </a:prstGeom>
          <a:solidFill>
            <a:schemeClr val="accent2">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defRPr/>
            </a:pPr>
            <a:r>
              <a:rPr lang="en-US"/>
              <a:t>padding</a:t>
            </a:r>
            <a:endParaRPr/>
          </a:p>
        </p:txBody>
      </p:sp>
      <p:sp>
        <p:nvSpPr>
          <p:cNvPr id="39317224" name="Прямоугольник 15"/>
          <p:cNvSpPr/>
          <p:nvPr/>
        </p:nvSpPr>
        <p:spPr bwMode="auto">
          <a:xfrm>
            <a:off x="1809746" y="5862560"/>
            <a:ext cx="2880000" cy="39903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defRPr/>
            </a:pPr>
            <a:endParaRPr lang="en-US"/>
          </a:p>
        </p:txBody>
      </p:sp>
      <p:sp>
        <p:nvSpPr>
          <p:cNvPr id="1304909621" name="Прямоугольник 16"/>
          <p:cNvSpPr/>
          <p:nvPr/>
        </p:nvSpPr>
        <p:spPr bwMode="auto">
          <a:xfrm>
            <a:off x="1809746" y="6262840"/>
            <a:ext cx="2880000" cy="39903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defRPr/>
            </a:pPr>
            <a:endParaRPr lang="en-US"/>
          </a:p>
        </p:txBody>
      </p:sp>
      <p:sp>
        <p:nvSpPr>
          <p:cNvPr id="261866611" name="Прямоугольник 17"/>
          <p:cNvSpPr/>
          <p:nvPr/>
        </p:nvSpPr>
        <p:spPr bwMode="auto">
          <a:xfrm>
            <a:off x="1809746" y="5453823"/>
            <a:ext cx="2880000" cy="39903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defRPr/>
            </a:pPr>
            <a:endParaRPr lang="en-US"/>
          </a:p>
        </p:txBody>
      </p:sp>
      <p:sp>
        <p:nvSpPr>
          <p:cNvPr id="1224063941" name="Прямоугольник 18"/>
          <p:cNvSpPr/>
          <p:nvPr/>
        </p:nvSpPr>
        <p:spPr bwMode="auto">
          <a:xfrm>
            <a:off x="1809746" y="5452575"/>
            <a:ext cx="360000" cy="399032"/>
          </a:xfrm>
          <a:prstGeom prst="rect">
            <a:avLst/>
          </a:prstGeom>
          <a:solidFill>
            <a:schemeClr val="accent1">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defRPr/>
            </a:pPr>
            <a:r>
              <a:rPr lang="en-US"/>
              <a:t>x</a:t>
            </a:r>
            <a:endParaRPr/>
          </a:p>
        </p:txBody>
      </p:sp>
      <p:sp>
        <p:nvSpPr>
          <p:cNvPr id="681001760" name="Прямоугольник 23"/>
          <p:cNvSpPr/>
          <p:nvPr/>
        </p:nvSpPr>
        <p:spPr bwMode="auto">
          <a:xfrm>
            <a:off x="2169746" y="5452575"/>
            <a:ext cx="2520000" cy="399032"/>
          </a:xfrm>
          <a:prstGeom prst="rect">
            <a:avLst/>
          </a:prstGeom>
          <a:solidFill>
            <a:srgbClr val="C00000"/>
          </a:solidFill>
        </p:spPr>
        <p:style>
          <a:lnRef idx="2">
            <a:schemeClr val="dk1"/>
          </a:lnRef>
          <a:fillRef idx="1">
            <a:schemeClr val="lt1"/>
          </a:fillRef>
          <a:effectRef idx="0">
            <a:schemeClr val="dk1"/>
          </a:effectRef>
          <a:fontRef idx="minor">
            <a:schemeClr val="dk1"/>
          </a:fontRef>
        </p:style>
        <p:txBody>
          <a:bodyPr rtlCol="0" anchor="ctr"/>
          <a:lstStyle/>
          <a:p>
            <a:pPr algn="ctr">
              <a:defRPr/>
            </a:pPr>
            <a:r>
              <a:rPr lang="en-US"/>
              <a:t>y</a:t>
            </a:r>
            <a:endParaRPr/>
          </a:p>
        </p:txBody>
      </p:sp>
      <p:sp>
        <p:nvSpPr>
          <p:cNvPr id="974373838" name="Прямоугольник 28"/>
          <p:cNvSpPr/>
          <p:nvPr/>
        </p:nvSpPr>
        <p:spPr bwMode="auto">
          <a:xfrm>
            <a:off x="1809746" y="5093188"/>
            <a:ext cx="2880000" cy="360000"/>
          </a:xfrm>
          <a:prstGeom prst="rect">
            <a:avLst/>
          </a:prstGeom>
          <a:solidFill>
            <a:schemeClr val="accent2">
              <a:lumMod val="60000"/>
              <a:lumOff val="40000"/>
            </a:schemeClr>
          </a:solidFill>
        </p:spPr>
        <p:style>
          <a:lnRef idx="2">
            <a:schemeClr val="dk1"/>
          </a:lnRef>
          <a:fillRef idx="1">
            <a:schemeClr val="lt1"/>
          </a:fillRef>
          <a:effectRef idx="0">
            <a:schemeClr val="dk1"/>
          </a:effectRef>
          <a:fontRef idx="minor">
            <a:schemeClr val="dk1"/>
          </a:fontRef>
        </p:style>
        <p:txBody>
          <a:bodyPr rtlCol="0" anchor="ctr"/>
          <a:lstStyle/>
          <a:p>
            <a:pPr algn="ctr">
              <a:defRPr/>
            </a:pPr>
            <a:r>
              <a:rPr lang="ru-RU"/>
              <a:t>Сохраненный </a:t>
            </a:r>
            <a:r>
              <a:rPr lang="en-US"/>
              <a:t>RBP</a:t>
            </a:r>
            <a:endParaRPr/>
          </a:p>
        </p:txBody>
      </p:sp>
      <p:sp>
        <p:nvSpPr>
          <p:cNvPr id="1424643110" name="Прямоугольник 29"/>
          <p:cNvSpPr/>
          <p:nvPr/>
        </p:nvSpPr>
        <p:spPr bwMode="auto">
          <a:xfrm>
            <a:off x="1808785" y="4732545"/>
            <a:ext cx="2880000" cy="360000"/>
          </a:xfrm>
          <a:prstGeom prst="rect">
            <a:avLst/>
          </a:prstGeom>
          <a:solidFill>
            <a:schemeClr val="accent2">
              <a:lumMod val="75000"/>
            </a:schemeClr>
          </a:solidFill>
        </p:spPr>
        <p:style>
          <a:lnRef idx="2">
            <a:schemeClr val="dk1"/>
          </a:lnRef>
          <a:fillRef idx="1">
            <a:schemeClr val="lt1"/>
          </a:fillRef>
          <a:effectRef idx="0">
            <a:schemeClr val="dk1"/>
          </a:effectRef>
          <a:fontRef idx="minor">
            <a:schemeClr val="dk1"/>
          </a:fontRef>
        </p:style>
        <p:txBody>
          <a:bodyPr rtlCol="0" anchor="ctr"/>
          <a:lstStyle/>
          <a:p>
            <a:pPr algn="ctr">
              <a:defRPr/>
            </a:pPr>
            <a:r>
              <a:rPr lang="ru-RU"/>
              <a:t>Адрес возврата</a:t>
            </a:r>
            <a:endParaRPr lang="en-US"/>
          </a:p>
        </p:txBody>
      </p:sp>
      <p:sp>
        <p:nvSpPr>
          <p:cNvPr id="764142455" name="Прямоугольник 30"/>
          <p:cNvSpPr/>
          <p:nvPr/>
        </p:nvSpPr>
        <p:spPr bwMode="auto">
          <a:xfrm>
            <a:off x="7400055" y="5093188"/>
            <a:ext cx="2880000" cy="360000"/>
          </a:xfrm>
          <a:prstGeom prst="rect">
            <a:avLst/>
          </a:prstGeom>
          <a:solidFill>
            <a:schemeClr val="accent2">
              <a:lumMod val="60000"/>
              <a:lumOff val="40000"/>
            </a:schemeClr>
          </a:solidFill>
        </p:spPr>
        <p:style>
          <a:lnRef idx="2">
            <a:schemeClr val="dk1"/>
          </a:lnRef>
          <a:fillRef idx="1">
            <a:schemeClr val="lt1"/>
          </a:fillRef>
          <a:effectRef idx="0">
            <a:schemeClr val="dk1"/>
          </a:effectRef>
          <a:fontRef idx="minor">
            <a:schemeClr val="dk1"/>
          </a:fontRef>
        </p:style>
        <p:txBody>
          <a:bodyPr rtlCol="0" anchor="ctr"/>
          <a:lstStyle/>
          <a:p>
            <a:pPr algn="ctr">
              <a:defRPr/>
            </a:pPr>
            <a:r>
              <a:rPr lang="ru-RU"/>
              <a:t>Сохраненный </a:t>
            </a:r>
            <a:r>
              <a:rPr lang="en-US"/>
              <a:t>RBP</a:t>
            </a:r>
            <a:endParaRPr/>
          </a:p>
        </p:txBody>
      </p:sp>
      <p:sp>
        <p:nvSpPr>
          <p:cNvPr id="580216546" name="Прямоугольник 31"/>
          <p:cNvSpPr/>
          <p:nvPr/>
        </p:nvSpPr>
        <p:spPr bwMode="auto">
          <a:xfrm>
            <a:off x="7399094" y="4732545"/>
            <a:ext cx="2880000" cy="360000"/>
          </a:xfrm>
          <a:prstGeom prst="rect">
            <a:avLst/>
          </a:prstGeom>
          <a:solidFill>
            <a:schemeClr val="accent2">
              <a:lumMod val="75000"/>
            </a:schemeClr>
          </a:solidFill>
        </p:spPr>
        <p:style>
          <a:lnRef idx="2">
            <a:schemeClr val="dk1"/>
          </a:lnRef>
          <a:fillRef idx="1">
            <a:schemeClr val="lt1"/>
          </a:fillRef>
          <a:effectRef idx="0">
            <a:schemeClr val="dk1"/>
          </a:effectRef>
          <a:fontRef idx="minor">
            <a:schemeClr val="dk1"/>
          </a:fontRef>
        </p:style>
        <p:txBody>
          <a:bodyPr rtlCol="0" anchor="ctr"/>
          <a:lstStyle/>
          <a:p>
            <a:pPr algn="ctr">
              <a:defRPr/>
            </a:pPr>
            <a:r>
              <a:rPr lang="ru-RU"/>
              <a:t>Адрес возврата</a:t>
            </a:r>
            <a:endParaRPr lang="en-US"/>
          </a:p>
        </p:txBody>
      </p:sp>
      <p:sp>
        <p:nvSpPr>
          <p:cNvPr id="1882070023" name="Прямоугольник 32"/>
          <p:cNvSpPr/>
          <p:nvPr/>
        </p:nvSpPr>
        <p:spPr bwMode="auto">
          <a:xfrm>
            <a:off x="1808785" y="5861312"/>
            <a:ext cx="360000" cy="399032"/>
          </a:xfrm>
          <a:prstGeom prst="rect">
            <a:avLst/>
          </a:prstGeom>
          <a:solidFill>
            <a:srgbClr val="C00000"/>
          </a:solidFill>
        </p:spPr>
        <p:style>
          <a:lnRef idx="2">
            <a:schemeClr val="dk1"/>
          </a:lnRef>
          <a:fillRef idx="1">
            <a:schemeClr val="lt1"/>
          </a:fillRef>
          <a:effectRef idx="0">
            <a:schemeClr val="dk1"/>
          </a:effectRef>
          <a:fontRef idx="minor">
            <a:schemeClr val="dk1"/>
          </a:fontRef>
        </p:style>
        <p:txBody>
          <a:bodyPr rtlCol="0" anchor="ctr"/>
          <a:lstStyle/>
          <a:p>
            <a:pPr algn="ctr">
              <a:defRPr/>
            </a:pPr>
            <a:r>
              <a:rPr lang="en-US"/>
              <a:t>y</a:t>
            </a:r>
            <a:endParaRPr/>
          </a:p>
        </p:txBody>
      </p:sp>
      <p:cxnSp>
        <p:nvCxnSpPr>
          <p:cNvPr id="1517139399" name="Прямая со стрелкой 34"/>
          <p:cNvCxnSpPr/>
          <p:nvPr/>
        </p:nvCxnSpPr>
        <p:spPr bwMode="auto">
          <a:xfrm>
            <a:off x="5493327" y="5851607"/>
            <a:ext cx="114992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488369923" name="Заголовок 1"/>
          <p:cNvSpPr>
            <a:spLocks noGrp="1"/>
          </p:cNvSpPr>
          <p:nvPr>
            <p:ph type="title"/>
          </p:nvPr>
        </p:nvSpPr>
        <p:spPr bwMode="auto"/>
        <p:txBody>
          <a:bodyPr/>
          <a:lstStyle/>
          <a:p>
            <a:pPr>
              <a:defRPr/>
            </a:pPr>
            <a:r>
              <a:rPr lang="ru-RU"/>
              <a:t>Выравнивание</a:t>
            </a:r>
            <a:endParaRPr lang="en-US"/>
          </a:p>
        </p:txBody>
      </p:sp>
      <p:sp>
        <p:nvSpPr>
          <p:cNvPr id="1633830223" name="Объект 2"/>
          <p:cNvSpPr>
            <a:spLocks noGrp="1"/>
          </p:cNvSpPr>
          <p:nvPr>
            <p:ph idx="1"/>
          </p:nvPr>
        </p:nvSpPr>
        <p:spPr bwMode="auto">
          <a:xfrm>
            <a:off x="838201" y="1825625"/>
            <a:ext cx="6456060" cy="4351338"/>
          </a:xfrm>
        </p:spPr>
        <p:txBody>
          <a:bodyPr>
            <a:normAutofit/>
          </a:bodyPr>
          <a:lstStyle/>
          <a:p>
            <a:pPr marL="0" indent="0">
              <a:buNone/>
              <a:defRPr/>
            </a:pPr>
            <a:r>
              <a:rPr lang="ru-RU" sz="2000"/>
              <a:t>Переменные и поля базовых  типов выравниваются по своему размеру.</a:t>
            </a:r>
            <a:endParaRPr lang="en-US" sz="2000"/>
          </a:p>
          <a:p>
            <a:pPr marL="0" indent="0">
              <a:buNone/>
              <a:defRPr/>
            </a:pPr>
            <a:r>
              <a:rPr lang="ru-RU" sz="2000"/>
              <a:t>Структуры выравниваются так, чтобы доступ к ее полям был выровненным (выравнивание структуры равно максимальному выравниванию среди ее полей).</a:t>
            </a:r>
            <a:endParaRPr/>
          </a:p>
          <a:p>
            <a:pPr marL="0" indent="0">
              <a:buNone/>
              <a:defRPr/>
            </a:pPr>
            <a:r>
              <a:rPr lang="ru-RU" sz="2000"/>
              <a:t>Чтобы узнать выравнивание типа или поля, можно использовать ключевое слово </a:t>
            </a:r>
            <a:r>
              <a:rPr lang="en-US" sz="2000" b="1"/>
              <a:t>alignof</a:t>
            </a:r>
            <a:r>
              <a:rPr lang="en-US" sz="2000"/>
              <a:t>.</a:t>
            </a:r>
            <a:endParaRPr lang="ru-RU" sz="2000"/>
          </a:p>
          <a:p>
            <a:pPr marL="0" indent="0">
              <a:buNone/>
              <a:defRPr/>
            </a:pPr>
            <a:r>
              <a:rPr lang="ru-RU" sz="2000"/>
              <a:t>Существует специальное ключевое слово </a:t>
            </a:r>
            <a:r>
              <a:rPr lang="en-US" sz="2000" b="1"/>
              <a:t>alignas</a:t>
            </a:r>
            <a:r>
              <a:rPr lang="en-US" sz="2000"/>
              <a:t>, </a:t>
            </a:r>
            <a:r>
              <a:rPr lang="ru-RU" sz="2000"/>
              <a:t>позволяющее вручную </a:t>
            </a:r>
            <a:r>
              <a:rPr lang="ru-RU" sz="2000" i="1"/>
              <a:t>увеличить </a:t>
            </a:r>
            <a:r>
              <a:rPr lang="ru-RU" sz="2000"/>
              <a:t>выравнивание поля или структуры в целом.</a:t>
            </a:r>
            <a:endParaRPr lang="en-US" sz="2000"/>
          </a:p>
        </p:txBody>
      </p:sp>
      <p:sp>
        <p:nvSpPr>
          <p:cNvPr id="565090824" name="Номер слайда 4"/>
          <p:cNvSpPr>
            <a:spLocks noGrp="1"/>
          </p:cNvSpPr>
          <p:nvPr>
            <p:ph type="sldNum" sz="quarter" idx="12"/>
          </p:nvPr>
        </p:nvSpPr>
        <p:spPr bwMode="auto"/>
        <p:txBody>
          <a:bodyPr/>
          <a:lstStyle/>
          <a:p>
            <a:pPr>
              <a:defRPr/>
            </a:pPr>
            <a:fld id="{B67FBA2B-964F-4C4D-AAF7-5A8399264638}" type="slidenum">
              <a:rPr lang="en-US"/>
              <a:t>21</a:t>
            </a:fld>
            <a:endParaRPr lang="en-US"/>
          </a:p>
        </p:txBody>
      </p:sp>
      <p:sp>
        <p:nvSpPr>
          <p:cNvPr id="1096921587" name="TextBox 20"/>
          <p:cNvSpPr txBox="1"/>
          <p:nvPr/>
        </p:nvSpPr>
        <p:spPr bwMode="auto">
          <a:xfrm>
            <a:off x="7455575" y="1640959"/>
            <a:ext cx="3015932" cy="369332"/>
          </a:xfrm>
          <a:prstGeom prst="rect">
            <a:avLst/>
          </a:prstGeom>
          <a:noFill/>
        </p:spPr>
        <p:txBody>
          <a:bodyPr wrap="square">
            <a:spAutoFit/>
          </a:bodyPr>
          <a:lstStyle/>
          <a:p>
            <a:pPr>
              <a:defRPr/>
            </a:pPr>
            <a:r>
              <a:rPr lang="en-US">
                <a:latin typeface="Consolas, "/>
              </a:rPr>
              <a:t>std::cout &lt;&lt;</a:t>
            </a:r>
            <a:r>
              <a:rPr lang="en-US">
                <a:solidFill>
                  <a:srgbClr val="0000FF"/>
                </a:solidFill>
                <a:latin typeface="Consolas, "/>
              </a:rPr>
              <a:t> sizeof</a:t>
            </a:r>
            <a:r>
              <a:rPr lang="en-US">
                <a:solidFill>
                  <a:srgbClr val="000000"/>
                </a:solidFill>
                <a:latin typeface="Consolas, "/>
              </a:rPr>
              <a:t>(A)</a:t>
            </a:r>
            <a:endParaRPr/>
          </a:p>
        </p:txBody>
      </p:sp>
      <p:sp>
        <p:nvSpPr>
          <p:cNvPr id="771322230" name="TextBox 21"/>
          <p:cNvSpPr txBox="1"/>
          <p:nvPr/>
        </p:nvSpPr>
        <p:spPr bwMode="auto">
          <a:xfrm>
            <a:off x="7455574" y="1866319"/>
            <a:ext cx="3015932" cy="369332"/>
          </a:xfrm>
          <a:prstGeom prst="rect">
            <a:avLst/>
          </a:prstGeom>
          <a:noFill/>
        </p:spPr>
        <p:txBody>
          <a:bodyPr wrap="square">
            <a:spAutoFit/>
          </a:bodyPr>
          <a:lstStyle/>
          <a:p>
            <a:pPr>
              <a:defRPr/>
            </a:pPr>
            <a:r>
              <a:rPr lang="en-US" b="1">
                <a:solidFill>
                  <a:srgbClr val="000000"/>
                </a:solidFill>
                <a:latin typeface="Consolas, "/>
              </a:rPr>
              <a:t>Output: </a:t>
            </a:r>
            <a:r>
              <a:rPr lang="ru-RU" b="1">
                <a:solidFill>
                  <a:srgbClr val="000000"/>
                </a:solidFill>
                <a:latin typeface="Consolas, "/>
              </a:rPr>
              <a:t>16</a:t>
            </a:r>
            <a:endParaRPr lang="en-US" b="1">
              <a:solidFill>
                <a:srgbClr val="000000"/>
              </a:solidFill>
              <a:latin typeface="Consolas, "/>
            </a:endParaRPr>
          </a:p>
        </p:txBody>
      </p:sp>
      <p:sp>
        <p:nvSpPr>
          <p:cNvPr id="20721206" name="TextBox 22"/>
          <p:cNvSpPr txBox="1"/>
          <p:nvPr/>
        </p:nvSpPr>
        <p:spPr bwMode="auto">
          <a:xfrm>
            <a:off x="7455575" y="2495443"/>
            <a:ext cx="3175194" cy="369332"/>
          </a:xfrm>
          <a:prstGeom prst="rect">
            <a:avLst/>
          </a:prstGeom>
          <a:noFill/>
        </p:spPr>
        <p:txBody>
          <a:bodyPr wrap="square">
            <a:spAutoFit/>
          </a:bodyPr>
          <a:lstStyle/>
          <a:p>
            <a:pPr>
              <a:defRPr/>
            </a:pPr>
            <a:r>
              <a:rPr lang="en-US">
                <a:latin typeface="Consolas, "/>
              </a:rPr>
              <a:t>std::cout &lt;&lt;</a:t>
            </a:r>
            <a:r>
              <a:rPr lang="en-US">
                <a:solidFill>
                  <a:srgbClr val="0000FF"/>
                </a:solidFill>
                <a:latin typeface="Consolas, "/>
              </a:rPr>
              <a:t> alignof</a:t>
            </a:r>
            <a:r>
              <a:rPr lang="en-US">
                <a:solidFill>
                  <a:srgbClr val="000000"/>
                </a:solidFill>
                <a:latin typeface="Consolas, "/>
              </a:rPr>
              <a:t>(A)</a:t>
            </a:r>
            <a:endParaRPr/>
          </a:p>
        </p:txBody>
      </p:sp>
      <p:sp>
        <p:nvSpPr>
          <p:cNvPr id="1231736069" name="TextBox 23"/>
          <p:cNvSpPr txBox="1"/>
          <p:nvPr/>
        </p:nvSpPr>
        <p:spPr bwMode="auto">
          <a:xfrm>
            <a:off x="7455573" y="2712760"/>
            <a:ext cx="3015932" cy="369332"/>
          </a:xfrm>
          <a:prstGeom prst="rect">
            <a:avLst/>
          </a:prstGeom>
          <a:noFill/>
        </p:spPr>
        <p:txBody>
          <a:bodyPr wrap="square">
            <a:spAutoFit/>
          </a:bodyPr>
          <a:lstStyle/>
          <a:p>
            <a:pPr>
              <a:defRPr/>
            </a:pPr>
            <a:r>
              <a:rPr lang="en-US" b="1">
                <a:solidFill>
                  <a:srgbClr val="000000"/>
                </a:solidFill>
                <a:latin typeface="Consolas, "/>
              </a:rPr>
              <a:t>Output: 8</a:t>
            </a:r>
          </a:p>
        </p:txBody>
      </p:sp>
      <p:sp>
        <p:nvSpPr>
          <p:cNvPr id="1436826610" name="TextBox 24"/>
          <p:cNvSpPr txBox="1"/>
          <p:nvPr/>
        </p:nvSpPr>
        <p:spPr bwMode="auto">
          <a:xfrm>
            <a:off x="7455575" y="3270868"/>
            <a:ext cx="3656826" cy="369332"/>
          </a:xfrm>
          <a:prstGeom prst="rect">
            <a:avLst/>
          </a:prstGeom>
          <a:noFill/>
        </p:spPr>
        <p:txBody>
          <a:bodyPr wrap="square">
            <a:spAutoFit/>
          </a:bodyPr>
          <a:lstStyle/>
          <a:p>
            <a:pPr>
              <a:defRPr/>
            </a:pPr>
            <a:r>
              <a:rPr lang="en-US">
                <a:latin typeface="Consolas, "/>
              </a:rPr>
              <a:t>std::cout &lt;&lt;</a:t>
            </a:r>
            <a:r>
              <a:rPr lang="en-US">
                <a:solidFill>
                  <a:srgbClr val="0000FF"/>
                </a:solidFill>
                <a:latin typeface="Consolas, "/>
              </a:rPr>
              <a:t> alignof</a:t>
            </a:r>
            <a:r>
              <a:rPr lang="en-US">
                <a:solidFill>
                  <a:srgbClr val="000000"/>
                </a:solidFill>
                <a:latin typeface="Consolas, "/>
              </a:rPr>
              <a:t>(A::x)</a:t>
            </a:r>
            <a:endParaRPr/>
          </a:p>
        </p:txBody>
      </p:sp>
      <p:sp>
        <p:nvSpPr>
          <p:cNvPr id="2008612363" name="TextBox 25"/>
          <p:cNvSpPr txBox="1"/>
          <p:nvPr/>
        </p:nvSpPr>
        <p:spPr bwMode="auto">
          <a:xfrm>
            <a:off x="7455573" y="3488185"/>
            <a:ext cx="3015932" cy="369332"/>
          </a:xfrm>
          <a:prstGeom prst="rect">
            <a:avLst/>
          </a:prstGeom>
          <a:noFill/>
        </p:spPr>
        <p:txBody>
          <a:bodyPr wrap="square">
            <a:spAutoFit/>
          </a:bodyPr>
          <a:lstStyle/>
          <a:p>
            <a:pPr>
              <a:defRPr/>
            </a:pPr>
            <a:r>
              <a:rPr lang="en-US" b="1">
                <a:solidFill>
                  <a:srgbClr val="000000"/>
                </a:solidFill>
                <a:latin typeface="Consolas, "/>
              </a:rPr>
              <a:t>Output: 1</a:t>
            </a:r>
          </a:p>
        </p:txBody>
      </p:sp>
      <p:sp>
        <p:nvSpPr>
          <p:cNvPr id="1311788636" name="TextBox 12"/>
          <p:cNvSpPr txBox="1"/>
          <p:nvPr/>
        </p:nvSpPr>
        <p:spPr bwMode="auto">
          <a:xfrm>
            <a:off x="7455573" y="339868"/>
            <a:ext cx="2730983" cy="1754326"/>
          </a:xfrm>
          <a:prstGeom prst="rect">
            <a:avLst/>
          </a:prstGeom>
          <a:noFill/>
        </p:spPr>
        <p:txBody>
          <a:bodyPr wrap="square">
            <a:spAutoFit/>
          </a:bodyPr>
          <a:lstStyle/>
          <a:p>
            <a:pPr>
              <a:defRPr/>
            </a:pPr>
            <a:r>
              <a:rPr lang="en-US">
                <a:solidFill>
                  <a:srgbClr val="0000FF"/>
                </a:solidFill>
                <a:latin typeface="Consolas, "/>
              </a:rPr>
              <a:t>struct</a:t>
            </a:r>
            <a:r>
              <a:rPr lang="en-US">
                <a:solidFill>
                  <a:srgbClr val="000000"/>
                </a:solidFill>
                <a:latin typeface="Consolas, "/>
              </a:rPr>
              <a:t> A{</a:t>
            </a:r>
            <a:endParaRPr/>
          </a:p>
          <a:p>
            <a:pPr>
              <a:defRPr/>
            </a:pPr>
            <a:r>
              <a:rPr lang="en-US">
                <a:solidFill>
                  <a:srgbClr val="000000"/>
                </a:solidFill>
                <a:latin typeface="Consolas, "/>
              </a:rPr>
              <a:t>    </a:t>
            </a:r>
            <a:r>
              <a:rPr lang="en-US">
                <a:solidFill>
                  <a:srgbClr val="0000FF"/>
                </a:solidFill>
                <a:latin typeface="Consolas, "/>
              </a:rPr>
              <a:t>char</a:t>
            </a:r>
            <a:r>
              <a:rPr lang="en-US">
                <a:solidFill>
                  <a:srgbClr val="000000"/>
                </a:solidFill>
                <a:latin typeface="Consolas, "/>
              </a:rPr>
              <a:t> x;</a:t>
            </a:r>
            <a:endParaRPr/>
          </a:p>
          <a:p>
            <a:pPr>
              <a:defRPr/>
            </a:pPr>
            <a:r>
              <a:rPr lang="en-US">
                <a:solidFill>
                  <a:srgbClr val="000000"/>
                </a:solidFill>
                <a:latin typeface="Consolas, "/>
              </a:rPr>
              <a:t>    </a:t>
            </a:r>
            <a:r>
              <a:rPr lang="en-US">
                <a:solidFill>
                  <a:srgbClr val="0000FF"/>
                </a:solidFill>
                <a:latin typeface="Consolas, "/>
              </a:rPr>
              <a:t>long</a:t>
            </a:r>
            <a:r>
              <a:rPr lang="en-US">
                <a:solidFill>
                  <a:srgbClr val="000000"/>
                </a:solidFill>
                <a:latin typeface="Consolas, "/>
              </a:rPr>
              <a:t> </a:t>
            </a:r>
            <a:r>
              <a:rPr lang="en-US">
                <a:solidFill>
                  <a:srgbClr val="0000FF"/>
                </a:solidFill>
                <a:latin typeface="Consolas, "/>
              </a:rPr>
              <a:t>long</a:t>
            </a:r>
            <a:r>
              <a:rPr lang="en-US">
                <a:solidFill>
                  <a:srgbClr val="000000"/>
                </a:solidFill>
                <a:latin typeface="Consolas, "/>
              </a:rPr>
              <a:t> y;</a:t>
            </a:r>
            <a:endParaRPr/>
          </a:p>
          <a:p>
            <a:pPr>
              <a:defRPr/>
            </a:pPr>
            <a:r>
              <a:rPr lang="en-US">
                <a:solidFill>
                  <a:srgbClr val="000000"/>
                </a:solidFill>
                <a:latin typeface="Consolas, "/>
              </a:rPr>
              <a:t>};</a:t>
            </a:r>
            <a:endParaRPr/>
          </a:p>
          <a:p>
            <a:pPr>
              <a:defRPr/>
            </a:pPr>
            <a:br>
              <a:rPr lang="en-US">
                <a:solidFill>
                  <a:srgbClr val="000000"/>
                </a:solidFill>
                <a:latin typeface="Consolas, "/>
              </a:rPr>
            </a:br>
            <a:endParaRPr lang="en-US">
              <a:solidFill>
                <a:srgbClr val="000000"/>
              </a:solidFill>
              <a:latin typeface="Consolas, "/>
            </a:endParaRPr>
          </a:p>
        </p:txBody>
      </p:sp>
      <p:sp>
        <p:nvSpPr>
          <p:cNvPr id="2088351131" name="TextBox 13"/>
          <p:cNvSpPr txBox="1"/>
          <p:nvPr/>
        </p:nvSpPr>
        <p:spPr bwMode="auto">
          <a:xfrm>
            <a:off x="7455575" y="3971409"/>
            <a:ext cx="3656826" cy="369332"/>
          </a:xfrm>
          <a:prstGeom prst="rect">
            <a:avLst/>
          </a:prstGeom>
          <a:noFill/>
        </p:spPr>
        <p:txBody>
          <a:bodyPr wrap="square">
            <a:spAutoFit/>
          </a:bodyPr>
          <a:lstStyle/>
          <a:p>
            <a:pPr>
              <a:defRPr/>
            </a:pPr>
            <a:r>
              <a:rPr lang="en-US">
                <a:latin typeface="Consolas, "/>
              </a:rPr>
              <a:t>std::cout &lt;&lt;</a:t>
            </a:r>
            <a:r>
              <a:rPr lang="en-US">
                <a:solidFill>
                  <a:srgbClr val="0000FF"/>
                </a:solidFill>
                <a:latin typeface="Consolas, "/>
              </a:rPr>
              <a:t> alignof</a:t>
            </a:r>
            <a:r>
              <a:rPr lang="en-US">
                <a:solidFill>
                  <a:srgbClr val="000000"/>
                </a:solidFill>
                <a:latin typeface="Consolas, "/>
              </a:rPr>
              <a:t>(char)</a:t>
            </a:r>
            <a:endParaRPr/>
          </a:p>
        </p:txBody>
      </p:sp>
      <p:sp>
        <p:nvSpPr>
          <p:cNvPr id="2037068231" name="TextBox 14"/>
          <p:cNvSpPr txBox="1"/>
          <p:nvPr/>
        </p:nvSpPr>
        <p:spPr bwMode="auto">
          <a:xfrm>
            <a:off x="7455573" y="4188726"/>
            <a:ext cx="3015932" cy="369332"/>
          </a:xfrm>
          <a:prstGeom prst="rect">
            <a:avLst/>
          </a:prstGeom>
          <a:noFill/>
        </p:spPr>
        <p:txBody>
          <a:bodyPr wrap="square">
            <a:spAutoFit/>
          </a:bodyPr>
          <a:lstStyle/>
          <a:p>
            <a:pPr>
              <a:defRPr/>
            </a:pPr>
            <a:r>
              <a:rPr lang="en-US" b="1">
                <a:solidFill>
                  <a:srgbClr val="000000"/>
                </a:solidFill>
                <a:latin typeface="Consolas, "/>
              </a:rPr>
              <a:t>Output: 1</a:t>
            </a:r>
          </a:p>
        </p:txBody>
      </p:sp>
      <p:sp>
        <p:nvSpPr>
          <p:cNvPr id="1829867067" name="TextBox 15"/>
          <p:cNvSpPr txBox="1"/>
          <p:nvPr/>
        </p:nvSpPr>
        <p:spPr bwMode="auto">
          <a:xfrm>
            <a:off x="7455575" y="4707327"/>
            <a:ext cx="3656826" cy="369332"/>
          </a:xfrm>
          <a:prstGeom prst="rect">
            <a:avLst/>
          </a:prstGeom>
          <a:noFill/>
        </p:spPr>
        <p:txBody>
          <a:bodyPr wrap="square">
            <a:spAutoFit/>
          </a:bodyPr>
          <a:lstStyle/>
          <a:p>
            <a:pPr>
              <a:defRPr/>
            </a:pPr>
            <a:r>
              <a:rPr lang="en-US">
                <a:latin typeface="Consolas, "/>
              </a:rPr>
              <a:t>std::cout &lt;&lt;</a:t>
            </a:r>
            <a:r>
              <a:rPr lang="en-US">
                <a:solidFill>
                  <a:srgbClr val="0000FF"/>
                </a:solidFill>
                <a:latin typeface="Consolas, "/>
              </a:rPr>
              <a:t> alignof</a:t>
            </a:r>
            <a:r>
              <a:rPr lang="en-US">
                <a:solidFill>
                  <a:srgbClr val="000000"/>
                </a:solidFill>
                <a:latin typeface="Consolas, "/>
              </a:rPr>
              <a:t>(int)</a:t>
            </a:r>
            <a:endParaRPr/>
          </a:p>
        </p:txBody>
      </p:sp>
      <p:sp>
        <p:nvSpPr>
          <p:cNvPr id="1487659579" name="TextBox 16"/>
          <p:cNvSpPr txBox="1"/>
          <p:nvPr/>
        </p:nvSpPr>
        <p:spPr bwMode="auto">
          <a:xfrm>
            <a:off x="7455573" y="4924644"/>
            <a:ext cx="3015932" cy="369332"/>
          </a:xfrm>
          <a:prstGeom prst="rect">
            <a:avLst/>
          </a:prstGeom>
          <a:noFill/>
        </p:spPr>
        <p:txBody>
          <a:bodyPr wrap="square">
            <a:spAutoFit/>
          </a:bodyPr>
          <a:lstStyle/>
          <a:p>
            <a:pPr>
              <a:defRPr/>
            </a:pPr>
            <a:r>
              <a:rPr lang="en-US" b="1">
                <a:solidFill>
                  <a:srgbClr val="000000"/>
                </a:solidFill>
                <a:latin typeface="Consolas, "/>
              </a:rPr>
              <a:t>Output: 4</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4647329" name="Прямоугольник 90"/>
          <p:cNvSpPr/>
          <p:nvPr/>
        </p:nvSpPr>
        <p:spPr bwMode="auto">
          <a:xfrm>
            <a:off x="9136112" y="3917978"/>
            <a:ext cx="360000" cy="360000"/>
          </a:xfrm>
          <a:prstGeom prst="rect">
            <a:avLst/>
          </a:prstGeom>
          <a:solidFill>
            <a:schemeClr val="accent6">
              <a:lumMod val="60000"/>
              <a:lumOff val="40000"/>
            </a:schemeClr>
          </a:solidFill>
        </p:spPr>
        <p:style>
          <a:lnRef idx="2">
            <a:schemeClr val="dk1"/>
          </a:lnRef>
          <a:fillRef idx="1">
            <a:schemeClr val="lt1"/>
          </a:fillRef>
          <a:effectRef idx="0">
            <a:schemeClr val="dk1"/>
          </a:effectRef>
          <a:fontRef idx="minor">
            <a:schemeClr val="dk1"/>
          </a:fontRef>
        </p:style>
        <p:txBody>
          <a:bodyPr rtlCol="0" anchor="ctr"/>
          <a:lstStyle/>
          <a:p>
            <a:pPr algn="ctr">
              <a:defRPr/>
            </a:pPr>
            <a:r>
              <a:rPr lang="ru-RU"/>
              <a:t>с</a:t>
            </a:r>
            <a:endParaRPr lang="en-US"/>
          </a:p>
        </p:txBody>
      </p:sp>
      <p:sp>
        <p:nvSpPr>
          <p:cNvPr id="76518758" name="Прямоугольник 91"/>
          <p:cNvSpPr/>
          <p:nvPr/>
        </p:nvSpPr>
        <p:spPr bwMode="auto">
          <a:xfrm>
            <a:off x="10577584" y="2844200"/>
            <a:ext cx="1440000" cy="360000"/>
          </a:xfrm>
          <a:prstGeom prst="rect">
            <a:avLst/>
          </a:prstGeom>
          <a:solidFill>
            <a:schemeClr val="accent6">
              <a:lumMod val="60000"/>
              <a:lumOff val="40000"/>
            </a:schemeClr>
          </a:solidFill>
        </p:spPr>
        <p:style>
          <a:lnRef idx="2">
            <a:schemeClr val="dk1"/>
          </a:lnRef>
          <a:fillRef idx="1">
            <a:schemeClr val="lt1"/>
          </a:fillRef>
          <a:effectRef idx="0">
            <a:schemeClr val="dk1"/>
          </a:effectRef>
          <a:fontRef idx="minor">
            <a:schemeClr val="dk1"/>
          </a:fontRef>
        </p:style>
        <p:txBody>
          <a:bodyPr rtlCol="0" anchor="ctr"/>
          <a:lstStyle/>
          <a:p>
            <a:pPr algn="ctr">
              <a:defRPr/>
            </a:pPr>
            <a:r>
              <a:rPr lang="en-US"/>
              <a:t>j</a:t>
            </a:r>
            <a:endParaRPr/>
          </a:p>
        </p:txBody>
      </p:sp>
      <p:sp>
        <p:nvSpPr>
          <p:cNvPr id="1764402333" name="Прямоугольник 96"/>
          <p:cNvSpPr/>
          <p:nvPr/>
        </p:nvSpPr>
        <p:spPr bwMode="auto">
          <a:xfrm>
            <a:off x="9492856" y="3919731"/>
            <a:ext cx="720000" cy="360000"/>
          </a:xfrm>
          <a:prstGeom prst="rect">
            <a:avLst/>
          </a:prstGeom>
          <a:solidFill>
            <a:schemeClr val="accent6">
              <a:lumMod val="60000"/>
              <a:lumOff val="40000"/>
            </a:schemeClr>
          </a:solidFill>
        </p:spPr>
        <p:style>
          <a:lnRef idx="2">
            <a:schemeClr val="dk1"/>
          </a:lnRef>
          <a:fillRef idx="1">
            <a:schemeClr val="lt1"/>
          </a:fillRef>
          <a:effectRef idx="0">
            <a:schemeClr val="dk1"/>
          </a:effectRef>
          <a:fontRef idx="minor">
            <a:schemeClr val="dk1"/>
          </a:fontRef>
        </p:style>
        <p:txBody>
          <a:bodyPr rtlCol="0" anchor="ctr"/>
          <a:lstStyle/>
          <a:p>
            <a:pPr algn="ctr">
              <a:defRPr/>
            </a:pPr>
            <a:r>
              <a:rPr lang="en-US"/>
              <a:t>s</a:t>
            </a:r>
            <a:endParaRPr/>
          </a:p>
        </p:txBody>
      </p:sp>
      <p:sp>
        <p:nvSpPr>
          <p:cNvPr id="655454021" name="Заголовок 1"/>
          <p:cNvSpPr>
            <a:spLocks noGrp="1"/>
          </p:cNvSpPr>
          <p:nvPr>
            <p:ph type="title"/>
          </p:nvPr>
        </p:nvSpPr>
        <p:spPr bwMode="auto"/>
        <p:txBody>
          <a:bodyPr/>
          <a:lstStyle/>
          <a:p>
            <a:pPr>
              <a:defRPr/>
            </a:pPr>
            <a:r>
              <a:rPr lang="ru-RU"/>
              <a:t>Переупорядочивание переменных</a:t>
            </a:r>
            <a:endParaRPr lang="en-US"/>
          </a:p>
        </p:txBody>
      </p:sp>
      <p:sp>
        <p:nvSpPr>
          <p:cNvPr id="753912024" name="Номер слайда 4"/>
          <p:cNvSpPr>
            <a:spLocks noGrp="1"/>
          </p:cNvSpPr>
          <p:nvPr>
            <p:ph type="sldNum" sz="quarter" idx="12"/>
          </p:nvPr>
        </p:nvSpPr>
        <p:spPr bwMode="auto"/>
        <p:txBody>
          <a:bodyPr/>
          <a:lstStyle/>
          <a:p>
            <a:pPr>
              <a:defRPr/>
            </a:pPr>
            <a:fld id="{B67FBA2B-964F-4C4D-AAF7-5A8399264638}" type="slidenum">
              <a:rPr lang="en-US"/>
              <a:t>22</a:t>
            </a:fld>
            <a:endParaRPr lang="en-US"/>
          </a:p>
        </p:txBody>
      </p:sp>
      <p:sp>
        <p:nvSpPr>
          <p:cNvPr id="143132942" name="TextBox 77"/>
          <p:cNvSpPr txBox="1"/>
          <p:nvPr/>
        </p:nvSpPr>
        <p:spPr bwMode="auto">
          <a:xfrm>
            <a:off x="838200" y="2524532"/>
            <a:ext cx="3653333" cy="2308324"/>
          </a:xfrm>
          <a:prstGeom prst="rect">
            <a:avLst/>
          </a:prstGeom>
          <a:noFill/>
        </p:spPr>
        <p:txBody>
          <a:bodyPr wrap="square">
            <a:spAutoFit/>
          </a:bodyPr>
          <a:lstStyle/>
          <a:p>
            <a:pPr>
              <a:defRPr/>
            </a:pPr>
            <a:r>
              <a:rPr lang="en-US" b="0">
                <a:solidFill>
                  <a:srgbClr val="0000FF"/>
                </a:solidFill>
                <a:latin typeface="Consolas"/>
              </a:rPr>
              <a:t>void</a:t>
            </a:r>
            <a:r>
              <a:rPr lang="en-US" b="0">
                <a:solidFill>
                  <a:srgbClr val="000000"/>
                </a:solidFill>
                <a:latin typeface="Consolas"/>
              </a:rPr>
              <a:t> foo(){</a:t>
            </a:r>
            <a:endParaRPr/>
          </a:p>
          <a:p>
            <a:pPr>
              <a:defRPr/>
            </a:pPr>
            <a:r>
              <a:rPr lang="en-US" b="0">
                <a:solidFill>
                  <a:srgbClr val="000000"/>
                </a:solidFill>
                <a:latin typeface="Consolas"/>
              </a:rPr>
              <a:t>    </a:t>
            </a:r>
            <a:r>
              <a:rPr lang="en-US" b="0">
                <a:solidFill>
                  <a:srgbClr val="0000FF"/>
                </a:solidFill>
                <a:latin typeface="Consolas"/>
              </a:rPr>
              <a:t>char</a:t>
            </a:r>
            <a:r>
              <a:rPr lang="en-US" b="0">
                <a:solidFill>
                  <a:srgbClr val="000000"/>
                </a:solidFill>
                <a:latin typeface="Consolas"/>
              </a:rPr>
              <a:t> c;</a:t>
            </a:r>
            <a:endParaRPr/>
          </a:p>
          <a:p>
            <a:pPr>
              <a:defRPr/>
            </a:pPr>
            <a:r>
              <a:rPr lang="en-US" b="0">
                <a:solidFill>
                  <a:srgbClr val="000000"/>
                </a:solidFill>
                <a:latin typeface="Consolas"/>
              </a:rPr>
              <a:t>    </a:t>
            </a:r>
            <a:r>
              <a:rPr lang="en-US" b="0">
                <a:solidFill>
                  <a:srgbClr val="0000FF"/>
                </a:solidFill>
                <a:latin typeface="Consolas"/>
              </a:rPr>
              <a:t>int</a:t>
            </a:r>
            <a:r>
              <a:rPr lang="en-US" b="0">
                <a:solidFill>
                  <a:srgbClr val="000000"/>
                </a:solidFill>
                <a:latin typeface="Consolas"/>
              </a:rPr>
              <a:t> i, j;</a:t>
            </a:r>
            <a:br>
              <a:rPr lang="en-US" b="0">
                <a:solidFill>
                  <a:srgbClr val="000000"/>
                </a:solidFill>
                <a:latin typeface="Consolas"/>
              </a:rPr>
            </a:br>
            <a:r>
              <a:rPr lang="en-US" b="0">
                <a:solidFill>
                  <a:srgbClr val="000000"/>
                </a:solidFill>
                <a:latin typeface="Consolas"/>
              </a:rPr>
              <a:t>    </a:t>
            </a:r>
            <a:r>
              <a:rPr lang="en-US" b="0">
                <a:solidFill>
                  <a:srgbClr val="0000FF"/>
                </a:solidFill>
                <a:latin typeface="Consolas"/>
              </a:rPr>
              <a:t>short</a:t>
            </a:r>
            <a:r>
              <a:rPr lang="en-US" b="0">
                <a:solidFill>
                  <a:srgbClr val="000000"/>
                </a:solidFill>
                <a:latin typeface="Consolas"/>
              </a:rPr>
              <a:t> s;</a:t>
            </a:r>
            <a:endParaRPr/>
          </a:p>
          <a:p>
            <a:pPr>
              <a:defRPr/>
            </a:pPr>
            <a:r>
              <a:rPr lang="en-US" b="0">
                <a:solidFill>
                  <a:srgbClr val="000000"/>
                </a:solidFill>
                <a:latin typeface="Consolas"/>
              </a:rPr>
              <a:t>    </a:t>
            </a:r>
            <a:r>
              <a:rPr lang="en-US" b="0">
                <a:solidFill>
                  <a:srgbClr val="0000FF"/>
                </a:solidFill>
                <a:latin typeface="Consolas"/>
              </a:rPr>
              <a:t>long</a:t>
            </a:r>
            <a:r>
              <a:rPr lang="en-US" b="0">
                <a:solidFill>
                  <a:srgbClr val="000000"/>
                </a:solidFill>
                <a:latin typeface="Consolas"/>
              </a:rPr>
              <a:t> </a:t>
            </a:r>
            <a:r>
              <a:rPr lang="en-US" b="0">
                <a:solidFill>
                  <a:srgbClr val="0000FF"/>
                </a:solidFill>
                <a:latin typeface="Consolas"/>
              </a:rPr>
              <a:t>long</a:t>
            </a:r>
            <a:r>
              <a:rPr lang="en-US" b="0">
                <a:solidFill>
                  <a:srgbClr val="000000"/>
                </a:solidFill>
                <a:latin typeface="Consolas"/>
              </a:rPr>
              <a:t> ll;</a:t>
            </a:r>
            <a:endParaRPr/>
          </a:p>
          <a:p>
            <a:pPr>
              <a:defRPr/>
            </a:pPr>
            <a:r>
              <a:rPr lang="en-US" b="0">
                <a:solidFill>
                  <a:srgbClr val="000000"/>
                </a:solidFill>
                <a:latin typeface="Consolas"/>
              </a:rPr>
              <a:t>    </a:t>
            </a:r>
            <a:r>
              <a:rPr lang="en-US" b="0">
                <a:solidFill>
                  <a:srgbClr val="0000FF"/>
                </a:solidFill>
                <a:latin typeface="Consolas"/>
              </a:rPr>
              <a:t>double</a:t>
            </a:r>
            <a:r>
              <a:rPr lang="en-US" b="0">
                <a:solidFill>
                  <a:srgbClr val="000000"/>
                </a:solidFill>
                <a:latin typeface="Consolas"/>
              </a:rPr>
              <a:t> d;</a:t>
            </a:r>
            <a:endParaRPr lang="ru-RU" b="0">
              <a:solidFill>
                <a:srgbClr val="000000"/>
              </a:solidFill>
              <a:latin typeface="Consolas"/>
            </a:endParaRPr>
          </a:p>
          <a:p>
            <a:pPr>
              <a:defRPr/>
            </a:pPr>
            <a:r>
              <a:rPr lang="ru-RU" b="0">
                <a:solidFill>
                  <a:srgbClr val="000000"/>
                </a:solidFill>
                <a:latin typeface="Consolas"/>
              </a:rPr>
              <a:t>    …</a:t>
            </a:r>
            <a:endParaRPr lang="en-US" b="0">
              <a:solidFill>
                <a:srgbClr val="000000"/>
              </a:solidFill>
              <a:latin typeface="Consolas"/>
            </a:endParaRPr>
          </a:p>
          <a:p>
            <a:pPr>
              <a:defRPr/>
            </a:pPr>
            <a:r>
              <a:rPr lang="en-US" b="0">
                <a:solidFill>
                  <a:srgbClr val="000000"/>
                </a:solidFill>
                <a:latin typeface="Consolas"/>
              </a:rPr>
              <a:t>}</a:t>
            </a:r>
            <a:endParaRPr/>
          </a:p>
        </p:txBody>
      </p:sp>
      <p:cxnSp>
        <p:nvCxnSpPr>
          <p:cNvPr id="239754452" name="Прямая соединительная линия 79"/>
          <p:cNvCxnSpPr/>
          <p:nvPr/>
        </p:nvCxnSpPr>
        <p:spPr bwMode="auto">
          <a:xfrm flipV="1">
            <a:off x="9136112" y="1917030"/>
            <a:ext cx="0" cy="3600000"/>
          </a:xfrm>
          <a:prstGeom prst="line">
            <a:avLst/>
          </a:prstGeom>
        </p:spPr>
        <p:style>
          <a:lnRef idx="1">
            <a:schemeClr val="dk1"/>
          </a:lnRef>
          <a:fillRef idx="0">
            <a:schemeClr val="dk1"/>
          </a:fillRef>
          <a:effectRef idx="0">
            <a:schemeClr val="dk1"/>
          </a:effectRef>
          <a:fontRef idx="minor">
            <a:schemeClr val="tx1"/>
          </a:fontRef>
        </p:style>
      </p:cxnSp>
      <p:sp>
        <p:nvSpPr>
          <p:cNvPr id="731841885" name="Прямоугольник 88"/>
          <p:cNvSpPr/>
          <p:nvPr/>
        </p:nvSpPr>
        <p:spPr bwMode="auto">
          <a:xfrm>
            <a:off x="9137073" y="2489003"/>
            <a:ext cx="2880000" cy="360000"/>
          </a:xfrm>
          <a:prstGeom prst="rect">
            <a:avLst/>
          </a:prstGeom>
          <a:solidFill>
            <a:schemeClr val="accent2">
              <a:lumMod val="60000"/>
              <a:lumOff val="40000"/>
            </a:schemeClr>
          </a:solidFill>
        </p:spPr>
        <p:style>
          <a:lnRef idx="2">
            <a:schemeClr val="dk1"/>
          </a:lnRef>
          <a:fillRef idx="1">
            <a:schemeClr val="lt1"/>
          </a:fillRef>
          <a:effectRef idx="0">
            <a:schemeClr val="dk1"/>
          </a:effectRef>
          <a:fontRef idx="minor">
            <a:schemeClr val="dk1"/>
          </a:fontRef>
        </p:style>
        <p:txBody>
          <a:bodyPr rtlCol="0" anchor="ctr"/>
          <a:lstStyle/>
          <a:p>
            <a:pPr algn="ctr">
              <a:defRPr/>
            </a:pPr>
            <a:r>
              <a:rPr lang="ru-RU"/>
              <a:t>Сохраненный </a:t>
            </a:r>
            <a:r>
              <a:rPr lang="en-US"/>
              <a:t>RBP</a:t>
            </a:r>
            <a:endParaRPr/>
          </a:p>
        </p:txBody>
      </p:sp>
      <p:sp>
        <p:nvSpPr>
          <p:cNvPr id="268765754" name="Прямоугольник 89"/>
          <p:cNvSpPr/>
          <p:nvPr/>
        </p:nvSpPr>
        <p:spPr bwMode="auto">
          <a:xfrm>
            <a:off x="9136112" y="2128360"/>
            <a:ext cx="2880000" cy="360000"/>
          </a:xfrm>
          <a:prstGeom prst="rect">
            <a:avLst/>
          </a:prstGeom>
          <a:solidFill>
            <a:schemeClr val="accent2">
              <a:lumMod val="75000"/>
            </a:schemeClr>
          </a:solidFill>
        </p:spPr>
        <p:style>
          <a:lnRef idx="2">
            <a:schemeClr val="dk1"/>
          </a:lnRef>
          <a:fillRef idx="1">
            <a:schemeClr val="lt1"/>
          </a:fillRef>
          <a:effectRef idx="0">
            <a:schemeClr val="dk1"/>
          </a:effectRef>
          <a:fontRef idx="minor">
            <a:schemeClr val="dk1"/>
          </a:fontRef>
        </p:style>
        <p:txBody>
          <a:bodyPr rtlCol="0" anchor="ctr"/>
          <a:lstStyle/>
          <a:p>
            <a:pPr algn="ctr">
              <a:defRPr/>
            </a:pPr>
            <a:r>
              <a:rPr lang="ru-RU"/>
              <a:t>Адрес возврата</a:t>
            </a:r>
            <a:endParaRPr lang="en-US"/>
          </a:p>
        </p:txBody>
      </p:sp>
      <p:sp>
        <p:nvSpPr>
          <p:cNvPr id="1661018826" name="Прямоугольник 92"/>
          <p:cNvSpPr/>
          <p:nvPr/>
        </p:nvSpPr>
        <p:spPr bwMode="auto">
          <a:xfrm>
            <a:off x="9136112" y="2846376"/>
            <a:ext cx="1440000" cy="360000"/>
          </a:xfrm>
          <a:prstGeom prst="rect">
            <a:avLst/>
          </a:prstGeom>
          <a:solidFill>
            <a:schemeClr val="accent6">
              <a:lumMod val="60000"/>
              <a:lumOff val="40000"/>
            </a:schemeClr>
          </a:solidFill>
        </p:spPr>
        <p:style>
          <a:lnRef idx="2">
            <a:schemeClr val="dk1"/>
          </a:lnRef>
          <a:fillRef idx="1">
            <a:schemeClr val="lt1"/>
          </a:fillRef>
          <a:effectRef idx="0">
            <a:schemeClr val="dk1"/>
          </a:effectRef>
          <a:fontRef idx="minor">
            <a:schemeClr val="dk1"/>
          </a:fontRef>
        </p:style>
        <p:txBody>
          <a:bodyPr rtlCol="0" anchor="ctr"/>
          <a:lstStyle/>
          <a:p>
            <a:pPr algn="ctr">
              <a:defRPr/>
            </a:pPr>
            <a:r>
              <a:rPr lang="en-US"/>
              <a:t>i</a:t>
            </a:r>
          </a:p>
        </p:txBody>
      </p:sp>
      <p:sp>
        <p:nvSpPr>
          <p:cNvPr id="24330836" name="Прямоугольник 93"/>
          <p:cNvSpPr/>
          <p:nvPr/>
        </p:nvSpPr>
        <p:spPr bwMode="auto">
          <a:xfrm>
            <a:off x="9136112" y="3204100"/>
            <a:ext cx="2880000" cy="360000"/>
          </a:xfrm>
          <a:prstGeom prst="rect">
            <a:avLst/>
          </a:prstGeom>
          <a:solidFill>
            <a:schemeClr val="accent6">
              <a:lumMod val="60000"/>
              <a:lumOff val="40000"/>
            </a:schemeClr>
          </a:solidFill>
        </p:spPr>
        <p:style>
          <a:lnRef idx="2">
            <a:schemeClr val="dk1"/>
          </a:lnRef>
          <a:fillRef idx="1">
            <a:schemeClr val="lt1"/>
          </a:fillRef>
          <a:effectRef idx="0">
            <a:schemeClr val="dk1"/>
          </a:effectRef>
          <a:fontRef idx="minor">
            <a:schemeClr val="dk1"/>
          </a:fontRef>
        </p:style>
        <p:txBody>
          <a:bodyPr rtlCol="0" anchor="ctr"/>
          <a:lstStyle/>
          <a:p>
            <a:pPr algn="ctr">
              <a:defRPr/>
            </a:pPr>
            <a:r>
              <a:rPr lang="en-US"/>
              <a:t>ll</a:t>
            </a:r>
          </a:p>
        </p:txBody>
      </p:sp>
      <p:sp>
        <p:nvSpPr>
          <p:cNvPr id="684954560" name="Прямоугольник 94"/>
          <p:cNvSpPr/>
          <p:nvPr/>
        </p:nvSpPr>
        <p:spPr bwMode="auto">
          <a:xfrm>
            <a:off x="9136112" y="3561179"/>
            <a:ext cx="2880000" cy="360000"/>
          </a:xfrm>
          <a:prstGeom prst="rect">
            <a:avLst/>
          </a:prstGeom>
          <a:solidFill>
            <a:schemeClr val="accent6">
              <a:lumMod val="60000"/>
              <a:lumOff val="40000"/>
            </a:schemeClr>
          </a:solidFill>
        </p:spPr>
        <p:style>
          <a:lnRef idx="2">
            <a:schemeClr val="dk1"/>
          </a:lnRef>
          <a:fillRef idx="1">
            <a:schemeClr val="lt1"/>
          </a:fillRef>
          <a:effectRef idx="0">
            <a:schemeClr val="dk1"/>
          </a:effectRef>
          <a:fontRef idx="minor">
            <a:schemeClr val="dk1"/>
          </a:fontRef>
        </p:style>
        <p:txBody>
          <a:bodyPr rtlCol="0" anchor="ctr"/>
          <a:lstStyle/>
          <a:p>
            <a:pPr algn="ctr">
              <a:defRPr/>
            </a:pPr>
            <a:r>
              <a:rPr lang="en-US"/>
              <a:t>d</a:t>
            </a:r>
            <a:endParaRPr/>
          </a:p>
        </p:txBody>
      </p:sp>
      <p:cxnSp>
        <p:nvCxnSpPr>
          <p:cNvPr id="155871471" name="Прямая соединительная линия 95"/>
          <p:cNvCxnSpPr/>
          <p:nvPr/>
        </p:nvCxnSpPr>
        <p:spPr bwMode="auto">
          <a:xfrm flipV="1">
            <a:off x="12016112" y="1917030"/>
            <a:ext cx="0" cy="3600000"/>
          </a:xfrm>
          <a:prstGeom prst="line">
            <a:avLst/>
          </a:prstGeom>
        </p:spPr>
        <p:style>
          <a:lnRef idx="1">
            <a:schemeClr val="dk1"/>
          </a:lnRef>
          <a:fillRef idx="0">
            <a:schemeClr val="dk1"/>
          </a:fillRef>
          <a:effectRef idx="0">
            <a:schemeClr val="dk1"/>
          </a:effectRef>
          <a:fontRef idx="minor">
            <a:schemeClr val="tx1"/>
          </a:fontRef>
        </p:style>
      </p:cxnSp>
      <p:sp>
        <p:nvSpPr>
          <p:cNvPr id="1620124280" name="Прямоугольник 50"/>
          <p:cNvSpPr/>
          <p:nvPr/>
        </p:nvSpPr>
        <p:spPr bwMode="auto">
          <a:xfrm>
            <a:off x="4311003" y="2846376"/>
            <a:ext cx="360000" cy="360000"/>
          </a:xfrm>
          <a:prstGeom prst="rect">
            <a:avLst/>
          </a:prstGeom>
          <a:solidFill>
            <a:schemeClr val="accent6">
              <a:lumMod val="60000"/>
              <a:lumOff val="40000"/>
            </a:schemeClr>
          </a:solidFill>
        </p:spPr>
        <p:style>
          <a:lnRef idx="2">
            <a:schemeClr val="dk1"/>
          </a:lnRef>
          <a:fillRef idx="1">
            <a:schemeClr val="lt1"/>
          </a:fillRef>
          <a:effectRef idx="0">
            <a:schemeClr val="dk1"/>
          </a:effectRef>
          <a:fontRef idx="minor">
            <a:schemeClr val="dk1"/>
          </a:fontRef>
        </p:style>
        <p:txBody>
          <a:bodyPr rtlCol="0" anchor="ctr"/>
          <a:lstStyle/>
          <a:p>
            <a:pPr algn="ctr">
              <a:defRPr/>
            </a:pPr>
            <a:r>
              <a:rPr lang="ru-RU"/>
              <a:t>с</a:t>
            </a:r>
            <a:endParaRPr lang="en-US"/>
          </a:p>
        </p:txBody>
      </p:sp>
      <p:sp>
        <p:nvSpPr>
          <p:cNvPr id="1369186587" name="Прямоугольник 51"/>
          <p:cNvSpPr/>
          <p:nvPr/>
        </p:nvSpPr>
        <p:spPr bwMode="auto">
          <a:xfrm>
            <a:off x="4670426" y="2849306"/>
            <a:ext cx="1440000" cy="360000"/>
          </a:xfrm>
          <a:prstGeom prst="rect">
            <a:avLst/>
          </a:prstGeom>
          <a:solidFill>
            <a:schemeClr val="accent6">
              <a:lumMod val="60000"/>
              <a:lumOff val="40000"/>
            </a:schemeClr>
          </a:solidFill>
        </p:spPr>
        <p:style>
          <a:lnRef idx="2">
            <a:schemeClr val="dk1"/>
          </a:lnRef>
          <a:fillRef idx="1">
            <a:schemeClr val="lt1"/>
          </a:fillRef>
          <a:effectRef idx="0">
            <a:schemeClr val="dk1"/>
          </a:effectRef>
          <a:fontRef idx="minor">
            <a:schemeClr val="dk1"/>
          </a:fontRef>
        </p:style>
        <p:txBody>
          <a:bodyPr rtlCol="0" anchor="ctr"/>
          <a:lstStyle/>
          <a:p>
            <a:pPr algn="ctr">
              <a:defRPr/>
            </a:pPr>
            <a:r>
              <a:rPr lang="en-US"/>
              <a:t>i</a:t>
            </a:r>
          </a:p>
        </p:txBody>
      </p:sp>
      <p:sp>
        <p:nvSpPr>
          <p:cNvPr id="1489922805" name="Прямоугольник 52"/>
          <p:cNvSpPr/>
          <p:nvPr/>
        </p:nvSpPr>
        <p:spPr bwMode="auto">
          <a:xfrm>
            <a:off x="4669155" y="3206005"/>
            <a:ext cx="720000" cy="360000"/>
          </a:xfrm>
          <a:prstGeom prst="rect">
            <a:avLst/>
          </a:prstGeom>
          <a:solidFill>
            <a:schemeClr val="accent6">
              <a:lumMod val="60000"/>
              <a:lumOff val="40000"/>
            </a:schemeClr>
          </a:solidFill>
        </p:spPr>
        <p:style>
          <a:lnRef idx="2">
            <a:schemeClr val="dk1"/>
          </a:lnRef>
          <a:fillRef idx="1">
            <a:schemeClr val="lt1"/>
          </a:fillRef>
          <a:effectRef idx="0">
            <a:schemeClr val="dk1"/>
          </a:effectRef>
          <a:fontRef idx="minor">
            <a:schemeClr val="dk1"/>
          </a:fontRef>
        </p:style>
        <p:txBody>
          <a:bodyPr rtlCol="0" anchor="ctr"/>
          <a:lstStyle/>
          <a:p>
            <a:pPr algn="ctr">
              <a:defRPr/>
            </a:pPr>
            <a:r>
              <a:rPr lang="en-US"/>
              <a:t>s</a:t>
            </a:r>
            <a:endParaRPr/>
          </a:p>
        </p:txBody>
      </p:sp>
      <p:sp>
        <p:nvSpPr>
          <p:cNvPr id="326611279" name="Прямоугольник 53"/>
          <p:cNvSpPr/>
          <p:nvPr/>
        </p:nvSpPr>
        <p:spPr bwMode="auto">
          <a:xfrm>
            <a:off x="4307255" y="2489003"/>
            <a:ext cx="2876100" cy="360000"/>
          </a:xfrm>
          <a:prstGeom prst="rect">
            <a:avLst/>
          </a:prstGeom>
          <a:solidFill>
            <a:schemeClr val="accent2">
              <a:lumMod val="60000"/>
              <a:lumOff val="40000"/>
            </a:schemeClr>
          </a:solidFill>
        </p:spPr>
        <p:style>
          <a:lnRef idx="2">
            <a:schemeClr val="dk1"/>
          </a:lnRef>
          <a:fillRef idx="1">
            <a:schemeClr val="lt1"/>
          </a:fillRef>
          <a:effectRef idx="0">
            <a:schemeClr val="dk1"/>
          </a:effectRef>
          <a:fontRef idx="minor">
            <a:schemeClr val="dk1"/>
          </a:fontRef>
        </p:style>
        <p:txBody>
          <a:bodyPr rtlCol="0" anchor="ctr"/>
          <a:lstStyle/>
          <a:p>
            <a:pPr algn="ctr">
              <a:defRPr/>
            </a:pPr>
            <a:r>
              <a:rPr lang="ru-RU"/>
              <a:t>Сохраненный </a:t>
            </a:r>
            <a:r>
              <a:rPr lang="en-US"/>
              <a:t>RBP</a:t>
            </a:r>
            <a:endParaRPr/>
          </a:p>
        </p:txBody>
      </p:sp>
      <p:sp>
        <p:nvSpPr>
          <p:cNvPr id="770480848" name="Прямоугольник 54"/>
          <p:cNvSpPr/>
          <p:nvPr/>
        </p:nvSpPr>
        <p:spPr bwMode="auto">
          <a:xfrm>
            <a:off x="4310103" y="2128360"/>
            <a:ext cx="2873251" cy="360000"/>
          </a:xfrm>
          <a:prstGeom prst="rect">
            <a:avLst/>
          </a:prstGeom>
          <a:solidFill>
            <a:schemeClr val="accent2">
              <a:lumMod val="75000"/>
            </a:schemeClr>
          </a:solidFill>
        </p:spPr>
        <p:style>
          <a:lnRef idx="2">
            <a:schemeClr val="dk1"/>
          </a:lnRef>
          <a:fillRef idx="1">
            <a:schemeClr val="lt1"/>
          </a:fillRef>
          <a:effectRef idx="0">
            <a:schemeClr val="dk1"/>
          </a:effectRef>
          <a:fontRef idx="minor">
            <a:schemeClr val="dk1"/>
          </a:fontRef>
        </p:style>
        <p:txBody>
          <a:bodyPr rtlCol="0" anchor="ctr"/>
          <a:lstStyle/>
          <a:p>
            <a:pPr algn="ctr">
              <a:defRPr/>
            </a:pPr>
            <a:r>
              <a:rPr lang="ru-RU"/>
              <a:t>Адрес возврата</a:t>
            </a:r>
            <a:endParaRPr lang="en-US"/>
          </a:p>
        </p:txBody>
      </p:sp>
      <p:sp>
        <p:nvSpPr>
          <p:cNvPr id="1858555665" name="Прямоугольник 55"/>
          <p:cNvSpPr/>
          <p:nvPr/>
        </p:nvSpPr>
        <p:spPr bwMode="auto">
          <a:xfrm>
            <a:off x="6104075" y="2842920"/>
            <a:ext cx="1079281" cy="360000"/>
          </a:xfrm>
          <a:prstGeom prst="rect">
            <a:avLst/>
          </a:prstGeom>
          <a:solidFill>
            <a:srgbClr val="FF8B8B"/>
          </a:solidFill>
        </p:spPr>
        <p:style>
          <a:lnRef idx="2">
            <a:schemeClr val="dk1"/>
          </a:lnRef>
          <a:fillRef idx="1">
            <a:schemeClr val="lt1"/>
          </a:fillRef>
          <a:effectRef idx="0">
            <a:schemeClr val="dk1"/>
          </a:effectRef>
          <a:fontRef idx="minor">
            <a:schemeClr val="dk1"/>
          </a:fontRef>
        </p:style>
        <p:txBody>
          <a:bodyPr rtlCol="0" anchor="ctr"/>
          <a:lstStyle/>
          <a:p>
            <a:pPr algn="ctr">
              <a:defRPr/>
            </a:pPr>
            <a:r>
              <a:rPr lang="en-US"/>
              <a:t>j</a:t>
            </a:r>
            <a:endParaRPr/>
          </a:p>
        </p:txBody>
      </p:sp>
      <p:sp>
        <p:nvSpPr>
          <p:cNvPr id="753527125" name="Прямоугольник 56"/>
          <p:cNvSpPr/>
          <p:nvPr/>
        </p:nvSpPr>
        <p:spPr bwMode="auto">
          <a:xfrm>
            <a:off x="5393168" y="3204879"/>
            <a:ext cx="1789637" cy="360000"/>
          </a:xfrm>
          <a:prstGeom prst="rect">
            <a:avLst/>
          </a:prstGeom>
          <a:solidFill>
            <a:srgbClr val="FF8B8B"/>
          </a:solidFill>
        </p:spPr>
        <p:style>
          <a:lnRef idx="2">
            <a:schemeClr val="dk1"/>
          </a:lnRef>
          <a:fillRef idx="1">
            <a:schemeClr val="lt1"/>
          </a:fillRef>
          <a:effectRef idx="0">
            <a:schemeClr val="dk1"/>
          </a:effectRef>
          <a:fontRef idx="minor">
            <a:schemeClr val="dk1"/>
          </a:fontRef>
        </p:style>
        <p:txBody>
          <a:bodyPr rtlCol="0" anchor="ctr"/>
          <a:lstStyle/>
          <a:p>
            <a:pPr algn="ctr">
              <a:defRPr/>
            </a:pPr>
            <a:r>
              <a:rPr lang="en-US"/>
              <a:t>ll</a:t>
            </a:r>
          </a:p>
        </p:txBody>
      </p:sp>
      <p:sp>
        <p:nvSpPr>
          <p:cNvPr id="1620759533" name="Прямоугольник 57"/>
          <p:cNvSpPr/>
          <p:nvPr/>
        </p:nvSpPr>
        <p:spPr bwMode="auto">
          <a:xfrm>
            <a:off x="5387332" y="3567337"/>
            <a:ext cx="1796022" cy="360000"/>
          </a:xfrm>
          <a:prstGeom prst="rect">
            <a:avLst/>
          </a:prstGeom>
          <a:solidFill>
            <a:srgbClr val="FF8B8B"/>
          </a:solidFill>
        </p:spPr>
        <p:style>
          <a:lnRef idx="2">
            <a:schemeClr val="dk1"/>
          </a:lnRef>
          <a:fillRef idx="1">
            <a:schemeClr val="lt1"/>
          </a:fillRef>
          <a:effectRef idx="0">
            <a:schemeClr val="dk1"/>
          </a:effectRef>
          <a:fontRef idx="minor">
            <a:schemeClr val="dk1"/>
          </a:fontRef>
        </p:style>
        <p:txBody>
          <a:bodyPr rtlCol="0" anchor="ctr"/>
          <a:lstStyle/>
          <a:p>
            <a:pPr algn="ctr">
              <a:defRPr/>
            </a:pPr>
            <a:r>
              <a:rPr lang="en-US"/>
              <a:t>d</a:t>
            </a:r>
            <a:endParaRPr/>
          </a:p>
        </p:txBody>
      </p:sp>
      <p:sp>
        <p:nvSpPr>
          <p:cNvPr id="2092000268" name="Прямоугольник 58"/>
          <p:cNvSpPr/>
          <p:nvPr/>
        </p:nvSpPr>
        <p:spPr bwMode="auto">
          <a:xfrm>
            <a:off x="4310143" y="3205308"/>
            <a:ext cx="360000" cy="360000"/>
          </a:xfrm>
          <a:prstGeom prst="rect">
            <a:avLst/>
          </a:prstGeom>
          <a:solidFill>
            <a:srgbClr val="FF8B8B"/>
          </a:solidFill>
        </p:spPr>
        <p:style>
          <a:lnRef idx="2">
            <a:schemeClr val="dk1"/>
          </a:lnRef>
          <a:fillRef idx="1">
            <a:schemeClr val="lt1"/>
          </a:fillRef>
          <a:effectRef idx="0">
            <a:schemeClr val="dk1"/>
          </a:effectRef>
          <a:fontRef idx="minor">
            <a:schemeClr val="dk1"/>
          </a:fontRef>
        </p:style>
        <p:txBody>
          <a:bodyPr rtlCol="0" anchor="ctr"/>
          <a:lstStyle/>
          <a:p>
            <a:pPr algn="ctr">
              <a:defRPr/>
            </a:pPr>
            <a:r>
              <a:rPr lang="en-US"/>
              <a:t>j</a:t>
            </a:r>
            <a:endParaRPr/>
          </a:p>
        </p:txBody>
      </p:sp>
      <p:sp>
        <p:nvSpPr>
          <p:cNvPr id="261862205" name="Прямоугольник 59"/>
          <p:cNvSpPr/>
          <p:nvPr/>
        </p:nvSpPr>
        <p:spPr bwMode="auto">
          <a:xfrm>
            <a:off x="4309756" y="3567357"/>
            <a:ext cx="1080000" cy="360000"/>
          </a:xfrm>
          <a:prstGeom prst="rect">
            <a:avLst/>
          </a:prstGeom>
          <a:solidFill>
            <a:srgbClr val="FF8B8B"/>
          </a:solidFill>
        </p:spPr>
        <p:style>
          <a:lnRef idx="2">
            <a:schemeClr val="dk1"/>
          </a:lnRef>
          <a:fillRef idx="1">
            <a:schemeClr val="lt1"/>
          </a:fillRef>
          <a:effectRef idx="0">
            <a:schemeClr val="dk1"/>
          </a:effectRef>
          <a:fontRef idx="minor">
            <a:schemeClr val="dk1"/>
          </a:fontRef>
        </p:style>
        <p:txBody>
          <a:bodyPr rtlCol="0" anchor="ctr"/>
          <a:lstStyle/>
          <a:p>
            <a:pPr algn="ctr">
              <a:defRPr/>
            </a:pPr>
            <a:r>
              <a:rPr lang="en-US"/>
              <a:t>ll</a:t>
            </a:r>
          </a:p>
        </p:txBody>
      </p:sp>
      <p:sp>
        <p:nvSpPr>
          <p:cNvPr id="761415731" name="Прямоугольник 60"/>
          <p:cNvSpPr/>
          <p:nvPr/>
        </p:nvSpPr>
        <p:spPr bwMode="auto">
          <a:xfrm>
            <a:off x="4309546" y="3927136"/>
            <a:ext cx="1080760" cy="360000"/>
          </a:xfrm>
          <a:prstGeom prst="rect">
            <a:avLst/>
          </a:prstGeom>
          <a:solidFill>
            <a:srgbClr val="FF8B8B"/>
          </a:solidFill>
        </p:spPr>
        <p:style>
          <a:lnRef idx="2">
            <a:schemeClr val="dk1"/>
          </a:lnRef>
          <a:fillRef idx="1">
            <a:schemeClr val="lt1"/>
          </a:fillRef>
          <a:effectRef idx="0">
            <a:schemeClr val="dk1"/>
          </a:effectRef>
          <a:fontRef idx="minor">
            <a:schemeClr val="dk1"/>
          </a:fontRef>
        </p:style>
        <p:txBody>
          <a:bodyPr rtlCol="0" anchor="ctr"/>
          <a:lstStyle/>
          <a:p>
            <a:pPr algn="ctr">
              <a:defRPr/>
            </a:pPr>
            <a:r>
              <a:rPr lang="en-US"/>
              <a:t>d</a:t>
            </a:r>
            <a:endParaRPr/>
          </a:p>
        </p:txBody>
      </p:sp>
      <p:cxnSp>
        <p:nvCxnSpPr>
          <p:cNvPr id="1536668987" name="Прямая соединительная линия 61"/>
          <p:cNvCxnSpPr/>
          <p:nvPr/>
        </p:nvCxnSpPr>
        <p:spPr bwMode="auto">
          <a:xfrm flipV="1">
            <a:off x="4310797" y="1690688"/>
            <a:ext cx="0" cy="3600000"/>
          </a:xfrm>
          <a:prstGeom prst="line">
            <a:avLst/>
          </a:prstGeom>
        </p:spPr>
        <p:style>
          <a:lnRef idx="1">
            <a:schemeClr val="dk1"/>
          </a:lnRef>
          <a:fillRef idx="0">
            <a:schemeClr val="dk1"/>
          </a:fillRef>
          <a:effectRef idx="0">
            <a:schemeClr val="dk1"/>
          </a:effectRef>
          <a:fontRef idx="minor">
            <a:schemeClr val="tx1"/>
          </a:fontRef>
        </p:style>
      </p:cxnSp>
      <p:cxnSp>
        <p:nvCxnSpPr>
          <p:cNvPr id="15398487" name="Прямая соединительная линия 62"/>
          <p:cNvCxnSpPr/>
          <p:nvPr/>
        </p:nvCxnSpPr>
        <p:spPr bwMode="auto">
          <a:xfrm flipV="1">
            <a:off x="7187166" y="1690688"/>
            <a:ext cx="0" cy="3600000"/>
          </a:xfrm>
          <a:prstGeom prst="line">
            <a:avLst/>
          </a:prstGeom>
        </p:spPr>
        <p:style>
          <a:lnRef idx="1">
            <a:schemeClr val="dk1"/>
          </a:lnRef>
          <a:fillRef idx="0">
            <a:schemeClr val="dk1"/>
          </a:fillRef>
          <a:effectRef idx="0">
            <a:schemeClr val="dk1"/>
          </a:effectRef>
          <a:fontRef idx="minor">
            <a:schemeClr val="tx1"/>
          </a:fontRef>
        </p:style>
      </p:cxnSp>
      <p:cxnSp>
        <p:nvCxnSpPr>
          <p:cNvPr id="212234109" name="Прямая со стрелкой 64"/>
          <p:cNvCxnSpPr/>
          <p:nvPr/>
        </p:nvCxnSpPr>
        <p:spPr bwMode="auto">
          <a:xfrm>
            <a:off x="7635240" y="3204100"/>
            <a:ext cx="10287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39915261" name="Прямоугольник 50"/>
          <p:cNvSpPr/>
          <p:nvPr/>
        </p:nvSpPr>
        <p:spPr bwMode="auto">
          <a:xfrm>
            <a:off x="10212856" y="3919731"/>
            <a:ext cx="1802296" cy="358247"/>
          </a:xfrm>
          <a:prstGeom prst="rect">
            <a:avLst/>
          </a:prstGeom>
          <a:solidFill>
            <a:schemeClr val="accent2">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defRPr/>
            </a:pPr>
            <a:r>
              <a:rPr lang="en-US"/>
              <a:t>padding</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954981194" name="Заголовок 1"/>
          <p:cNvSpPr>
            <a:spLocks noGrp="1"/>
          </p:cNvSpPr>
          <p:nvPr>
            <p:ph type="title"/>
          </p:nvPr>
        </p:nvSpPr>
        <p:spPr bwMode="auto"/>
        <p:txBody>
          <a:bodyPr/>
          <a:lstStyle/>
          <a:p>
            <a:pPr>
              <a:defRPr/>
            </a:pPr>
            <a:r>
              <a:rPr lang="ru-RU"/>
              <a:t>Выравнивание полей</a:t>
            </a:r>
            <a:endParaRPr lang="en-US"/>
          </a:p>
        </p:txBody>
      </p:sp>
      <p:sp>
        <p:nvSpPr>
          <p:cNvPr id="1726256856" name="Номер слайда 4"/>
          <p:cNvSpPr>
            <a:spLocks noGrp="1"/>
          </p:cNvSpPr>
          <p:nvPr>
            <p:ph type="sldNum" sz="quarter" idx="12"/>
          </p:nvPr>
        </p:nvSpPr>
        <p:spPr bwMode="auto"/>
        <p:txBody>
          <a:bodyPr/>
          <a:lstStyle/>
          <a:p>
            <a:pPr>
              <a:defRPr/>
            </a:pPr>
            <a:fld id="{B67FBA2B-964F-4C4D-AAF7-5A8399264638}" type="slidenum">
              <a:rPr lang="en-US"/>
              <a:t>23</a:t>
            </a:fld>
            <a:endParaRPr lang="en-US"/>
          </a:p>
        </p:txBody>
      </p:sp>
      <p:sp>
        <p:nvSpPr>
          <p:cNvPr id="432583193" name="TextBox 5"/>
          <p:cNvSpPr txBox="1"/>
          <p:nvPr/>
        </p:nvSpPr>
        <p:spPr bwMode="auto">
          <a:xfrm>
            <a:off x="838200" y="1943551"/>
            <a:ext cx="2730983" cy="1477328"/>
          </a:xfrm>
          <a:prstGeom prst="rect">
            <a:avLst/>
          </a:prstGeom>
          <a:noFill/>
        </p:spPr>
        <p:txBody>
          <a:bodyPr wrap="square">
            <a:spAutoFit/>
          </a:bodyPr>
          <a:lstStyle/>
          <a:p>
            <a:pPr>
              <a:defRPr/>
            </a:pPr>
            <a:r>
              <a:rPr lang="en-US">
                <a:solidFill>
                  <a:srgbClr val="0000FF"/>
                </a:solidFill>
                <a:latin typeface="Consolas, "/>
              </a:rPr>
              <a:t>struct</a:t>
            </a:r>
            <a:r>
              <a:rPr lang="en-US">
                <a:solidFill>
                  <a:srgbClr val="000000"/>
                </a:solidFill>
                <a:latin typeface="Consolas, "/>
              </a:rPr>
              <a:t> A{</a:t>
            </a:r>
            <a:endParaRPr/>
          </a:p>
          <a:p>
            <a:pPr>
              <a:defRPr/>
            </a:pPr>
            <a:r>
              <a:rPr lang="en-US">
                <a:solidFill>
                  <a:srgbClr val="000000"/>
                </a:solidFill>
                <a:latin typeface="Consolas, "/>
              </a:rPr>
              <a:t>    </a:t>
            </a:r>
            <a:r>
              <a:rPr lang="en-US">
                <a:solidFill>
                  <a:srgbClr val="0000FF"/>
                </a:solidFill>
                <a:latin typeface="Consolas, "/>
              </a:rPr>
              <a:t>char</a:t>
            </a:r>
            <a:r>
              <a:rPr lang="en-US">
                <a:solidFill>
                  <a:srgbClr val="000000"/>
                </a:solidFill>
                <a:latin typeface="Consolas, "/>
              </a:rPr>
              <a:t> x;</a:t>
            </a:r>
            <a:endParaRPr/>
          </a:p>
          <a:p>
            <a:pPr>
              <a:defRPr/>
            </a:pPr>
            <a:r>
              <a:rPr lang="en-US">
                <a:solidFill>
                  <a:srgbClr val="000000"/>
                </a:solidFill>
                <a:latin typeface="Consolas, "/>
              </a:rPr>
              <a:t>    </a:t>
            </a:r>
            <a:r>
              <a:rPr lang="en-US">
                <a:solidFill>
                  <a:schemeClr val="accent1">
                    <a:lumMod val="40000"/>
                    <a:lumOff val="60000"/>
                  </a:schemeClr>
                </a:solidFill>
                <a:latin typeface="Consolas, "/>
              </a:rPr>
              <a:t>char</a:t>
            </a:r>
            <a:r>
              <a:rPr lang="en-US">
                <a:solidFill>
                  <a:srgbClr val="000000"/>
                </a:solidFill>
                <a:latin typeface="Consolas, "/>
              </a:rPr>
              <a:t> </a:t>
            </a:r>
            <a:r>
              <a:rPr lang="en-US">
                <a:solidFill>
                  <a:schemeClr val="bg2">
                    <a:lumMod val="75000"/>
                  </a:schemeClr>
                </a:solidFill>
                <a:latin typeface="Consolas, "/>
              </a:rPr>
              <a:t>padding[7];</a:t>
            </a:r>
            <a:endParaRPr lang="en-US">
              <a:solidFill>
                <a:srgbClr val="000000"/>
              </a:solidFill>
              <a:latin typeface="Consolas, "/>
            </a:endParaRPr>
          </a:p>
          <a:p>
            <a:pPr>
              <a:defRPr/>
            </a:pPr>
            <a:r>
              <a:rPr lang="en-US">
                <a:solidFill>
                  <a:srgbClr val="000000"/>
                </a:solidFill>
                <a:latin typeface="Consolas, "/>
              </a:rPr>
              <a:t>    </a:t>
            </a:r>
            <a:r>
              <a:rPr lang="en-US">
                <a:solidFill>
                  <a:srgbClr val="0000FF"/>
                </a:solidFill>
                <a:latin typeface="Consolas, "/>
              </a:rPr>
              <a:t>long</a:t>
            </a:r>
            <a:r>
              <a:rPr lang="en-US">
                <a:solidFill>
                  <a:srgbClr val="000000"/>
                </a:solidFill>
                <a:latin typeface="Consolas, "/>
              </a:rPr>
              <a:t> </a:t>
            </a:r>
            <a:r>
              <a:rPr lang="en-US">
                <a:solidFill>
                  <a:srgbClr val="0000FF"/>
                </a:solidFill>
                <a:latin typeface="Consolas, "/>
              </a:rPr>
              <a:t>long</a:t>
            </a:r>
            <a:r>
              <a:rPr lang="en-US">
                <a:solidFill>
                  <a:srgbClr val="000000"/>
                </a:solidFill>
                <a:latin typeface="Consolas, "/>
              </a:rPr>
              <a:t> y;</a:t>
            </a:r>
            <a:endParaRPr/>
          </a:p>
          <a:p>
            <a:pPr>
              <a:defRPr/>
            </a:pPr>
            <a:r>
              <a:rPr lang="en-US">
                <a:solidFill>
                  <a:srgbClr val="000000"/>
                </a:solidFill>
                <a:latin typeface="Consolas, "/>
              </a:rPr>
              <a:t>};</a:t>
            </a:r>
            <a:endParaRPr/>
          </a:p>
        </p:txBody>
      </p:sp>
      <p:sp>
        <p:nvSpPr>
          <p:cNvPr id="1019409195" name="Прямоугольник 24"/>
          <p:cNvSpPr/>
          <p:nvPr/>
        </p:nvSpPr>
        <p:spPr bwMode="auto">
          <a:xfrm>
            <a:off x="4476000" y="2258945"/>
            <a:ext cx="2880000" cy="39903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defRPr/>
            </a:pPr>
            <a:endParaRPr lang="en-US"/>
          </a:p>
        </p:txBody>
      </p:sp>
      <p:sp>
        <p:nvSpPr>
          <p:cNvPr id="1701660781" name="Прямоугольник 26"/>
          <p:cNvSpPr/>
          <p:nvPr/>
        </p:nvSpPr>
        <p:spPr bwMode="auto">
          <a:xfrm>
            <a:off x="4476000" y="1850208"/>
            <a:ext cx="2880000" cy="39903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defRPr/>
            </a:pPr>
            <a:endParaRPr lang="en-US"/>
          </a:p>
        </p:txBody>
      </p:sp>
      <p:sp>
        <p:nvSpPr>
          <p:cNvPr id="680212793" name="Прямоугольник 27"/>
          <p:cNvSpPr/>
          <p:nvPr/>
        </p:nvSpPr>
        <p:spPr bwMode="auto">
          <a:xfrm>
            <a:off x="4476000" y="1848959"/>
            <a:ext cx="360000" cy="409985"/>
          </a:xfrm>
          <a:prstGeom prst="rect">
            <a:avLst/>
          </a:prstGeom>
          <a:solidFill>
            <a:schemeClr val="accent1">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defRPr/>
            </a:pPr>
            <a:r>
              <a:rPr lang="en-US"/>
              <a:t>x</a:t>
            </a:r>
            <a:endParaRPr/>
          </a:p>
        </p:txBody>
      </p:sp>
      <p:sp>
        <p:nvSpPr>
          <p:cNvPr id="985022215" name="Прямоугольник 28"/>
          <p:cNvSpPr/>
          <p:nvPr/>
        </p:nvSpPr>
        <p:spPr bwMode="auto">
          <a:xfrm>
            <a:off x="4836000" y="1853183"/>
            <a:ext cx="2520000" cy="399032"/>
          </a:xfrm>
          <a:prstGeom prst="rect">
            <a:avLst/>
          </a:prstGeom>
          <a:solidFill>
            <a:srgbClr val="C00000"/>
          </a:solidFill>
        </p:spPr>
        <p:style>
          <a:lnRef idx="2">
            <a:schemeClr val="dk1"/>
          </a:lnRef>
          <a:fillRef idx="1">
            <a:schemeClr val="lt1"/>
          </a:fillRef>
          <a:effectRef idx="0">
            <a:schemeClr val="dk1"/>
          </a:effectRef>
          <a:fontRef idx="minor">
            <a:schemeClr val="dk1"/>
          </a:fontRef>
        </p:style>
        <p:txBody>
          <a:bodyPr rtlCol="0" anchor="ctr"/>
          <a:lstStyle/>
          <a:p>
            <a:pPr algn="ctr">
              <a:defRPr/>
            </a:pPr>
            <a:r>
              <a:rPr lang="en-US"/>
              <a:t>y</a:t>
            </a:r>
            <a:endParaRPr/>
          </a:p>
        </p:txBody>
      </p:sp>
      <p:sp>
        <p:nvSpPr>
          <p:cNvPr id="1229662417" name="Прямоугольник 29"/>
          <p:cNvSpPr/>
          <p:nvPr/>
        </p:nvSpPr>
        <p:spPr bwMode="auto">
          <a:xfrm>
            <a:off x="4476000" y="2258361"/>
            <a:ext cx="360000" cy="399032"/>
          </a:xfrm>
          <a:prstGeom prst="rect">
            <a:avLst/>
          </a:prstGeom>
          <a:solidFill>
            <a:srgbClr val="C00000"/>
          </a:solidFill>
        </p:spPr>
        <p:style>
          <a:lnRef idx="2">
            <a:schemeClr val="dk1"/>
          </a:lnRef>
          <a:fillRef idx="1">
            <a:schemeClr val="lt1"/>
          </a:fillRef>
          <a:effectRef idx="0">
            <a:schemeClr val="dk1"/>
          </a:effectRef>
          <a:fontRef idx="minor">
            <a:schemeClr val="dk1"/>
          </a:fontRef>
        </p:style>
        <p:txBody>
          <a:bodyPr rtlCol="0" anchor="ctr"/>
          <a:lstStyle/>
          <a:p>
            <a:pPr algn="ctr">
              <a:defRPr/>
            </a:pPr>
            <a:r>
              <a:rPr lang="en-US"/>
              <a:t>y</a:t>
            </a:r>
            <a:endParaRPr/>
          </a:p>
        </p:txBody>
      </p:sp>
      <p:sp>
        <p:nvSpPr>
          <p:cNvPr id="1042052122" name="TextBox 30"/>
          <p:cNvSpPr txBox="1"/>
          <p:nvPr/>
        </p:nvSpPr>
        <p:spPr bwMode="auto">
          <a:xfrm>
            <a:off x="3840890" y="1789229"/>
            <a:ext cx="635110" cy="369332"/>
          </a:xfrm>
          <a:prstGeom prst="rect">
            <a:avLst/>
          </a:prstGeom>
          <a:noFill/>
        </p:spPr>
        <p:txBody>
          <a:bodyPr wrap="none" rtlCol="0">
            <a:spAutoFit/>
          </a:bodyPr>
          <a:lstStyle/>
          <a:p>
            <a:pPr>
              <a:defRPr/>
            </a:pPr>
            <a:r>
              <a:rPr lang="en-US"/>
              <a:t>0x00</a:t>
            </a:r>
            <a:endParaRPr/>
          </a:p>
        </p:txBody>
      </p:sp>
      <p:sp>
        <p:nvSpPr>
          <p:cNvPr id="646142795" name="TextBox 31"/>
          <p:cNvSpPr txBox="1"/>
          <p:nvPr/>
        </p:nvSpPr>
        <p:spPr bwMode="auto">
          <a:xfrm>
            <a:off x="3840890" y="2228687"/>
            <a:ext cx="635110" cy="369332"/>
          </a:xfrm>
          <a:prstGeom prst="rect">
            <a:avLst/>
          </a:prstGeom>
          <a:noFill/>
        </p:spPr>
        <p:txBody>
          <a:bodyPr wrap="none" rtlCol="0">
            <a:spAutoFit/>
          </a:bodyPr>
          <a:lstStyle/>
          <a:p>
            <a:pPr>
              <a:defRPr/>
            </a:pPr>
            <a:r>
              <a:rPr lang="en-US"/>
              <a:t>0x08</a:t>
            </a:r>
            <a:endParaRPr/>
          </a:p>
        </p:txBody>
      </p:sp>
      <p:sp>
        <p:nvSpPr>
          <p:cNvPr id="880794028" name="Прямоугольник 33"/>
          <p:cNvSpPr/>
          <p:nvPr/>
        </p:nvSpPr>
        <p:spPr bwMode="auto">
          <a:xfrm>
            <a:off x="9065980" y="2258945"/>
            <a:ext cx="2880000" cy="39903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defRPr/>
            </a:pPr>
            <a:endParaRPr lang="en-US"/>
          </a:p>
        </p:txBody>
      </p:sp>
      <p:sp>
        <p:nvSpPr>
          <p:cNvPr id="2034619868" name="Прямоугольник 35"/>
          <p:cNvSpPr/>
          <p:nvPr/>
        </p:nvSpPr>
        <p:spPr bwMode="auto">
          <a:xfrm>
            <a:off x="9065980" y="1850208"/>
            <a:ext cx="2880000" cy="39903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defRPr/>
            </a:pPr>
            <a:endParaRPr lang="en-US"/>
          </a:p>
        </p:txBody>
      </p:sp>
      <p:sp>
        <p:nvSpPr>
          <p:cNvPr id="5620558" name="Прямоугольник 36"/>
          <p:cNvSpPr/>
          <p:nvPr/>
        </p:nvSpPr>
        <p:spPr bwMode="auto">
          <a:xfrm>
            <a:off x="9065980" y="1848959"/>
            <a:ext cx="360000" cy="408737"/>
          </a:xfrm>
          <a:prstGeom prst="rect">
            <a:avLst/>
          </a:prstGeom>
          <a:solidFill>
            <a:schemeClr val="accent1">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defRPr/>
            </a:pPr>
            <a:r>
              <a:rPr lang="en-US"/>
              <a:t>x</a:t>
            </a:r>
            <a:endParaRPr/>
          </a:p>
        </p:txBody>
      </p:sp>
      <p:sp>
        <p:nvSpPr>
          <p:cNvPr id="1018305143" name="Прямоугольник 37"/>
          <p:cNvSpPr/>
          <p:nvPr/>
        </p:nvSpPr>
        <p:spPr bwMode="auto">
          <a:xfrm>
            <a:off x="9065980" y="2251434"/>
            <a:ext cx="2880000" cy="399032"/>
          </a:xfrm>
          <a:prstGeom prst="rect">
            <a:avLst/>
          </a:prstGeom>
          <a:solidFill>
            <a:schemeClr val="accent1">
              <a:lumMod val="60000"/>
              <a:lumOff val="40000"/>
            </a:schemeClr>
          </a:solidFill>
        </p:spPr>
        <p:style>
          <a:lnRef idx="2">
            <a:schemeClr val="dk1"/>
          </a:lnRef>
          <a:fillRef idx="1">
            <a:schemeClr val="lt1"/>
          </a:fillRef>
          <a:effectRef idx="0">
            <a:schemeClr val="dk1"/>
          </a:effectRef>
          <a:fontRef idx="minor">
            <a:schemeClr val="dk1"/>
          </a:fontRef>
        </p:style>
        <p:txBody>
          <a:bodyPr rtlCol="0" anchor="ctr"/>
          <a:lstStyle/>
          <a:p>
            <a:pPr algn="ctr">
              <a:defRPr/>
            </a:pPr>
            <a:r>
              <a:rPr lang="en-US"/>
              <a:t>y</a:t>
            </a:r>
            <a:endParaRPr/>
          </a:p>
        </p:txBody>
      </p:sp>
      <p:sp>
        <p:nvSpPr>
          <p:cNvPr id="552934869" name="TextBox 38"/>
          <p:cNvSpPr txBox="1"/>
          <p:nvPr/>
        </p:nvSpPr>
        <p:spPr bwMode="auto">
          <a:xfrm>
            <a:off x="8430870" y="1789229"/>
            <a:ext cx="635110" cy="369332"/>
          </a:xfrm>
          <a:prstGeom prst="rect">
            <a:avLst/>
          </a:prstGeom>
          <a:noFill/>
        </p:spPr>
        <p:txBody>
          <a:bodyPr wrap="none" rtlCol="0">
            <a:spAutoFit/>
          </a:bodyPr>
          <a:lstStyle/>
          <a:p>
            <a:pPr>
              <a:defRPr/>
            </a:pPr>
            <a:r>
              <a:rPr lang="en-US"/>
              <a:t>0x00</a:t>
            </a:r>
            <a:endParaRPr/>
          </a:p>
        </p:txBody>
      </p:sp>
      <p:sp>
        <p:nvSpPr>
          <p:cNvPr id="1913239753" name="TextBox 39"/>
          <p:cNvSpPr txBox="1"/>
          <p:nvPr/>
        </p:nvSpPr>
        <p:spPr bwMode="auto">
          <a:xfrm>
            <a:off x="8430870" y="2228687"/>
            <a:ext cx="635110" cy="369332"/>
          </a:xfrm>
          <a:prstGeom prst="rect">
            <a:avLst/>
          </a:prstGeom>
          <a:noFill/>
        </p:spPr>
        <p:txBody>
          <a:bodyPr wrap="none" rtlCol="0">
            <a:spAutoFit/>
          </a:bodyPr>
          <a:lstStyle/>
          <a:p>
            <a:pPr>
              <a:defRPr/>
            </a:pPr>
            <a:r>
              <a:rPr lang="en-US"/>
              <a:t>0x08</a:t>
            </a:r>
            <a:endParaRPr/>
          </a:p>
        </p:txBody>
      </p:sp>
      <p:sp>
        <p:nvSpPr>
          <p:cNvPr id="1090310283" name="Прямоугольник 42"/>
          <p:cNvSpPr/>
          <p:nvPr/>
        </p:nvSpPr>
        <p:spPr bwMode="auto">
          <a:xfrm>
            <a:off x="9425980" y="1851886"/>
            <a:ext cx="2520000" cy="399032"/>
          </a:xfrm>
          <a:prstGeom prst="rect">
            <a:avLst/>
          </a:prstGeom>
          <a:solidFill>
            <a:schemeClr val="accent2">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defRPr/>
            </a:pPr>
            <a:r>
              <a:rPr lang="en-US"/>
              <a:t>padding</a:t>
            </a:r>
            <a:endParaRPr/>
          </a:p>
        </p:txBody>
      </p:sp>
      <p:sp>
        <p:nvSpPr>
          <p:cNvPr id="1494470589" name="TextBox 43"/>
          <p:cNvSpPr txBox="1"/>
          <p:nvPr/>
        </p:nvSpPr>
        <p:spPr bwMode="auto">
          <a:xfrm>
            <a:off x="838200" y="4080793"/>
            <a:ext cx="2730983" cy="2308324"/>
          </a:xfrm>
          <a:prstGeom prst="rect">
            <a:avLst/>
          </a:prstGeom>
          <a:noFill/>
        </p:spPr>
        <p:txBody>
          <a:bodyPr wrap="square">
            <a:spAutoFit/>
          </a:bodyPr>
          <a:lstStyle/>
          <a:p>
            <a:pPr>
              <a:defRPr/>
            </a:pPr>
            <a:r>
              <a:rPr lang="en-US">
                <a:solidFill>
                  <a:srgbClr val="0000FF"/>
                </a:solidFill>
                <a:latin typeface="Consolas, "/>
              </a:rPr>
              <a:t>struct</a:t>
            </a:r>
            <a:r>
              <a:rPr lang="en-US">
                <a:solidFill>
                  <a:srgbClr val="000000"/>
                </a:solidFill>
                <a:latin typeface="Consolas, "/>
              </a:rPr>
              <a:t> B{</a:t>
            </a:r>
            <a:endParaRPr/>
          </a:p>
          <a:p>
            <a:pPr>
              <a:defRPr/>
            </a:pPr>
            <a:r>
              <a:rPr lang="en-US">
                <a:solidFill>
                  <a:srgbClr val="000000"/>
                </a:solidFill>
                <a:latin typeface="Consolas, "/>
              </a:rPr>
              <a:t>    </a:t>
            </a:r>
            <a:r>
              <a:rPr lang="en-US">
                <a:solidFill>
                  <a:srgbClr val="0000FF"/>
                </a:solidFill>
                <a:latin typeface="Consolas, "/>
              </a:rPr>
              <a:t>long</a:t>
            </a:r>
            <a:r>
              <a:rPr lang="en-US">
                <a:solidFill>
                  <a:srgbClr val="000000"/>
                </a:solidFill>
                <a:latin typeface="Consolas, "/>
              </a:rPr>
              <a:t> </a:t>
            </a:r>
            <a:r>
              <a:rPr lang="en-US">
                <a:solidFill>
                  <a:srgbClr val="0000FF"/>
                </a:solidFill>
                <a:latin typeface="Consolas, "/>
              </a:rPr>
              <a:t>long</a:t>
            </a:r>
            <a:r>
              <a:rPr lang="en-US">
                <a:solidFill>
                  <a:srgbClr val="000000"/>
                </a:solidFill>
                <a:latin typeface="Consolas, "/>
              </a:rPr>
              <a:t> x;</a:t>
            </a:r>
            <a:endParaRPr/>
          </a:p>
          <a:p>
            <a:pPr>
              <a:defRPr/>
            </a:pPr>
            <a:r>
              <a:rPr lang="en-US">
                <a:solidFill>
                  <a:srgbClr val="000000"/>
                </a:solidFill>
                <a:latin typeface="Consolas, "/>
              </a:rPr>
              <a:t>    </a:t>
            </a:r>
            <a:r>
              <a:rPr lang="en-US">
                <a:solidFill>
                  <a:srgbClr val="0000FF"/>
                </a:solidFill>
                <a:latin typeface="Consolas, "/>
              </a:rPr>
              <a:t>char</a:t>
            </a:r>
            <a:r>
              <a:rPr lang="en-US">
                <a:solidFill>
                  <a:srgbClr val="000000"/>
                </a:solidFill>
                <a:latin typeface="Consolas, "/>
              </a:rPr>
              <a:t> y;</a:t>
            </a:r>
            <a:endParaRPr/>
          </a:p>
          <a:p>
            <a:pPr>
              <a:defRPr/>
            </a:pPr>
            <a:r>
              <a:rPr lang="en-US">
                <a:solidFill>
                  <a:srgbClr val="000000"/>
                </a:solidFill>
                <a:latin typeface="Consolas, "/>
              </a:rPr>
              <a:t>    </a:t>
            </a:r>
            <a:r>
              <a:rPr lang="en-US">
                <a:solidFill>
                  <a:schemeClr val="accent1">
                    <a:lumMod val="40000"/>
                    <a:lumOff val="60000"/>
                  </a:schemeClr>
                </a:solidFill>
                <a:latin typeface="Consolas, "/>
              </a:rPr>
              <a:t>char</a:t>
            </a:r>
            <a:r>
              <a:rPr lang="en-US">
                <a:solidFill>
                  <a:srgbClr val="000000"/>
                </a:solidFill>
                <a:latin typeface="Consolas, "/>
              </a:rPr>
              <a:t> </a:t>
            </a:r>
            <a:r>
              <a:rPr lang="en-US">
                <a:solidFill>
                  <a:schemeClr val="bg2">
                    <a:lumMod val="75000"/>
                  </a:schemeClr>
                </a:solidFill>
                <a:latin typeface="Consolas, "/>
              </a:rPr>
              <a:t>padding[7];</a:t>
            </a:r>
          </a:p>
          <a:p>
            <a:pPr>
              <a:defRPr/>
            </a:pPr>
            <a:r>
              <a:rPr lang="en-US">
                <a:solidFill>
                  <a:srgbClr val="000000"/>
                </a:solidFill>
                <a:latin typeface="Consolas, "/>
              </a:rPr>
              <a:t>};</a:t>
            </a:r>
            <a:endParaRPr/>
          </a:p>
          <a:p>
            <a:pPr>
              <a:defRPr/>
            </a:pPr>
            <a:endParaRPr lang="en-US">
              <a:solidFill>
                <a:srgbClr val="000000"/>
              </a:solidFill>
              <a:latin typeface="Consolas, "/>
            </a:endParaRPr>
          </a:p>
          <a:p>
            <a:pPr>
              <a:defRPr/>
            </a:pPr>
            <a:r>
              <a:rPr lang="en-US">
                <a:solidFill>
                  <a:srgbClr val="000000"/>
                </a:solidFill>
                <a:latin typeface="Consolas, "/>
              </a:rPr>
              <a:t>B array[2];</a:t>
            </a:r>
            <a:br>
              <a:rPr lang="en-US">
                <a:solidFill>
                  <a:srgbClr val="000000"/>
                </a:solidFill>
                <a:latin typeface="Consolas, "/>
              </a:rPr>
            </a:br>
            <a:endParaRPr lang="en-US">
              <a:solidFill>
                <a:srgbClr val="000000"/>
              </a:solidFill>
              <a:latin typeface="Consolas, "/>
            </a:endParaRPr>
          </a:p>
        </p:txBody>
      </p:sp>
      <p:sp>
        <p:nvSpPr>
          <p:cNvPr id="1615400762" name="Прямоугольник 44"/>
          <p:cNvSpPr/>
          <p:nvPr/>
        </p:nvSpPr>
        <p:spPr bwMode="auto">
          <a:xfrm>
            <a:off x="9065980" y="4875583"/>
            <a:ext cx="2880000" cy="39903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defRPr/>
            </a:pPr>
            <a:endParaRPr lang="en-US"/>
          </a:p>
        </p:txBody>
      </p:sp>
      <p:sp>
        <p:nvSpPr>
          <p:cNvPr id="1409024623" name="Прямоугольник 45"/>
          <p:cNvSpPr/>
          <p:nvPr/>
        </p:nvSpPr>
        <p:spPr bwMode="auto">
          <a:xfrm>
            <a:off x="9065980" y="4867020"/>
            <a:ext cx="360000" cy="399032"/>
          </a:xfrm>
          <a:prstGeom prst="rect">
            <a:avLst/>
          </a:prstGeom>
          <a:solidFill>
            <a:schemeClr val="accent1">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defRPr/>
            </a:pPr>
            <a:r>
              <a:rPr lang="en-US"/>
              <a:t>y</a:t>
            </a:r>
            <a:endParaRPr/>
          </a:p>
        </p:txBody>
      </p:sp>
      <p:sp>
        <p:nvSpPr>
          <p:cNvPr id="1804419610" name="Прямоугольник 46"/>
          <p:cNvSpPr/>
          <p:nvPr/>
        </p:nvSpPr>
        <p:spPr bwMode="auto">
          <a:xfrm>
            <a:off x="9065980" y="4469571"/>
            <a:ext cx="2880000" cy="399032"/>
          </a:xfrm>
          <a:prstGeom prst="rect">
            <a:avLst/>
          </a:prstGeom>
          <a:solidFill>
            <a:schemeClr val="accent1">
              <a:lumMod val="60000"/>
              <a:lumOff val="40000"/>
            </a:schemeClr>
          </a:solidFill>
        </p:spPr>
        <p:style>
          <a:lnRef idx="2">
            <a:schemeClr val="dk1"/>
          </a:lnRef>
          <a:fillRef idx="1">
            <a:schemeClr val="lt1"/>
          </a:fillRef>
          <a:effectRef idx="0">
            <a:schemeClr val="dk1"/>
          </a:effectRef>
          <a:fontRef idx="minor">
            <a:schemeClr val="dk1"/>
          </a:fontRef>
        </p:style>
        <p:txBody>
          <a:bodyPr rtlCol="0" anchor="ctr"/>
          <a:lstStyle/>
          <a:p>
            <a:pPr algn="ctr">
              <a:defRPr/>
            </a:pPr>
            <a:r>
              <a:rPr lang="ru-RU"/>
              <a:t>х</a:t>
            </a:r>
            <a:endParaRPr lang="en-US"/>
          </a:p>
        </p:txBody>
      </p:sp>
      <p:sp>
        <p:nvSpPr>
          <p:cNvPr id="1705521377" name="TextBox 47"/>
          <p:cNvSpPr txBox="1"/>
          <p:nvPr/>
        </p:nvSpPr>
        <p:spPr bwMode="auto">
          <a:xfrm>
            <a:off x="8430870" y="4410570"/>
            <a:ext cx="635110" cy="369332"/>
          </a:xfrm>
          <a:prstGeom prst="rect">
            <a:avLst/>
          </a:prstGeom>
          <a:noFill/>
        </p:spPr>
        <p:txBody>
          <a:bodyPr wrap="none" rtlCol="0">
            <a:spAutoFit/>
          </a:bodyPr>
          <a:lstStyle/>
          <a:p>
            <a:pPr>
              <a:defRPr/>
            </a:pPr>
            <a:r>
              <a:rPr lang="en-US"/>
              <a:t>0x00</a:t>
            </a:r>
            <a:endParaRPr/>
          </a:p>
        </p:txBody>
      </p:sp>
      <p:sp>
        <p:nvSpPr>
          <p:cNvPr id="358962899" name="TextBox 48"/>
          <p:cNvSpPr txBox="1"/>
          <p:nvPr/>
        </p:nvSpPr>
        <p:spPr bwMode="auto">
          <a:xfrm>
            <a:off x="8430870" y="4850028"/>
            <a:ext cx="635110" cy="369332"/>
          </a:xfrm>
          <a:prstGeom prst="rect">
            <a:avLst/>
          </a:prstGeom>
          <a:noFill/>
        </p:spPr>
        <p:txBody>
          <a:bodyPr wrap="none" rtlCol="0">
            <a:spAutoFit/>
          </a:bodyPr>
          <a:lstStyle/>
          <a:p>
            <a:pPr>
              <a:defRPr/>
            </a:pPr>
            <a:r>
              <a:rPr lang="en-US"/>
              <a:t>0x08</a:t>
            </a:r>
            <a:endParaRPr/>
          </a:p>
        </p:txBody>
      </p:sp>
      <p:sp>
        <p:nvSpPr>
          <p:cNvPr id="1835442721" name="TextBox 49"/>
          <p:cNvSpPr txBox="1"/>
          <p:nvPr/>
        </p:nvSpPr>
        <p:spPr bwMode="auto">
          <a:xfrm>
            <a:off x="8429960" y="5232511"/>
            <a:ext cx="635110" cy="369332"/>
          </a:xfrm>
          <a:prstGeom prst="rect">
            <a:avLst/>
          </a:prstGeom>
          <a:noFill/>
        </p:spPr>
        <p:txBody>
          <a:bodyPr wrap="none" rtlCol="0">
            <a:spAutoFit/>
          </a:bodyPr>
          <a:lstStyle/>
          <a:p>
            <a:pPr>
              <a:defRPr/>
            </a:pPr>
            <a:r>
              <a:rPr lang="en-US"/>
              <a:t>0x10</a:t>
            </a:r>
            <a:endParaRPr/>
          </a:p>
        </p:txBody>
      </p:sp>
      <p:sp>
        <p:nvSpPr>
          <p:cNvPr id="1200171040" name="Прямоугольник 50"/>
          <p:cNvSpPr/>
          <p:nvPr/>
        </p:nvSpPr>
        <p:spPr bwMode="auto">
          <a:xfrm>
            <a:off x="9425980" y="4867020"/>
            <a:ext cx="2520000" cy="399032"/>
          </a:xfrm>
          <a:prstGeom prst="rect">
            <a:avLst/>
          </a:prstGeom>
          <a:solidFill>
            <a:schemeClr val="accent2">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defRPr/>
            </a:pPr>
            <a:r>
              <a:rPr lang="en-US"/>
              <a:t>padding</a:t>
            </a:r>
            <a:endParaRPr/>
          </a:p>
        </p:txBody>
      </p:sp>
      <p:sp>
        <p:nvSpPr>
          <p:cNvPr id="266278627" name="Прямоугольник 51"/>
          <p:cNvSpPr/>
          <p:nvPr/>
        </p:nvSpPr>
        <p:spPr bwMode="auto">
          <a:xfrm>
            <a:off x="9065980" y="5664277"/>
            <a:ext cx="360000" cy="399032"/>
          </a:xfrm>
          <a:prstGeom prst="rect">
            <a:avLst/>
          </a:prstGeom>
          <a:solidFill>
            <a:schemeClr val="accent1">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defRPr/>
            </a:pPr>
            <a:r>
              <a:rPr lang="en-US"/>
              <a:t>y</a:t>
            </a:r>
            <a:endParaRPr/>
          </a:p>
        </p:txBody>
      </p:sp>
      <p:sp>
        <p:nvSpPr>
          <p:cNvPr id="1670897162" name="Прямоугольник 52"/>
          <p:cNvSpPr/>
          <p:nvPr/>
        </p:nvSpPr>
        <p:spPr bwMode="auto">
          <a:xfrm>
            <a:off x="9065980" y="5266828"/>
            <a:ext cx="2880000" cy="399032"/>
          </a:xfrm>
          <a:prstGeom prst="rect">
            <a:avLst/>
          </a:prstGeom>
          <a:solidFill>
            <a:schemeClr val="accent1">
              <a:lumMod val="60000"/>
              <a:lumOff val="40000"/>
            </a:schemeClr>
          </a:solidFill>
        </p:spPr>
        <p:style>
          <a:lnRef idx="2">
            <a:schemeClr val="dk1"/>
          </a:lnRef>
          <a:fillRef idx="1">
            <a:schemeClr val="lt1"/>
          </a:fillRef>
          <a:effectRef idx="0">
            <a:schemeClr val="dk1"/>
          </a:effectRef>
          <a:fontRef idx="minor">
            <a:schemeClr val="dk1"/>
          </a:fontRef>
        </p:style>
        <p:txBody>
          <a:bodyPr rtlCol="0" anchor="ctr"/>
          <a:lstStyle/>
          <a:p>
            <a:pPr algn="ctr">
              <a:defRPr/>
            </a:pPr>
            <a:r>
              <a:rPr lang="ru-RU"/>
              <a:t>х</a:t>
            </a:r>
            <a:endParaRPr lang="en-US"/>
          </a:p>
        </p:txBody>
      </p:sp>
      <p:sp>
        <p:nvSpPr>
          <p:cNvPr id="1720992735" name="Прямоугольник 53"/>
          <p:cNvSpPr/>
          <p:nvPr/>
        </p:nvSpPr>
        <p:spPr bwMode="auto">
          <a:xfrm>
            <a:off x="9425980" y="5665188"/>
            <a:ext cx="2520000" cy="391245"/>
          </a:xfrm>
          <a:prstGeom prst="rect">
            <a:avLst/>
          </a:prstGeom>
          <a:solidFill>
            <a:schemeClr val="accent2">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defRPr/>
            </a:pPr>
            <a:r>
              <a:rPr lang="en-US"/>
              <a:t>padding</a:t>
            </a:r>
            <a:endParaRPr/>
          </a:p>
        </p:txBody>
      </p:sp>
      <p:sp>
        <p:nvSpPr>
          <p:cNvPr id="1338460857" name="TextBox 54"/>
          <p:cNvSpPr txBox="1"/>
          <p:nvPr/>
        </p:nvSpPr>
        <p:spPr bwMode="auto">
          <a:xfrm>
            <a:off x="8429960" y="5614994"/>
            <a:ext cx="635110" cy="369332"/>
          </a:xfrm>
          <a:prstGeom prst="rect">
            <a:avLst/>
          </a:prstGeom>
          <a:noFill/>
        </p:spPr>
        <p:txBody>
          <a:bodyPr wrap="none" rtlCol="0">
            <a:spAutoFit/>
          </a:bodyPr>
          <a:lstStyle/>
          <a:p>
            <a:pPr>
              <a:defRPr/>
            </a:pPr>
            <a:r>
              <a:rPr lang="en-US"/>
              <a:t>0x18</a:t>
            </a:r>
            <a:endParaRPr/>
          </a:p>
        </p:txBody>
      </p:sp>
      <p:sp>
        <p:nvSpPr>
          <p:cNvPr id="209847783" name="Прямоугольник 74"/>
          <p:cNvSpPr/>
          <p:nvPr/>
        </p:nvSpPr>
        <p:spPr bwMode="auto">
          <a:xfrm>
            <a:off x="4469960" y="4882562"/>
            <a:ext cx="2880000" cy="39903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defRPr/>
            </a:pPr>
            <a:endParaRPr lang="en-US"/>
          </a:p>
        </p:txBody>
      </p:sp>
      <p:sp>
        <p:nvSpPr>
          <p:cNvPr id="957277142" name="Прямоугольник 75"/>
          <p:cNvSpPr/>
          <p:nvPr/>
        </p:nvSpPr>
        <p:spPr bwMode="auto">
          <a:xfrm>
            <a:off x="4469960" y="4874000"/>
            <a:ext cx="360000" cy="406682"/>
          </a:xfrm>
          <a:prstGeom prst="rect">
            <a:avLst/>
          </a:prstGeom>
          <a:solidFill>
            <a:schemeClr val="accent1">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defRPr/>
            </a:pPr>
            <a:r>
              <a:rPr lang="en-US"/>
              <a:t>y</a:t>
            </a:r>
            <a:endParaRPr/>
          </a:p>
        </p:txBody>
      </p:sp>
      <p:sp>
        <p:nvSpPr>
          <p:cNvPr id="20742924" name="Прямоугольник 76"/>
          <p:cNvSpPr/>
          <p:nvPr/>
        </p:nvSpPr>
        <p:spPr bwMode="auto">
          <a:xfrm>
            <a:off x="4469960" y="4476551"/>
            <a:ext cx="2880000" cy="399032"/>
          </a:xfrm>
          <a:prstGeom prst="rect">
            <a:avLst/>
          </a:prstGeom>
          <a:solidFill>
            <a:schemeClr val="accent1">
              <a:lumMod val="60000"/>
              <a:lumOff val="40000"/>
            </a:schemeClr>
          </a:solidFill>
        </p:spPr>
        <p:style>
          <a:lnRef idx="2">
            <a:schemeClr val="dk1"/>
          </a:lnRef>
          <a:fillRef idx="1">
            <a:schemeClr val="lt1"/>
          </a:fillRef>
          <a:effectRef idx="0">
            <a:schemeClr val="dk1"/>
          </a:effectRef>
          <a:fontRef idx="minor">
            <a:schemeClr val="dk1"/>
          </a:fontRef>
        </p:style>
        <p:txBody>
          <a:bodyPr rtlCol="0" anchor="ctr"/>
          <a:lstStyle/>
          <a:p>
            <a:pPr algn="ctr">
              <a:defRPr/>
            </a:pPr>
            <a:r>
              <a:rPr lang="ru-RU"/>
              <a:t>х</a:t>
            </a:r>
            <a:endParaRPr lang="en-US"/>
          </a:p>
        </p:txBody>
      </p:sp>
      <p:sp>
        <p:nvSpPr>
          <p:cNvPr id="332090665" name="TextBox 77"/>
          <p:cNvSpPr txBox="1"/>
          <p:nvPr/>
        </p:nvSpPr>
        <p:spPr bwMode="auto">
          <a:xfrm>
            <a:off x="3834850" y="4417550"/>
            <a:ext cx="635110" cy="369332"/>
          </a:xfrm>
          <a:prstGeom prst="rect">
            <a:avLst/>
          </a:prstGeom>
          <a:noFill/>
        </p:spPr>
        <p:txBody>
          <a:bodyPr wrap="none" rtlCol="0">
            <a:spAutoFit/>
          </a:bodyPr>
          <a:lstStyle/>
          <a:p>
            <a:pPr>
              <a:defRPr/>
            </a:pPr>
            <a:r>
              <a:rPr lang="en-US"/>
              <a:t>0x00</a:t>
            </a:r>
            <a:endParaRPr/>
          </a:p>
        </p:txBody>
      </p:sp>
      <p:sp>
        <p:nvSpPr>
          <p:cNvPr id="225593352" name="TextBox 78"/>
          <p:cNvSpPr txBox="1"/>
          <p:nvPr/>
        </p:nvSpPr>
        <p:spPr bwMode="auto">
          <a:xfrm>
            <a:off x="3834850" y="4857008"/>
            <a:ext cx="635110" cy="369332"/>
          </a:xfrm>
          <a:prstGeom prst="rect">
            <a:avLst/>
          </a:prstGeom>
          <a:noFill/>
        </p:spPr>
        <p:txBody>
          <a:bodyPr wrap="none" rtlCol="0">
            <a:spAutoFit/>
          </a:bodyPr>
          <a:lstStyle/>
          <a:p>
            <a:pPr>
              <a:defRPr/>
            </a:pPr>
            <a:r>
              <a:rPr lang="en-US"/>
              <a:t>0x08</a:t>
            </a:r>
            <a:endParaRPr/>
          </a:p>
        </p:txBody>
      </p:sp>
      <p:sp>
        <p:nvSpPr>
          <p:cNvPr id="1990057478" name="Прямоугольник 80"/>
          <p:cNvSpPr/>
          <p:nvPr/>
        </p:nvSpPr>
        <p:spPr bwMode="auto">
          <a:xfrm>
            <a:off x="4829960" y="4877570"/>
            <a:ext cx="2520000" cy="399032"/>
          </a:xfrm>
          <a:prstGeom prst="rect">
            <a:avLst/>
          </a:prstGeom>
          <a:solidFill>
            <a:srgbClr val="C00000"/>
          </a:solidFill>
        </p:spPr>
        <p:style>
          <a:lnRef idx="2">
            <a:schemeClr val="dk1"/>
          </a:lnRef>
          <a:fillRef idx="1">
            <a:schemeClr val="lt1"/>
          </a:fillRef>
          <a:effectRef idx="0">
            <a:schemeClr val="dk1"/>
          </a:effectRef>
          <a:fontRef idx="minor">
            <a:schemeClr val="dk1"/>
          </a:fontRef>
        </p:style>
        <p:txBody>
          <a:bodyPr rtlCol="0" anchor="ctr"/>
          <a:lstStyle/>
          <a:p>
            <a:pPr algn="ctr">
              <a:defRPr/>
            </a:pPr>
            <a:r>
              <a:rPr lang="ru-RU"/>
              <a:t>х</a:t>
            </a:r>
            <a:endParaRPr lang="en-US"/>
          </a:p>
        </p:txBody>
      </p:sp>
      <p:sp>
        <p:nvSpPr>
          <p:cNvPr id="1604768572" name="Прямоугольник 81"/>
          <p:cNvSpPr/>
          <p:nvPr/>
        </p:nvSpPr>
        <p:spPr bwMode="auto">
          <a:xfrm>
            <a:off x="4469960" y="5279099"/>
            <a:ext cx="359090" cy="399032"/>
          </a:xfrm>
          <a:prstGeom prst="rect">
            <a:avLst/>
          </a:prstGeom>
          <a:solidFill>
            <a:srgbClr val="C00000"/>
          </a:solidFill>
        </p:spPr>
        <p:style>
          <a:lnRef idx="2">
            <a:schemeClr val="dk1"/>
          </a:lnRef>
          <a:fillRef idx="1">
            <a:schemeClr val="lt1"/>
          </a:fillRef>
          <a:effectRef idx="0">
            <a:schemeClr val="dk1"/>
          </a:effectRef>
          <a:fontRef idx="minor">
            <a:schemeClr val="dk1"/>
          </a:fontRef>
        </p:style>
        <p:txBody>
          <a:bodyPr rtlCol="0" anchor="ctr"/>
          <a:lstStyle/>
          <a:p>
            <a:pPr algn="ctr">
              <a:defRPr/>
            </a:pPr>
            <a:r>
              <a:rPr lang="ru-RU"/>
              <a:t>х</a:t>
            </a:r>
            <a:endParaRPr lang="en-US"/>
          </a:p>
        </p:txBody>
      </p:sp>
      <p:sp>
        <p:nvSpPr>
          <p:cNvPr id="872005433" name="Прямоугольник 82"/>
          <p:cNvSpPr/>
          <p:nvPr/>
        </p:nvSpPr>
        <p:spPr bwMode="auto">
          <a:xfrm>
            <a:off x="4829050" y="5277179"/>
            <a:ext cx="360000" cy="406682"/>
          </a:xfrm>
          <a:prstGeom prst="rect">
            <a:avLst/>
          </a:prstGeom>
          <a:solidFill>
            <a:schemeClr val="accent1">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defRPr/>
            </a:pPr>
            <a:r>
              <a:rPr lang="en-US"/>
              <a:t>y</a:t>
            </a:r>
            <a:endParaRPr/>
          </a:p>
        </p:txBody>
      </p:sp>
      <p:sp>
        <p:nvSpPr>
          <p:cNvPr id="1072943626" name="Прямоугольник 83"/>
          <p:cNvSpPr/>
          <p:nvPr/>
        </p:nvSpPr>
        <p:spPr bwMode="auto">
          <a:xfrm>
            <a:off x="5189960" y="5277209"/>
            <a:ext cx="2160000" cy="399032"/>
          </a:xfrm>
          <a:prstGeom prst="rect">
            <a:avLst/>
          </a:prstGeom>
          <a:solidFill>
            <a:srgbClr val="C00000"/>
          </a:solidFill>
        </p:spPr>
        <p:style>
          <a:lnRef idx="2">
            <a:schemeClr val="dk1"/>
          </a:lnRef>
          <a:fillRef idx="1">
            <a:schemeClr val="lt1"/>
          </a:fillRef>
          <a:effectRef idx="0">
            <a:schemeClr val="dk1"/>
          </a:effectRef>
          <a:fontRef idx="minor">
            <a:schemeClr val="dk1"/>
          </a:fontRef>
        </p:style>
        <p:txBody>
          <a:bodyPr rtlCol="0" anchor="ctr"/>
          <a:lstStyle/>
          <a:p>
            <a:pPr algn="ctr">
              <a:defRPr/>
            </a:pPr>
            <a:r>
              <a:rPr lang="ru-RU"/>
              <a:t>х</a:t>
            </a:r>
            <a:endParaRPr lang="en-US"/>
          </a:p>
        </p:txBody>
      </p:sp>
      <p:sp>
        <p:nvSpPr>
          <p:cNvPr id="244361231" name="Прямоугольник 84"/>
          <p:cNvSpPr/>
          <p:nvPr/>
        </p:nvSpPr>
        <p:spPr bwMode="auto">
          <a:xfrm>
            <a:off x="4469505" y="5677526"/>
            <a:ext cx="719545" cy="399032"/>
          </a:xfrm>
          <a:prstGeom prst="rect">
            <a:avLst/>
          </a:prstGeom>
          <a:solidFill>
            <a:srgbClr val="C00000"/>
          </a:solidFill>
        </p:spPr>
        <p:style>
          <a:lnRef idx="2">
            <a:schemeClr val="dk1"/>
          </a:lnRef>
          <a:fillRef idx="1">
            <a:schemeClr val="lt1"/>
          </a:fillRef>
          <a:effectRef idx="0">
            <a:schemeClr val="dk1"/>
          </a:effectRef>
          <a:fontRef idx="minor">
            <a:schemeClr val="dk1"/>
          </a:fontRef>
        </p:style>
        <p:txBody>
          <a:bodyPr rtlCol="0" anchor="ctr"/>
          <a:lstStyle/>
          <a:p>
            <a:pPr algn="ctr">
              <a:defRPr/>
            </a:pPr>
            <a:r>
              <a:rPr lang="ru-RU"/>
              <a:t>х</a:t>
            </a:r>
            <a:endParaRPr lang="en-US"/>
          </a:p>
        </p:txBody>
      </p:sp>
      <p:sp>
        <p:nvSpPr>
          <p:cNvPr id="359838592" name="Прямоугольник 85"/>
          <p:cNvSpPr/>
          <p:nvPr/>
        </p:nvSpPr>
        <p:spPr bwMode="auto">
          <a:xfrm>
            <a:off x="5189960" y="5681955"/>
            <a:ext cx="2160000" cy="39271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defRPr/>
            </a:pPr>
            <a:endParaRPr lang="en-US"/>
          </a:p>
        </p:txBody>
      </p:sp>
      <p:cxnSp>
        <p:nvCxnSpPr>
          <p:cNvPr id="371899453" name="Прямая со стрелкой 87"/>
          <p:cNvCxnSpPr/>
          <p:nvPr/>
        </p:nvCxnSpPr>
        <p:spPr bwMode="auto">
          <a:xfrm>
            <a:off x="7606145" y="2257696"/>
            <a:ext cx="71351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55526996" name="Прямая со стрелкой 88"/>
          <p:cNvCxnSpPr/>
          <p:nvPr/>
        </p:nvCxnSpPr>
        <p:spPr bwMode="auto">
          <a:xfrm>
            <a:off x="7606145" y="5281019"/>
            <a:ext cx="71351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55510245" name="Заголовок 1"/>
          <p:cNvSpPr>
            <a:spLocks noGrp="1"/>
          </p:cNvSpPr>
          <p:nvPr>
            <p:ph type="title"/>
          </p:nvPr>
        </p:nvSpPr>
        <p:spPr bwMode="auto"/>
        <p:txBody>
          <a:bodyPr/>
          <a:lstStyle/>
          <a:p>
            <a:pPr>
              <a:defRPr/>
            </a:pPr>
            <a:r>
              <a:rPr lang="ru-RU"/>
              <a:t>Классы и объекты С++</a:t>
            </a:r>
            <a:endParaRPr lang="en-US"/>
          </a:p>
        </p:txBody>
      </p:sp>
      <p:sp>
        <p:nvSpPr>
          <p:cNvPr id="305211311" name="Объект 2"/>
          <p:cNvSpPr>
            <a:spLocks noGrp="1"/>
          </p:cNvSpPr>
          <p:nvPr>
            <p:ph idx="1"/>
          </p:nvPr>
        </p:nvSpPr>
        <p:spPr bwMode="auto"/>
        <p:txBody>
          <a:bodyPr>
            <a:normAutofit/>
          </a:bodyPr>
          <a:lstStyle/>
          <a:p>
            <a:pPr marL="0" indent="0">
              <a:buNone/>
              <a:defRPr/>
            </a:pPr>
            <a:r>
              <a:rPr lang="ru-RU" sz="2000"/>
              <a:t>В языке С++ помимо структур возникли понятия классов и объектов. Тем не менее, объявление класса и объявление структуры отличается только уровнем доступа по умолчанию =</a:t>
            </a:r>
            <a:r>
              <a:rPr lang="en-US" sz="2000" b="1"/>
              <a:t>&gt; </a:t>
            </a:r>
            <a:r>
              <a:rPr lang="ru-RU" sz="2000" i="1"/>
              <a:t>расположение объектов и структур в памяти не отличается</a:t>
            </a:r>
            <a:r>
              <a:rPr lang="ru-RU" sz="2000"/>
              <a:t>. </a:t>
            </a:r>
            <a:endParaRPr/>
          </a:p>
          <a:p>
            <a:pPr marL="0" indent="0">
              <a:buNone/>
              <a:defRPr/>
            </a:pPr>
            <a:r>
              <a:rPr lang="ru-RU" sz="2000"/>
              <a:t>Более того, </a:t>
            </a:r>
            <a:r>
              <a:rPr lang="ru-RU" sz="2000" i="1"/>
              <a:t>модификаторы доступа действуют только на уровне языка </a:t>
            </a:r>
            <a:r>
              <a:rPr lang="ru-RU" sz="2000"/>
              <a:t>=</a:t>
            </a:r>
            <a:r>
              <a:rPr lang="en-US" sz="2000"/>
              <a:t>&gt; </a:t>
            </a:r>
            <a:r>
              <a:rPr lang="ru-RU" sz="2000"/>
              <a:t>на уровне ассемблера вполне можно изменить приватное поле или вызвать приватный метод.</a:t>
            </a:r>
            <a:endParaRPr/>
          </a:p>
          <a:p>
            <a:pPr marL="0" indent="0">
              <a:buNone/>
              <a:defRPr/>
            </a:pPr>
            <a:r>
              <a:rPr lang="ru-RU" sz="2000"/>
              <a:t>Порядок полей объекта </a:t>
            </a:r>
            <a:r>
              <a:rPr lang="ru-RU" sz="2000" i="1"/>
              <a:t>одного уровня видимости </a:t>
            </a:r>
            <a:r>
              <a:rPr lang="ru-RU" sz="2000"/>
              <a:t>совпадает с порядком объявления. Порядок полей разных уровней видимости не определен.</a:t>
            </a:r>
            <a:endParaRPr lang="en-US" sz="2000"/>
          </a:p>
          <a:p>
            <a:pPr marL="0" indent="0">
              <a:buNone/>
              <a:defRPr/>
            </a:pPr>
            <a:endParaRPr lang="en-US" sz="2000"/>
          </a:p>
        </p:txBody>
      </p:sp>
      <p:sp>
        <p:nvSpPr>
          <p:cNvPr id="1918412633" name="Номер слайда 4"/>
          <p:cNvSpPr>
            <a:spLocks noGrp="1"/>
          </p:cNvSpPr>
          <p:nvPr>
            <p:ph type="sldNum" sz="quarter" idx="12"/>
          </p:nvPr>
        </p:nvSpPr>
        <p:spPr bwMode="auto"/>
        <p:txBody>
          <a:bodyPr/>
          <a:lstStyle/>
          <a:p>
            <a:pPr>
              <a:defRPr/>
            </a:pPr>
            <a:fld id="{B67FBA2B-964F-4C4D-AAF7-5A8399264638}" type="slidenum">
              <a:rPr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71625794" name="Заголовок 1"/>
          <p:cNvSpPr>
            <a:spLocks noGrp="1"/>
          </p:cNvSpPr>
          <p:nvPr>
            <p:ph type="title"/>
          </p:nvPr>
        </p:nvSpPr>
        <p:spPr bwMode="auto"/>
        <p:txBody>
          <a:bodyPr/>
          <a:lstStyle/>
          <a:p>
            <a:pPr>
              <a:defRPr/>
            </a:pPr>
            <a:r>
              <a:rPr lang="ru-RU"/>
              <a:t>Конструкторы и деструкторы</a:t>
            </a:r>
            <a:endParaRPr lang="en-US"/>
          </a:p>
        </p:txBody>
      </p:sp>
      <p:sp>
        <p:nvSpPr>
          <p:cNvPr id="107266180" name="Объект 2"/>
          <p:cNvSpPr>
            <a:spLocks noGrp="1"/>
          </p:cNvSpPr>
          <p:nvPr>
            <p:ph idx="1"/>
          </p:nvPr>
        </p:nvSpPr>
        <p:spPr bwMode="auto">
          <a:xfrm>
            <a:off x="838200" y="1825625"/>
            <a:ext cx="10818654" cy="4138757"/>
          </a:xfrm>
        </p:spPr>
        <p:txBody>
          <a:bodyPr>
            <a:normAutofit/>
          </a:bodyPr>
          <a:lstStyle/>
          <a:p>
            <a:pPr marL="0" indent="0">
              <a:buNone/>
              <a:defRPr/>
            </a:pPr>
            <a:r>
              <a:rPr lang="ru-RU" sz="2000"/>
              <a:t>Конструкторы и деструкторы являются методами класса, следовательно, их механизм вызова производится согласно соответствующему соглашению о вызовах.</a:t>
            </a:r>
            <a:endParaRPr/>
          </a:p>
          <a:p>
            <a:pPr marL="0" indent="0">
              <a:buNone/>
              <a:defRPr/>
            </a:pPr>
            <a:r>
              <a:rPr lang="ru-RU" sz="2000"/>
              <a:t>Компилятор автоматически генерирует вызов конструктора при объявлении объекта. Обратите внимание, что </a:t>
            </a:r>
            <a:r>
              <a:rPr lang="ru-RU" sz="2000" i="1"/>
              <a:t>конструктор вызывается после выделения памяти для объект</a:t>
            </a:r>
            <a:r>
              <a:rPr lang="en-US" sz="2000" i="1"/>
              <a:t> </a:t>
            </a:r>
            <a:r>
              <a:rPr lang="en-US" sz="2000"/>
              <a:t>(</a:t>
            </a:r>
            <a:r>
              <a:rPr lang="ru-RU" sz="2000"/>
              <a:t>не важно, на стеке или в куче</a:t>
            </a:r>
            <a:r>
              <a:rPr lang="en-US" sz="2000"/>
              <a:t>)</a:t>
            </a:r>
            <a:r>
              <a:rPr lang="ru-RU" sz="2000"/>
              <a:t>.</a:t>
            </a:r>
            <a:endParaRPr/>
          </a:p>
          <a:p>
            <a:pPr marL="0" indent="0">
              <a:buNone/>
              <a:defRPr/>
            </a:pPr>
            <a:r>
              <a:rPr lang="ru-RU" sz="2000"/>
              <a:t>Аналогичная ситуация происходит с деструктором – компилятор вызывает его автоматически перед освобождением памяти, выделенной для объекта.</a:t>
            </a:r>
            <a:endParaRPr lang="en-US" sz="2000"/>
          </a:p>
          <a:p>
            <a:pPr marL="0" indent="0">
              <a:buNone/>
              <a:defRPr/>
            </a:pPr>
            <a:r>
              <a:rPr lang="ru-RU" sz="2000"/>
              <a:t>Если выделение памяти производится на стеке или в секциях данных, компилятор самостоятельно учитывает выравнивание.</a:t>
            </a:r>
            <a:endParaRPr/>
          </a:p>
          <a:p>
            <a:pPr marL="0" indent="0">
              <a:buNone/>
              <a:defRPr/>
            </a:pPr>
            <a:r>
              <a:rPr lang="ru-RU" sz="2000"/>
              <a:t>Если выделение памяти производится в куче, обычно дополнительных действий не требуется, т.к. </a:t>
            </a:r>
            <a:r>
              <a:rPr lang="en-US" sz="2000"/>
              <a:t>malloc() </a:t>
            </a:r>
            <a:r>
              <a:rPr lang="ru-RU" sz="2000"/>
              <a:t>и </a:t>
            </a:r>
            <a:r>
              <a:rPr lang="en-US" sz="2000"/>
              <a:t>new()</a:t>
            </a:r>
            <a:r>
              <a:rPr lang="ru-RU" sz="2000"/>
              <a:t> возвращают адрес, выровненный по границе 16 байт. Если для структуры требуется большее выравнивание, то за него отвечает программист, а не компилятор.</a:t>
            </a:r>
            <a:endParaRPr lang="en-US" sz="2000"/>
          </a:p>
        </p:txBody>
      </p:sp>
      <p:sp>
        <p:nvSpPr>
          <p:cNvPr id="1212754929" name="Номер слайда 4"/>
          <p:cNvSpPr>
            <a:spLocks noGrp="1"/>
          </p:cNvSpPr>
          <p:nvPr>
            <p:ph type="sldNum" sz="quarter" idx="12"/>
          </p:nvPr>
        </p:nvSpPr>
        <p:spPr bwMode="auto"/>
        <p:txBody>
          <a:bodyPr/>
          <a:lstStyle/>
          <a:p>
            <a:pPr>
              <a:defRPr/>
            </a:pPr>
            <a:fld id="{B67FBA2B-964F-4C4D-AAF7-5A8399264638}" type="slidenum">
              <a:rPr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589932144" name="Прямоугольник 21"/>
          <p:cNvSpPr/>
          <p:nvPr/>
        </p:nvSpPr>
        <p:spPr bwMode="auto">
          <a:xfrm>
            <a:off x="8610600" y="4870336"/>
            <a:ext cx="2743200" cy="219267"/>
          </a:xfrm>
          <a:prstGeom prst="rect">
            <a:avLst/>
          </a:prstGeom>
          <a:solidFill>
            <a:srgbClr val="FDF1E9"/>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15132047" name="Прямоугольник 22"/>
          <p:cNvSpPr/>
          <p:nvPr/>
        </p:nvSpPr>
        <p:spPr bwMode="auto">
          <a:xfrm>
            <a:off x="8610600" y="3468254"/>
            <a:ext cx="2743200" cy="300572"/>
          </a:xfrm>
          <a:prstGeom prst="rect">
            <a:avLst/>
          </a:prstGeom>
          <a:solidFill>
            <a:srgbClr val="EEF7E9"/>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920832292" name="Прямоугольник 19"/>
          <p:cNvSpPr/>
          <p:nvPr/>
        </p:nvSpPr>
        <p:spPr bwMode="auto">
          <a:xfrm>
            <a:off x="893676" y="5089603"/>
            <a:ext cx="232866" cy="274673"/>
          </a:xfrm>
          <a:prstGeom prst="rect">
            <a:avLst/>
          </a:prstGeom>
          <a:solidFill>
            <a:schemeClr val="accent2">
              <a:lumMod val="40000"/>
              <a:lumOff val="60000"/>
            </a:schemeClr>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033490340" name="Прямоугольник 20"/>
          <p:cNvSpPr/>
          <p:nvPr/>
        </p:nvSpPr>
        <p:spPr bwMode="auto">
          <a:xfrm>
            <a:off x="1418540" y="4814928"/>
            <a:ext cx="527303" cy="274674"/>
          </a:xfrm>
          <a:prstGeom prst="rect">
            <a:avLst/>
          </a:prstGeom>
          <a:solidFill>
            <a:schemeClr val="accent6">
              <a:lumMod val="40000"/>
              <a:lumOff val="6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006936418" name="Прямоугольник 17"/>
          <p:cNvSpPr/>
          <p:nvPr/>
        </p:nvSpPr>
        <p:spPr bwMode="auto">
          <a:xfrm>
            <a:off x="8610600" y="4320988"/>
            <a:ext cx="2743200" cy="549348"/>
          </a:xfrm>
          <a:prstGeom prst="rect">
            <a:avLst/>
          </a:prstGeom>
          <a:solidFill>
            <a:schemeClr val="accent2">
              <a:lumMod val="40000"/>
              <a:lumOff val="60000"/>
            </a:schemeClr>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992180285" name="Прямоугольник 18"/>
          <p:cNvSpPr/>
          <p:nvPr/>
        </p:nvSpPr>
        <p:spPr bwMode="auto">
          <a:xfrm>
            <a:off x="8610600" y="3771640"/>
            <a:ext cx="2743200" cy="549348"/>
          </a:xfrm>
          <a:prstGeom prst="rect">
            <a:avLst/>
          </a:prstGeom>
          <a:solidFill>
            <a:schemeClr val="accent6">
              <a:lumMod val="40000"/>
              <a:lumOff val="6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725925550" name="Заголовок 1"/>
          <p:cNvSpPr>
            <a:spLocks noGrp="1"/>
          </p:cNvSpPr>
          <p:nvPr>
            <p:ph type="title"/>
          </p:nvPr>
        </p:nvSpPr>
        <p:spPr bwMode="auto"/>
        <p:txBody>
          <a:bodyPr/>
          <a:lstStyle/>
          <a:p>
            <a:pPr>
              <a:defRPr/>
            </a:pPr>
            <a:r>
              <a:rPr lang="ru-RU"/>
              <a:t>Конструкторы и деструкторы</a:t>
            </a:r>
            <a:endParaRPr lang="en-US"/>
          </a:p>
        </p:txBody>
      </p:sp>
      <p:sp>
        <p:nvSpPr>
          <p:cNvPr id="61720463" name="Номер слайда 4"/>
          <p:cNvSpPr>
            <a:spLocks noGrp="1"/>
          </p:cNvSpPr>
          <p:nvPr>
            <p:ph type="sldNum" sz="quarter" idx="12"/>
          </p:nvPr>
        </p:nvSpPr>
        <p:spPr bwMode="auto"/>
        <p:txBody>
          <a:bodyPr/>
          <a:lstStyle/>
          <a:p>
            <a:pPr>
              <a:defRPr/>
            </a:pPr>
            <a:fld id="{B67FBA2B-964F-4C4D-AAF7-5A8399264638}" type="slidenum">
              <a:rPr lang="en-US"/>
              <a:t>26</a:t>
            </a:fld>
            <a:endParaRPr lang="en-US"/>
          </a:p>
        </p:txBody>
      </p:sp>
      <p:sp>
        <p:nvSpPr>
          <p:cNvPr id="1386825411" name="TextBox 14"/>
          <p:cNvSpPr txBox="1"/>
          <p:nvPr/>
        </p:nvSpPr>
        <p:spPr bwMode="auto">
          <a:xfrm>
            <a:off x="838200" y="2592358"/>
            <a:ext cx="4347057" cy="2862322"/>
          </a:xfrm>
          <a:prstGeom prst="rect">
            <a:avLst/>
          </a:prstGeom>
          <a:noFill/>
        </p:spPr>
        <p:txBody>
          <a:bodyPr wrap="square">
            <a:spAutoFit/>
          </a:bodyPr>
          <a:lstStyle/>
          <a:p>
            <a:pPr>
              <a:defRPr/>
            </a:pPr>
            <a:r>
              <a:rPr lang="en-US" b="0">
                <a:solidFill>
                  <a:srgbClr val="0000FF"/>
                </a:solidFill>
                <a:latin typeface="Consolas"/>
              </a:rPr>
              <a:t>class</a:t>
            </a:r>
            <a:r>
              <a:rPr lang="en-US" b="0">
                <a:solidFill>
                  <a:srgbClr val="000000"/>
                </a:solidFill>
                <a:latin typeface="Consolas"/>
              </a:rPr>
              <a:t> C{</a:t>
            </a:r>
            <a:endParaRPr/>
          </a:p>
          <a:p>
            <a:pPr>
              <a:defRPr/>
            </a:pPr>
            <a:r>
              <a:rPr lang="en-US" b="0">
                <a:solidFill>
                  <a:srgbClr val="000000"/>
                </a:solidFill>
                <a:latin typeface="Consolas"/>
              </a:rPr>
              <a:t>    </a:t>
            </a:r>
            <a:r>
              <a:rPr lang="en-US" b="0">
                <a:solidFill>
                  <a:srgbClr val="0000FF"/>
                </a:solidFill>
                <a:latin typeface="Consolas"/>
              </a:rPr>
              <a:t>int</a:t>
            </a:r>
            <a:r>
              <a:rPr lang="en-US" b="0">
                <a:solidFill>
                  <a:srgbClr val="000000"/>
                </a:solidFill>
                <a:latin typeface="Consolas"/>
              </a:rPr>
              <a:t> x;</a:t>
            </a:r>
            <a:endParaRPr/>
          </a:p>
          <a:p>
            <a:pPr>
              <a:defRPr/>
            </a:pPr>
            <a:r>
              <a:rPr lang="en-US" b="0">
                <a:solidFill>
                  <a:srgbClr val="0000FF"/>
                </a:solidFill>
                <a:latin typeface="Consolas"/>
              </a:rPr>
              <a:t>public</a:t>
            </a:r>
            <a:r>
              <a:rPr lang="en-US" b="0">
                <a:solidFill>
                  <a:srgbClr val="000000"/>
                </a:solidFill>
                <a:latin typeface="Consolas"/>
              </a:rPr>
              <a:t>:</a:t>
            </a:r>
            <a:endParaRPr/>
          </a:p>
          <a:p>
            <a:pPr>
              <a:defRPr/>
            </a:pPr>
            <a:r>
              <a:rPr lang="en-US" b="0">
                <a:solidFill>
                  <a:srgbClr val="000000"/>
                </a:solidFill>
                <a:latin typeface="Consolas"/>
              </a:rPr>
              <a:t>    C(){ printf(</a:t>
            </a:r>
            <a:r>
              <a:rPr lang="en-US" b="0">
                <a:solidFill>
                  <a:srgbClr val="A31515"/>
                </a:solidFill>
                <a:latin typeface="Consolas"/>
              </a:rPr>
              <a:t>"I'm born!"</a:t>
            </a:r>
            <a:r>
              <a:rPr lang="en-US" b="0">
                <a:solidFill>
                  <a:srgbClr val="000000"/>
                </a:solidFill>
                <a:latin typeface="Consolas"/>
              </a:rPr>
              <a:t>);}</a:t>
            </a:r>
            <a:endParaRPr/>
          </a:p>
          <a:p>
            <a:pPr>
              <a:defRPr/>
            </a:pPr>
            <a:r>
              <a:rPr lang="en-US" b="0">
                <a:solidFill>
                  <a:srgbClr val="000000"/>
                </a:solidFill>
                <a:latin typeface="Consolas"/>
              </a:rPr>
              <a:t>    ~C(){ printf(</a:t>
            </a:r>
            <a:r>
              <a:rPr lang="en-US" b="0">
                <a:solidFill>
                  <a:srgbClr val="A31515"/>
                </a:solidFill>
                <a:latin typeface="Consolas"/>
              </a:rPr>
              <a:t>"I'm dying!"</a:t>
            </a:r>
            <a:r>
              <a:rPr lang="en-US" b="0">
                <a:solidFill>
                  <a:srgbClr val="000000"/>
                </a:solidFill>
                <a:latin typeface="Consolas"/>
              </a:rPr>
              <a:t>);}</a:t>
            </a:r>
            <a:endParaRPr/>
          </a:p>
          <a:p>
            <a:pPr>
              <a:defRPr/>
            </a:pPr>
            <a:r>
              <a:rPr lang="en-US" b="0">
                <a:solidFill>
                  <a:srgbClr val="000000"/>
                </a:solidFill>
                <a:latin typeface="Consolas"/>
              </a:rPr>
              <a:t>};</a:t>
            </a:r>
            <a:endParaRPr/>
          </a:p>
          <a:p>
            <a:pPr>
              <a:defRPr/>
            </a:pPr>
            <a:br>
              <a:rPr lang="en-US" b="0">
                <a:solidFill>
                  <a:srgbClr val="000000"/>
                </a:solidFill>
                <a:latin typeface="Consolas"/>
              </a:rPr>
            </a:br>
            <a:r>
              <a:rPr lang="en-US" b="0">
                <a:solidFill>
                  <a:srgbClr val="0000FF"/>
                </a:solidFill>
                <a:latin typeface="Consolas"/>
              </a:rPr>
              <a:t>void</a:t>
            </a:r>
            <a:r>
              <a:rPr lang="en-US" b="0">
                <a:solidFill>
                  <a:srgbClr val="000000"/>
                </a:solidFill>
                <a:latin typeface="Consolas"/>
              </a:rPr>
              <a:t> foo(){</a:t>
            </a:r>
            <a:endParaRPr/>
          </a:p>
          <a:p>
            <a:pPr>
              <a:defRPr/>
            </a:pPr>
            <a:r>
              <a:rPr lang="en-US" b="0">
                <a:solidFill>
                  <a:srgbClr val="000000"/>
                </a:solidFill>
                <a:latin typeface="Consolas"/>
              </a:rPr>
              <a:t>    C c; </a:t>
            </a:r>
            <a:r>
              <a:rPr lang="en-US" b="0">
                <a:solidFill>
                  <a:srgbClr val="008000"/>
                </a:solidFill>
                <a:latin typeface="Consolas"/>
              </a:rPr>
              <a:t>// C() called here</a:t>
            </a:r>
            <a:endParaRPr lang="en-US" b="0">
              <a:solidFill>
                <a:srgbClr val="000000"/>
              </a:solidFill>
              <a:latin typeface="Consolas"/>
            </a:endParaRPr>
          </a:p>
          <a:p>
            <a:pPr>
              <a:defRPr/>
            </a:pPr>
            <a:r>
              <a:rPr lang="en-US" b="0">
                <a:solidFill>
                  <a:srgbClr val="000000"/>
                </a:solidFill>
                <a:latin typeface="Consolas"/>
              </a:rPr>
              <a:t>}        </a:t>
            </a:r>
            <a:r>
              <a:rPr lang="en-US" b="0">
                <a:solidFill>
                  <a:srgbClr val="008000"/>
                </a:solidFill>
                <a:latin typeface="Consolas"/>
              </a:rPr>
              <a:t>//~C() called here;</a:t>
            </a:r>
            <a:endParaRPr lang="en-US" b="0">
              <a:solidFill>
                <a:srgbClr val="000000"/>
              </a:solidFill>
              <a:latin typeface="Consolas"/>
            </a:endParaRPr>
          </a:p>
        </p:txBody>
      </p:sp>
      <p:sp>
        <p:nvSpPr>
          <p:cNvPr id="1503507490" name="TextBox 16"/>
          <p:cNvSpPr txBox="1"/>
          <p:nvPr/>
        </p:nvSpPr>
        <p:spPr bwMode="auto">
          <a:xfrm>
            <a:off x="7535876" y="2592358"/>
            <a:ext cx="4175759" cy="2862322"/>
          </a:xfrm>
          <a:prstGeom prst="rect">
            <a:avLst/>
          </a:prstGeom>
          <a:noFill/>
        </p:spPr>
        <p:txBody>
          <a:bodyPr wrap="square">
            <a:spAutoFit/>
          </a:bodyPr>
          <a:lstStyle/>
          <a:p>
            <a:pPr>
              <a:defRPr/>
            </a:pPr>
            <a:r>
              <a:rPr lang="en-US" b="0">
                <a:solidFill>
                  <a:srgbClr val="008080"/>
                </a:solidFill>
                <a:latin typeface="Consolas"/>
              </a:rPr>
              <a:t>foo():</a:t>
            </a:r>
            <a:endParaRPr lang="en-US" b="0">
              <a:solidFill>
                <a:srgbClr val="000000"/>
              </a:solidFill>
              <a:latin typeface="Consolas"/>
            </a:endParaRPr>
          </a:p>
          <a:p>
            <a:pPr>
              <a:defRPr/>
            </a:pPr>
            <a:r>
              <a:rPr lang="en-US" b="0">
                <a:solidFill>
                  <a:srgbClr val="000000"/>
                </a:solidFill>
                <a:latin typeface="Consolas"/>
              </a:rPr>
              <a:t>        </a:t>
            </a:r>
            <a:r>
              <a:rPr lang="en-US" b="0">
                <a:solidFill>
                  <a:srgbClr val="0000FF"/>
                </a:solidFill>
                <a:latin typeface="Consolas"/>
              </a:rPr>
              <a:t>push</a:t>
            </a:r>
            <a:r>
              <a:rPr lang="en-US" b="0">
                <a:solidFill>
                  <a:srgbClr val="000000"/>
                </a:solidFill>
                <a:latin typeface="Consolas"/>
              </a:rPr>
              <a:t>    </a:t>
            </a:r>
            <a:r>
              <a:rPr lang="en-US" b="0">
                <a:solidFill>
                  <a:srgbClr val="4864AA"/>
                </a:solidFill>
                <a:latin typeface="Consolas"/>
              </a:rPr>
              <a:t>rbp</a:t>
            </a:r>
            <a:endParaRPr lang="en-US" b="0">
              <a:solidFill>
                <a:srgbClr val="000000"/>
              </a:solidFill>
              <a:latin typeface="Consolas"/>
            </a:endParaRPr>
          </a:p>
          <a:p>
            <a:pPr>
              <a:defRPr/>
            </a:pPr>
            <a:r>
              <a:rPr lang="en-US" b="0">
                <a:solidFill>
                  <a:srgbClr val="000000"/>
                </a:solidFill>
                <a:latin typeface="Consolas"/>
              </a:rPr>
              <a:t>        </a:t>
            </a:r>
            <a:r>
              <a:rPr lang="en-US" b="0">
                <a:solidFill>
                  <a:srgbClr val="0000FF"/>
                </a:solidFill>
                <a:latin typeface="Consolas"/>
              </a:rPr>
              <a:t>mov</a:t>
            </a:r>
            <a:r>
              <a:rPr lang="en-US" b="0">
                <a:solidFill>
                  <a:srgbClr val="000000"/>
                </a:solidFill>
                <a:latin typeface="Consolas"/>
              </a:rPr>
              <a:t>     </a:t>
            </a:r>
            <a:r>
              <a:rPr lang="en-US" b="0">
                <a:solidFill>
                  <a:srgbClr val="4864AA"/>
                </a:solidFill>
                <a:latin typeface="Consolas"/>
              </a:rPr>
              <a:t>rbp</a:t>
            </a:r>
            <a:r>
              <a:rPr lang="en-US" b="0">
                <a:solidFill>
                  <a:srgbClr val="000000"/>
                </a:solidFill>
                <a:latin typeface="Consolas"/>
              </a:rPr>
              <a:t>, </a:t>
            </a:r>
            <a:r>
              <a:rPr lang="en-US" b="0">
                <a:solidFill>
                  <a:srgbClr val="4864AA"/>
                </a:solidFill>
                <a:latin typeface="Consolas"/>
              </a:rPr>
              <a:t>rsp</a:t>
            </a:r>
            <a:endParaRPr lang="en-US" b="0">
              <a:solidFill>
                <a:srgbClr val="000000"/>
              </a:solidFill>
              <a:latin typeface="Consolas"/>
            </a:endParaRPr>
          </a:p>
          <a:p>
            <a:pPr>
              <a:defRPr/>
            </a:pPr>
            <a:r>
              <a:rPr lang="en-US" b="0">
                <a:solidFill>
                  <a:srgbClr val="000000"/>
                </a:solidFill>
                <a:latin typeface="Consolas"/>
              </a:rPr>
              <a:t>        </a:t>
            </a:r>
            <a:r>
              <a:rPr lang="en-US" b="0">
                <a:solidFill>
                  <a:srgbClr val="0000FF"/>
                </a:solidFill>
                <a:latin typeface="Consolas"/>
              </a:rPr>
              <a:t>sub</a:t>
            </a:r>
            <a:r>
              <a:rPr lang="en-US" b="0">
                <a:solidFill>
                  <a:srgbClr val="000000"/>
                </a:solidFill>
                <a:latin typeface="Consolas"/>
              </a:rPr>
              <a:t>     </a:t>
            </a:r>
            <a:r>
              <a:rPr lang="en-US" b="0">
                <a:solidFill>
                  <a:srgbClr val="4864AA"/>
                </a:solidFill>
                <a:latin typeface="Consolas"/>
              </a:rPr>
              <a:t>rsp</a:t>
            </a:r>
            <a:r>
              <a:rPr lang="en-US" b="0">
                <a:solidFill>
                  <a:srgbClr val="000000"/>
                </a:solidFill>
                <a:latin typeface="Consolas"/>
              </a:rPr>
              <a:t>, </a:t>
            </a:r>
            <a:r>
              <a:rPr lang="en-US" b="0">
                <a:solidFill>
                  <a:srgbClr val="098658"/>
                </a:solidFill>
                <a:latin typeface="Consolas"/>
              </a:rPr>
              <a:t>48</a:t>
            </a:r>
            <a:endParaRPr lang="en-US" b="0">
              <a:solidFill>
                <a:srgbClr val="000000"/>
              </a:solidFill>
              <a:latin typeface="Consolas"/>
            </a:endParaRPr>
          </a:p>
          <a:p>
            <a:pPr>
              <a:defRPr/>
            </a:pPr>
            <a:r>
              <a:rPr lang="en-US" b="0">
                <a:solidFill>
                  <a:srgbClr val="000000"/>
                </a:solidFill>
                <a:latin typeface="Consolas"/>
              </a:rPr>
              <a:t>        </a:t>
            </a:r>
            <a:r>
              <a:rPr lang="en-US" b="0">
                <a:solidFill>
                  <a:srgbClr val="0000FF"/>
                </a:solidFill>
                <a:latin typeface="Consolas"/>
              </a:rPr>
              <a:t>lea</a:t>
            </a:r>
            <a:r>
              <a:rPr lang="en-US" b="0">
                <a:solidFill>
                  <a:srgbClr val="000000"/>
                </a:solidFill>
                <a:latin typeface="Consolas"/>
              </a:rPr>
              <a:t>     </a:t>
            </a:r>
            <a:r>
              <a:rPr lang="en-US" b="0">
                <a:solidFill>
                  <a:srgbClr val="4864AA"/>
                </a:solidFill>
                <a:latin typeface="Consolas"/>
              </a:rPr>
              <a:t>rcx</a:t>
            </a:r>
            <a:r>
              <a:rPr lang="en-US" b="0">
                <a:solidFill>
                  <a:srgbClr val="000000"/>
                </a:solidFill>
                <a:latin typeface="Consolas"/>
              </a:rPr>
              <a:t>, [</a:t>
            </a:r>
            <a:r>
              <a:rPr lang="en-US" b="0">
                <a:solidFill>
                  <a:srgbClr val="4864AA"/>
                </a:solidFill>
                <a:latin typeface="Consolas"/>
              </a:rPr>
              <a:t>rbp</a:t>
            </a:r>
            <a:r>
              <a:rPr lang="en-US" b="0">
                <a:solidFill>
                  <a:srgbClr val="000000"/>
                </a:solidFill>
                <a:latin typeface="Consolas"/>
              </a:rPr>
              <a:t>-</a:t>
            </a:r>
            <a:r>
              <a:rPr lang="en-US" b="0">
                <a:solidFill>
                  <a:srgbClr val="098658"/>
                </a:solidFill>
                <a:latin typeface="Consolas"/>
              </a:rPr>
              <a:t>4</a:t>
            </a:r>
            <a:r>
              <a:rPr lang="en-US" b="0">
                <a:solidFill>
                  <a:srgbClr val="000000"/>
                </a:solidFill>
                <a:latin typeface="Consolas"/>
              </a:rPr>
              <a:t>]</a:t>
            </a:r>
            <a:endParaRPr/>
          </a:p>
          <a:p>
            <a:pPr>
              <a:defRPr/>
            </a:pPr>
            <a:r>
              <a:rPr lang="en-US" b="0">
                <a:solidFill>
                  <a:srgbClr val="000000"/>
                </a:solidFill>
                <a:latin typeface="Consolas"/>
              </a:rPr>
              <a:t>        </a:t>
            </a:r>
            <a:r>
              <a:rPr lang="en-US" b="0">
                <a:solidFill>
                  <a:srgbClr val="0000FF"/>
                </a:solidFill>
                <a:latin typeface="Consolas"/>
              </a:rPr>
              <a:t>call</a:t>
            </a:r>
            <a:r>
              <a:rPr lang="en-US" b="0">
                <a:solidFill>
                  <a:srgbClr val="000000"/>
                </a:solidFill>
                <a:latin typeface="Consolas"/>
              </a:rPr>
              <a:t>    </a:t>
            </a:r>
            <a:r>
              <a:rPr lang="en-US" b="0">
                <a:solidFill>
                  <a:srgbClr val="008080"/>
                </a:solidFill>
                <a:latin typeface="Consolas"/>
              </a:rPr>
              <a:t>C</a:t>
            </a:r>
            <a:r>
              <a:rPr lang="en-US" b="0">
                <a:solidFill>
                  <a:srgbClr val="000000"/>
                </a:solidFill>
                <a:latin typeface="Consolas"/>
              </a:rPr>
              <a:t>::</a:t>
            </a:r>
            <a:r>
              <a:rPr lang="en-US" b="0">
                <a:solidFill>
                  <a:srgbClr val="008080"/>
                </a:solidFill>
                <a:latin typeface="Consolas"/>
              </a:rPr>
              <a:t>C</a:t>
            </a:r>
            <a:r>
              <a:rPr lang="en-US" b="0">
                <a:solidFill>
                  <a:srgbClr val="000000"/>
                </a:solidFill>
                <a:latin typeface="Consolas"/>
              </a:rPr>
              <a:t>()</a:t>
            </a:r>
            <a:endParaRPr/>
          </a:p>
          <a:p>
            <a:pPr>
              <a:defRPr/>
            </a:pPr>
            <a:r>
              <a:rPr lang="en-US" b="0">
                <a:solidFill>
                  <a:srgbClr val="000000"/>
                </a:solidFill>
                <a:latin typeface="Consolas"/>
              </a:rPr>
              <a:t>        </a:t>
            </a:r>
            <a:r>
              <a:rPr lang="en-US" b="0">
                <a:solidFill>
                  <a:srgbClr val="0000FF"/>
                </a:solidFill>
                <a:latin typeface="Consolas"/>
              </a:rPr>
              <a:t>lea</a:t>
            </a:r>
            <a:r>
              <a:rPr lang="en-US" b="0">
                <a:solidFill>
                  <a:srgbClr val="000000"/>
                </a:solidFill>
                <a:latin typeface="Consolas"/>
              </a:rPr>
              <a:t>     </a:t>
            </a:r>
            <a:r>
              <a:rPr lang="en-US" b="0">
                <a:solidFill>
                  <a:srgbClr val="4864AA"/>
                </a:solidFill>
                <a:latin typeface="Consolas"/>
              </a:rPr>
              <a:t>rcx</a:t>
            </a:r>
            <a:r>
              <a:rPr lang="en-US" b="0">
                <a:solidFill>
                  <a:srgbClr val="000000"/>
                </a:solidFill>
                <a:latin typeface="Consolas"/>
              </a:rPr>
              <a:t>, [</a:t>
            </a:r>
            <a:r>
              <a:rPr lang="en-US" b="0">
                <a:solidFill>
                  <a:srgbClr val="4864AA"/>
                </a:solidFill>
                <a:latin typeface="Consolas"/>
              </a:rPr>
              <a:t>rbp</a:t>
            </a:r>
            <a:r>
              <a:rPr lang="en-US" b="0">
                <a:solidFill>
                  <a:srgbClr val="000000"/>
                </a:solidFill>
                <a:latin typeface="Consolas"/>
              </a:rPr>
              <a:t>-</a:t>
            </a:r>
            <a:r>
              <a:rPr lang="en-US" b="0">
                <a:solidFill>
                  <a:srgbClr val="098658"/>
                </a:solidFill>
                <a:latin typeface="Consolas"/>
              </a:rPr>
              <a:t>4</a:t>
            </a:r>
            <a:r>
              <a:rPr lang="en-US" b="0">
                <a:solidFill>
                  <a:srgbClr val="000000"/>
                </a:solidFill>
                <a:latin typeface="Consolas"/>
              </a:rPr>
              <a:t>]</a:t>
            </a:r>
            <a:endParaRPr/>
          </a:p>
          <a:p>
            <a:pPr>
              <a:defRPr/>
            </a:pPr>
            <a:r>
              <a:rPr lang="en-US" b="0">
                <a:solidFill>
                  <a:srgbClr val="000000"/>
                </a:solidFill>
                <a:latin typeface="Consolas"/>
              </a:rPr>
              <a:t>        </a:t>
            </a:r>
            <a:r>
              <a:rPr lang="en-US" b="0">
                <a:solidFill>
                  <a:srgbClr val="0000FF"/>
                </a:solidFill>
                <a:latin typeface="Consolas"/>
              </a:rPr>
              <a:t>call</a:t>
            </a:r>
            <a:r>
              <a:rPr lang="en-US" b="0">
                <a:solidFill>
                  <a:srgbClr val="000000"/>
                </a:solidFill>
                <a:latin typeface="Consolas"/>
              </a:rPr>
              <a:t>    </a:t>
            </a:r>
            <a:r>
              <a:rPr lang="en-US" b="0">
                <a:solidFill>
                  <a:srgbClr val="008080"/>
                </a:solidFill>
                <a:latin typeface="Consolas"/>
              </a:rPr>
              <a:t>C</a:t>
            </a:r>
            <a:r>
              <a:rPr lang="en-US" b="0">
                <a:solidFill>
                  <a:srgbClr val="000000"/>
                </a:solidFill>
                <a:latin typeface="Consolas"/>
              </a:rPr>
              <a:t>::</a:t>
            </a:r>
            <a:r>
              <a:rPr lang="en-US" b="0">
                <a:solidFill>
                  <a:srgbClr val="CD3131"/>
                </a:solidFill>
                <a:latin typeface="Consolas"/>
              </a:rPr>
              <a:t>~</a:t>
            </a:r>
            <a:r>
              <a:rPr lang="en-US" b="0">
                <a:solidFill>
                  <a:srgbClr val="008080"/>
                </a:solidFill>
                <a:latin typeface="Consolas"/>
              </a:rPr>
              <a:t>C</a:t>
            </a:r>
            <a:r>
              <a:rPr lang="en-US" b="0">
                <a:solidFill>
                  <a:srgbClr val="000000"/>
                </a:solidFill>
                <a:latin typeface="Consolas"/>
              </a:rPr>
              <a:t>()</a:t>
            </a:r>
            <a:endParaRPr/>
          </a:p>
          <a:p>
            <a:pPr>
              <a:defRPr/>
            </a:pPr>
            <a:r>
              <a:rPr lang="en-US" b="0">
                <a:solidFill>
                  <a:srgbClr val="000000"/>
                </a:solidFill>
                <a:latin typeface="Consolas"/>
              </a:rPr>
              <a:t>        </a:t>
            </a:r>
            <a:r>
              <a:rPr lang="en-US" b="0">
                <a:solidFill>
                  <a:srgbClr val="0000FF"/>
                </a:solidFill>
                <a:latin typeface="Consolas"/>
              </a:rPr>
              <a:t>leave</a:t>
            </a:r>
            <a:endParaRPr lang="en-US" b="0">
              <a:solidFill>
                <a:srgbClr val="000000"/>
              </a:solidFill>
              <a:latin typeface="Consolas"/>
            </a:endParaRPr>
          </a:p>
          <a:p>
            <a:pPr>
              <a:defRPr/>
            </a:pPr>
            <a:r>
              <a:rPr lang="en-US" b="0">
                <a:solidFill>
                  <a:srgbClr val="000000"/>
                </a:solidFill>
                <a:latin typeface="Consolas"/>
              </a:rPr>
              <a:t>        </a:t>
            </a:r>
            <a:r>
              <a:rPr lang="en-US" b="0">
                <a:solidFill>
                  <a:srgbClr val="0000FF"/>
                </a:solidFill>
                <a:latin typeface="Consolas"/>
              </a:rPr>
              <a:t>ret</a:t>
            </a:r>
            <a:endParaRPr lang="en-US" b="0">
              <a:solidFill>
                <a:srgbClr val="000000"/>
              </a:solidFill>
              <a:latin typeface="Consolas"/>
            </a:endParaRPr>
          </a:p>
        </p:txBody>
      </p:sp>
      <p:sp>
        <p:nvSpPr>
          <p:cNvPr id="439734799" name="TextBox 2"/>
          <p:cNvSpPr txBox="1"/>
          <p:nvPr/>
        </p:nvSpPr>
        <p:spPr bwMode="auto">
          <a:xfrm>
            <a:off x="4333009" y="1587525"/>
            <a:ext cx="3525982" cy="369332"/>
          </a:xfrm>
          <a:prstGeom prst="rect">
            <a:avLst/>
          </a:prstGeom>
          <a:noFill/>
        </p:spPr>
        <p:txBody>
          <a:bodyPr wrap="square">
            <a:spAutoFit/>
          </a:bodyPr>
          <a:lstStyle/>
          <a:p>
            <a:pPr>
              <a:defRPr/>
            </a:pPr>
            <a:r>
              <a:rPr lang="en-US" u="sng">
                <a:hlinkClick r:id="rId3"/>
              </a:rPr>
              <a:t>https://godbolt.org/z/6cWroda4n</a:t>
            </a:r>
            <a:endParaRPr lang="ru-RU"/>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155818358" name="Прямоугольник 19"/>
          <p:cNvSpPr/>
          <p:nvPr/>
        </p:nvSpPr>
        <p:spPr bwMode="auto">
          <a:xfrm>
            <a:off x="771558" y="4680268"/>
            <a:ext cx="807897" cy="233813"/>
          </a:xfrm>
          <a:prstGeom prst="rect">
            <a:avLst/>
          </a:prstGeom>
          <a:solidFill>
            <a:srgbClr val="FDF1E9"/>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622582597" name="Прямоугольник 18"/>
          <p:cNvSpPr/>
          <p:nvPr/>
        </p:nvSpPr>
        <p:spPr bwMode="auto">
          <a:xfrm>
            <a:off x="1588768" y="4680267"/>
            <a:ext cx="353457" cy="233813"/>
          </a:xfrm>
          <a:prstGeom prst="rect">
            <a:avLst/>
          </a:prstGeom>
          <a:solidFill>
            <a:schemeClr val="accent2">
              <a:lumMod val="40000"/>
              <a:lumOff val="60000"/>
            </a:schemeClr>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458394646" name="Прямоугольник 15"/>
          <p:cNvSpPr/>
          <p:nvPr/>
        </p:nvSpPr>
        <p:spPr bwMode="auto">
          <a:xfrm>
            <a:off x="2058720" y="4384647"/>
            <a:ext cx="509130" cy="233813"/>
          </a:xfrm>
          <a:prstGeom prst="rect">
            <a:avLst/>
          </a:prstGeom>
          <a:solidFill>
            <a:schemeClr val="accent6">
              <a:lumMod val="40000"/>
              <a:lumOff val="6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404950853" name="Прямоугольник 14"/>
          <p:cNvSpPr/>
          <p:nvPr/>
        </p:nvSpPr>
        <p:spPr bwMode="auto">
          <a:xfrm>
            <a:off x="1643187" y="4384648"/>
            <a:ext cx="406220" cy="233813"/>
          </a:xfrm>
          <a:prstGeom prst="rect">
            <a:avLst/>
          </a:prstGeom>
          <a:solidFill>
            <a:srgbClr val="EEF7E9"/>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763373491" name="Прямоугольник 12"/>
          <p:cNvSpPr/>
          <p:nvPr/>
        </p:nvSpPr>
        <p:spPr bwMode="auto">
          <a:xfrm>
            <a:off x="6215255" y="4181786"/>
            <a:ext cx="3009374" cy="498482"/>
          </a:xfrm>
          <a:prstGeom prst="rect">
            <a:avLst/>
          </a:prstGeom>
          <a:solidFill>
            <a:schemeClr val="accent2">
              <a:lumMod val="40000"/>
              <a:lumOff val="60000"/>
            </a:schemeClr>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909422948" name="Прямоугольник 13"/>
          <p:cNvSpPr/>
          <p:nvPr/>
        </p:nvSpPr>
        <p:spPr bwMode="auto">
          <a:xfrm>
            <a:off x="6215255" y="4680268"/>
            <a:ext cx="5776757" cy="831870"/>
          </a:xfrm>
          <a:prstGeom prst="rect">
            <a:avLst/>
          </a:prstGeom>
          <a:solidFill>
            <a:srgbClr val="FDF1E9"/>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425106510" name="Прямоугольник 11"/>
          <p:cNvSpPr/>
          <p:nvPr/>
        </p:nvSpPr>
        <p:spPr bwMode="auto">
          <a:xfrm>
            <a:off x="6207943" y="2803595"/>
            <a:ext cx="4741125" cy="777565"/>
          </a:xfrm>
          <a:prstGeom prst="rect">
            <a:avLst/>
          </a:prstGeom>
          <a:solidFill>
            <a:srgbClr val="EEF7E9"/>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a:t>0</a:t>
            </a:r>
            <a:endParaRPr/>
          </a:p>
        </p:txBody>
      </p:sp>
      <p:sp>
        <p:nvSpPr>
          <p:cNvPr id="53650879" name="Прямоугольник 9"/>
          <p:cNvSpPr/>
          <p:nvPr/>
        </p:nvSpPr>
        <p:spPr bwMode="auto">
          <a:xfrm>
            <a:off x="6207943" y="3584862"/>
            <a:ext cx="4741125" cy="596923"/>
          </a:xfrm>
          <a:prstGeom prst="rect">
            <a:avLst/>
          </a:prstGeom>
          <a:solidFill>
            <a:schemeClr val="accent6">
              <a:lumMod val="40000"/>
              <a:lumOff val="6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234129900" name="Заголовок 1"/>
          <p:cNvSpPr>
            <a:spLocks noGrp="1"/>
          </p:cNvSpPr>
          <p:nvPr>
            <p:ph type="title"/>
          </p:nvPr>
        </p:nvSpPr>
        <p:spPr bwMode="auto"/>
        <p:txBody>
          <a:bodyPr/>
          <a:lstStyle/>
          <a:p>
            <a:pPr>
              <a:defRPr/>
            </a:pPr>
            <a:r>
              <a:rPr lang="ru-RU"/>
              <a:t>Конструкторы и деструкторы</a:t>
            </a:r>
            <a:endParaRPr lang="en-US"/>
          </a:p>
        </p:txBody>
      </p:sp>
      <p:sp>
        <p:nvSpPr>
          <p:cNvPr id="2065526800" name="Номер слайда 4"/>
          <p:cNvSpPr>
            <a:spLocks noGrp="1"/>
          </p:cNvSpPr>
          <p:nvPr>
            <p:ph type="sldNum" sz="quarter" idx="12"/>
          </p:nvPr>
        </p:nvSpPr>
        <p:spPr bwMode="auto"/>
        <p:txBody>
          <a:bodyPr/>
          <a:lstStyle/>
          <a:p>
            <a:pPr>
              <a:defRPr/>
            </a:pPr>
            <a:fld id="{B67FBA2B-964F-4C4D-AAF7-5A8399264638}" type="slidenum">
              <a:rPr lang="en-US"/>
              <a:t>27</a:t>
            </a:fld>
            <a:endParaRPr lang="en-US"/>
          </a:p>
        </p:txBody>
      </p:sp>
      <p:sp>
        <p:nvSpPr>
          <p:cNvPr id="554863729" name="TextBox 16"/>
          <p:cNvSpPr txBox="1"/>
          <p:nvPr/>
        </p:nvSpPr>
        <p:spPr bwMode="auto">
          <a:xfrm>
            <a:off x="199987" y="2115371"/>
            <a:ext cx="4977384" cy="3139321"/>
          </a:xfrm>
          <a:prstGeom prst="rect">
            <a:avLst/>
          </a:prstGeom>
          <a:noFill/>
        </p:spPr>
        <p:txBody>
          <a:bodyPr wrap="square">
            <a:spAutoFit/>
          </a:bodyPr>
          <a:lstStyle/>
          <a:p>
            <a:pPr>
              <a:defRPr/>
            </a:pPr>
            <a:r>
              <a:rPr lang="en-US" b="0">
                <a:solidFill>
                  <a:srgbClr val="0000FF"/>
                </a:solidFill>
                <a:latin typeface="Consolas"/>
              </a:rPr>
              <a:t>class</a:t>
            </a:r>
            <a:r>
              <a:rPr lang="en-US" b="0">
                <a:solidFill>
                  <a:srgbClr val="000000"/>
                </a:solidFill>
                <a:latin typeface="Consolas"/>
              </a:rPr>
              <a:t> C{</a:t>
            </a:r>
            <a:endParaRPr/>
          </a:p>
          <a:p>
            <a:pPr>
              <a:defRPr/>
            </a:pPr>
            <a:r>
              <a:rPr lang="en-US" b="0">
                <a:solidFill>
                  <a:srgbClr val="000000"/>
                </a:solidFill>
                <a:latin typeface="Consolas"/>
              </a:rPr>
              <a:t>    </a:t>
            </a:r>
            <a:r>
              <a:rPr lang="en-US" b="0">
                <a:solidFill>
                  <a:srgbClr val="0000FF"/>
                </a:solidFill>
                <a:latin typeface="Consolas"/>
              </a:rPr>
              <a:t>int</a:t>
            </a:r>
            <a:r>
              <a:rPr lang="en-US" b="0">
                <a:solidFill>
                  <a:srgbClr val="000000"/>
                </a:solidFill>
                <a:latin typeface="Consolas"/>
              </a:rPr>
              <a:t> x;</a:t>
            </a:r>
            <a:endParaRPr/>
          </a:p>
          <a:p>
            <a:pPr>
              <a:defRPr/>
            </a:pPr>
            <a:r>
              <a:rPr lang="en-US" b="0">
                <a:solidFill>
                  <a:srgbClr val="0000FF"/>
                </a:solidFill>
                <a:latin typeface="Consolas"/>
              </a:rPr>
              <a:t>public</a:t>
            </a:r>
            <a:r>
              <a:rPr lang="en-US" b="0">
                <a:solidFill>
                  <a:srgbClr val="000000"/>
                </a:solidFill>
                <a:latin typeface="Consolas"/>
              </a:rPr>
              <a:t>:</a:t>
            </a:r>
            <a:endParaRPr/>
          </a:p>
          <a:p>
            <a:pPr>
              <a:defRPr/>
            </a:pPr>
            <a:r>
              <a:rPr lang="en-US" b="0">
                <a:solidFill>
                  <a:srgbClr val="000000"/>
                </a:solidFill>
                <a:latin typeface="Consolas"/>
              </a:rPr>
              <a:t>    C(){ printf(</a:t>
            </a:r>
            <a:r>
              <a:rPr lang="en-US" b="0">
                <a:solidFill>
                  <a:srgbClr val="A31515"/>
                </a:solidFill>
                <a:latin typeface="Consolas"/>
              </a:rPr>
              <a:t>"I'm born!"</a:t>
            </a:r>
            <a:r>
              <a:rPr lang="en-US" b="0">
                <a:solidFill>
                  <a:srgbClr val="000000"/>
                </a:solidFill>
                <a:latin typeface="Consolas"/>
              </a:rPr>
              <a:t>);}</a:t>
            </a:r>
            <a:endParaRPr/>
          </a:p>
          <a:p>
            <a:pPr>
              <a:defRPr/>
            </a:pPr>
            <a:r>
              <a:rPr lang="en-US" b="0">
                <a:solidFill>
                  <a:srgbClr val="000000"/>
                </a:solidFill>
                <a:latin typeface="Consolas"/>
              </a:rPr>
              <a:t>    ~C(){ printf(</a:t>
            </a:r>
            <a:r>
              <a:rPr lang="en-US" b="0">
                <a:solidFill>
                  <a:srgbClr val="A31515"/>
                </a:solidFill>
                <a:latin typeface="Consolas"/>
              </a:rPr>
              <a:t>"I'm dying!"</a:t>
            </a:r>
            <a:r>
              <a:rPr lang="en-US" b="0">
                <a:solidFill>
                  <a:srgbClr val="000000"/>
                </a:solidFill>
                <a:latin typeface="Consolas"/>
              </a:rPr>
              <a:t>);}</a:t>
            </a:r>
            <a:endParaRPr/>
          </a:p>
          <a:p>
            <a:pPr>
              <a:defRPr/>
            </a:pPr>
            <a:r>
              <a:rPr lang="en-US" b="0">
                <a:solidFill>
                  <a:srgbClr val="000000"/>
                </a:solidFill>
                <a:latin typeface="Consolas"/>
              </a:rPr>
              <a:t>};</a:t>
            </a:r>
            <a:endParaRPr/>
          </a:p>
          <a:p>
            <a:pPr>
              <a:defRPr/>
            </a:pPr>
            <a:br>
              <a:rPr lang="en-US" b="0">
                <a:solidFill>
                  <a:srgbClr val="000000"/>
                </a:solidFill>
                <a:latin typeface="Consolas"/>
              </a:rPr>
            </a:br>
            <a:r>
              <a:rPr lang="en-US" b="0">
                <a:solidFill>
                  <a:srgbClr val="0000FF"/>
                </a:solidFill>
                <a:latin typeface="Consolas"/>
              </a:rPr>
              <a:t>void</a:t>
            </a:r>
            <a:r>
              <a:rPr lang="en-US" b="0">
                <a:solidFill>
                  <a:srgbClr val="000000"/>
                </a:solidFill>
                <a:latin typeface="Consolas"/>
              </a:rPr>
              <a:t> bar(){</a:t>
            </a:r>
            <a:endParaRPr/>
          </a:p>
          <a:p>
            <a:pPr>
              <a:defRPr/>
            </a:pPr>
            <a:r>
              <a:rPr lang="en-US" b="0">
                <a:solidFill>
                  <a:srgbClr val="000000"/>
                </a:solidFill>
                <a:latin typeface="Consolas"/>
              </a:rPr>
              <a:t>    C* c = </a:t>
            </a:r>
            <a:r>
              <a:rPr lang="en-US" b="0">
                <a:solidFill>
                  <a:srgbClr val="0000FF"/>
                </a:solidFill>
                <a:latin typeface="Consolas"/>
              </a:rPr>
              <a:t>new</a:t>
            </a:r>
            <a:r>
              <a:rPr lang="en-US" b="0">
                <a:solidFill>
                  <a:srgbClr val="000000"/>
                </a:solidFill>
                <a:latin typeface="Consolas"/>
              </a:rPr>
              <a:t> C(); </a:t>
            </a:r>
            <a:r>
              <a:rPr lang="en-US" b="0">
                <a:solidFill>
                  <a:srgbClr val="008000"/>
                </a:solidFill>
                <a:latin typeface="Consolas"/>
              </a:rPr>
              <a:t>// C() called here</a:t>
            </a:r>
            <a:endParaRPr lang="en-US" b="0">
              <a:solidFill>
                <a:srgbClr val="000000"/>
              </a:solidFill>
              <a:latin typeface="Consolas"/>
            </a:endParaRPr>
          </a:p>
          <a:p>
            <a:pPr>
              <a:defRPr/>
            </a:pPr>
            <a:r>
              <a:rPr lang="en-US" b="0">
                <a:solidFill>
                  <a:srgbClr val="000000"/>
                </a:solidFill>
                <a:latin typeface="Consolas"/>
              </a:rPr>
              <a:t>    </a:t>
            </a:r>
            <a:r>
              <a:rPr lang="en-US" b="0">
                <a:solidFill>
                  <a:srgbClr val="0000FF"/>
                </a:solidFill>
                <a:latin typeface="Consolas"/>
              </a:rPr>
              <a:t>delete</a:t>
            </a:r>
            <a:r>
              <a:rPr lang="en-US" b="0">
                <a:solidFill>
                  <a:srgbClr val="000000"/>
                </a:solidFill>
                <a:latin typeface="Consolas"/>
              </a:rPr>
              <a:t> c;       </a:t>
            </a:r>
            <a:r>
              <a:rPr lang="en-US" b="0">
                <a:solidFill>
                  <a:srgbClr val="008000"/>
                </a:solidFill>
                <a:latin typeface="Consolas"/>
              </a:rPr>
              <a:t>//~C() called here</a:t>
            </a:r>
            <a:endParaRPr lang="en-US" b="0">
              <a:solidFill>
                <a:srgbClr val="000000"/>
              </a:solidFill>
              <a:latin typeface="Consolas"/>
            </a:endParaRPr>
          </a:p>
          <a:p>
            <a:pPr>
              <a:defRPr/>
            </a:pPr>
            <a:r>
              <a:rPr lang="en-US" b="0">
                <a:solidFill>
                  <a:srgbClr val="000000"/>
                </a:solidFill>
                <a:latin typeface="Consolas"/>
              </a:rPr>
              <a:t>}</a:t>
            </a:r>
            <a:endParaRPr/>
          </a:p>
        </p:txBody>
      </p:sp>
      <p:sp>
        <p:nvSpPr>
          <p:cNvPr id="271630388" name="TextBox 17"/>
          <p:cNvSpPr txBox="1"/>
          <p:nvPr/>
        </p:nvSpPr>
        <p:spPr bwMode="auto">
          <a:xfrm>
            <a:off x="5177371" y="1345863"/>
            <a:ext cx="6870763" cy="5355312"/>
          </a:xfrm>
          <a:prstGeom prst="rect">
            <a:avLst/>
          </a:prstGeom>
          <a:noFill/>
        </p:spPr>
        <p:txBody>
          <a:bodyPr wrap="square">
            <a:spAutoFit/>
          </a:bodyPr>
          <a:lstStyle/>
          <a:p>
            <a:pPr>
              <a:defRPr/>
            </a:pPr>
            <a:r>
              <a:rPr lang="en-US" b="0">
                <a:solidFill>
                  <a:srgbClr val="008080"/>
                </a:solidFill>
                <a:latin typeface="Consolas"/>
              </a:rPr>
              <a:t>bar():</a:t>
            </a:r>
            <a:endParaRPr lang="en-US" b="0">
              <a:solidFill>
                <a:srgbClr val="000000"/>
              </a:solidFill>
              <a:latin typeface="Consolas"/>
            </a:endParaRPr>
          </a:p>
          <a:p>
            <a:pPr>
              <a:defRPr/>
            </a:pPr>
            <a:r>
              <a:rPr lang="en-US" b="0">
                <a:solidFill>
                  <a:srgbClr val="000000"/>
                </a:solidFill>
                <a:latin typeface="Consolas"/>
              </a:rPr>
              <a:t>        </a:t>
            </a:r>
            <a:r>
              <a:rPr lang="en-US" b="0">
                <a:solidFill>
                  <a:srgbClr val="0000FF"/>
                </a:solidFill>
                <a:latin typeface="Consolas"/>
              </a:rPr>
              <a:t>push</a:t>
            </a:r>
            <a:r>
              <a:rPr lang="en-US" b="0">
                <a:solidFill>
                  <a:srgbClr val="000000"/>
                </a:solidFill>
                <a:latin typeface="Consolas"/>
              </a:rPr>
              <a:t>    </a:t>
            </a:r>
            <a:r>
              <a:rPr lang="en-US" b="0">
                <a:solidFill>
                  <a:srgbClr val="4864AA"/>
                </a:solidFill>
                <a:latin typeface="Consolas"/>
              </a:rPr>
              <a:t>rbp</a:t>
            </a:r>
            <a:endParaRPr lang="en-US" b="0">
              <a:solidFill>
                <a:srgbClr val="000000"/>
              </a:solidFill>
              <a:latin typeface="Consolas"/>
            </a:endParaRPr>
          </a:p>
          <a:p>
            <a:pPr>
              <a:defRPr/>
            </a:pPr>
            <a:r>
              <a:rPr lang="en-US" b="0">
                <a:solidFill>
                  <a:srgbClr val="000000"/>
                </a:solidFill>
                <a:latin typeface="Consolas"/>
              </a:rPr>
              <a:t>        </a:t>
            </a:r>
            <a:r>
              <a:rPr lang="en-US" b="0">
                <a:solidFill>
                  <a:srgbClr val="0000FF"/>
                </a:solidFill>
                <a:latin typeface="Consolas"/>
              </a:rPr>
              <a:t>mov</a:t>
            </a:r>
            <a:r>
              <a:rPr lang="en-US" b="0">
                <a:solidFill>
                  <a:srgbClr val="000000"/>
                </a:solidFill>
                <a:latin typeface="Consolas"/>
              </a:rPr>
              <a:t>     </a:t>
            </a:r>
            <a:r>
              <a:rPr lang="en-US" b="0">
                <a:solidFill>
                  <a:srgbClr val="4864AA"/>
                </a:solidFill>
                <a:latin typeface="Consolas"/>
              </a:rPr>
              <a:t>rbp</a:t>
            </a:r>
            <a:r>
              <a:rPr lang="en-US" b="0">
                <a:solidFill>
                  <a:srgbClr val="000000"/>
                </a:solidFill>
                <a:latin typeface="Consolas"/>
              </a:rPr>
              <a:t>, </a:t>
            </a:r>
            <a:r>
              <a:rPr lang="en-US" b="0">
                <a:solidFill>
                  <a:srgbClr val="4864AA"/>
                </a:solidFill>
                <a:latin typeface="Consolas"/>
              </a:rPr>
              <a:t>rsp</a:t>
            </a:r>
          </a:p>
          <a:p>
            <a:pPr>
              <a:defRPr/>
            </a:pPr>
            <a:r>
              <a:rPr lang="en-US" b="0">
                <a:solidFill>
                  <a:srgbClr val="000000"/>
                </a:solidFill>
                <a:latin typeface="Consolas"/>
              </a:rPr>
              <a:t>        </a:t>
            </a:r>
            <a:r>
              <a:rPr lang="en-US" b="0">
                <a:solidFill>
                  <a:srgbClr val="0000FF"/>
                </a:solidFill>
                <a:latin typeface="Consolas"/>
              </a:rPr>
              <a:t>push</a:t>
            </a:r>
            <a:r>
              <a:rPr lang="en-US" b="0">
                <a:solidFill>
                  <a:srgbClr val="000000"/>
                </a:solidFill>
                <a:latin typeface="Consolas"/>
              </a:rPr>
              <a:t>    </a:t>
            </a:r>
            <a:r>
              <a:rPr lang="en-US" b="0">
                <a:solidFill>
                  <a:srgbClr val="4864AA"/>
                </a:solidFill>
                <a:latin typeface="Consolas"/>
              </a:rPr>
              <a:t>rbx</a:t>
            </a:r>
            <a:endParaRPr lang="en-US" b="0">
              <a:solidFill>
                <a:srgbClr val="000000"/>
              </a:solidFill>
              <a:latin typeface="Consolas"/>
            </a:endParaRPr>
          </a:p>
          <a:p>
            <a:pPr>
              <a:defRPr/>
            </a:pPr>
            <a:r>
              <a:rPr lang="en-US" b="0">
                <a:solidFill>
                  <a:srgbClr val="000000"/>
                </a:solidFill>
                <a:latin typeface="Consolas"/>
              </a:rPr>
              <a:t>        </a:t>
            </a:r>
            <a:r>
              <a:rPr lang="en-US" b="0">
                <a:solidFill>
                  <a:srgbClr val="0000FF"/>
                </a:solidFill>
                <a:latin typeface="Consolas"/>
              </a:rPr>
              <a:t>sub</a:t>
            </a:r>
            <a:r>
              <a:rPr lang="en-US" b="0">
                <a:solidFill>
                  <a:srgbClr val="000000"/>
                </a:solidFill>
                <a:latin typeface="Consolas"/>
              </a:rPr>
              <a:t>     </a:t>
            </a:r>
            <a:r>
              <a:rPr lang="en-US" b="0">
                <a:solidFill>
                  <a:srgbClr val="4864AA"/>
                </a:solidFill>
                <a:latin typeface="Consolas"/>
              </a:rPr>
              <a:t>rsp</a:t>
            </a:r>
            <a:r>
              <a:rPr lang="en-US" b="0">
                <a:solidFill>
                  <a:srgbClr val="000000"/>
                </a:solidFill>
                <a:latin typeface="Consolas"/>
              </a:rPr>
              <a:t>, </a:t>
            </a:r>
            <a:r>
              <a:rPr lang="en-US" b="0">
                <a:solidFill>
                  <a:srgbClr val="098658"/>
                </a:solidFill>
                <a:latin typeface="Consolas"/>
              </a:rPr>
              <a:t>32</a:t>
            </a:r>
            <a:endParaRPr lang="en-US" b="0">
              <a:solidFill>
                <a:srgbClr val="000000"/>
              </a:solidFill>
              <a:latin typeface="Consolas"/>
            </a:endParaRPr>
          </a:p>
          <a:p>
            <a:pPr>
              <a:defRPr/>
            </a:pPr>
            <a:r>
              <a:rPr lang="en-US" b="0">
                <a:solidFill>
                  <a:srgbClr val="000000"/>
                </a:solidFill>
                <a:latin typeface="Consolas"/>
              </a:rPr>
              <a:t>        </a:t>
            </a:r>
            <a:r>
              <a:rPr lang="en-US" b="0">
                <a:solidFill>
                  <a:srgbClr val="0000FF"/>
                </a:solidFill>
                <a:latin typeface="Consolas"/>
              </a:rPr>
              <a:t>mov</a:t>
            </a:r>
            <a:r>
              <a:rPr lang="en-US" b="0">
                <a:solidFill>
                  <a:srgbClr val="000000"/>
                </a:solidFill>
                <a:latin typeface="Consolas"/>
              </a:rPr>
              <a:t>     </a:t>
            </a:r>
            <a:r>
              <a:rPr lang="en-US" b="0">
                <a:solidFill>
                  <a:srgbClr val="4864AA"/>
                </a:solidFill>
                <a:latin typeface="Consolas"/>
              </a:rPr>
              <a:t>ecx</a:t>
            </a:r>
            <a:r>
              <a:rPr lang="en-US" b="0">
                <a:solidFill>
                  <a:srgbClr val="000000"/>
                </a:solidFill>
                <a:latin typeface="Consolas"/>
              </a:rPr>
              <a:t>, </a:t>
            </a:r>
            <a:r>
              <a:rPr lang="en-US" b="0">
                <a:solidFill>
                  <a:srgbClr val="098658"/>
                </a:solidFill>
                <a:latin typeface="Consolas"/>
              </a:rPr>
              <a:t>4</a:t>
            </a:r>
            <a:endParaRPr lang="en-US" b="0">
              <a:solidFill>
                <a:srgbClr val="000000"/>
              </a:solidFill>
              <a:latin typeface="Consolas"/>
            </a:endParaRPr>
          </a:p>
          <a:p>
            <a:pPr>
              <a:defRPr/>
            </a:pPr>
            <a:r>
              <a:rPr lang="en-US" b="0">
                <a:solidFill>
                  <a:srgbClr val="000000"/>
                </a:solidFill>
                <a:latin typeface="Consolas"/>
              </a:rPr>
              <a:t>        </a:t>
            </a:r>
            <a:r>
              <a:rPr lang="en-US" b="0">
                <a:solidFill>
                  <a:srgbClr val="0000FF"/>
                </a:solidFill>
                <a:latin typeface="Consolas"/>
              </a:rPr>
              <a:t>call</a:t>
            </a:r>
            <a:r>
              <a:rPr lang="en-US" b="0">
                <a:solidFill>
                  <a:srgbClr val="000000"/>
                </a:solidFill>
                <a:latin typeface="Consolas"/>
              </a:rPr>
              <a:t>    </a:t>
            </a:r>
            <a:r>
              <a:rPr lang="en-US" b="0">
                <a:solidFill>
                  <a:srgbClr val="008080"/>
                </a:solidFill>
                <a:latin typeface="Consolas"/>
              </a:rPr>
              <a:t>operator</a:t>
            </a:r>
            <a:r>
              <a:rPr lang="en-US" b="0">
                <a:solidFill>
                  <a:srgbClr val="000000"/>
                </a:solidFill>
                <a:latin typeface="Consolas"/>
              </a:rPr>
              <a:t> </a:t>
            </a:r>
            <a:r>
              <a:rPr lang="en-US" b="0">
                <a:solidFill>
                  <a:srgbClr val="008080"/>
                </a:solidFill>
                <a:latin typeface="Consolas"/>
              </a:rPr>
              <a:t>new</a:t>
            </a:r>
            <a:r>
              <a:rPr lang="en-US" b="0">
                <a:solidFill>
                  <a:srgbClr val="000000"/>
                </a:solidFill>
                <a:latin typeface="Consolas"/>
              </a:rPr>
              <a:t>(</a:t>
            </a:r>
            <a:r>
              <a:rPr lang="en-US" b="0">
                <a:solidFill>
                  <a:srgbClr val="008080"/>
                </a:solidFill>
                <a:latin typeface="Consolas"/>
              </a:rPr>
              <a:t>unsigned</a:t>
            </a:r>
            <a:r>
              <a:rPr lang="en-US" b="0">
                <a:solidFill>
                  <a:srgbClr val="000000"/>
                </a:solidFill>
                <a:latin typeface="Consolas"/>
              </a:rPr>
              <a:t> </a:t>
            </a:r>
            <a:r>
              <a:rPr lang="en-US" b="0">
                <a:solidFill>
                  <a:srgbClr val="008080"/>
                </a:solidFill>
                <a:latin typeface="Consolas"/>
              </a:rPr>
              <a:t>long</a:t>
            </a:r>
            <a:r>
              <a:rPr lang="en-US" b="0">
                <a:solidFill>
                  <a:srgbClr val="000000"/>
                </a:solidFill>
                <a:latin typeface="Consolas"/>
              </a:rPr>
              <a:t>)</a:t>
            </a:r>
            <a:endParaRPr/>
          </a:p>
          <a:p>
            <a:pPr>
              <a:defRPr/>
            </a:pPr>
            <a:r>
              <a:rPr lang="en-US" b="0">
                <a:solidFill>
                  <a:srgbClr val="000000"/>
                </a:solidFill>
                <a:latin typeface="Consolas"/>
              </a:rPr>
              <a:t>        </a:t>
            </a:r>
            <a:r>
              <a:rPr lang="en-US" b="0">
                <a:solidFill>
                  <a:srgbClr val="0000FF"/>
                </a:solidFill>
                <a:latin typeface="Consolas"/>
              </a:rPr>
              <a:t>mov</a:t>
            </a:r>
            <a:r>
              <a:rPr lang="en-US" b="0">
                <a:solidFill>
                  <a:srgbClr val="000000"/>
                </a:solidFill>
                <a:latin typeface="Consolas"/>
              </a:rPr>
              <a:t>     </a:t>
            </a:r>
            <a:r>
              <a:rPr lang="en-US" b="0">
                <a:solidFill>
                  <a:srgbClr val="4864AA"/>
                </a:solidFill>
                <a:latin typeface="Consolas"/>
              </a:rPr>
              <a:t>rbx</a:t>
            </a:r>
            <a:r>
              <a:rPr lang="en-US" b="0">
                <a:solidFill>
                  <a:srgbClr val="000000"/>
                </a:solidFill>
                <a:latin typeface="Consolas"/>
              </a:rPr>
              <a:t>, </a:t>
            </a:r>
            <a:r>
              <a:rPr lang="en-US" b="0">
                <a:solidFill>
                  <a:srgbClr val="4864AA"/>
                </a:solidFill>
                <a:latin typeface="Consolas"/>
              </a:rPr>
              <a:t>rax</a:t>
            </a:r>
            <a:endParaRPr lang="en-US" b="0">
              <a:solidFill>
                <a:srgbClr val="000000"/>
              </a:solidFill>
              <a:latin typeface="Consolas"/>
            </a:endParaRPr>
          </a:p>
          <a:p>
            <a:pPr>
              <a:defRPr/>
            </a:pPr>
            <a:r>
              <a:rPr lang="en-US" b="0">
                <a:solidFill>
                  <a:srgbClr val="000000"/>
                </a:solidFill>
                <a:latin typeface="Consolas"/>
              </a:rPr>
              <a:t>        </a:t>
            </a:r>
            <a:r>
              <a:rPr lang="en-US" b="0">
                <a:solidFill>
                  <a:srgbClr val="0000FF"/>
                </a:solidFill>
                <a:latin typeface="Consolas"/>
              </a:rPr>
              <a:t>mov</a:t>
            </a:r>
            <a:r>
              <a:rPr lang="en-US" b="0">
                <a:solidFill>
                  <a:srgbClr val="000000"/>
                </a:solidFill>
                <a:latin typeface="Consolas"/>
              </a:rPr>
              <a:t>     </a:t>
            </a:r>
            <a:r>
              <a:rPr lang="en-US" b="0">
                <a:solidFill>
                  <a:srgbClr val="4864AA"/>
                </a:solidFill>
                <a:latin typeface="Consolas"/>
              </a:rPr>
              <a:t>rcx</a:t>
            </a:r>
            <a:r>
              <a:rPr lang="en-US" b="0">
                <a:solidFill>
                  <a:srgbClr val="000000"/>
                </a:solidFill>
                <a:latin typeface="Consolas"/>
              </a:rPr>
              <a:t>, </a:t>
            </a:r>
            <a:r>
              <a:rPr lang="en-US" b="0">
                <a:solidFill>
                  <a:srgbClr val="4864AA"/>
                </a:solidFill>
                <a:latin typeface="Consolas"/>
              </a:rPr>
              <a:t>rax</a:t>
            </a:r>
            <a:endParaRPr lang="en-US" b="0">
              <a:solidFill>
                <a:srgbClr val="000000"/>
              </a:solidFill>
              <a:latin typeface="Consolas"/>
            </a:endParaRPr>
          </a:p>
          <a:p>
            <a:pPr>
              <a:defRPr/>
            </a:pPr>
            <a:r>
              <a:rPr lang="en-US" b="0">
                <a:solidFill>
                  <a:srgbClr val="000000"/>
                </a:solidFill>
                <a:latin typeface="Consolas"/>
              </a:rPr>
              <a:t>        </a:t>
            </a:r>
            <a:r>
              <a:rPr lang="en-US" b="0">
                <a:solidFill>
                  <a:srgbClr val="0000FF"/>
                </a:solidFill>
                <a:latin typeface="Consolas"/>
              </a:rPr>
              <a:t>call</a:t>
            </a:r>
            <a:r>
              <a:rPr lang="en-US" b="0">
                <a:solidFill>
                  <a:srgbClr val="000000"/>
                </a:solidFill>
                <a:latin typeface="Consolas"/>
              </a:rPr>
              <a:t>    </a:t>
            </a:r>
            <a:r>
              <a:rPr lang="en-US" b="0">
                <a:solidFill>
                  <a:srgbClr val="008080"/>
                </a:solidFill>
                <a:latin typeface="Consolas"/>
              </a:rPr>
              <a:t>C</a:t>
            </a:r>
            <a:r>
              <a:rPr lang="en-US" b="0">
                <a:solidFill>
                  <a:srgbClr val="000000"/>
                </a:solidFill>
                <a:latin typeface="Consolas"/>
              </a:rPr>
              <a:t>::</a:t>
            </a:r>
            <a:r>
              <a:rPr lang="en-US" b="0">
                <a:solidFill>
                  <a:srgbClr val="008080"/>
                </a:solidFill>
                <a:latin typeface="Consolas"/>
              </a:rPr>
              <a:t>C</a:t>
            </a:r>
            <a:r>
              <a:rPr lang="en-US" b="0">
                <a:solidFill>
                  <a:srgbClr val="000000"/>
                </a:solidFill>
                <a:latin typeface="Consolas"/>
              </a:rPr>
              <a:t>()</a:t>
            </a:r>
            <a:endParaRPr/>
          </a:p>
          <a:p>
            <a:pPr>
              <a:defRPr/>
            </a:pPr>
            <a:r>
              <a:rPr lang="en-US" b="0">
                <a:solidFill>
                  <a:srgbClr val="000000"/>
                </a:solidFill>
                <a:latin typeface="Consolas"/>
              </a:rPr>
              <a:t>        </a:t>
            </a:r>
            <a:r>
              <a:rPr lang="en-US" b="0">
                <a:solidFill>
                  <a:srgbClr val="0000FF"/>
                </a:solidFill>
                <a:latin typeface="Consolas"/>
              </a:rPr>
              <a:t>mov</a:t>
            </a:r>
            <a:r>
              <a:rPr lang="en-US" b="0">
                <a:solidFill>
                  <a:srgbClr val="000000"/>
                </a:solidFill>
                <a:latin typeface="Consolas"/>
              </a:rPr>
              <a:t>     </a:t>
            </a:r>
            <a:r>
              <a:rPr lang="en-US" b="0">
                <a:solidFill>
                  <a:srgbClr val="4864AA"/>
                </a:solidFill>
                <a:latin typeface="Consolas"/>
              </a:rPr>
              <a:t>rcx</a:t>
            </a:r>
            <a:r>
              <a:rPr lang="en-US" b="0">
                <a:solidFill>
                  <a:srgbClr val="000000"/>
                </a:solidFill>
                <a:latin typeface="Consolas"/>
              </a:rPr>
              <a:t>, </a:t>
            </a:r>
            <a:r>
              <a:rPr lang="en-US" b="0">
                <a:solidFill>
                  <a:srgbClr val="4864AA"/>
                </a:solidFill>
                <a:latin typeface="Consolas"/>
              </a:rPr>
              <a:t>rbx</a:t>
            </a:r>
            <a:endParaRPr lang="en-US" b="0">
              <a:solidFill>
                <a:srgbClr val="000000"/>
              </a:solidFill>
              <a:latin typeface="Consolas"/>
            </a:endParaRPr>
          </a:p>
          <a:p>
            <a:pPr>
              <a:defRPr/>
            </a:pPr>
            <a:r>
              <a:rPr lang="en-US" b="0">
                <a:solidFill>
                  <a:srgbClr val="000000"/>
                </a:solidFill>
                <a:latin typeface="Consolas"/>
              </a:rPr>
              <a:t>        </a:t>
            </a:r>
            <a:r>
              <a:rPr lang="en-US" b="0">
                <a:solidFill>
                  <a:srgbClr val="0000FF"/>
                </a:solidFill>
                <a:latin typeface="Consolas"/>
              </a:rPr>
              <a:t>call</a:t>
            </a:r>
            <a:r>
              <a:rPr lang="en-US" b="0">
                <a:solidFill>
                  <a:srgbClr val="000000"/>
                </a:solidFill>
                <a:latin typeface="Consolas"/>
              </a:rPr>
              <a:t>    </a:t>
            </a:r>
            <a:r>
              <a:rPr lang="en-US" b="0">
                <a:solidFill>
                  <a:srgbClr val="008080"/>
                </a:solidFill>
                <a:latin typeface="Consolas"/>
              </a:rPr>
              <a:t>C</a:t>
            </a:r>
            <a:r>
              <a:rPr lang="en-US" b="0">
                <a:solidFill>
                  <a:srgbClr val="000000"/>
                </a:solidFill>
                <a:latin typeface="Consolas"/>
              </a:rPr>
              <a:t>::</a:t>
            </a:r>
            <a:r>
              <a:rPr lang="en-US" b="0">
                <a:solidFill>
                  <a:srgbClr val="CD3131"/>
                </a:solidFill>
                <a:latin typeface="Consolas"/>
              </a:rPr>
              <a:t>~</a:t>
            </a:r>
            <a:r>
              <a:rPr lang="en-US" b="0">
                <a:solidFill>
                  <a:srgbClr val="008080"/>
                </a:solidFill>
                <a:latin typeface="Consolas"/>
              </a:rPr>
              <a:t>C</a:t>
            </a:r>
            <a:r>
              <a:rPr lang="en-US" b="0">
                <a:solidFill>
                  <a:srgbClr val="000000"/>
                </a:solidFill>
                <a:latin typeface="Consolas"/>
              </a:rPr>
              <a:t>()</a:t>
            </a:r>
            <a:endParaRPr/>
          </a:p>
          <a:p>
            <a:pPr>
              <a:defRPr/>
            </a:pPr>
            <a:r>
              <a:rPr lang="en-US" b="0">
                <a:solidFill>
                  <a:srgbClr val="000000"/>
                </a:solidFill>
                <a:latin typeface="Consolas"/>
              </a:rPr>
              <a:t>        </a:t>
            </a:r>
            <a:r>
              <a:rPr lang="en-US" b="0">
                <a:solidFill>
                  <a:srgbClr val="0000FF"/>
                </a:solidFill>
                <a:latin typeface="Consolas"/>
              </a:rPr>
              <a:t>mov</a:t>
            </a:r>
            <a:r>
              <a:rPr lang="en-US" b="0">
                <a:solidFill>
                  <a:srgbClr val="000000"/>
                </a:solidFill>
                <a:latin typeface="Consolas"/>
              </a:rPr>
              <a:t>     </a:t>
            </a:r>
            <a:r>
              <a:rPr lang="en-US" b="0">
                <a:solidFill>
                  <a:srgbClr val="4864AA"/>
                </a:solidFill>
                <a:latin typeface="Consolas"/>
              </a:rPr>
              <a:t>edx</a:t>
            </a:r>
            <a:r>
              <a:rPr lang="en-US" b="0">
                <a:solidFill>
                  <a:srgbClr val="000000"/>
                </a:solidFill>
                <a:latin typeface="Consolas"/>
              </a:rPr>
              <a:t>, </a:t>
            </a:r>
            <a:r>
              <a:rPr lang="en-US" b="0">
                <a:solidFill>
                  <a:srgbClr val="098658"/>
                </a:solidFill>
                <a:latin typeface="Consolas"/>
              </a:rPr>
              <a:t>4</a:t>
            </a:r>
            <a:endParaRPr lang="en-US" b="0">
              <a:solidFill>
                <a:srgbClr val="000000"/>
              </a:solidFill>
              <a:latin typeface="Consolas"/>
            </a:endParaRPr>
          </a:p>
          <a:p>
            <a:pPr>
              <a:defRPr/>
            </a:pPr>
            <a:r>
              <a:rPr lang="en-US" b="0">
                <a:solidFill>
                  <a:srgbClr val="000000"/>
                </a:solidFill>
                <a:latin typeface="Consolas"/>
              </a:rPr>
              <a:t>        </a:t>
            </a:r>
            <a:r>
              <a:rPr lang="en-US" b="0">
                <a:solidFill>
                  <a:srgbClr val="0000FF"/>
                </a:solidFill>
                <a:latin typeface="Consolas"/>
              </a:rPr>
              <a:t>mov</a:t>
            </a:r>
            <a:r>
              <a:rPr lang="en-US" b="0">
                <a:solidFill>
                  <a:srgbClr val="000000"/>
                </a:solidFill>
                <a:latin typeface="Consolas"/>
              </a:rPr>
              <a:t>     </a:t>
            </a:r>
            <a:r>
              <a:rPr lang="en-US" b="0">
                <a:solidFill>
                  <a:srgbClr val="4864AA"/>
                </a:solidFill>
                <a:latin typeface="Consolas"/>
              </a:rPr>
              <a:t>rcx</a:t>
            </a:r>
            <a:r>
              <a:rPr lang="en-US" b="0">
                <a:solidFill>
                  <a:srgbClr val="000000"/>
                </a:solidFill>
                <a:latin typeface="Consolas"/>
              </a:rPr>
              <a:t>, </a:t>
            </a:r>
            <a:r>
              <a:rPr lang="en-US" b="0">
                <a:solidFill>
                  <a:srgbClr val="4864AA"/>
                </a:solidFill>
                <a:latin typeface="Consolas"/>
              </a:rPr>
              <a:t>rbx</a:t>
            </a:r>
            <a:endParaRPr lang="en-US" b="0">
              <a:solidFill>
                <a:srgbClr val="000000"/>
              </a:solidFill>
              <a:latin typeface="Consolas"/>
            </a:endParaRPr>
          </a:p>
          <a:p>
            <a:pPr>
              <a:defRPr/>
            </a:pPr>
            <a:r>
              <a:rPr lang="en-US" b="0">
                <a:solidFill>
                  <a:srgbClr val="000000"/>
                </a:solidFill>
                <a:latin typeface="Consolas"/>
              </a:rPr>
              <a:t>        </a:t>
            </a:r>
            <a:r>
              <a:rPr lang="en-US" b="0">
                <a:solidFill>
                  <a:srgbClr val="0000FF"/>
                </a:solidFill>
                <a:latin typeface="Consolas"/>
              </a:rPr>
              <a:t>call</a:t>
            </a:r>
            <a:r>
              <a:rPr lang="en-US" b="0">
                <a:solidFill>
                  <a:srgbClr val="000000"/>
                </a:solidFill>
                <a:latin typeface="Consolas"/>
              </a:rPr>
              <a:t>    </a:t>
            </a:r>
            <a:r>
              <a:rPr lang="en-US" b="0">
                <a:solidFill>
                  <a:srgbClr val="008080"/>
                </a:solidFill>
                <a:latin typeface="Consolas"/>
              </a:rPr>
              <a:t>operator</a:t>
            </a:r>
            <a:r>
              <a:rPr lang="en-US" b="0">
                <a:solidFill>
                  <a:srgbClr val="000000"/>
                </a:solidFill>
                <a:latin typeface="Consolas"/>
              </a:rPr>
              <a:t> </a:t>
            </a:r>
            <a:r>
              <a:rPr lang="en-US" b="0">
                <a:solidFill>
                  <a:srgbClr val="008080"/>
                </a:solidFill>
                <a:latin typeface="Consolas"/>
              </a:rPr>
              <a:t>delete</a:t>
            </a:r>
            <a:r>
              <a:rPr lang="en-US" b="0">
                <a:solidFill>
                  <a:srgbClr val="000000"/>
                </a:solidFill>
                <a:latin typeface="Consolas"/>
              </a:rPr>
              <a:t>(</a:t>
            </a:r>
            <a:r>
              <a:rPr lang="en-US" b="0">
                <a:solidFill>
                  <a:srgbClr val="008080"/>
                </a:solidFill>
                <a:latin typeface="Consolas"/>
              </a:rPr>
              <a:t>void</a:t>
            </a:r>
            <a:r>
              <a:rPr lang="en-US" b="0">
                <a:solidFill>
                  <a:srgbClr val="000000"/>
                </a:solidFill>
                <a:latin typeface="Consolas"/>
              </a:rPr>
              <a:t>*, </a:t>
            </a:r>
            <a:r>
              <a:rPr lang="en-US" b="0">
                <a:solidFill>
                  <a:srgbClr val="008080"/>
                </a:solidFill>
                <a:latin typeface="Consolas"/>
              </a:rPr>
              <a:t>unsigned</a:t>
            </a:r>
            <a:r>
              <a:rPr lang="en-US" b="0">
                <a:solidFill>
                  <a:srgbClr val="000000"/>
                </a:solidFill>
                <a:latin typeface="Consolas"/>
              </a:rPr>
              <a:t> </a:t>
            </a:r>
            <a:r>
              <a:rPr lang="en-US" b="0">
                <a:solidFill>
                  <a:srgbClr val="008080"/>
                </a:solidFill>
                <a:latin typeface="Consolas"/>
              </a:rPr>
              <a:t>long</a:t>
            </a:r>
            <a:r>
              <a:rPr lang="en-US" b="0">
                <a:solidFill>
                  <a:srgbClr val="000000"/>
                </a:solidFill>
                <a:latin typeface="Consolas"/>
              </a:rPr>
              <a:t>)</a:t>
            </a:r>
            <a:endParaRPr/>
          </a:p>
          <a:p>
            <a:pPr>
              <a:defRPr/>
            </a:pPr>
            <a:r>
              <a:rPr lang="en-US" b="0">
                <a:solidFill>
                  <a:srgbClr val="000000"/>
                </a:solidFill>
                <a:latin typeface="Consolas"/>
              </a:rPr>
              <a:t>        </a:t>
            </a:r>
            <a:r>
              <a:rPr lang="en-US" b="0">
                <a:solidFill>
                  <a:srgbClr val="0000FF"/>
                </a:solidFill>
                <a:latin typeface="Consolas"/>
              </a:rPr>
              <a:t>add</a:t>
            </a:r>
            <a:r>
              <a:rPr lang="en-US" b="0">
                <a:solidFill>
                  <a:srgbClr val="000000"/>
                </a:solidFill>
                <a:latin typeface="Consolas"/>
              </a:rPr>
              <a:t>     </a:t>
            </a:r>
            <a:r>
              <a:rPr lang="en-US" b="0">
                <a:solidFill>
                  <a:srgbClr val="4864AA"/>
                </a:solidFill>
                <a:latin typeface="Consolas"/>
              </a:rPr>
              <a:t>rsp</a:t>
            </a:r>
            <a:r>
              <a:rPr lang="en-US" b="0">
                <a:solidFill>
                  <a:srgbClr val="000000"/>
                </a:solidFill>
                <a:latin typeface="Consolas"/>
              </a:rPr>
              <a:t>, </a:t>
            </a:r>
            <a:r>
              <a:rPr lang="en-US" b="0">
                <a:solidFill>
                  <a:srgbClr val="098658"/>
                </a:solidFill>
                <a:latin typeface="Consolas"/>
              </a:rPr>
              <a:t>32</a:t>
            </a:r>
            <a:endParaRPr lang="en-US" b="0">
              <a:solidFill>
                <a:srgbClr val="000000"/>
              </a:solidFill>
              <a:latin typeface="Consolas"/>
            </a:endParaRPr>
          </a:p>
          <a:p>
            <a:pPr>
              <a:defRPr/>
            </a:pPr>
            <a:r>
              <a:rPr lang="en-US" b="0">
                <a:solidFill>
                  <a:srgbClr val="000000"/>
                </a:solidFill>
                <a:latin typeface="Consolas"/>
              </a:rPr>
              <a:t>        </a:t>
            </a:r>
            <a:r>
              <a:rPr lang="en-US" b="0">
                <a:solidFill>
                  <a:srgbClr val="0000FF"/>
                </a:solidFill>
                <a:latin typeface="Consolas"/>
              </a:rPr>
              <a:t>pop</a:t>
            </a:r>
            <a:r>
              <a:rPr lang="en-US" b="0">
                <a:solidFill>
                  <a:srgbClr val="000000"/>
                </a:solidFill>
                <a:latin typeface="Consolas"/>
              </a:rPr>
              <a:t>     </a:t>
            </a:r>
            <a:r>
              <a:rPr lang="en-US" b="0">
                <a:solidFill>
                  <a:srgbClr val="4864AA"/>
                </a:solidFill>
                <a:latin typeface="Consolas"/>
              </a:rPr>
              <a:t>rbx</a:t>
            </a:r>
          </a:p>
          <a:p>
            <a:pPr>
              <a:defRPr/>
            </a:pPr>
            <a:r>
              <a:rPr lang="en-US" b="0">
                <a:solidFill>
                  <a:srgbClr val="000000"/>
                </a:solidFill>
                <a:latin typeface="Consolas"/>
              </a:rPr>
              <a:t>        </a:t>
            </a:r>
            <a:r>
              <a:rPr lang="en-US" b="0">
                <a:solidFill>
                  <a:srgbClr val="0000FF"/>
                </a:solidFill>
                <a:latin typeface="Consolas"/>
              </a:rPr>
              <a:t>pop</a:t>
            </a:r>
            <a:r>
              <a:rPr lang="en-US" b="0">
                <a:solidFill>
                  <a:srgbClr val="000000"/>
                </a:solidFill>
                <a:latin typeface="Consolas"/>
              </a:rPr>
              <a:t>     </a:t>
            </a:r>
            <a:r>
              <a:rPr lang="en-US" b="0">
                <a:solidFill>
                  <a:srgbClr val="4864AA"/>
                </a:solidFill>
                <a:latin typeface="Consolas"/>
              </a:rPr>
              <a:t>rbp</a:t>
            </a:r>
            <a:endParaRPr lang="en-US" b="0">
              <a:solidFill>
                <a:srgbClr val="000000"/>
              </a:solidFill>
              <a:latin typeface="Consolas"/>
            </a:endParaRPr>
          </a:p>
          <a:p>
            <a:pPr>
              <a:defRPr/>
            </a:pPr>
            <a:r>
              <a:rPr lang="en-US" b="0">
                <a:solidFill>
                  <a:srgbClr val="000000"/>
                </a:solidFill>
                <a:latin typeface="Consolas"/>
              </a:rPr>
              <a:t>        </a:t>
            </a:r>
            <a:r>
              <a:rPr lang="en-US" b="0">
                <a:solidFill>
                  <a:srgbClr val="0000FF"/>
                </a:solidFill>
                <a:latin typeface="Consolas"/>
              </a:rPr>
              <a:t>ret</a:t>
            </a:r>
            <a:endParaRPr lang="en-US" b="0">
              <a:solidFill>
                <a:srgbClr val="000000"/>
              </a:solidFill>
              <a:latin typeface="Consolas"/>
            </a:endParaRPr>
          </a:p>
        </p:txBody>
      </p:sp>
      <p:sp>
        <p:nvSpPr>
          <p:cNvPr id="1212489138" name="TextBox 2"/>
          <p:cNvSpPr txBox="1"/>
          <p:nvPr/>
        </p:nvSpPr>
        <p:spPr bwMode="auto">
          <a:xfrm>
            <a:off x="838200" y="1359211"/>
            <a:ext cx="3525982" cy="369332"/>
          </a:xfrm>
          <a:prstGeom prst="rect">
            <a:avLst/>
          </a:prstGeom>
          <a:noFill/>
        </p:spPr>
        <p:txBody>
          <a:bodyPr wrap="square">
            <a:spAutoFit/>
          </a:bodyPr>
          <a:lstStyle/>
          <a:p>
            <a:pPr>
              <a:defRPr/>
            </a:pPr>
            <a:r>
              <a:rPr lang="en-US" u="sng">
                <a:hlinkClick r:id="rId3"/>
              </a:rPr>
              <a:t>https://godbolt.org/z/6cWroda4n</a:t>
            </a:r>
            <a:endParaRPr lang="ru-RU"/>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137442571" name="Прямоугольник 5"/>
          <p:cNvSpPr/>
          <p:nvPr/>
        </p:nvSpPr>
        <p:spPr bwMode="auto">
          <a:xfrm>
            <a:off x="7477991" y="2902675"/>
            <a:ext cx="3792682" cy="462420"/>
          </a:xfrm>
          <a:prstGeom prst="rect">
            <a:avLst/>
          </a:prstGeom>
          <a:solidFill>
            <a:srgbClr val="EEF7E9"/>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684267462" name="Прямоугольник 6"/>
          <p:cNvSpPr/>
          <p:nvPr/>
        </p:nvSpPr>
        <p:spPr bwMode="auto">
          <a:xfrm>
            <a:off x="7477992" y="4246868"/>
            <a:ext cx="3792682" cy="365125"/>
          </a:xfrm>
          <a:prstGeom prst="rect">
            <a:avLst/>
          </a:prstGeom>
          <a:solidFill>
            <a:schemeClr val="accent6">
              <a:lumMod val="40000"/>
              <a:lumOff val="6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2107843654" name="Заголовок 1"/>
          <p:cNvSpPr>
            <a:spLocks noGrp="1"/>
          </p:cNvSpPr>
          <p:nvPr>
            <p:ph type="title"/>
          </p:nvPr>
        </p:nvSpPr>
        <p:spPr bwMode="auto">
          <a:xfrm>
            <a:off x="512618" y="7609"/>
            <a:ext cx="10515600" cy="1325563"/>
          </a:xfrm>
        </p:spPr>
        <p:txBody>
          <a:bodyPr/>
          <a:lstStyle/>
          <a:p>
            <a:pPr>
              <a:defRPr/>
            </a:pPr>
            <a:r>
              <a:rPr lang="ru-RU"/>
              <a:t>Операторы </a:t>
            </a:r>
            <a:r>
              <a:rPr lang="en-US"/>
              <a:t>new[] </a:t>
            </a:r>
            <a:r>
              <a:rPr lang="ru-RU"/>
              <a:t>и </a:t>
            </a:r>
            <a:r>
              <a:rPr lang="en-US"/>
              <a:t>delete[]</a:t>
            </a:r>
            <a:endParaRPr/>
          </a:p>
        </p:txBody>
      </p:sp>
      <p:sp>
        <p:nvSpPr>
          <p:cNvPr id="1466412270" name="Номер слайда 4"/>
          <p:cNvSpPr>
            <a:spLocks noGrp="1"/>
          </p:cNvSpPr>
          <p:nvPr>
            <p:ph type="sldNum" sz="quarter" idx="12"/>
          </p:nvPr>
        </p:nvSpPr>
        <p:spPr bwMode="auto"/>
        <p:txBody>
          <a:bodyPr/>
          <a:lstStyle/>
          <a:p>
            <a:pPr>
              <a:defRPr/>
            </a:pPr>
            <a:fld id="{B67FBA2B-964F-4C4D-AAF7-5A8399264638}" type="slidenum">
              <a:rPr lang="en-US"/>
              <a:t>28</a:t>
            </a:fld>
            <a:endParaRPr lang="en-US"/>
          </a:p>
        </p:txBody>
      </p:sp>
      <p:sp>
        <p:nvSpPr>
          <p:cNvPr id="734182562" name="TextBox 2"/>
          <p:cNvSpPr txBox="1"/>
          <p:nvPr/>
        </p:nvSpPr>
        <p:spPr bwMode="auto">
          <a:xfrm>
            <a:off x="654631" y="1808897"/>
            <a:ext cx="4620491" cy="1200329"/>
          </a:xfrm>
          <a:prstGeom prst="rect">
            <a:avLst/>
          </a:prstGeom>
          <a:noFill/>
        </p:spPr>
        <p:txBody>
          <a:bodyPr wrap="square">
            <a:spAutoFit/>
          </a:bodyPr>
          <a:lstStyle/>
          <a:p>
            <a:pPr>
              <a:defRPr/>
            </a:pPr>
            <a:r>
              <a:rPr lang="en-US" b="0">
                <a:solidFill>
                  <a:srgbClr val="000000"/>
                </a:solidFill>
                <a:latin typeface="Consolas"/>
              </a:rPr>
              <a:t>C* create_array(</a:t>
            </a:r>
            <a:r>
              <a:rPr lang="en-US" b="0">
                <a:solidFill>
                  <a:srgbClr val="0000FF"/>
                </a:solidFill>
                <a:latin typeface="Consolas"/>
              </a:rPr>
              <a:t>unsigned</a:t>
            </a:r>
            <a:r>
              <a:rPr lang="en-US" b="0">
                <a:solidFill>
                  <a:srgbClr val="000000"/>
                </a:solidFill>
                <a:latin typeface="Consolas"/>
              </a:rPr>
              <a:t> </a:t>
            </a:r>
            <a:r>
              <a:rPr lang="en-US" b="0">
                <a:solidFill>
                  <a:srgbClr val="0000FF"/>
                </a:solidFill>
                <a:latin typeface="Consolas"/>
              </a:rPr>
              <a:t>int</a:t>
            </a:r>
            <a:r>
              <a:rPr lang="en-US" b="0">
                <a:solidFill>
                  <a:srgbClr val="000000"/>
                </a:solidFill>
                <a:latin typeface="Consolas"/>
              </a:rPr>
              <a:t> size)</a:t>
            </a:r>
            <a:endParaRPr lang="ru-RU" b="0">
              <a:solidFill>
                <a:srgbClr val="000000"/>
              </a:solidFill>
              <a:latin typeface="Consolas"/>
            </a:endParaRPr>
          </a:p>
          <a:p>
            <a:pPr>
              <a:defRPr/>
            </a:pPr>
            <a:r>
              <a:rPr lang="en-US" b="0">
                <a:solidFill>
                  <a:srgbClr val="000000"/>
                </a:solidFill>
                <a:latin typeface="Consolas"/>
              </a:rPr>
              <a:t>{</a:t>
            </a:r>
            <a:endParaRPr/>
          </a:p>
          <a:p>
            <a:pPr>
              <a:defRPr/>
            </a:pPr>
            <a:r>
              <a:rPr lang="en-US" b="0">
                <a:solidFill>
                  <a:srgbClr val="000000"/>
                </a:solidFill>
                <a:latin typeface="Consolas"/>
              </a:rPr>
              <a:t>    </a:t>
            </a:r>
            <a:r>
              <a:rPr lang="en-US" b="0">
                <a:solidFill>
                  <a:srgbClr val="0000FF"/>
                </a:solidFill>
                <a:latin typeface="Consolas"/>
              </a:rPr>
              <a:t>return</a:t>
            </a:r>
            <a:r>
              <a:rPr lang="en-US" b="0">
                <a:solidFill>
                  <a:srgbClr val="000000"/>
                </a:solidFill>
                <a:latin typeface="Consolas"/>
              </a:rPr>
              <a:t> </a:t>
            </a:r>
            <a:r>
              <a:rPr lang="en-US" b="0">
                <a:solidFill>
                  <a:srgbClr val="0000FF"/>
                </a:solidFill>
                <a:latin typeface="Consolas"/>
              </a:rPr>
              <a:t>new</a:t>
            </a:r>
            <a:r>
              <a:rPr lang="en-US" b="0">
                <a:solidFill>
                  <a:srgbClr val="000000"/>
                </a:solidFill>
                <a:latin typeface="Consolas"/>
              </a:rPr>
              <a:t> C[size];</a:t>
            </a:r>
            <a:endParaRPr/>
          </a:p>
          <a:p>
            <a:pPr>
              <a:defRPr/>
            </a:pPr>
            <a:r>
              <a:rPr lang="en-US" b="0">
                <a:solidFill>
                  <a:srgbClr val="000000"/>
                </a:solidFill>
                <a:latin typeface="Consolas"/>
              </a:rPr>
              <a:t>}</a:t>
            </a:r>
            <a:endParaRPr/>
          </a:p>
        </p:txBody>
      </p:sp>
      <p:sp>
        <p:nvSpPr>
          <p:cNvPr id="522262469" name="TextBox 8"/>
          <p:cNvSpPr txBox="1"/>
          <p:nvPr/>
        </p:nvSpPr>
        <p:spPr bwMode="auto">
          <a:xfrm>
            <a:off x="6685985" y="1392029"/>
            <a:ext cx="6096000" cy="5262979"/>
          </a:xfrm>
          <a:prstGeom prst="rect">
            <a:avLst/>
          </a:prstGeom>
          <a:noFill/>
        </p:spPr>
        <p:txBody>
          <a:bodyPr wrap="square">
            <a:spAutoFit/>
          </a:bodyPr>
          <a:lstStyle/>
          <a:p>
            <a:pPr>
              <a:defRPr/>
            </a:pPr>
            <a:r>
              <a:rPr lang="en-US" sz="1400" b="0" dirty="0" err="1">
                <a:solidFill>
                  <a:srgbClr val="008080"/>
                </a:solidFill>
                <a:latin typeface="Consolas"/>
              </a:rPr>
              <a:t>create_array</a:t>
            </a:r>
            <a:r>
              <a:rPr lang="en-US" sz="1400" b="0" dirty="0">
                <a:solidFill>
                  <a:srgbClr val="008080"/>
                </a:solidFill>
                <a:latin typeface="Consolas"/>
              </a:rPr>
              <a:t>(unsigned int):  </a:t>
            </a:r>
            <a:r>
              <a:rPr lang="en-US" sz="1400" b="0" dirty="0">
                <a:solidFill>
                  <a:srgbClr val="008000"/>
                </a:solidFill>
                <a:latin typeface="Consolas"/>
              </a:rPr>
              <a:t>;size </a:t>
            </a:r>
            <a:r>
              <a:rPr lang="ru-RU" sz="1400" dirty="0">
                <a:solidFill>
                  <a:srgbClr val="008000"/>
                </a:solidFill>
                <a:latin typeface="Consolas"/>
              </a:rPr>
              <a:t>в</a:t>
            </a:r>
            <a:r>
              <a:rPr lang="en-US" sz="1400" b="0" dirty="0">
                <a:solidFill>
                  <a:srgbClr val="008000"/>
                </a:solidFill>
                <a:latin typeface="Consolas"/>
              </a:rPr>
              <a:t> RCX </a:t>
            </a:r>
            <a:endParaRPr dirty="0"/>
          </a:p>
          <a:p>
            <a:pPr>
              <a:defRPr/>
            </a:pPr>
            <a:r>
              <a:rPr lang="en-US" sz="1400" b="0" dirty="0">
                <a:solidFill>
                  <a:srgbClr val="000000"/>
                </a:solidFill>
                <a:latin typeface="Consolas"/>
              </a:rPr>
              <a:t>        </a:t>
            </a:r>
            <a:r>
              <a:rPr lang="en-US" sz="1400" b="0" dirty="0">
                <a:solidFill>
                  <a:srgbClr val="0000FF"/>
                </a:solidFill>
                <a:latin typeface="Consolas"/>
              </a:rPr>
              <a:t>push</a:t>
            </a:r>
            <a:r>
              <a:rPr lang="en-US" sz="1400" b="0" dirty="0">
                <a:solidFill>
                  <a:srgbClr val="000000"/>
                </a:solidFill>
                <a:latin typeface="Consolas"/>
              </a:rPr>
              <a:t>    </a:t>
            </a:r>
            <a:r>
              <a:rPr lang="en-US" sz="1400" b="0" dirty="0" err="1">
                <a:solidFill>
                  <a:srgbClr val="4864AA"/>
                </a:solidFill>
                <a:latin typeface="Consolas"/>
              </a:rPr>
              <a:t>rdi</a:t>
            </a:r>
            <a:r>
              <a:rPr lang="ru-RU" sz="1400" b="0" dirty="0">
                <a:solidFill>
                  <a:srgbClr val="4864AA"/>
                </a:solidFill>
                <a:latin typeface="Consolas"/>
              </a:rPr>
              <a:t> </a:t>
            </a:r>
            <a:endParaRPr lang="en-US" sz="1400" b="0" dirty="0">
              <a:solidFill>
                <a:srgbClr val="000000"/>
              </a:solidFill>
              <a:latin typeface="Consolas"/>
            </a:endParaRPr>
          </a:p>
          <a:p>
            <a:pPr>
              <a:defRPr/>
            </a:pPr>
            <a:r>
              <a:rPr lang="en-US" sz="1400" b="0" dirty="0">
                <a:solidFill>
                  <a:srgbClr val="000000"/>
                </a:solidFill>
                <a:latin typeface="Consolas"/>
              </a:rPr>
              <a:t>        </a:t>
            </a:r>
            <a:r>
              <a:rPr lang="en-US" sz="1400" b="0" dirty="0">
                <a:solidFill>
                  <a:srgbClr val="0000FF"/>
                </a:solidFill>
                <a:latin typeface="Consolas"/>
              </a:rPr>
              <a:t>push</a:t>
            </a:r>
            <a:r>
              <a:rPr lang="en-US" sz="1400" b="0" dirty="0">
                <a:solidFill>
                  <a:srgbClr val="000000"/>
                </a:solidFill>
                <a:latin typeface="Consolas"/>
              </a:rPr>
              <a:t>    </a:t>
            </a:r>
            <a:r>
              <a:rPr lang="en-US" sz="1400" b="0" dirty="0" err="1">
                <a:solidFill>
                  <a:srgbClr val="4864AA"/>
                </a:solidFill>
                <a:latin typeface="Consolas"/>
              </a:rPr>
              <a:t>rsi</a:t>
            </a:r>
            <a:endParaRPr lang="en-US" sz="1400" b="0" dirty="0">
              <a:solidFill>
                <a:srgbClr val="000000"/>
              </a:solidFill>
              <a:latin typeface="Consolas"/>
            </a:endParaRPr>
          </a:p>
          <a:p>
            <a:pPr>
              <a:defRPr/>
            </a:pPr>
            <a:r>
              <a:rPr lang="en-US" sz="1400" b="0" dirty="0">
                <a:solidFill>
                  <a:srgbClr val="000000"/>
                </a:solidFill>
                <a:latin typeface="Consolas"/>
              </a:rPr>
              <a:t>        </a:t>
            </a:r>
            <a:r>
              <a:rPr lang="en-US" sz="1400" b="0" dirty="0">
                <a:solidFill>
                  <a:srgbClr val="0000FF"/>
                </a:solidFill>
                <a:latin typeface="Consolas"/>
              </a:rPr>
              <a:t>push</a:t>
            </a:r>
            <a:r>
              <a:rPr lang="en-US" sz="1400" b="0" dirty="0">
                <a:solidFill>
                  <a:srgbClr val="000000"/>
                </a:solidFill>
                <a:latin typeface="Consolas"/>
              </a:rPr>
              <a:t>    </a:t>
            </a:r>
            <a:r>
              <a:rPr lang="en-US" sz="1400" b="0" dirty="0" err="1">
                <a:solidFill>
                  <a:srgbClr val="4864AA"/>
                </a:solidFill>
                <a:latin typeface="Consolas"/>
              </a:rPr>
              <a:t>rbx</a:t>
            </a:r>
            <a:endParaRPr lang="en-US" sz="1400" b="0" dirty="0">
              <a:solidFill>
                <a:srgbClr val="000000"/>
              </a:solidFill>
              <a:latin typeface="Consolas"/>
            </a:endParaRPr>
          </a:p>
          <a:p>
            <a:pPr>
              <a:defRPr/>
            </a:pPr>
            <a:r>
              <a:rPr lang="en-US" sz="1400" b="0" dirty="0">
                <a:solidFill>
                  <a:srgbClr val="000000"/>
                </a:solidFill>
                <a:latin typeface="Consolas"/>
              </a:rPr>
              <a:t>        </a:t>
            </a:r>
            <a:r>
              <a:rPr lang="en-US" sz="1400" b="0" dirty="0">
                <a:solidFill>
                  <a:srgbClr val="0000FF"/>
                </a:solidFill>
                <a:latin typeface="Consolas"/>
              </a:rPr>
              <a:t>sub</a:t>
            </a:r>
            <a:r>
              <a:rPr lang="en-US" sz="1400" b="0" dirty="0">
                <a:solidFill>
                  <a:srgbClr val="000000"/>
                </a:solidFill>
                <a:latin typeface="Consolas"/>
              </a:rPr>
              <a:t>     </a:t>
            </a:r>
            <a:r>
              <a:rPr lang="en-US" sz="1400" b="0" dirty="0" err="1">
                <a:solidFill>
                  <a:srgbClr val="4864AA"/>
                </a:solidFill>
                <a:latin typeface="Consolas"/>
              </a:rPr>
              <a:t>rsp</a:t>
            </a:r>
            <a:r>
              <a:rPr lang="en-US" sz="1400" b="0" dirty="0">
                <a:solidFill>
                  <a:srgbClr val="000000"/>
                </a:solidFill>
                <a:latin typeface="Consolas"/>
              </a:rPr>
              <a:t>, </a:t>
            </a:r>
            <a:r>
              <a:rPr lang="en-US" sz="1400" b="0" dirty="0">
                <a:solidFill>
                  <a:srgbClr val="098658"/>
                </a:solidFill>
                <a:latin typeface="Consolas"/>
              </a:rPr>
              <a:t>32</a:t>
            </a:r>
            <a:r>
              <a:rPr lang="ru-RU" sz="1400" b="0" dirty="0">
                <a:solidFill>
                  <a:srgbClr val="098658"/>
                </a:solidFill>
                <a:latin typeface="Consolas"/>
              </a:rPr>
              <a:t> </a:t>
            </a:r>
            <a:r>
              <a:rPr lang="en-US" sz="1400" b="0" dirty="0">
                <a:solidFill>
                  <a:srgbClr val="008000"/>
                </a:solidFill>
                <a:latin typeface="Consolas"/>
              </a:rPr>
              <a:t>; PROLOGUE END</a:t>
            </a:r>
            <a:endParaRPr dirty="0"/>
          </a:p>
          <a:p>
            <a:pPr>
              <a:defRPr/>
            </a:pPr>
            <a:r>
              <a:rPr lang="en-US" sz="1400" b="0" dirty="0">
                <a:solidFill>
                  <a:srgbClr val="000000"/>
                </a:solidFill>
                <a:latin typeface="Consolas"/>
              </a:rPr>
              <a:t>        </a:t>
            </a:r>
            <a:r>
              <a:rPr lang="en-US" sz="1400" b="0" dirty="0">
                <a:solidFill>
                  <a:srgbClr val="0000FF"/>
                </a:solidFill>
                <a:latin typeface="Consolas"/>
              </a:rPr>
              <a:t>mov</a:t>
            </a:r>
            <a:r>
              <a:rPr lang="en-US" sz="1400" b="0" dirty="0">
                <a:solidFill>
                  <a:srgbClr val="000000"/>
                </a:solidFill>
                <a:latin typeface="Consolas"/>
              </a:rPr>
              <a:t>     </a:t>
            </a:r>
            <a:r>
              <a:rPr lang="en-US" sz="1400" b="0" dirty="0" err="1">
                <a:solidFill>
                  <a:srgbClr val="4864AA"/>
                </a:solidFill>
                <a:latin typeface="Consolas"/>
              </a:rPr>
              <a:t>ebx</a:t>
            </a:r>
            <a:r>
              <a:rPr lang="en-US" sz="1400" b="0" dirty="0">
                <a:solidFill>
                  <a:srgbClr val="000000"/>
                </a:solidFill>
                <a:latin typeface="Consolas"/>
              </a:rPr>
              <a:t>, </a:t>
            </a:r>
            <a:r>
              <a:rPr lang="en-US" sz="1400" b="0" dirty="0" err="1">
                <a:solidFill>
                  <a:srgbClr val="4864AA"/>
                </a:solidFill>
                <a:latin typeface="Consolas"/>
              </a:rPr>
              <a:t>ecx</a:t>
            </a:r>
            <a:endParaRPr lang="en-US" sz="1400" b="0" dirty="0">
              <a:solidFill>
                <a:srgbClr val="000000"/>
              </a:solidFill>
              <a:latin typeface="Consolas"/>
            </a:endParaRPr>
          </a:p>
          <a:p>
            <a:pPr>
              <a:defRPr/>
            </a:pPr>
            <a:r>
              <a:rPr lang="en-US" sz="1400" b="0" dirty="0">
                <a:solidFill>
                  <a:srgbClr val="000000"/>
                </a:solidFill>
                <a:latin typeface="Consolas"/>
              </a:rPr>
              <a:t>        </a:t>
            </a:r>
            <a:r>
              <a:rPr lang="en-US" sz="1400" b="0" dirty="0">
                <a:solidFill>
                  <a:srgbClr val="0000FF"/>
                </a:solidFill>
                <a:latin typeface="Consolas"/>
              </a:rPr>
              <a:t>lea</a:t>
            </a:r>
            <a:r>
              <a:rPr lang="en-US" sz="1400" b="0" dirty="0">
                <a:solidFill>
                  <a:srgbClr val="000000"/>
                </a:solidFill>
                <a:latin typeface="Consolas"/>
              </a:rPr>
              <a:t>     </a:t>
            </a:r>
            <a:r>
              <a:rPr lang="en-US" sz="1400" b="0" dirty="0" err="1">
                <a:solidFill>
                  <a:srgbClr val="4864AA"/>
                </a:solidFill>
                <a:latin typeface="Consolas"/>
              </a:rPr>
              <a:t>rcx</a:t>
            </a:r>
            <a:r>
              <a:rPr lang="en-US" sz="1400" b="0" dirty="0">
                <a:solidFill>
                  <a:srgbClr val="000000"/>
                </a:solidFill>
                <a:latin typeface="Consolas"/>
              </a:rPr>
              <a:t>, [</a:t>
            </a:r>
            <a:r>
              <a:rPr lang="en-US" sz="1400" b="0" dirty="0">
                <a:solidFill>
                  <a:srgbClr val="098658"/>
                </a:solidFill>
                <a:latin typeface="Consolas"/>
              </a:rPr>
              <a:t>8</a:t>
            </a:r>
            <a:r>
              <a:rPr lang="en-US" sz="1400" b="0" dirty="0">
                <a:solidFill>
                  <a:srgbClr val="000000"/>
                </a:solidFill>
                <a:latin typeface="Consolas"/>
              </a:rPr>
              <a:t>+</a:t>
            </a:r>
            <a:r>
              <a:rPr lang="en-US" sz="1400" b="0" dirty="0">
                <a:solidFill>
                  <a:srgbClr val="4864AA"/>
                </a:solidFill>
                <a:latin typeface="Consolas"/>
              </a:rPr>
              <a:t>rbx</a:t>
            </a:r>
            <a:r>
              <a:rPr lang="en-US" sz="1400" b="0" dirty="0">
                <a:solidFill>
                  <a:srgbClr val="000000"/>
                </a:solidFill>
                <a:latin typeface="Consolas"/>
              </a:rPr>
              <a:t>*</a:t>
            </a:r>
            <a:r>
              <a:rPr lang="en-US" sz="1400" b="0" dirty="0">
                <a:solidFill>
                  <a:srgbClr val="098658"/>
                </a:solidFill>
                <a:latin typeface="Consolas"/>
              </a:rPr>
              <a:t>4</a:t>
            </a:r>
            <a:r>
              <a:rPr lang="en-US" sz="1400" b="0" dirty="0">
                <a:solidFill>
                  <a:srgbClr val="000000"/>
                </a:solidFill>
                <a:latin typeface="Consolas"/>
              </a:rPr>
              <a:t>] </a:t>
            </a:r>
            <a:r>
              <a:rPr lang="en-US" sz="1400" b="0" dirty="0">
                <a:solidFill>
                  <a:srgbClr val="008000"/>
                </a:solidFill>
                <a:latin typeface="Consolas"/>
              </a:rPr>
              <a:t>; </a:t>
            </a:r>
            <a:r>
              <a:rPr lang="ru-RU" sz="1400" b="0" dirty="0">
                <a:solidFill>
                  <a:srgbClr val="008000"/>
                </a:solidFill>
                <a:latin typeface="Consolas"/>
              </a:rPr>
              <a:t>общий размер в байтах</a:t>
            </a:r>
            <a:endParaRPr lang="en-US" sz="1400" b="0" dirty="0">
              <a:solidFill>
                <a:srgbClr val="000000"/>
              </a:solidFill>
              <a:latin typeface="Consolas"/>
            </a:endParaRPr>
          </a:p>
          <a:p>
            <a:pPr>
              <a:defRPr/>
            </a:pPr>
            <a:r>
              <a:rPr lang="en-US" sz="1400" b="0" dirty="0">
                <a:solidFill>
                  <a:srgbClr val="000000"/>
                </a:solidFill>
                <a:latin typeface="Consolas"/>
              </a:rPr>
              <a:t>        </a:t>
            </a:r>
            <a:r>
              <a:rPr lang="en-US" sz="1400" b="0" dirty="0">
                <a:solidFill>
                  <a:srgbClr val="0000FF"/>
                </a:solidFill>
                <a:latin typeface="Consolas"/>
              </a:rPr>
              <a:t>call</a:t>
            </a:r>
            <a:r>
              <a:rPr lang="en-US" sz="1400" b="0" dirty="0">
                <a:solidFill>
                  <a:srgbClr val="000000"/>
                </a:solidFill>
                <a:latin typeface="Consolas"/>
              </a:rPr>
              <a:t>    </a:t>
            </a:r>
            <a:r>
              <a:rPr lang="en-US" sz="1400" b="0" dirty="0">
                <a:solidFill>
                  <a:srgbClr val="008080"/>
                </a:solidFill>
                <a:latin typeface="Consolas"/>
              </a:rPr>
              <a:t>operator</a:t>
            </a:r>
            <a:r>
              <a:rPr lang="en-US" sz="1400" b="0" dirty="0">
                <a:solidFill>
                  <a:srgbClr val="000000"/>
                </a:solidFill>
                <a:latin typeface="Consolas"/>
              </a:rPr>
              <a:t> </a:t>
            </a:r>
            <a:r>
              <a:rPr lang="en-US" sz="1400" b="0" dirty="0">
                <a:solidFill>
                  <a:srgbClr val="008080"/>
                </a:solidFill>
                <a:latin typeface="Consolas"/>
              </a:rPr>
              <a:t>new</a:t>
            </a:r>
            <a:r>
              <a:rPr lang="en-US" sz="1400" b="0" dirty="0">
                <a:solidFill>
                  <a:srgbClr val="000000"/>
                </a:solidFill>
                <a:latin typeface="Consolas"/>
              </a:rPr>
              <a:t>[](</a:t>
            </a:r>
            <a:r>
              <a:rPr lang="en-US" sz="1400" b="0" dirty="0">
                <a:solidFill>
                  <a:srgbClr val="008080"/>
                </a:solidFill>
                <a:latin typeface="Consolas"/>
              </a:rPr>
              <a:t>unsigned</a:t>
            </a:r>
            <a:r>
              <a:rPr lang="en-US" sz="1400" b="0" dirty="0">
                <a:solidFill>
                  <a:srgbClr val="000000"/>
                </a:solidFill>
                <a:latin typeface="Consolas"/>
              </a:rPr>
              <a:t> </a:t>
            </a:r>
            <a:r>
              <a:rPr lang="en-US" sz="1400" b="0" dirty="0">
                <a:solidFill>
                  <a:srgbClr val="008080"/>
                </a:solidFill>
                <a:latin typeface="Consolas"/>
              </a:rPr>
              <a:t>long</a:t>
            </a:r>
            <a:r>
              <a:rPr lang="en-US" sz="1400" b="0" dirty="0">
                <a:solidFill>
                  <a:srgbClr val="000000"/>
                </a:solidFill>
                <a:latin typeface="Consolas"/>
              </a:rPr>
              <a:t>)</a:t>
            </a:r>
            <a:endParaRPr dirty="0"/>
          </a:p>
          <a:p>
            <a:pPr>
              <a:defRPr/>
            </a:pPr>
            <a:r>
              <a:rPr lang="en-US" sz="1400" b="0" dirty="0">
                <a:solidFill>
                  <a:srgbClr val="000000"/>
                </a:solidFill>
                <a:latin typeface="Consolas"/>
              </a:rPr>
              <a:t>        </a:t>
            </a:r>
            <a:r>
              <a:rPr lang="en-US" sz="1400" b="0" dirty="0">
                <a:solidFill>
                  <a:srgbClr val="0000FF"/>
                </a:solidFill>
                <a:latin typeface="Consolas"/>
              </a:rPr>
              <a:t>mov</a:t>
            </a:r>
            <a:r>
              <a:rPr lang="en-US" sz="1400" b="0" dirty="0">
                <a:solidFill>
                  <a:srgbClr val="000000"/>
                </a:solidFill>
                <a:latin typeface="Consolas"/>
              </a:rPr>
              <a:t>     </a:t>
            </a:r>
            <a:r>
              <a:rPr lang="en-US" sz="1400" b="0" dirty="0">
                <a:solidFill>
                  <a:srgbClr val="808080"/>
                </a:solidFill>
                <a:latin typeface="Consolas"/>
              </a:rPr>
              <a:t>QWORD</a:t>
            </a:r>
            <a:r>
              <a:rPr lang="en-US" sz="1400" b="0" dirty="0">
                <a:solidFill>
                  <a:srgbClr val="000000"/>
                </a:solidFill>
                <a:latin typeface="Consolas"/>
              </a:rPr>
              <a:t> </a:t>
            </a:r>
            <a:r>
              <a:rPr lang="en-US" sz="1400" b="0" dirty="0">
                <a:solidFill>
                  <a:srgbClr val="808080"/>
                </a:solidFill>
                <a:latin typeface="Consolas"/>
              </a:rPr>
              <a:t>PTR</a:t>
            </a:r>
            <a:r>
              <a:rPr lang="en-US" sz="1400" b="0" dirty="0">
                <a:solidFill>
                  <a:srgbClr val="000000"/>
                </a:solidFill>
                <a:latin typeface="Consolas"/>
              </a:rPr>
              <a:t> [</a:t>
            </a:r>
            <a:r>
              <a:rPr lang="en-US" sz="1400" b="0" dirty="0" err="1">
                <a:solidFill>
                  <a:srgbClr val="4864AA"/>
                </a:solidFill>
                <a:latin typeface="Consolas"/>
              </a:rPr>
              <a:t>rax</a:t>
            </a:r>
            <a:r>
              <a:rPr lang="en-US" sz="1400" b="0" dirty="0">
                <a:solidFill>
                  <a:srgbClr val="000000"/>
                </a:solidFill>
                <a:latin typeface="Consolas"/>
              </a:rPr>
              <a:t>], </a:t>
            </a:r>
            <a:r>
              <a:rPr lang="en-US" sz="1400" b="0" dirty="0" err="1">
                <a:solidFill>
                  <a:srgbClr val="4864AA"/>
                </a:solidFill>
                <a:latin typeface="Consolas"/>
              </a:rPr>
              <a:t>rbx</a:t>
            </a:r>
            <a:endParaRPr lang="en-US" sz="1400" b="0" dirty="0">
              <a:solidFill>
                <a:srgbClr val="000000"/>
              </a:solidFill>
              <a:latin typeface="Consolas"/>
            </a:endParaRPr>
          </a:p>
          <a:p>
            <a:pPr>
              <a:defRPr/>
            </a:pPr>
            <a:r>
              <a:rPr lang="en-US" sz="1400" b="0" dirty="0">
                <a:solidFill>
                  <a:srgbClr val="000000"/>
                </a:solidFill>
                <a:latin typeface="Consolas"/>
              </a:rPr>
              <a:t>        </a:t>
            </a:r>
            <a:r>
              <a:rPr lang="en-US" sz="1400" b="0" dirty="0">
                <a:solidFill>
                  <a:srgbClr val="0000FF"/>
                </a:solidFill>
                <a:latin typeface="Consolas"/>
              </a:rPr>
              <a:t>lea</a:t>
            </a:r>
            <a:r>
              <a:rPr lang="en-US" sz="1400" b="0" dirty="0">
                <a:solidFill>
                  <a:srgbClr val="000000"/>
                </a:solidFill>
                <a:latin typeface="Consolas"/>
              </a:rPr>
              <a:t>     </a:t>
            </a:r>
            <a:r>
              <a:rPr lang="en-US" sz="1400" b="0" dirty="0" err="1">
                <a:solidFill>
                  <a:srgbClr val="4864AA"/>
                </a:solidFill>
                <a:latin typeface="Consolas"/>
              </a:rPr>
              <a:t>rdi</a:t>
            </a:r>
            <a:r>
              <a:rPr lang="en-US" sz="1400" b="0" dirty="0">
                <a:solidFill>
                  <a:srgbClr val="000000"/>
                </a:solidFill>
                <a:latin typeface="Consolas"/>
              </a:rPr>
              <a:t>, [</a:t>
            </a:r>
            <a:r>
              <a:rPr lang="en-US" sz="1400" b="0" dirty="0">
                <a:solidFill>
                  <a:srgbClr val="4864AA"/>
                </a:solidFill>
                <a:latin typeface="Consolas"/>
              </a:rPr>
              <a:t>rax</a:t>
            </a:r>
            <a:r>
              <a:rPr lang="en-US" sz="1400" b="0" dirty="0">
                <a:solidFill>
                  <a:srgbClr val="000000"/>
                </a:solidFill>
                <a:latin typeface="Consolas"/>
              </a:rPr>
              <a:t>+</a:t>
            </a:r>
            <a:r>
              <a:rPr lang="en-US" sz="1400" b="0" dirty="0">
                <a:solidFill>
                  <a:srgbClr val="098658"/>
                </a:solidFill>
                <a:latin typeface="Consolas"/>
              </a:rPr>
              <a:t>8</a:t>
            </a:r>
            <a:r>
              <a:rPr lang="en-US" sz="1400" b="0" dirty="0">
                <a:solidFill>
                  <a:srgbClr val="000000"/>
                </a:solidFill>
                <a:latin typeface="Consolas"/>
              </a:rPr>
              <a:t>]</a:t>
            </a:r>
            <a:endParaRPr dirty="0"/>
          </a:p>
          <a:p>
            <a:pPr>
              <a:defRPr/>
            </a:pPr>
            <a:r>
              <a:rPr lang="en-US" sz="1400" b="0" dirty="0">
                <a:solidFill>
                  <a:srgbClr val="000000"/>
                </a:solidFill>
                <a:latin typeface="Consolas"/>
              </a:rPr>
              <a:t>        </a:t>
            </a:r>
            <a:r>
              <a:rPr lang="en-US" sz="1400" b="0" dirty="0">
                <a:solidFill>
                  <a:srgbClr val="0000FF"/>
                </a:solidFill>
                <a:latin typeface="Consolas"/>
              </a:rPr>
              <a:t>sub</a:t>
            </a:r>
            <a:r>
              <a:rPr lang="en-US" sz="1400" b="0" dirty="0">
                <a:solidFill>
                  <a:srgbClr val="000000"/>
                </a:solidFill>
                <a:latin typeface="Consolas"/>
              </a:rPr>
              <a:t>     </a:t>
            </a:r>
            <a:r>
              <a:rPr lang="en-US" sz="1400" b="0" dirty="0" err="1">
                <a:solidFill>
                  <a:srgbClr val="4864AA"/>
                </a:solidFill>
                <a:latin typeface="Consolas"/>
              </a:rPr>
              <a:t>rbx</a:t>
            </a:r>
            <a:r>
              <a:rPr lang="en-US" sz="1400" b="0" dirty="0">
                <a:solidFill>
                  <a:srgbClr val="000000"/>
                </a:solidFill>
                <a:latin typeface="Consolas"/>
              </a:rPr>
              <a:t>, </a:t>
            </a:r>
            <a:r>
              <a:rPr lang="en-US" sz="1400" b="0" dirty="0">
                <a:solidFill>
                  <a:srgbClr val="098658"/>
                </a:solidFill>
                <a:latin typeface="Consolas"/>
              </a:rPr>
              <a:t>1</a:t>
            </a:r>
            <a:endParaRPr lang="en-US" sz="1400" b="0" dirty="0">
              <a:solidFill>
                <a:srgbClr val="000000"/>
              </a:solidFill>
              <a:latin typeface="Consolas"/>
            </a:endParaRPr>
          </a:p>
          <a:p>
            <a:pPr>
              <a:defRPr/>
            </a:pPr>
            <a:r>
              <a:rPr lang="en-US" sz="1400" b="0" dirty="0">
                <a:solidFill>
                  <a:srgbClr val="000000"/>
                </a:solidFill>
                <a:latin typeface="Consolas"/>
              </a:rPr>
              <a:t>        </a:t>
            </a:r>
            <a:r>
              <a:rPr lang="en-US" sz="1400" b="0" dirty="0" err="1">
                <a:solidFill>
                  <a:srgbClr val="0000FF"/>
                </a:solidFill>
                <a:latin typeface="Consolas"/>
              </a:rPr>
              <a:t>js</a:t>
            </a:r>
            <a:r>
              <a:rPr lang="en-US" sz="1400" b="0" dirty="0">
                <a:solidFill>
                  <a:srgbClr val="000000"/>
                </a:solidFill>
                <a:latin typeface="Consolas"/>
              </a:rPr>
              <a:t>      </a:t>
            </a:r>
            <a:r>
              <a:rPr lang="en-US" sz="1400" b="0" dirty="0">
                <a:solidFill>
                  <a:srgbClr val="008080"/>
                </a:solidFill>
                <a:latin typeface="Consolas"/>
              </a:rPr>
              <a:t>.L9</a:t>
            </a:r>
            <a:endParaRPr lang="en-US" sz="1400" b="0" dirty="0">
              <a:solidFill>
                <a:srgbClr val="000000"/>
              </a:solidFill>
              <a:latin typeface="Consolas"/>
            </a:endParaRPr>
          </a:p>
          <a:p>
            <a:pPr>
              <a:defRPr/>
            </a:pPr>
            <a:r>
              <a:rPr lang="en-US" sz="1400" b="0" dirty="0">
                <a:solidFill>
                  <a:srgbClr val="000000"/>
                </a:solidFill>
                <a:latin typeface="Consolas"/>
              </a:rPr>
              <a:t>        </a:t>
            </a:r>
            <a:r>
              <a:rPr lang="en-US" sz="1400" b="0" dirty="0">
                <a:solidFill>
                  <a:srgbClr val="0000FF"/>
                </a:solidFill>
                <a:latin typeface="Consolas"/>
              </a:rPr>
              <a:t>mov</a:t>
            </a:r>
            <a:r>
              <a:rPr lang="en-US" sz="1400" b="0" dirty="0">
                <a:solidFill>
                  <a:srgbClr val="000000"/>
                </a:solidFill>
                <a:latin typeface="Consolas"/>
              </a:rPr>
              <a:t>     </a:t>
            </a:r>
            <a:r>
              <a:rPr lang="en-US" sz="1400" b="0" dirty="0" err="1">
                <a:solidFill>
                  <a:srgbClr val="4864AA"/>
                </a:solidFill>
                <a:latin typeface="Consolas"/>
              </a:rPr>
              <a:t>rsi</a:t>
            </a:r>
            <a:r>
              <a:rPr lang="en-US" sz="1400" b="0" dirty="0">
                <a:solidFill>
                  <a:srgbClr val="000000"/>
                </a:solidFill>
                <a:latin typeface="Consolas"/>
              </a:rPr>
              <a:t>, </a:t>
            </a:r>
            <a:r>
              <a:rPr lang="en-US" sz="1400" b="0" dirty="0" err="1">
                <a:solidFill>
                  <a:srgbClr val="4864AA"/>
                </a:solidFill>
                <a:latin typeface="Consolas"/>
              </a:rPr>
              <a:t>rdi</a:t>
            </a:r>
            <a:endParaRPr lang="en-US" sz="1400" b="0" dirty="0">
              <a:solidFill>
                <a:srgbClr val="000000"/>
              </a:solidFill>
              <a:latin typeface="Consolas"/>
            </a:endParaRPr>
          </a:p>
          <a:p>
            <a:pPr>
              <a:defRPr/>
            </a:pPr>
            <a:r>
              <a:rPr lang="en-US" sz="1400" b="0" dirty="0">
                <a:solidFill>
                  <a:srgbClr val="008080"/>
                </a:solidFill>
                <a:latin typeface="Consolas"/>
              </a:rPr>
              <a:t>.L11:</a:t>
            </a:r>
            <a:r>
              <a:rPr lang="en-US" sz="1400" b="0" dirty="0">
                <a:solidFill>
                  <a:srgbClr val="000000"/>
                </a:solidFill>
                <a:latin typeface="Consolas"/>
              </a:rPr>
              <a:t>   </a:t>
            </a:r>
            <a:r>
              <a:rPr lang="en-US" sz="1400" b="0" dirty="0">
                <a:solidFill>
                  <a:srgbClr val="0000FF"/>
                </a:solidFill>
                <a:latin typeface="Consolas"/>
              </a:rPr>
              <a:t>mov</a:t>
            </a:r>
            <a:r>
              <a:rPr lang="en-US" sz="1400" b="0" dirty="0">
                <a:solidFill>
                  <a:srgbClr val="000000"/>
                </a:solidFill>
                <a:latin typeface="Consolas"/>
              </a:rPr>
              <a:t>     </a:t>
            </a:r>
            <a:r>
              <a:rPr lang="en-US" sz="1400" b="0" dirty="0" err="1">
                <a:solidFill>
                  <a:srgbClr val="4864AA"/>
                </a:solidFill>
                <a:latin typeface="Consolas"/>
              </a:rPr>
              <a:t>rcx</a:t>
            </a:r>
            <a:r>
              <a:rPr lang="en-US" sz="1400" b="0" dirty="0">
                <a:solidFill>
                  <a:srgbClr val="000000"/>
                </a:solidFill>
                <a:latin typeface="Consolas"/>
              </a:rPr>
              <a:t>, </a:t>
            </a:r>
            <a:r>
              <a:rPr lang="en-US" sz="1400" b="0" dirty="0" err="1">
                <a:solidFill>
                  <a:srgbClr val="4864AA"/>
                </a:solidFill>
                <a:latin typeface="Consolas"/>
              </a:rPr>
              <a:t>rsi</a:t>
            </a:r>
            <a:endParaRPr lang="en-US" sz="1400" b="0" dirty="0">
              <a:solidFill>
                <a:srgbClr val="000000"/>
              </a:solidFill>
              <a:latin typeface="Consolas"/>
            </a:endParaRPr>
          </a:p>
          <a:p>
            <a:pPr>
              <a:defRPr/>
            </a:pPr>
            <a:r>
              <a:rPr lang="en-US" sz="1400" b="0" dirty="0">
                <a:solidFill>
                  <a:srgbClr val="000000"/>
                </a:solidFill>
                <a:latin typeface="Consolas"/>
              </a:rPr>
              <a:t>        </a:t>
            </a:r>
            <a:r>
              <a:rPr lang="en-US" sz="1400" b="0" dirty="0">
                <a:solidFill>
                  <a:srgbClr val="0000FF"/>
                </a:solidFill>
                <a:latin typeface="Consolas"/>
              </a:rPr>
              <a:t>call</a:t>
            </a:r>
            <a:r>
              <a:rPr lang="en-US" sz="1400" b="0" dirty="0">
                <a:solidFill>
                  <a:srgbClr val="000000"/>
                </a:solidFill>
                <a:latin typeface="Consolas"/>
              </a:rPr>
              <a:t>    </a:t>
            </a:r>
            <a:r>
              <a:rPr lang="en-US" sz="1400" b="0" dirty="0">
                <a:solidFill>
                  <a:srgbClr val="008080"/>
                </a:solidFill>
                <a:latin typeface="Consolas"/>
              </a:rPr>
              <a:t>C</a:t>
            </a:r>
            <a:r>
              <a:rPr lang="en-US" sz="1400" b="0" dirty="0">
                <a:solidFill>
                  <a:srgbClr val="000000"/>
                </a:solidFill>
                <a:latin typeface="Consolas"/>
              </a:rPr>
              <a:t>::</a:t>
            </a:r>
            <a:r>
              <a:rPr lang="en-US" sz="1400" b="0" dirty="0">
                <a:solidFill>
                  <a:srgbClr val="008080"/>
                </a:solidFill>
                <a:latin typeface="Consolas"/>
              </a:rPr>
              <a:t>C</a:t>
            </a:r>
            <a:r>
              <a:rPr lang="en-US" sz="1400" b="0" dirty="0">
                <a:solidFill>
                  <a:srgbClr val="000000"/>
                </a:solidFill>
                <a:latin typeface="Consolas"/>
              </a:rPr>
              <a:t>()</a:t>
            </a:r>
            <a:endParaRPr dirty="0"/>
          </a:p>
          <a:p>
            <a:pPr>
              <a:defRPr/>
            </a:pPr>
            <a:r>
              <a:rPr lang="en-US" sz="1400" b="0" dirty="0">
                <a:solidFill>
                  <a:srgbClr val="000000"/>
                </a:solidFill>
                <a:latin typeface="Consolas"/>
              </a:rPr>
              <a:t>        </a:t>
            </a:r>
            <a:r>
              <a:rPr lang="en-US" sz="1400" b="0" dirty="0">
                <a:solidFill>
                  <a:srgbClr val="0000FF"/>
                </a:solidFill>
                <a:latin typeface="Consolas"/>
              </a:rPr>
              <a:t>add</a:t>
            </a:r>
            <a:r>
              <a:rPr lang="en-US" sz="1400" b="0" dirty="0">
                <a:solidFill>
                  <a:srgbClr val="000000"/>
                </a:solidFill>
                <a:latin typeface="Consolas"/>
              </a:rPr>
              <a:t>     </a:t>
            </a:r>
            <a:r>
              <a:rPr lang="en-US" sz="1400" b="0" dirty="0" err="1">
                <a:solidFill>
                  <a:srgbClr val="4864AA"/>
                </a:solidFill>
                <a:latin typeface="Consolas"/>
              </a:rPr>
              <a:t>rsi</a:t>
            </a:r>
            <a:r>
              <a:rPr lang="en-US" sz="1400" b="0" dirty="0">
                <a:solidFill>
                  <a:srgbClr val="000000"/>
                </a:solidFill>
                <a:latin typeface="Consolas"/>
              </a:rPr>
              <a:t>, </a:t>
            </a:r>
            <a:r>
              <a:rPr lang="en-US" sz="1400" b="0" dirty="0">
                <a:solidFill>
                  <a:srgbClr val="098658"/>
                </a:solidFill>
                <a:latin typeface="Consolas"/>
              </a:rPr>
              <a:t>4</a:t>
            </a:r>
            <a:endParaRPr lang="en-US" sz="1400" b="0" dirty="0">
              <a:solidFill>
                <a:srgbClr val="000000"/>
              </a:solidFill>
              <a:latin typeface="Consolas"/>
            </a:endParaRPr>
          </a:p>
          <a:p>
            <a:pPr>
              <a:defRPr/>
            </a:pPr>
            <a:r>
              <a:rPr lang="en-US" sz="1400" b="0" dirty="0">
                <a:solidFill>
                  <a:srgbClr val="000000"/>
                </a:solidFill>
                <a:latin typeface="Consolas"/>
              </a:rPr>
              <a:t>        </a:t>
            </a:r>
            <a:r>
              <a:rPr lang="en-US" sz="1400" b="0" dirty="0">
                <a:solidFill>
                  <a:srgbClr val="0000FF"/>
                </a:solidFill>
                <a:latin typeface="Consolas"/>
              </a:rPr>
              <a:t>sub</a:t>
            </a:r>
            <a:r>
              <a:rPr lang="en-US" sz="1400" b="0" dirty="0">
                <a:solidFill>
                  <a:srgbClr val="000000"/>
                </a:solidFill>
                <a:latin typeface="Consolas"/>
              </a:rPr>
              <a:t>     </a:t>
            </a:r>
            <a:r>
              <a:rPr lang="en-US" sz="1400" b="0" dirty="0" err="1">
                <a:solidFill>
                  <a:srgbClr val="4864AA"/>
                </a:solidFill>
                <a:latin typeface="Consolas"/>
              </a:rPr>
              <a:t>rbx</a:t>
            </a:r>
            <a:r>
              <a:rPr lang="en-US" sz="1400" b="0" dirty="0">
                <a:solidFill>
                  <a:srgbClr val="000000"/>
                </a:solidFill>
                <a:latin typeface="Consolas"/>
              </a:rPr>
              <a:t>, </a:t>
            </a:r>
            <a:r>
              <a:rPr lang="en-US" sz="1400" b="0" dirty="0">
                <a:solidFill>
                  <a:srgbClr val="098658"/>
                </a:solidFill>
                <a:latin typeface="Consolas"/>
              </a:rPr>
              <a:t>1</a:t>
            </a:r>
            <a:endParaRPr lang="en-US" sz="1400" b="0" dirty="0">
              <a:solidFill>
                <a:srgbClr val="000000"/>
              </a:solidFill>
              <a:latin typeface="Consolas"/>
            </a:endParaRPr>
          </a:p>
          <a:p>
            <a:pPr>
              <a:defRPr/>
            </a:pPr>
            <a:r>
              <a:rPr lang="en-US" sz="1400" b="0" dirty="0">
                <a:solidFill>
                  <a:srgbClr val="000000"/>
                </a:solidFill>
                <a:latin typeface="Consolas"/>
              </a:rPr>
              <a:t>        </a:t>
            </a:r>
            <a:r>
              <a:rPr lang="en-US" sz="1400" b="0" dirty="0" err="1">
                <a:solidFill>
                  <a:srgbClr val="0000FF"/>
                </a:solidFill>
                <a:latin typeface="Consolas"/>
              </a:rPr>
              <a:t>jns</a:t>
            </a:r>
            <a:r>
              <a:rPr lang="en-US" sz="1400" b="0" dirty="0">
                <a:solidFill>
                  <a:srgbClr val="000000"/>
                </a:solidFill>
                <a:latin typeface="Consolas"/>
              </a:rPr>
              <a:t>     </a:t>
            </a:r>
            <a:r>
              <a:rPr lang="en-US" sz="1400" b="0" dirty="0">
                <a:solidFill>
                  <a:srgbClr val="008080"/>
                </a:solidFill>
                <a:latin typeface="Consolas"/>
              </a:rPr>
              <a:t>.L11</a:t>
            </a:r>
            <a:endParaRPr lang="en-US" sz="1400" b="0" dirty="0">
              <a:solidFill>
                <a:srgbClr val="000000"/>
              </a:solidFill>
              <a:latin typeface="Consolas"/>
            </a:endParaRPr>
          </a:p>
          <a:p>
            <a:pPr>
              <a:defRPr/>
            </a:pPr>
            <a:r>
              <a:rPr lang="en-US" sz="1400" b="0" dirty="0">
                <a:solidFill>
                  <a:srgbClr val="008080"/>
                </a:solidFill>
                <a:latin typeface="Consolas"/>
              </a:rPr>
              <a:t>.L9: </a:t>
            </a:r>
            <a:r>
              <a:rPr lang="en-US" sz="1400" b="0" dirty="0">
                <a:solidFill>
                  <a:srgbClr val="000000"/>
                </a:solidFill>
                <a:latin typeface="Consolas"/>
              </a:rPr>
              <a:t>   </a:t>
            </a:r>
            <a:r>
              <a:rPr lang="en-US" sz="1400" b="0" dirty="0">
                <a:solidFill>
                  <a:srgbClr val="0000FF"/>
                </a:solidFill>
                <a:latin typeface="Consolas"/>
              </a:rPr>
              <a:t>mov</a:t>
            </a:r>
            <a:r>
              <a:rPr lang="en-US" sz="1400" b="0" dirty="0">
                <a:solidFill>
                  <a:srgbClr val="000000"/>
                </a:solidFill>
                <a:latin typeface="Consolas"/>
              </a:rPr>
              <a:t>     </a:t>
            </a:r>
            <a:r>
              <a:rPr lang="en-US" sz="1400" b="0" dirty="0" err="1">
                <a:solidFill>
                  <a:srgbClr val="4864AA"/>
                </a:solidFill>
                <a:latin typeface="Consolas"/>
              </a:rPr>
              <a:t>rax</a:t>
            </a:r>
            <a:r>
              <a:rPr lang="en-US" sz="1400" b="0" dirty="0">
                <a:solidFill>
                  <a:srgbClr val="000000"/>
                </a:solidFill>
                <a:latin typeface="Consolas"/>
              </a:rPr>
              <a:t>, </a:t>
            </a:r>
            <a:r>
              <a:rPr lang="en-US" sz="1400" b="0" dirty="0" err="1">
                <a:solidFill>
                  <a:srgbClr val="4864AA"/>
                </a:solidFill>
                <a:latin typeface="Consolas"/>
              </a:rPr>
              <a:t>rdi</a:t>
            </a:r>
            <a:endParaRPr lang="en-US" sz="1400" b="0" dirty="0">
              <a:solidFill>
                <a:srgbClr val="000000"/>
              </a:solidFill>
              <a:latin typeface="Consolas"/>
            </a:endParaRPr>
          </a:p>
          <a:p>
            <a:pPr>
              <a:defRPr/>
            </a:pPr>
            <a:r>
              <a:rPr lang="en-US" sz="1400" b="0" dirty="0">
                <a:solidFill>
                  <a:srgbClr val="000000"/>
                </a:solidFill>
                <a:latin typeface="Consolas"/>
              </a:rPr>
              <a:t>        </a:t>
            </a:r>
            <a:r>
              <a:rPr lang="en-US" sz="1400" b="0" dirty="0">
                <a:solidFill>
                  <a:srgbClr val="0000FF"/>
                </a:solidFill>
                <a:latin typeface="Consolas"/>
              </a:rPr>
              <a:t>add</a:t>
            </a:r>
            <a:r>
              <a:rPr lang="en-US" sz="1400" b="0" dirty="0">
                <a:solidFill>
                  <a:srgbClr val="000000"/>
                </a:solidFill>
                <a:latin typeface="Consolas"/>
              </a:rPr>
              <a:t>     </a:t>
            </a:r>
            <a:r>
              <a:rPr lang="en-US" sz="1400" b="0" dirty="0" err="1">
                <a:solidFill>
                  <a:srgbClr val="4864AA"/>
                </a:solidFill>
                <a:latin typeface="Consolas"/>
              </a:rPr>
              <a:t>rsp</a:t>
            </a:r>
            <a:r>
              <a:rPr lang="en-US" sz="1400" b="0" dirty="0">
                <a:solidFill>
                  <a:srgbClr val="000000"/>
                </a:solidFill>
                <a:latin typeface="Consolas"/>
              </a:rPr>
              <a:t>, </a:t>
            </a:r>
            <a:r>
              <a:rPr lang="en-US" sz="1400" b="0" dirty="0">
                <a:solidFill>
                  <a:srgbClr val="098658"/>
                </a:solidFill>
                <a:latin typeface="Consolas"/>
              </a:rPr>
              <a:t>32 ; EPILOGUE START</a:t>
            </a:r>
            <a:endParaRPr lang="en-US" sz="1400" b="0" dirty="0">
              <a:solidFill>
                <a:srgbClr val="000000"/>
              </a:solidFill>
              <a:latin typeface="Consolas"/>
            </a:endParaRPr>
          </a:p>
          <a:p>
            <a:pPr>
              <a:defRPr/>
            </a:pPr>
            <a:r>
              <a:rPr lang="en-US" sz="1400" b="0" dirty="0">
                <a:solidFill>
                  <a:srgbClr val="000000"/>
                </a:solidFill>
                <a:latin typeface="Consolas"/>
              </a:rPr>
              <a:t>        </a:t>
            </a:r>
            <a:r>
              <a:rPr lang="en-US" sz="1400" b="0" dirty="0">
                <a:solidFill>
                  <a:srgbClr val="0000FF"/>
                </a:solidFill>
                <a:latin typeface="Consolas"/>
              </a:rPr>
              <a:t>pop</a:t>
            </a:r>
            <a:r>
              <a:rPr lang="en-US" sz="1400" b="0" dirty="0">
                <a:solidFill>
                  <a:srgbClr val="000000"/>
                </a:solidFill>
                <a:latin typeface="Consolas"/>
              </a:rPr>
              <a:t>     </a:t>
            </a:r>
            <a:r>
              <a:rPr lang="en-US" sz="1400" b="0" dirty="0" err="1">
                <a:solidFill>
                  <a:srgbClr val="4864AA"/>
                </a:solidFill>
                <a:latin typeface="Consolas"/>
              </a:rPr>
              <a:t>rbx</a:t>
            </a:r>
            <a:endParaRPr lang="en-US" sz="1400" b="0" dirty="0">
              <a:solidFill>
                <a:srgbClr val="000000"/>
              </a:solidFill>
              <a:latin typeface="Consolas"/>
            </a:endParaRPr>
          </a:p>
          <a:p>
            <a:pPr>
              <a:defRPr/>
            </a:pPr>
            <a:r>
              <a:rPr lang="en-US" sz="1400" b="0" dirty="0">
                <a:solidFill>
                  <a:srgbClr val="000000"/>
                </a:solidFill>
                <a:latin typeface="Consolas"/>
              </a:rPr>
              <a:t>        </a:t>
            </a:r>
            <a:r>
              <a:rPr lang="en-US" sz="1400" b="0" dirty="0">
                <a:solidFill>
                  <a:srgbClr val="0000FF"/>
                </a:solidFill>
                <a:latin typeface="Consolas"/>
              </a:rPr>
              <a:t>pop</a:t>
            </a:r>
            <a:r>
              <a:rPr lang="en-US" sz="1400" b="0" dirty="0">
                <a:solidFill>
                  <a:srgbClr val="000000"/>
                </a:solidFill>
                <a:latin typeface="Consolas"/>
              </a:rPr>
              <a:t>     </a:t>
            </a:r>
            <a:r>
              <a:rPr lang="en-US" sz="1400" b="0" dirty="0" err="1">
                <a:solidFill>
                  <a:srgbClr val="4864AA"/>
                </a:solidFill>
                <a:latin typeface="Consolas"/>
              </a:rPr>
              <a:t>rsi</a:t>
            </a:r>
            <a:endParaRPr lang="en-US" sz="1400" b="0" dirty="0">
              <a:solidFill>
                <a:srgbClr val="000000"/>
              </a:solidFill>
              <a:latin typeface="Consolas"/>
            </a:endParaRPr>
          </a:p>
          <a:p>
            <a:pPr>
              <a:defRPr/>
            </a:pPr>
            <a:r>
              <a:rPr lang="en-US" sz="1400" b="0" dirty="0">
                <a:solidFill>
                  <a:srgbClr val="000000"/>
                </a:solidFill>
                <a:latin typeface="Consolas"/>
              </a:rPr>
              <a:t>        </a:t>
            </a:r>
            <a:r>
              <a:rPr lang="en-US" sz="1400" b="0" dirty="0">
                <a:solidFill>
                  <a:srgbClr val="0000FF"/>
                </a:solidFill>
                <a:latin typeface="Consolas"/>
              </a:rPr>
              <a:t>pop</a:t>
            </a:r>
            <a:r>
              <a:rPr lang="en-US" sz="1400" b="0" dirty="0">
                <a:solidFill>
                  <a:srgbClr val="000000"/>
                </a:solidFill>
                <a:latin typeface="Consolas"/>
              </a:rPr>
              <a:t>     </a:t>
            </a:r>
            <a:r>
              <a:rPr lang="en-US" sz="1400" b="0" dirty="0" err="1">
                <a:solidFill>
                  <a:srgbClr val="4864AA"/>
                </a:solidFill>
                <a:latin typeface="Consolas"/>
              </a:rPr>
              <a:t>rdi</a:t>
            </a:r>
            <a:endParaRPr lang="en-US" sz="1400" b="0" dirty="0">
              <a:solidFill>
                <a:srgbClr val="000000"/>
              </a:solidFill>
              <a:latin typeface="Consolas"/>
            </a:endParaRPr>
          </a:p>
          <a:p>
            <a:pPr>
              <a:defRPr/>
            </a:pPr>
            <a:r>
              <a:rPr lang="en-US" sz="1400" b="0" dirty="0">
                <a:solidFill>
                  <a:srgbClr val="000000"/>
                </a:solidFill>
                <a:latin typeface="Consolas"/>
              </a:rPr>
              <a:t>        </a:t>
            </a:r>
            <a:r>
              <a:rPr lang="en-US" sz="1400" b="0" dirty="0">
                <a:solidFill>
                  <a:srgbClr val="0000FF"/>
                </a:solidFill>
                <a:latin typeface="Consolas"/>
              </a:rPr>
              <a:t>ret</a:t>
            </a:r>
            <a:endParaRPr lang="en-US" sz="1400" b="0" dirty="0">
              <a:solidFill>
                <a:srgbClr val="000000"/>
              </a:solidFill>
              <a:latin typeface="Consolas"/>
            </a:endParaRPr>
          </a:p>
        </p:txBody>
      </p:sp>
      <p:cxnSp>
        <p:nvCxnSpPr>
          <p:cNvPr id="1519031315" name="Прямая со стрелкой 13"/>
          <p:cNvCxnSpPr>
            <a:stCxn id="730362694" idx="3"/>
          </p:cNvCxnSpPr>
          <p:nvPr/>
        </p:nvCxnSpPr>
        <p:spPr bwMode="auto">
          <a:xfrm flipV="1">
            <a:off x="7154140" y="3304309"/>
            <a:ext cx="323851" cy="133857"/>
          </a:xfrm>
          <a:prstGeom prst="straightConnector1">
            <a:avLst/>
          </a:prstGeom>
          <a:ln>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730362694" name="TextBox 16"/>
          <p:cNvSpPr txBox="1"/>
          <p:nvPr/>
        </p:nvSpPr>
        <p:spPr bwMode="auto">
          <a:xfrm>
            <a:off x="5228362" y="3145778"/>
            <a:ext cx="1925778" cy="584775"/>
          </a:xfrm>
          <a:prstGeom prst="rect">
            <a:avLst/>
          </a:prstGeom>
          <a:noFill/>
        </p:spPr>
        <p:txBody>
          <a:bodyPr wrap="square" rtlCol="0">
            <a:spAutoFit/>
          </a:bodyPr>
          <a:lstStyle/>
          <a:p>
            <a:pPr>
              <a:defRPr/>
            </a:pPr>
            <a:r>
              <a:rPr lang="ru-RU" sz="1600"/>
              <a:t>Запись количества элементов массива</a:t>
            </a:r>
            <a:endParaRPr/>
          </a:p>
        </p:txBody>
      </p:sp>
      <p:sp>
        <p:nvSpPr>
          <p:cNvPr id="1299969324" name="TextBox 20"/>
          <p:cNvSpPr txBox="1"/>
          <p:nvPr/>
        </p:nvSpPr>
        <p:spPr bwMode="auto">
          <a:xfrm>
            <a:off x="5472549" y="4352439"/>
            <a:ext cx="1454724" cy="830997"/>
          </a:xfrm>
          <a:prstGeom prst="rect">
            <a:avLst/>
          </a:prstGeom>
          <a:noFill/>
        </p:spPr>
        <p:txBody>
          <a:bodyPr wrap="square" rtlCol="0">
            <a:spAutoFit/>
          </a:bodyPr>
          <a:lstStyle/>
          <a:p>
            <a:pPr>
              <a:defRPr/>
            </a:pPr>
            <a:r>
              <a:rPr lang="ru-RU" sz="1600"/>
              <a:t>Вызов конструкторов объекта</a:t>
            </a:r>
            <a:endParaRPr/>
          </a:p>
        </p:txBody>
      </p:sp>
      <p:sp>
        <p:nvSpPr>
          <p:cNvPr id="730151216" name="Дуга 21"/>
          <p:cNvSpPr/>
          <p:nvPr/>
        </p:nvSpPr>
        <p:spPr bwMode="auto">
          <a:xfrm>
            <a:off x="8312728" y="4163292"/>
            <a:ext cx="962890" cy="1054552"/>
          </a:xfrm>
          <a:prstGeom prst="arc">
            <a:avLst>
              <a:gd name="adj1" fmla="val 18770959"/>
              <a:gd name="adj2" fmla="val 5298724"/>
            </a:avLst>
          </a:prstGeom>
          <a:ln>
            <a:prstDash val="lgDash"/>
            <a:headEnd type="triangle" w="med" len="med"/>
            <a:tailEnd type="none" w="med" len="med"/>
          </a:ln>
        </p:spPr>
        <p:style>
          <a:lnRef idx="1">
            <a:schemeClr val="dk1"/>
          </a:lnRef>
          <a:fillRef idx="0">
            <a:schemeClr val="dk1"/>
          </a:fillRef>
          <a:effectRef idx="0">
            <a:schemeClr val="dk1"/>
          </a:effectRef>
          <a:fontRef idx="minor">
            <a:schemeClr val="tx1"/>
          </a:fontRef>
        </p:style>
        <p:txBody>
          <a:bodyPr rtlCol="0" anchor="ctr"/>
          <a:lstStyle/>
          <a:p>
            <a:pPr algn="ctr">
              <a:defRPr/>
            </a:pPr>
            <a:endParaRPr lang="ru-RU"/>
          </a:p>
        </p:txBody>
      </p:sp>
      <p:cxnSp>
        <p:nvCxnSpPr>
          <p:cNvPr id="998597059" name="Прямая со стрелкой 22"/>
          <p:cNvCxnSpPr/>
          <p:nvPr/>
        </p:nvCxnSpPr>
        <p:spPr bwMode="auto">
          <a:xfrm flipV="1">
            <a:off x="6927273" y="4509655"/>
            <a:ext cx="550718" cy="288492"/>
          </a:xfrm>
          <a:prstGeom prst="straightConnector1">
            <a:avLst/>
          </a:prstGeom>
          <a:ln>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1124466970" name="TextBox 27"/>
          <p:cNvSpPr txBox="1"/>
          <p:nvPr/>
        </p:nvSpPr>
        <p:spPr bwMode="auto">
          <a:xfrm>
            <a:off x="654631" y="3078494"/>
            <a:ext cx="4620491" cy="3139321"/>
          </a:xfrm>
          <a:prstGeom prst="rect">
            <a:avLst/>
          </a:prstGeom>
          <a:noFill/>
        </p:spPr>
        <p:txBody>
          <a:bodyPr wrap="square" rtlCol="0">
            <a:spAutoFit/>
          </a:bodyPr>
          <a:lstStyle/>
          <a:p>
            <a:pPr>
              <a:defRPr/>
            </a:pPr>
            <a:r>
              <a:rPr lang="ru-RU" dirty="0"/>
              <a:t>Оператор </a:t>
            </a:r>
            <a:r>
              <a:rPr lang="en-US" dirty="0"/>
              <a:t>new[] </a:t>
            </a:r>
            <a:r>
              <a:rPr lang="ru-RU" dirty="0"/>
              <a:t>сводится к выделению буфера достаточного объема, </a:t>
            </a:r>
            <a:r>
              <a:rPr lang="ru-RU" i="1" dirty="0"/>
              <a:t>записи количества объектов в начало буфера </a:t>
            </a:r>
            <a:r>
              <a:rPr lang="ru-RU" dirty="0"/>
              <a:t>и вызову конструктора для каждого из объектов массива. </a:t>
            </a:r>
            <a:endParaRPr dirty="0"/>
          </a:p>
          <a:p>
            <a:pPr>
              <a:defRPr/>
            </a:pPr>
            <a:endParaRPr lang="ru-RU" dirty="0"/>
          </a:p>
          <a:p>
            <a:pPr>
              <a:defRPr/>
            </a:pPr>
            <a:r>
              <a:rPr lang="ru-RU" dirty="0"/>
              <a:t>При этом адрес, возвращаемый </a:t>
            </a:r>
            <a:r>
              <a:rPr lang="en-US" dirty="0"/>
              <a:t>new[]</a:t>
            </a:r>
            <a:r>
              <a:rPr lang="ru-RU" dirty="0"/>
              <a:t>, подбирается так, что значение (адрес + 8) выровнено по 16 байтам </a:t>
            </a:r>
            <a:r>
              <a:rPr lang="en-US" dirty="0"/>
              <a:t>-&gt; </a:t>
            </a:r>
            <a:r>
              <a:rPr lang="ru-RU" dirty="0"/>
              <a:t>область с объектами выровнена по 16 байтам.</a:t>
            </a:r>
            <a:endParaRPr dirty="0"/>
          </a:p>
          <a:p>
            <a:pPr>
              <a:defRPr/>
            </a:pPr>
            <a:endParaRPr lang="ru-RU" dirty="0"/>
          </a:p>
        </p:txBody>
      </p:sp>
      <p:sp>
        <p:nvSpPr>
          <p:cNvPr id="1918067097" name="TextBox 28"/>
          <p:cNvSpPr txBox="1"/>
          <p:nvPr/>
        </p:nvSpPr>
        <p:spPr bwMode="auto">
          <a:xfrm>
            <a:off x="838200" y="1359211"/>
            <a:ext cx="3525982" cy="369332"/>
          </a:xfrm>
          <a:prstGeom prst="rect">
            <a:avLst/>
          </a:prstGeom>
          <a:noFill/>
        </p:spPr>
        <p:txBody>
          <a:bodyPr wrap="square">
            <a:spAutoFit/>
          </a:bodyPr>
          <a:lstStyle/>
          <a:p>
            <a:pPr>
              <a:defRPr/>
            </a:pPr>
            <a:r>
              <a:rPr lang="en-US" u="sng" dirty="0">
                <a:hlinkClick r:id="rId3"/>
              </a:rPr>
              <a:t>https://godbolt.org/z/6cWroda4n</a:t>
            </a:r>
            <a:endParaRPr lang="ru-RU" dirty="0"/>
          </a:p>
        </p:txBody>
      </p:sp>
      <p:sp>
        <p:nvSpPr>
          <p:cNvPr id="294626472" name="TextBox 36"/>
          <p:cNvSpPr txBox="1"/>
          <p:nvPr/>
        </p:nvSpPr>
        <p:spPr bwMode="auto">
          <a:xfrm>
            <a:off x="5368638" y="1934045"/>
            <a:ext cx="1454724" cy="584775"/>
          </a:xfrm>
          <a:prstGeom prst="rect">
            <a:avLst/>
          </a:prstGeom>
          <a:noFill/>
        </p:spPr>
        <p:txBody>
          <a:bodyPr wrap="square" rtlCol="0">
            <a:spAutoFit/>
          </a:bodyPr>
          <a:lstStyle/>
          <a:p>
            <a:pPr>
              <a:defRPr/>
            </a:pPr>
            <a:r>
              <a:rPr lang="ru-RU" sz="1600"/>
              <a:t>Выделение буфера</a:t>
            </a:r>
            <a:endParaRPr/>
          </a:p>
        </p:txBody>
      </p:sp>
      <p:cxnSp>
        <p:nvCxnSpPr>
          <p:cNvPr id="1787365635" name="Прямая со стрелкой 37"/>
          <p:cNvCxnSpPr>
            <a:stCxn id="294626472" idx="3"/>
          </p:cNvCxnSpPr>
          <p:nvPr/>
        </p:nvCxnSpPr>
        <p:spPr bwMode="auto">
          <a:xfrm>
            <a:off x="6823362" y="2226433"/>
            <a:ext cx="654629" cy="846274"/>
          </a:xfrm>
          <a:prstGeom prst="straightConnector1">
            <a:avLst/>
          </a:prstGeom>
          <a:ln>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2" name="Rectangle 1">
            <a:extLst>
              <a:ext uri="{FF2B5EF4-FFF2-40B4-BE49-F238E27FC236}">
                <a16:creationId xmlns:a16="http://schemas.microsoft.com/office/drawing/2014/main" id="{38A14A3D-F5EA-A6D1-C0ED-EE498965CD01}"/>
              </a:ext>
            </a:extLst>
          </p:cNvPr>
          <p:cNvSpPr/>
          <p:nvPr/>
        </p:nvSpPr>
        <p:spPr>
          <a:xfrm>
            <a:off x="415122" y="6084780"/>
            <a:ext cx="779509" cy="54000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count</a:t>
            </a:r>
            <a:endParaRPr lang="ru-RU" dirty="0"/>
          </a:p>
        </p:txBody>
      </p:sp>
      <p:sp>
        <p:nvSpPr>
          <p:cNvPr id="4" name="Rectangle 3">
            <a:extLst>
              <a:ext uri="{FF2B5EF4-FFF2-40B4-BE49-F238E27FC236}">
                <a16:creationId xmlns:a16="http://schemas.microsoft.com/office/drawing/2014/main" id="{ED451CB0-5E76-CA1D-BBCE-62ACEA15301F}"/>
              </a:ext>
            </a:extLst>
          </p:cNvPr>
          <p:cNvSpPr/>
          <p:nvPr/>
        </p:nvSpPr>
        <p:spPr bwMode="auto">
          <a:xfrm>
            <a:off x="1194631" y="6084780"/>
            <a:ext cx="1080000" cy="540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object</a:t>
            </a:r>
            <a:endParaRPr lang="ru-RU" dirty="0"/>
          </a:p>
        </p:txBody>
      </p:sp>
      <p:sp>
        <p:nvSpPr>
          <p:cNvPr id="5" name="Rectangle 4">
            <a:extLst>
              <a:ext uri="{FF2B5EF4-FFF2-40B4-BE49-F238E27FC236}">
                <a16:creationId xmlns:a16="http://schemas.microsoft.com/office/drawing/2014/main" id="{E7F36CB0-68B5-C54A-72CF-F7A4CE9876DF}"/>
              </a:ext>
            </a:extLst>
          </p:cNvPr>
          <p:cNvSpPr/>
          <p:nvPr/>
        </p:nvSpPr>
        <p:spPr bwMode="auto">
          <a:xfrm>
            <a:off x="2274631" y="6083277"/>
            <a:ext cx="1080000" cy="540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object</a:t>
            </a:r>
            <a:endParaRPr lang="ru-RU" dirty="0"/>
          </a:p>
        </p:txBody>
      </p:sp>
      <p:sp>
        <p:nvSpPr>
          <p:cNvPr id="6" name="Rectangle 5">
            <a:extLst>
              <a:ext uri="{FF2B5EF4-FFF2-40B4-BE49-F238E27FC236}">
                <a16:creationId xmlns:a16="http://schemas.microsoft.com/office/drawing/2014/main" id="{BB0F30AB-566C-D6C2-E74A-7FAD4BC76AED}"/>
              </a:ext>
            </a:extLst>
          </p:cNvPr>
          <p:cNvSpPr/>
          <p:nvPr/>
        </p:nvSpPr>
        <p:spPr bwMode="auto">
          <a:xfrm>
            <a:off x="3354631" y="6083277"/>
            <a:ext cx="1080000" cy="540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object</a:t>
            </a:r>
            <a:endParaRPr lang="ru-RU" dirty="0"/>
          </a:p>
        </p:txBody>
      </p:sp>
      <p:sp>
        <p:nvSpPr>
          <p:cNvPr id="7" name="Rectangle 6">
            <a:extLst>
              <a:ext uri="{FF2B5EF4-FFF2-40B4-BE49-F238E27FC236}">
                <a16:creationId xmlns:a16="http://schemas.microsoft.com/office/drawing/2014/main" id="{5AEA94D7-FC57-7186-1000-A28A9D89142B}"/>
              </a:ext>
            </a:extLst>
          </p:cNvPr>
          <p:cNvSpPr/>
          <p:nvPr/>
        </p:nvSpPr>
        <p:spPr bwMode="auto">
          <a:xfrm>
            <a:off x="4434631" y="6083277"/>
            <a:ext cx="1080000" cy="540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ru-RU"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32448885" name="Прямоугольник 11"/>
          <p:cNvSpPr/>
          <p:nvPr/>
        </p:nvSpPr>
        <p:spPr bwMode="auto">
          <a:xfrm>
            <a:off x="7370613" y="2391460"/>
            <a:ext cx="3047999" cy="228335"/>
          </a:xfrm>
          <a:prstGeom prst="rect">
            <a:avLst/>
          </a:prstGeom>
          <a:solidFill>
            <a:srgbClr val="FDF1E9"/>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124272565" name="Прямоугольник 2"/>
          <p:cNvSpPr/>
          <p:nvPr/>
        </p:nvSpPr>
        <p:spPr bwMode="auto">
          <a:xfrm>
            <a:off x="7370613" y="3694367"/>
            <a:ext cx="1704108" cy="406578"/>
          </a:xfrm>
          <a:prstGeom prst="rect">
            <a:avLst/>
          </a:prstGeom>
          <a:solidFill>
            <a:schemeClr val="accent2">
              <a:lumMod val="40000"/>
              <a:lumOff val="60000"/>
            </a:schemeClr>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324827586" name="Прямоугольник 5"/>
          <p:cNvSpPr/>
          <p:nvPr/>
        </p:nvSpPr>
        <p:spPr bwMode="auto">
          <a:xfrm>
            <a:off x="7363686" y="4987848"/>
            <a:ext cx="4676817" cy="616316"/>
          </a:xfrm>
          <a:prstGeom prst="rect">
            <a:avLst/>
          </a:prstGeom>
          <a:solidFill>
            <a:srgbClr val="FDF1E9"/>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793207357" name="TextBox 9"/>
          <p:cNvSpPr txBox="1"/>
          <p:nvPr/>
        </p:nvSpPr>
        <p:spPr bwMode="auto">
          <a:xfrm>
            <a:off x="6518570" y="851533"/>
            <a:ext cx="6096000" cy="6340197"/>
          </a:xfrm>
          <a:prstGeom prst="rect">
            <a:avLst/>
          </a:prstGeom>
          <a:noFill/>
        </p:spPr>
        <p:txBody>
          <a:bodyPr wrap="square">
            <a:spAutoFit/>
          </a:bodyPr>
          <a:lstStyle/>
          <a:p>
            <a:pPr>
              <a:defRPr/>
            </a:pPr>
            <a:r>
              <a:rPr lang="en-US" sz="1400" b="0">
                <a:solidFill>
                  <a:srgbClr val="008080"/>
                </a:solidFill>
                <a:latin typeface="Consolas"/>
              </a:rPr>
              <a:t>delete_array(C*):</a:t>
            </a:r>
            <a:endParaRPr lang="en-US" sz="1400" b="0">
              <a:solidFill>
                <a:srgbClr val="000000"/>
              </a:solidFill>
              <a:latin typeface="Consolas"/>
            </a:endParaRPr>
          </a:p>
          <a:p>
            <a:pPr>
              <a:defRPr/>
            </a:pPr>
            <a:r>
              <a:rPr lang="en-US" sz="1400" b="0">
                <a:solidFill>
                  <a:srgbClr val="000000"/>
                </a:solidFill>
                <a:latin typeface="Consolas"/>
              </a:rPr>
              <a:t>        </a:t>
            </a:r>
            <a:r>
              <a:rPr lang="en-US" sz="1400" b="0">
                <a:solidFill>
                  <a:srgbClr val="0000FF"/>
                </a:solidFill>
                <a:latin typeface="Consolas"/>
              </a:rPr>
              <a:t>test</a:t>
            </a:r>
            <a:r>
              <a:rPr lang="en-US" sz="1400" b="0">
                <a:solidFill>
                  <a:srgbClr val="000000"/>
                </a:solidFill>
                <a:latin typeface="Consolas"/>
              </a:rPr>
              <a:t>    </a:t>
            </a:r>
            <a:r>
              <a:rPr lang="en-US" sz="1400" b="0">
                <a:solidFill>
                  <a:srgbClr val="4864AA"/>
                </a:solidFill>
                <a:latin typeface="Consolas"/>
              </a:rPr>
              <a:t>rcx</a:t>
            </a:r>
            <a:r>
              <a:rPr lang="en-US" sz="1400" b="0">
                <a:solidFill>
                  <a:srgbClr val="000000"/>
                </a:solidFill>
                <a:latin typeface="Consolas"/>
              </a:rPr>
              <a:t>, </a:t>
            </a:r>
            <a:r>
              <a:rPr lang="en-US" sz="1400" b="0">
                <a:solidFill>
                  <a:srgbClr val="4864AA"/>
                </a:solidFill>
                <a:latin typeface="Consolas"/>
              </a:rPr>
              <a:t>rcx</a:t>
            </a:r>
            <a:endParaRPr lang="en-US" sz="1400" b="0">
              <a:solidFill>
                <a:srgbClr val="000000"/>
              </a:solidFill>
              <a:latin typeface="Consolas"/>
            </a:endParaRPr>
          </a:p>
          <a:p>
            <a:pPr>
              <a:defRPr/>
            </a:pPr>
            <a:r>
              <a:rPr lang="en-US" sz="1400" b="0">
                <a:solidFill>
                  <a:srgbClr val="000000"/>
                </a:solidFill>
                <a:latin typeface="Consolas"/>
              </a:rPr>
              <a:t>        </a:t>
            </a:r>
            <a:r>
              <a:rPr lang="en-US" sz="1400" b="0">
                <a:solidFill>
                  <a:srgbClr val="0000FF"/>
                </a:solidFill>
                <a:latin typeface="Consolas"/>
              </a:rPr>
              <a:t>je</a:t>
            </a:r>
            <a:r>
              <a:rPr lang="en-US" sz="1400" b="0">
                <a:solidFill>
                  <a:srgbClr val="000000"/>
                </a:solidFill>
                <a:latin typeface="Consolas"/>
              </a:rPr>
              <a:t>      </a:t>
            </a:r>
            <a:r>
              <a:rPr lang="en-US" sz="1400" b="0">
                <a:solidFill>
                  <a:srgbClr val="008080"/>
                </a:solidFill>
                <a:latin typeface="Consolas"/>
              </a:rPr>
              <a:t>.L20</a:t>
            </a:r>
            <a:endParaRPr lang="en-US" sz="1400" b="0">
              <a:solidFill>
                <a:srgbClr val="000000"/>
              </a:solidFill>
              <a:latin typeface="Consolas"/>
            </a:endParaRPr>
          </a:p>
          <a:p>
            <a:pPr>
              <a:defRPr/>
            </a:pPr>
            <a:r>
              <a:rPr lang="en-US" sz="1400" b="0">
                <a:solidFill>
                  <a:srgbClr val="000000"/>
                </a:solidFill>
                <a:latin typeface="Consolas"/>
              </a:rPr>
              <a:t>        </a:t>
            </a:r>
            <a:r>
              <a:rPr lang="en-US" sz="1400" b="0">
                <a:solidFill>
                  <a:srgbClr val="0000FF"/>
                </a:solidFill>
                <a:latin typeface="Consolas"/>
              </a:rPr>
              <a:t>push</a:t>
            </a:r>
            <a:r>
              <a:rPr lang="en-US" sz="1400" b="0">
                <a:solidFill>
                  <a:srgbClr val="000000"/>
                </a:solidFill>
                <a:latin typeface="Consolas"/>
              </a:rPr>
              <a:t>    </a:t>
            </a:r>
            <a:r>
              <a:rPr lang="en-US" sz="1400" b="0">
                <a:solidFill>
                  <a:srgbClr val="4864AA"/>
                </a:solidFill>
                <a:latin typeface="Consolas"/>
              </a:rPr>
              <a:t>rsi</a:t>
            </a:r>
            <a:endParaRPr lang="en-US" sz="1400" b="0">
              <a:solidFill>
                <a:srgbClr val="000000"/>
              </a:solidFill>
              <a:latin typeface="Consolas"/>
            </a:endParaRPr>
          </a:p>
          <a:p>
            <a:pPr>
              <a:defRPr/>
            </a:pPr>
            <a:r>
              <a:rPr lang="en-US" sz="1400" b="0">
                <a:solidFill>
                  <a:srgbClr val="000000"/>
                </a:solidFill>
                <a:latin typeface="Consolas"/>
              </a:rPr>
              <a:t>        </a:t>
            </a:r>
            <a:r>
              <a:rPr lang="en-US" sz="1400" b="0">
                <a:solidFill>
                  <a:srgbClr val="0000FF"/>
                </a:solidFill>
                <a:latin typeface="Consolas"/>
              </a:rPr>
              <a:t>push</a:t>
            </a:r>
            <a:r>
              <a:rPr lang="en-US" sz="1400" b="0">
                <a:solidFill>
                  <a:srgbClr val="000000"/>
                </a:solidFill>
                <a:latin typeface="Consolas"/>
              </a:rPr>
              <a:t>    </a:t>
            </a:r>
            <a:r>
              <a:rPr lang="en-US" sz="1400" b="0">
                <a:solidFill>
                  <a:srgbClr val="4864AA"/>
                </a:solidFill>
                <a:latin typeface="Consolas"/>
              </a:rPr>
              <a:t>rbx</a:t>
            </a:r>
            <a:endParaRPr lang="en-US" sz="1400" b="0">
              <a:solidFill>
                <a:srgbClr val="000000"/>
              </a:solidFill>
              <a:latin typeface="Consolas"/>
            </a:endParaRPr>
          </a:p>
          <a:p>
            <a:pPr>
              <a:defRPr/>
            </a:pPr>
            <a:r>
              <a:rPr lang="en-US" sz="1400" b="0">
                <a:solidFill>
                  <a:srgbClr val="000000"/>
                </a:solidFill>
                <a:latin typeface="Consolas"/>
              </a:rPr>
              <a:t>        </a:t>
            </a:r>
            <a:r>
              <a:rPr lang="en-US" sz="1400" b="0">
                <a:solidFill>
                  <a:srgbClr val="0000FF"/>
                </a:solidFill>
                <a:latin typeface="Consolas"/>
              </a:rPr>
              <a:t>sub</a:t>
            </a:r>
            <a:r>
              <a:rPr lang="en-US" sz="1400" b="0">
                <a:solidFill>
                  <a:srgbClr val="000000"/>
                </a:solidFill>
                <a:latin typeface="Consolas"/>
              </a:rPr>
              <a:t>     </a:t>
            </a:r>
            <a:r>
              <a:rPr lang="en-US" sz="1400" b="0">
                <a:solidFill>
                  <a:srgbClr val="4864AA"/>
                </a:solidFill>
                <a:latin typeface="Consolas"/>
              </a:rPr>
              <a:t>rsp</a:t>
            </a:r>
            <a:r>
              <a:rPr lang="en-US" sz="1400" b="0">
                <a:solidFill>
                  <a:srgbClr val="000000"/>
                </a:solidFill>
                <a:latin typeface="Consolas"/>
              </a:rPr>
              <a:t>, </a:t>
            </a:r>
            <a:r>
              <a:rPr lang="en-US" sz="1400" b="0">
                <a:solidFill>
                  <a:srgbClr val="098658"/>
                </a:solidFill>
                <a:latin typeface="Consolas"/>
              </a:rPr>
              <a:t>40</a:t>
            </a:r>
            <a:endParaRPr lang="en-US" sz="1400" b="0">
              <a:solidFill>
                <a:srgbClr val="000000"/>
              </a:solidFill>
              <a:latin typeface="Consolas"/>
            </a:endParaRPr>
          </a:p>
          <a:p>
            <a:pPr>
              <a:defRPr/>
            </a:pPr>
            <a:r>
              <a:rPr lang="en-US" sz="1400" b="0">
                <a:solidFill>
                  <a:srgbClr val="000000"/>
                </a:solidFill>
                <a:latin typeface="Consolas"/>
              </a:rPr>
              <a:t>        </a:t>
            </a:r>
            <a:r>
              <a:rPr lang="en-US" sz="1400" b="0">
                <a:solidFill>
                  <a:srgbClr val="0000FF"/>
                </a:solidFill>
                <a:latin typeface="Consolas"/>
              </a:rPr>
              <a:t>mov</a:t>
            </a:r>
            <a:r>
              <a:rPr lang="en-US" sz="1400" b="0">
                <a:solidFill>
                  <a:srgbClr val="000000"/>
                </a:solidFill>
                <a:latin typeface="Consolas"/>
              </a:rPr>
              <a:t>     </a:t>
            </a:r>
            <a:r>
              <a:rPr lang="en-US" sz="1400" b="0">
                <a:solidFill>
                  <a:srgbClr val="4864AA"/>
                </a:solidFill>
                <a:latin typeface="Consolas"/>
              </a:rPr>
              <a:t>rsi</a:t>
            </a:r>
            <a:r>
              <a:rPr lang="en-US" sz="1400" b="0">
                <a:solidFill>
                  <a:srgbClr val="000000"/>
                </a:solidFill>
                <a:latin typeface="Consolas"/>
              </a:rPr>
              <a:t>, </a:t>
            </a:r>
            <a:r>
              <a:rPr lang="en-US" sz="1400" b="0">
                <a:solidFill>
                  <a:srgbClr val="4864AA"/>
                </a:solidFill>
                <a:latin typeface="Consolas"/>
              </a:rPr>
              <a:t>rcx</a:t>
            </a:r>
            <a:endParaRPr lang="en-US" sz="1400" b="0">
              <a:solidFill>
                <a:srgbClr val="000000"/>
              </a:solidFill>
              <a:latin typeface="Consolas"/>
            </a:endParaRPr>
          </a:p>
          <a:p>
            <a:pPr>
              <a:defRPr/>
            </a:pPr>
            <a:r>
              <a:rPr lang="en-US" sz="1400" b="0">
                <a:solidFill>
                  <a:srgbClr val="000000"/>
                </a:solidFill>
                <a:latin typeface="Consolas"/>
              </a:rPr>
              <a:t>        </a:t>
            </a:r>
            <a:r>
              <a:rPr lang="en-US" sz="1400" b="0">
                <a:solidFill>
                  <a:srgbClr val="0000FF"/>
                </a:solidFill>
                <a:latin typeface="Consolas"/>
              </a:rPr>
              <a:t>mov</a:t>
            </a:r>
            <a:r>
              <a:rPr lang="en-US" sz="1400" b="0">
                <a:solidFill>
                  <a:srgbClr val="000000"/>
                </a:solidFill>
                <a:latin typeface="Consolas"/>
              </a:rPr>
              <a:t>     </a:t>
            </a:r>
            <a:r>
              <a:rPr lang="en-US" sz="1400" b="0">
                <a:solidFill>
                  <a:srgbClr val="4864AA"/>
                </a:solidFill>
                <a:latin typeface="Consolas"/>
              </a:rPr>
              <a:t>rax</a:t>
            </a:r>
            <a:r>
              <a:rPr lang="en-US" sz="1400" b="0">
                <a:solidFill>
                  <a:srgbClr val="000000"/>
                </a:solidFill>
                <a:latin typeface="Consolas"/>
              </a:rPr>
              <a:t>, </a:t>
            </a:r>
            <a:r>
              <a:rPr lang="en-US" sz="1400" b="0">
                <a:solidFill>
                  <a:srgbClr val="808080"/>
                </a:solidFill>
                <a:latin typeface="Consolas"/>
              </a:rPr>
              <a:t>QWORD</a:t>
            </a:r>
            <a:r>
              <a:rPr lang="en-US" sz="1400" b="0">
                <a:solidFill>
                  <a:srgbClr val="000000"/>
                </a:solidFill>
                <a:latin typeface="Consolas"/>
              </a:rPr>
              <a:t> </a:t>
            </a:r>
            <a:r>
              <a:rPr lang="en-US" sz="1400" b="0">
                <a:solidFill>
                  <a:srgbClr val="808080"/>
                </a:solidFill>
                <a:latin typeface="Consolas"/>
              </a:rPr>
              <a:t>PTR</a:t>
            </a:r>
            <a:r>
              <a:rPr lang="en-US" sz="1400" b="0">
                <a:solidFill>
                  <a:srgbClr val="000000"/>
                </a:solidFill>
                <a:latin typeface="Consolas"/>
              </a:rPr>
              <a:t> [</a:t>
            </a:r>
            <a:r>
              <a:rPr lang="en-US" sz="1400" b="0">
                <a:solidFill>
                  <a:srgbClr val="4864AA"/>
                </a:solidFill>
                <a:latin typeface="Consolas"/>
              </a:rPr>
              <a:t>rcx</a:t>
            </a:r>
            <a:r>
              <a:rPr lang="en-US" sz="1400" b="0">
                <a:solidFill>
                  <a:srgbClr val="000000"/>
                </a:solidFill>
                <a:latin typeface="Consolas"/>
              </a:rPr>
              <a:t>-</a:t>
            </a:r>
            <a:r>
              <a:rPr lang="en-US" sz="1400" b="0">
                <a:solidFill>
                  <a:srgbClr val="098658"/>
                </a:solidFill>
                <a:latin typeface="Consolas"/>
              </a:rPr>
              <a:t>8</a:t>
            </a:r>
            <a:r>
              <a:rPr lang="en-US" sz="1400" b="0">
                <a:solidFill>
                  <a:srgbClr val="000000"/>
                </a:solidFill>
                <a:latin typeface="Consolas"/>
              </a:rPr>
              <a:t>]</a:t>
            </a:r>
            <a:endParaRPr/>
          </a:p>
          <a:p>
            <a:pPr>
              <a:defRPr/>
            </a:pPr>
            <a:r>
              <a:rPr lang="en-US" sz="1400" b="0">
                <a:solidFill>
                  <a:srgbClr val="000000"/>
                </a:solidFill>
                <a:latin typeface="Consolas"/>
              </a:rPr>
              <a:t>        </a:t>
            </a:r>
            <a:r>
              <a:rPr lang="en-US" sz="1400" b="0">
                <a:solidFill>
                  <a:srgbClr val="0000FF"/>
                </a:solidFill>
                <a:latin typeface="Consolas"/>
              </a:rPr>
              <a:t>lea</a:t>
            </a:r>
            <a:r>
              <a:rPr lang="en-US" sz="1400" b="0">
                <a:solidFill>
                  <a:srgbClr val="000000"/>
                </a:solidFill>
                <a:latin typeface="Consolas"/>
              </a:rPr>
              <a:t>     </a:t>
            </a:r>
            <a:r>
              <a:rPr lang="en-US" sz="1400" b="0">
                <a:solidFill>
                  <a:srgbClr val="4864AA"/>
                </a:solidFill>
                <a:latin typeface="Consolas"/>
              </a:rPr>
              <a:t>rbx</a:t>
            </a:r>
            <a:r>
              <a:rPr lang="en-US" sz="1400" b="0">
                <a:solidFill>
                  <a:srgbClr val="000000"/>
                </a:solidFill>
                <a:latin typeface="Consolas"/>
              </a:rPr>
              <a:t>, [</a:t>
            </a:r>
            <a:r>
              <a:rPr lang="en-US" sz="1400" b="0">
                <a:solidFill>
                  <a:srgbClr val="4864AA"/>
                </a:solidFill>
                <a:latin typeface="Consolas"/>
              </a:rPr>
              <a:t>rcx</a:t>
            </a:r>
            <a:r>
              <a:rPr lang="en-US" sz="1400" b="0">
                <a:solidFill>
                  <a:srgbClr val="000000"/>
                </a:solidFill>
                <a:latin typeface="Consolas"/>
              </a:rPr>
              <a:t>+</a:t>
            </a:r>
            <a:r>
              <a:rPr lang="en-US" sz="1400" b="0">
                <a:solidFill>
                  <a:srgbClr val="4864AA"/>
                </a:solidFill>
                <a:latin typeface="Consolas"/>
              </a:rPr>
              <a:t>rax</a:t>
            </a:r>
            <a:r>
              <a:rPr lang="en-US" sz="1400" b="0">
                <a:solidFill>
                  <a:srgbClr val="000000"/>
                </a:solidFill>
                <a:latin typeface="Consolas"/>
              </a:rPr>
              <a:t>*</a:t>
            </a:r>
            <a:r>
              <a:rPr lang="en-US" sz="1400" b="0">
                <a:solidFill>
                  <a:srgbClr val="098658"/>
                </a:solidFill>
                <a:latin typeface="Consolas"/>
              </a:rPr>
              <a:t>4</a:t>
            </a:r>
            <a:r>
              <a:rPr lang="en-US" sz="1400" b="0">
                <a:solidFill>
                  <a:srgbClr val="000000"/>
                </a:solidFill>
                <a:latin typeface="Consolas"/>
              </a:rPr>
              <a:t>]</a:t>
            </a:r>
            <a:endParaRPr/>
          </a:p>
          <a:p>
            <a:pPr>
              <a:defRPr/>
            </a:pPr>
            <a:r>
              <a:rPr lang="en-US" sz="1400" b="0">
                <a:solidFill>
                  <a:srgbClr val="000000"/>
                </a:solidFill>
                <a:latin typeface="Consolas"/>
              </a:rPr>
              <a:t>        </a:t>
            </a:r>
            <a:r>
              <a:rPr lang="en-US" sz="1400" b="0">
                <a:solidFill>
                  <a:srgbClr val="0000FF"/>
                </a:solidFill>
                <a:latin typeface="Consolas"/>
              </a:rPr>
              <a:t>cmp</a:t>
            </a:r>
            <a:r>
              <a:rPr lang="en-US" sz="1400" b="0">
                <a:solidFill>
                  <a:srgbClr val="000000"/>
                </a:solidFill>
                <a:latin typeface="Consolas"/>
              </a:rPr>
              <a:t>     </a:t>
            </a:r>
            <a:r>
              <a:rPr lang="en-US" sz="1400" b="0">
                <a:solidFill>
                  <a:srgbClr val="4864AA"/>
                </a:solidFill>
                <a:latin typeface="Consolas"/>
              </a:rPr>
              <a:t>rcx</a:t>
            </a:r>
            <a:r>
              <a:rPr lang="en-US" sz="1400" b="0">
                <a:solidFill>
                  <a:srgbClr val="000000"/>
                </a:solidFill>
                <a:latin typeface="Consolas"/>
              </a:rPr>
              <a:t>, </a:t>
            </a:r>
            <a:r>
              <a:rPr lang="en-US" sz="1400" b="0">
                <a:solidFill>
                  <a:srgbClr val="4864AA"/>
                </a:solidFill>
                <a:latin typeface="Consolas"/>
              </a:rPr>
              <a:t>rbx</a:t>
            </a:r>
            <a:endParaRPr lang="en-US" sz="1400" b="0">
              <a:solidFill>
                <a:srgbClr val="000000"/>
              </a:solidFill>
              <a:latin typeface="Consolas"/>
            </a:endParaRPr>
          </a:p>
          <a:p>
            <a:pPr>
              <a:defRPr/>
            </a:pPr>
            <a:r>
              <a:rPr lang="en-US" sz="1400" b="0">
                <a:solidFill>
                  <a:srgbClr val="000000"/>
                </a:solidFill>
                <a:latin typeface="Consolas"/>
              </a:rPr>
              <a:t>        </a:t>
            </a:r>
            <a:r>
              <a:rPr lang="en-US" sz="1400" b="0">
                <a:solidFill>
                  <a:srgbClr val="0000FF"/>
                </a:solidFill>
                <a:latin typeface="Consolas"/>
              </a:rPr>
              <a:t>je</a:t>
            </a:r>
            <a:r>
              <a:rPr lang="en-US" sz="1400" b="0">
                <a:solidFill>
                  <a:srgbClr val="000000"/>
                </a:solidFill>
                <a:latin typeface="Consolas"/>
              </a:rPr>
              <a:t>      </a:t>
            </a:r>
            <a:r>
              <a:rPr lang="en-US" sz="1400" b="0">
                <a:solidFill>
                  <a:srgbClr val="008080"/>
                </a:solidFill>
                <a:latin typeface="Consolas"/>
              </a:rPr>
              <a:t>.L16</a:t>
            </a:r>
            <a:endParaRPr lang="en-US" sz="1400" b="0">
              <a:solidFill>
                <a:srgbClr val="000000"/>
              </a:solidFill>
              <a:latin typeface="Consolas"/>
            </a:endParaRPr>
          </a:p>
          <a:p>
            <a:pPr>
              <a:defRPr/>
            </a:pPr>
            <a:r>
              <a:rPr lang="en-US" sz="1400" b="0">
                <a:solidFill>
                  <a:srgbClr val="008080"/>
                </a:solidFill>
                <a:latin typeface="Consolas"/>
              </a:rPr>
              <a:t>.L17:</a:t>
            </a:r>
            <a:endParaRPr lang="en-US" sz="1400" b="0">
              <a:solidFill>
                <a:srgbClr val="000000"/>
              </a:solidFill>
              <a:latin typeface="Consolas"/>
            </a:endParaRPr>
          </a:p>
          <a:p>
            <a:pPr>
              <a:defRPr/>
            </a:pPr>
            <a:r>
              <a:rPr lang="en-US" sz="1400" b="0">
                <a:solidFill>
                  <a:srgbClr val="000000"/>
                </a:solidFill>
                <a:latin typeface="Consolas"/>
              </a:rPr>
              <a:t>        </a:t>
            </a:r>
            <a:r>
              <a:rPr lang="en-US" sz="1400" b="0">
                <a:solidFill>
                  <a:srgbClr val="0000FF"/>
                </a:solidFill>
                <a:latin typeface="Consolas"/>
              </a:rPr>
              <a:t>sub</a:t>
            </a:r>
            <a:r>
              <a:rPr lang="en-US" sz="1400" b="0">
                <a:solidFill>
                  <a:srgbClr val="000000"/>
                </a:solidFill>
                <a:latin typeface="Consolas"/>
              </a:rPr>
              <a:t>     </a:t>
            </a:r>
            <a:r>
              <a:rPr lang="en-US" sz="1400" b="0">
                <a:solidFill>
                  <a:srgbClr val="4864AA"/>
                </a:solidFill>
                <a:latin typeface="Consolas"/>
              </a:rPr>
              <a:t>rbx</a:t>
            </a:r>
            <a:r>
              <a:rPr lang="en-US" sz="1400" b="0">
                <a:solidFill>
                  <a:srgbClr val="000000"/>
                </a:solidFill>
                <a:latin typeface="Consolas"/>
              </a:rPr>
              <a:t>, </a:t>
            </a:r>
            <a:r>
              <a:rPr lang="en-US" sz="1400" b="0">
                <a:solidFill>
                  <a:srgbClr val="098658"/>
                </a:solidFill>
                <a:latin typeface="Consolas"/>
              </a:rPr>
              <a:t>4</a:t>
            </a:r>
            <a:endParaRPr lang="en-US" sz="1400" b="0">
              <a:solidFill>
                <a:srgbClr val="000000"/>
              </a:solidFill>
              <a:latin typeface="Consolas"/>
            </a:endParaRPr>
          </a:p>
          <a:p>
            <a:pPr>
              <a:defRPr/>
            </a:pPr>
            <a:r>
              <a:rPr lang="en-US" sz="1400" b="0">
                <a:solidFill>
                  <a:srgbClr val="000000"/>
                </a:solidFill>
                <a:latin typeface="Consolas"/>
              </a:rPr>
              <a:t>        </a:t>
            </a:r>
            <a:r>
              <a:rPr lang="en-US" sz="1400" b="0">
                <a:solidFill>
                  <a:srgbClr val="0000FF"/>
                </a:solidFill>
                <a:latin typeface="Consolas"/>
              </a:rPr>
              <a:t>mov</a:t>
            </a:r>
            <a:r>
              <a:rPr lang="en-US" sz="1400" b="0">
                <a:solidFill>
                  <a:srgbClr val="000000"/>
                </a:solidFill>
                <a:latin typeface="Consolas"/>
              </a:rPr>
              <a:t>     </a:t>
            </a:r>
            <a:r>
              <a:rPr lang="en-US" sz="1400" b="0">
                <a:solidFill>
                  <a:srgbClr val="4864AA"/>
                </a:solidFill>
                <a:latin typeface="Consolas"/>
              </a:rPr>
              <a:t>rcx</a:t>
            </a:r>
            <a:r>
              <a:rPr lang="en-US" sz="1400" b="0">
                <a:solidFill>
                  <a:srgbClr val="000000"/>
                </a:solidFill>
                <a:latin typeface="Consolas"/>
              </a:rPr>
              <a:t>, </a:t>
            </a:r>
            <a:r>
              <a:rPr lang="en-US" sz="1400" b="0">
                <a:solidFill>
                  <a:srgbClr val="4864AA"/>
                </a:solidFill>
                <a:latin typeface="Consolas"/>
              </a:rPr>
              <a:t>rbx</a:t>
            </a:r>
            <a:endParaRPr lang="en-US" sz="1400" b="0">
              <a:solidFill>
                <a:srgbClr val="000000"/>
              </a:solidFill>
              <a:latin typeface="Consolas"/>
            </a:endParaRPr>
          </a:p>
          <a:p>
            <a:pPr>
              <a:defRPr/>
            </a:pPr>
            <a:r>
              <a:rPr lang="en-US" sz="1400" b="0">
                <a:solidFill>
                  <a:srgbClr val="000000"/>
                </a:solidFill>
                <a:latin typeface="Consolas"/>
              </a:rPr>
              <a:t>        </a:t>
            </a:r>
            <a:r>
              <a:rPr lang="en-US" sz="1400" b="0">
                <a:solidFill>
                  <a:srgbClr val="0000FF"/>
                </a:solidFill>
                <a:latin typeface="Consolas"/>
              </a:rPr>
              <a:t>call</a:t>
            </a:r>
            <a:r>
              <a:rPr lang="en-US" sz="1400" b="0">
                <a:solidFill>
                  <a:srgbClr val="000000"/>
                </a:solidFill>
                <a:latin typeface="Consolas"/>
              </a:rPr>
              <a:t>    </a:t>
            </a:r>
            <a:r>
              <a:rPr lang="en-US" sz="1400" b="0">
                <a:solidFill>
                  <a:srgbClr val="008080"/>
                </a:solidFill>
                <a:latin typeface="Consolas"/>
              </a:rPr>
              <a:t>C</a:t>
            </a:r>
            <a:r>
              <a:rPr lang="en-US" sz="1400" b="0">
                <a:solidFill>
                  <a:srgbClr val="000000"/>
                </a:solidFill>
                <a:latin typeface="Consolas"/>
              </a:rPr>
              <a:t>::</a:t>
            </a:r>
            <a:r>
              <a:rPr lang="en-US" sz="1400" b="0">
                <a:solidFill>
                  <a:srgbClr val="CD3131"/>
                </a:solidFill>
                <a:latin typeface="Consolas"/>
              </a:rPr>
              <a:t>~</a:t>
            </a:r>
            <a:r>
              <a:rPr lang="en-US" sz="1400" b="0">
                <a:solidFill>
                  <a:srgbClr val="008080"/>
                </a:solidFill>
                <a:latin typeface="Consolas"/>
              </a:rPr>
              <a:t>C</a:t>
            </a:r>
            <a:r>
              <a:rPr lang="en-US" sz="1400" b="0">
                <a:solidFill>
                  <a:srgbClr val="000000"/>
                </a:solidFill>
                <a:latin typeface="Consolas"/>
              </a:rPr>
              <a:t>()</a:t>
            </a:r>
            <a:endParaRPr/>
          </a:p>
          <a:p>
            <a:pPr>
              <a:defRPr/>
            </a:pPr>
            <a:r>
              <a:rPr lang="en-US" sz="1400" b="0">
                <a:solidFill>
                  <a:srgbClr val="000000"/>
                </a:solidFill>
                <a:latin typeface="Consolas"/>
              </a:rPr>
              <a:t>        </a:t>
            </a:r>
            <a:r>
              <a:rPr lang="en-US" sz="1400" b="0">
                <a:solidFill>
                  <a:srgbClr val="0000FF"/>
                </a:solidFill>
                <a:latin typeface="Consolas"/>
              </a:rPr>
              <a:t>cmp</a:t>
            </a:r>
            <a:r>
              <a:rPr lang="en-US" sz="1400" b="0">
                <a:solidFill>
                  <a:srgbClr val="000000"/>
                </a:solidFill>
                <a:latin typeface="Consolas"/>
              </a:rPr>
              <a:t>     </a:t>
            </a:r>
            <a:r>
              <a:rPr lang="en-US" sz="1400" b="0">
                <a:solidFill>
                  <a:srgbClr val="4864AA"/>
                </a:solidFill>
                <a:latin typeface="Consolas"/>
              </a:rPr>
              <a:t>rsi</a:t>
            </a:r>
            <a:r>
              <a:rPr lang="en-US" sz="1400" b="0">
                <a:solidFill>
                  <a:srgbClr val="000000"/>
                </a:solidFill>
                <a:latin typeface="Consolas"/>
              </a:rPr>
              <a:t>, </a:t>
            </a:r>
            <a:r>
              <a:rPr lang="en-US" sz="1400" b="0">
                <a:solidFill>
                  <a:srgbClr val="4864AA"/>
                </a:solidFill>
                <a:latin typeface="Consolas"/>
              </a:rPr>
              <a:t>rbx</a:t>
            </a:r>
            <a:endParaRPr lang="en-US" sz="1400" b="0">
              <a:solidFill>
                <a:srgbClr val="000000"/>
              </a:solidFill>
              <a:latin typeface="Consolas"/>
            </a:endParaRPr>
          </a:p>
          <a:p>
            <a:pPr>
              <a:defRPr/>
            </a:pPr>
            <a:r>
              <a:rPr lang="en-US" sz="1400" b="0">
                <a:solidFill>
                  <a:srgbClr val="000000"/>
                </a:solidFill>
                <a:latin typeface="Consolas"/>
              </a:rPr>
              <a:t>        </a:t>
            </a:r>
            <a:r>
              <a:rPr lang="en-US" sz="1400" b="0">
                <a:solidFill>
                  <a:srgbClr val="0000FF"/>
                </a:solidFill>
                <a:latin typeface="Consolas"/>
              </a:rPr>
              <a:t>jne</a:t>
            </a:r>
            <a:r>
              <a:rPr lang="en-US" sz="1400" b="0">
                <a:solidFill>
                  <a:srgbClr val="000000"/>
                </a:solidFill>
                <a:latin typeface="Consolas"/>
              </a:rPr>
              <a:t>     </a:t>
            </a:r>
            <a:r>
              <a:rPr lang="en-US" sz="1400" b="0">
                <a:solidFill>
                  <a:srgbClr val="008080"/>
                </a:solidFill>
                <a:latin typeface="Consolas"/>
              </a:rPr>
              <a:t>.L17</a:t>
            </a:r>
            <a:endParaRPr lang="en-US" sz="1400" b="0">
              <a:solidFill>
                <a:srgbClr val="000000"/>
              </a:solidFill>
              <a:latin typeface="Consolas"/>
            </a:endParaRPr>
          </a:p>
          <a:p>
            <a:pPr>
              <a:defRPr/>
            </a:pPr>
            <a:r>
              <a:rPr lang="en-US" sz="1400" b="0">
                <a:solidFill>
                  <a:srgbClr val="008080"/>
                </a:solidFill>
                <a:latin typeface="Consolas"/>
              </a:rPr>
              <a:t>.L16:</a:t>
            </a:r>
            <a:endParaRPr lang="en-US" sz="1400" b="0">
              <a:solidFill>
                <a:srgbClr val="000000"/>
              </a:solidFill>
              <a:latin typeface="Consolas"/>
            </a:endParaRPr>
          </a:p>
          <a:p>
            <a:pPr>
              <a:defRPr/>
            </a:pPr>
            <a:r>
              <a:rPr lang="en-US" sz="1400" b="0">
                <a:solidFill>
                  <a:srgbClr val="000000"/>
                </a:solidFill>
                <a:latin typeface="Consolas"/>
              </a:rPr>
              <a:t>        </a:t>
            </a:r>
            <a:r>
              <a:rPr lang="en-US" sz="1400" b="0">
                <a:solidFill>
                  <a:srgbClr val="0000FF"/>
                </a:solidFill>
                <a:latin typeface="Consolas"/>
              </a:rPr>
              <a:t>mov</a:t>
            </a:r>
            <a:r>
              <a:rPr lang="en-US" sz="1400" b="0">
                <a:solidFill>
                  <a:srgbClr val="000000"/>
                </a:solidFill>
                <a:latin typeface="Consolas"/>
              </a:rPr>
              <a:t>     </a:t>
            </a:r>
            <a:r>
              <a:rPr lang="en-US" sz="1400" b="0">
                <a:solidFill>
                  <a:srgbClr val="4864AA"/>
                </a:solidFill>
                <a:latin typeface="Consolas"/>
              </a:rPr>
              <a:t>rax</a:t>
            </a:r>
            <a:r>
              <a:rPr lang="en-US" sz="1400" b="0">
                <a:solidFill>
                  <a:srgbClr val="000000"/>
                </a:solidFill>
                <a:latin typeface="Consolas"/>
              </a:rPr>
              <a:t>, </a:t>
            </a:r>
            <a:r>
              <a:rPr lang="en-US" sz="1400" b="0">
                <a:solidFill>
                  <a:srgbClr val="808080"/>
                </a:solidFill>
                <a:latin typeface="Consolas"/>
              </a:rPr>
              <a:t>QWORD</a:t>
            </a:r>
            <a:r>
              <a:rPr lang="en-US" sz="1400" b="0">
                <a:solidFill>
                  <a:srgbClr val="000000"/>
                </a:solidFill>
                <a:latin typeface="Consolas"/>
              </a:rPr>
              <a:t> </a:t>
            </a:r>
            <a:r>
              <a:rPr lang="en-US" sz="1400" b="0">
                <a:solidFill>
                  <a:srgbClr val="808080"/>
                </a:solidFill>
                <a:latin typeface="Consolas"/>
              </a:rPr>
              <a:t>PTR</a:t>
            </a:r>
            <a:r>
              <a:rPr lang="en-US" sz="1400" b="0">
                <a:solidFill>
                  <a:srgbClr val="000000"/>
                </a:solidFill>
                <a:latin typeface="Consolas"/>
              </a:rPr>
              <a:t> [</a:t>
            </a:r>
            <a:r>
              <a:rPr lang="en-US" sz="1400" b="0">
                <a:solidFill>
                  <a:srgbClr val="4864AA"/>
                </a:solidFill>
                <a:latin typeface="Consolas"/>
              </a:rPr>
              <a:t>rsi</a:t>
            </a:r>
            <a:r>
              <a:rPr lang="en-US" sz="1400" b="0">
                <a:solidFill>
                  <a:srgbClr val="000000"/>
                </a:solidFill>
                <a:latin typeface="Consolas"/>
              </a:rPr>
              <a:t>-</a:t>
            </a:r>
            <a:r>
              <a:rPr lang="en-US" sz="1400" b="0">
                <a:solidFill>
                  <a:srgbClr val="098658"/>
                </a:solidFill>
                <a:latin typeface="Consolas"/>
              </a:rPr>
              <a:t>8</a:t>
            </a:r>
            <a:r>
              <a:rPr lang="en-US" sz="1400" b="0">
                <a:solidFill>
                  <a:srgbClr val="000000"/>
                </a:solidFill>
                <a:latin typeface="Consolas"/>
              </a:rPr>
              <a:t>]</a:t>
            </a:r>
            <a:endParaRPr/>
          </a:p>
          <a:p>
            <a:pPr>
              <a:defRPr/>
            </a:pPr>
            <a:r>
              <a:rPr lang="en-US" sz="1400" b="0">
                <a:solidFill>
                  <a:srgbClr val="000000"/>
                </a:solidFill>
                <a:latin typeface="Consolas"/>
              </a:rPr>
              <a:t>        </a:t>
            </a:r>
            <a:r>
              <a:rPr lang="en-US" sz="1400" b="0">
                <a:solidFill>
                  <a:srgbClr val="0000FF"/>
                </a:solidFill>
                <a:latin typeface="Consolas"/>
              </a:rPr>
              <a:t>lea</a:t>
            </a:r>
            <a:r>
              <a:rPr lang="en-US" sz="1400" b="0">
                <a:solidFill>
                  <a:srgbClr val="000000"/>
                </a:solidFill>
                <a:latin typeface="Consolas"/>
              </a:rPr>
              <a:t>     </a:t>
            </a:r>
            <a:r>
              <a:rPr lang="en-US" sz="1400" b="0">
                <a:solidFill>
                  <a:srgbClr val="4864AA"/>
                </a:solidFill>
                <a:latin typeface="Consolas"/>
              </a:rPr>
              <a:t>rdx</a:t>
            </a:r>
            <a:r>
              <a:rPr lang="en-US" sz="1400" b="0">
                <a:solidFill>
                  <a:srgbClr val="000000"/>
                </a:solidFill>
                <a:latin typeface="Consolas"/>
              </a:rPr>
              <a:t>, [</a:t>
            </a:r>
            <a:r>
              <a:rPr lang="en-US" sz="1400" b="0">
                <a:solidFill>
                  <a:srgbClr val="098658"/>
                </a:solidFill>
                <a:latin typeface="Consolas"/>
              </a:rPr>
              <a:t>8</a:t>
            </a:r>
            <a:r>
              <a:rPr lang="en-US" sz="1400" b="0">
                <a:solidFill>
                  <a:srgbClr val="000000"/>
                </a:solidFill>
                <a:latin typeface="Consolas"/>
              </a:rPr>
              <a:t>+</a:t>
            </a:r>
            <a:r>
              <a:rPr lang="en-US" sz="1400" b="0">
                <a:solidFill>
                  <a:srgbClr val="4864AA"/>
                </a:solidFill>
                <a:latin typeface="Consolas"/>
              </a:rPr>
              <a:t>rax</a:t>
            </a:r>
            <a:r>
              <a:rPr lang="en-US" sz="1400" b="0">
                <a:solidFill>
                  <a:srgbClr val="000000"/>
                </a:solidFill>
                <a:latin typeface="Consolas"/>
              </a:rPr>
              <a:t>*</a:t>
            </a:r>
            <a:r>
              <a:rPr lang="en-US" sz="1400" b="0">
                <a:solidFill>
                  <a:srgbClr val="098658"/>
                </a:solidFill>
                <a:latin typeface="Consolas"/>
              </a:rPr>
              <a:t>4</a:t>
            </a:r>
            <a:r>
              <a:rPr lang="en-US" sz="1400" b="0">
                <a:solidFill>
                  <a:srgbClr val="000000"/>
                </a:solidFill>
                <a:latin typeface="Consolas"/>
              </a:rPr>
              <a:t>]</a:t>
            </a:r>
            <a:endParaRPr/>
          </a:p>
          <a:p>
            <a:pPr>
              <a:defRPr/>
            </a:pPr>
            <a:r>
              <a:rPr lang="en-US" sz="1400" b="0">
                <a:solidFill>
                  <a:srgbClr val="000000"/>
                </a:solidFill>
                <a:latin typeface="Consolas"/>
              </a:rPr>
              <a:t>        </a:t>
            </a:r>
            <a:r>
              <a:rPr lang="en-US" sz="1400" b="0">
                <a:solidFill>
                  <a:srgbClr val="0000FF"/>
                </a:solidFill>
                <a:latin typeface="Consolas"/>
              </a:rPr>
              <a:t>lea</a:t>
            </a:r>
            <a:r>
              <a:rPr lang="en-US" sz="1400" b="0">
                <a:solidFill>
                  <a:srgbClr val="000000"/>
                </a:solidFill>
                <a:latin typeface="Consolas"/>
              </a:rPr>
              <a:t>     </a:t>
            </a:r>
            <a:r>
              <a:rPr lang="en-US" sz="1400" b="0">
                <a:solidFill>
                  <a:srgbClr val="4864AA"/>
                </a:solidFill>
                <a:latin typeface="Consolas"/>
              </a:rPr>
              <a:t>rcx</a:t>
            </a:r>
            <a:r>
              <a:rPr lang="en-US" sz="1400" b="0">
                <a:solidFill>
                  <a:srgbClr val="000000"/>
                </a:solidFill>
                <a:latin typeface="Consolas"/>
              </a:rPr>
              <a:t>, [</a:t>
            </a:r>
            <a:r>
              <a:rPr lang="en-US" sz="1400" b="0">
                <a:solidFill>
                  <a:srgbClr val="4864AA"/>
                </a:solidFill>
                <a:latin typeface="Consolas"/>
              </a:rPr>
              <a:t>rsi</a:t>
            </a:r>
            <a:r>
              <a:rPr lang="en-US" sz="1400" b="0">
                <a:solidFill>
                  <a:srgbClr val="000000"/>
                </a:solidFill>
                <a:latin typeface="Consolas"/>
              </a:rPr>
              <a:t>-</a:t>
            </a:r>
            <a:r>
              <a:rPr lang="en-US" sz="1400" b="0">
                <a:solidFill>
                  <a:srgbClr val="098658"/>
                </a:solidFill>
                <a:latin typeface="Consolas"/>
              </a:rPr>
              <a:t>8</a:t>
            </a:r>
            <a:r>
              <a:rPr lang="en-US" sz="1400" b="0">
                <a:solidFill>
                  <a:srgbClr val="000000"/>
                </a:solidFill>
                <a:latin typeface="Consolas"/>
              </a:rPr>
              <a:t>]</a:t>
            </a:r>
            <a:endParaRPr/>
          </a:p>
          <a:p>
            <a:pPr>
              <a:defRPr/>
            </a:pPr>
            <a:r>
              <a:rPr lang="en-US" sz="1400" b="0">
                <a:solidFill>
                  <a:srgbClr val="000000"/>
                </a:solidFill>
                <a:latin typeface="Consolas"/>
              </a:rPr>
              <a:t>        </a:t>
            </a:r>
            <a:r>
              <a:rPr lang="en-US" sz="1400" b="0">
                <a:solidFill>
                  <a:srgbClr val="0000FF"/>
                </a:solidFill>
                <a:latin typeface="Consolas"/>
              </a:rPr>
              <a:t>call</a:t>
            </a:r>
            <a:r>
              <a:rPr lang="en-US" sz="1400" b="0">
                <a:solidFill>
                  <a:srgbClr val="000000"/>
                </a:solidFill>
                <a:latin typeface="Consolas"/>
              </a:rPr>
              <a:t>    </a:t>
            </a:r>
            <a:r>
              <a:rPr lang="en-US" sz="1400" b="0">
                <a:solidFill>
                  <a:srgbClr val="008080"/>
                </a:solidFill>
                <a:latin typeface="Consolas"/>
              </a:rPr>
              <a:t>operator</a:t>
            </a:r>
            <a:r>
              <a:rPr lang="en-US" sz="1400" b="0">
                <a:solidFill>
                  <a:srgbClr val="000000"/>
                </a:solidFill>
                <a:latin typeface="Consolas"/>
              </a:rPr>
              <a:t> </a:t>
            </a:r>
            <a:r>
              <a:rPr lang="en-US" sz="1400" b="0">
                <a:solidFill>
                  <a:srgbClr val="008080"/>
                </a:solidFill>
                <a:latin typeface="Consolas"/>
              </a:rPr>
              <a:t>delete</a:t>
            </a:r>
            <a:r>
              <a:rPr lang="en-US" sz="1400" b="0">
                <a:solidFill>
                  <a:srgbClr val="000000"/>
                </a:solidFill>
                <a:latin typeface="Consolas"/>
              </a:rPr>
              <a:t>[](</a:t>
            </a:r>
            <a:r>
              <a:rPr lang="en-US" sz="1400" b="0">
                <a:solidFill>
                  <a:srgbClr val="008080"/>
                </a:solidFill>
                <a:latin typeface="Consolas"/>
              </a:rPr>
              <a:t>void</a:t>
            </a:r>
            <a:r>
              <a:rPr lang="en-US" sz="1400" b="0">
                <a:solidFill>
                  <a:srgbClr val="000000"/>
                </a:solidFill>
                <a:latin typeface="Consolas"/>
              </a:rPr>
              <a:t>*, </a:t>
            </a:r>
            <a:r>
              <a:rPr lang="en-US" sz="1400" b="0">
                <a:solidFill>
                  <a:srgbClr val="008080"/>
                </a:solidFill>
                <a:latin typeface="Consolas"/>
              </a:rPr>
              <a:t>unsigned</a:t>
            </a:r>
            <a:r>
              <a:rPr lang="en-US" sz="1400" b="0">
                <a:solidFill>
                  <a:srgbClr val="000000"/>
                </a:solidFill>
                <a:latin typeface="Consolas"/>
              </a:rPr>
              <a:t> </a:t>
            </a:r>
            <a:r>
              <a:rPr lang="en-US" sz="1400" b="0">
                <a:solidFill>
                  <a:srgbClr val="008080"/>
                </a:solidFill>
                <a:latin typeface="Consolas"/>
              </a:rPr>
              <a:t>long</a:t>
            </a:r>
            <a:r>
              <a:rPr lang="en-US" sz="1400" b="0">
                <a:solidFill>
                  <a:srgbClr val="000000"/>
                </a:solidFill>
                <a:latin typeface="Consolas"/>
              </a:rPr>
              <a:t>)</a:t>
            </a:r>
            <a:endParaRPr/>
          </a:p>
          <a:p>
            <a:pPr>
              <a:defRPr/>
            </a:pPr>
            <a:r>
              <a:rPr lang="en-US" sz="1400" b="0">
                <a:solidFill>
                  <a:srgbClr val="000000"/>
                </a:solidFill>
                <a:latin typeface="Consolas"/>
              </a:rPr>
              <a:t>        </a:t>
            </a:r>
            <a:r>
              <a:rPr lang="en-US" sz="1400" b="0">
                <a:solidFill>
                  <a:srgbClr val="0000FF"/>
                </a:solidFill>
                <a:latin typeface="Consolas"/>
              </a:rPr>
              <a:t>add</a:t>
            </a:r>
            <a:r>
              <a:rPr lang="en-US" sz="1400" b="0">
                <a:solidFill>
                  <a:srgbClr val="000000"/>
                </a:solidFill>
                <a:latin typeface="Consolas"/>
              </a:rPr>
              <a:t>     </a:t>
            </a:r>
            <a:r>
              <a:rPr lang="en-US" sz="1400" b="0">
                <a:solidFill>
                  <a:srgbClr val="4864AA"/>
                </a:solidFill>
                <a:latin typeface="Consolas"/>
              </a:rPr>
              <a:t>rsp</a:t>
            </a:r>
            <a:r>
              <a:rPr lang="en-US" sz="1400" b="0">
                <a:solidFill>
                  <a:srgbClr val="000000"/>
                </a:solidFill>
                <a:latin typeface="Consolas"/>
              </a:rPr>
              <a:t>, </a:t>
            </a:r>
            <a:r>
              <a:rPr lang="en-US" sz="1400" b="0">
                <a:solidFill>
                  <a:srgbClr val="098658"/>
                </a:solidFill>
                <a:latin typeface="Consolas"/>
              </a:rPr>
              <a:t>40</a:t>
            </a:r>
            <a:endParaRPr lang="en-US" sz="1400" b="0">
              <a:solidFill>
                <a:srgbClr val="000000"/>
              </a:solidFill>
              <a:latin typeface="Consolas"/>
            </a:endParaRPr>
          </a:p>
          <a:p>
            <a:pPr>
              <a:defRPr/>
            </a:pPr>
            <a:r>
              <a:rPr lang="en-US" sz="1400" b="0">
                <a:solidFill>
                  <a:srgbClr val="000000"/>
                </a:solidFill>
                <a:latin typeface="Consolas"/>
              </a:rPr>
              <a:t>        </a:t>
            </a:r>
            <a:r>
              <a:rPr lang="en-US" sz="1400" b="0">
                <a:solidFill>
                  <a:srgbClr val="0000FF"/>
                </a:solidFill>
                <a:latin typeface="Consolas"/>
              </a:rPr>
              <a:t>pop</a:t>
            </a:r>
            <a:r>
              <a:rPr lang="en-US" sz="1400" b="0">
                <a:solidFill>
                  <a:srgbClr val="000000"/>
                </a:solidFill>
                <a:latin typeface="Consolas"/>
              </a:rPr>
              <a:t>     </a:t>
            </a:r>
            <a:r>
              <a:rPr lang="en-US" sz="1400" b="0">
                <a:solidFill>
                  <a:srgbClr val="4864AA"/>
                </a:solidFill>
                <a:latin typeface="Consolas"/>
              </a:rPr>
              <a:t>rbx</a:t>
            </a:r>
            <a:endParaRPr lang="en-US" sz="1400" b="0">
              <a:solidFill>
                <a:srgbClr val="000000"/>
              </a:solidFill>
              <a:latin typeface="Consolas"/>
            </a:endParaRPr>
          </a:p>
          <a:p>
            <a:pPr>
              <a:defRPr/>
            </a:pPr>
            <a:r>
              <a:rPr lang="en-US" sz="1400" b="0">
                <a:solidFill>
                  <a:srgbClr val="000000"/>
                </a:solidFill>
                <a:latin typeface="Consolas"/>
              </a:rPr>
              <a:t>        </a:t>
            </a:r>
            <a:r>
              <a:rPr lang="en-US" sz="1400" b="0">
                <a:solidFill>
                  <a:srgbClr val="0000FF"/>
                </a:solidFill>
                <a:latin typeface="Consolas"/>
              </a:rPr>
              <a:t>pop</a:t>
            </a:r>
            <a:r>
              <a:rPr lang="en-US" sz="1400" b="0">
                <a:solidFill>
                  <a:srgbClr val="000000"/>
                </a:solidFill>
                <a:latin typeface="Consolas"/>
              </a:rPr>
              <a:t>     </a:t>
            </a:r>
            <a:r>
              <a:rPr lang="en-US" sz="1400" b="0">
                <a:solidFill>
                  <a:srgbClr val="4864AA"/>
                </a:solidFill>
                <a:latin typeface="Consolas"/>
              </a:rPr>
              <a:t>rsi</a:t>
            </a:r>
            <a:endParaRPr lang="en-US" sz="1400" b="0">
              <a:solidFill>
                <a:srgbClr val="000000"/>
              </a:solidFill>
              <a:latin typeface="Consolas"/>
            </a:endParaRPr>
          </a:p>
          <a:p>
            <a:pPr>
              <a:defRPr/>
            </a:pPr>
            <a:r>
              <a:rPr lang="en-US" sz="1400" b="0">
                <a:solidFill>
                  <a:srgbClr val="000000"/>
                </a:solidFill>
                <a:latin typeface="Consolas"/>
              </a:rPr>
              <a:t>        </a:t>
            </a:r>
            <a:r>
              <a:rPr lang="en-US" sz="1400" b="0">
                <a:solidFill>
                  <a:srgbClr val="0000FF"/>
                </a:solidFill>
                <a:latin typeface="Consolas"/>
              </a:rPr>
              <a:t>ret</a:t>
            </a:r>
            <a:endParaRPr lang="en-US" sz="1400" b="0">
              <a:solidFill>
                <a:srgbClr val="000000"/>
              </a:solidFill>
              <a:latin typeface="Consolas"/>
            </a:endParaRPr>
          </a:p>
          <a:p>
            <a:pPr>
              <a:defRPr/>
            </a:pPr>
            <a:r>
              <a:rPr lang="en-US" sz="1400" b="0">
                <a:solidFill>
                  <a:srgbClr val="008080"/>
                </a:solidFill>
                <a:latin typeface="Consolas"/>
              </a:rPr>
              <a:t>.L20:</a:t>
            </a:r>
            <a:endParaRPr lang="en-US" sz="1400" b="0">
              <a:solidFill>
                <a:srgbClr val="000000"/>
              </a:solidFill>
              <a:latin typeface="Consolas"/>
            </a:endParaRPr>
          </a:p>
          <a:p>
            <a:pPr>
              <a:defRPr/>
            </a:pPr>
            <a:r>
              <a:rPr lang="en-US" sz="1400" b="0">
                <a:solidFill>
                  <a:srgbClr val="000000"/>
                </a:solidFill>
                <a:latin typeface="Consolas"/>
              </a:rPr>
              <a:t>        </a:t>
            </a:r>
            <a:r>
              <a:rPr lang="en-US" sz="1400" b="0">
                <a:solidFill>
                  <a:srgbClr val="0000FF"/>
                </a:solidFill>
                <a:latin typeface="Consolas"/>
              </a:rPr>
              <a:t>ret</a:t>
            </a:r>
            <a:endParaRPr lang="en-US" sz="1400" b="0">
              <a:solidFill>
                <a:srgbClr val="000000"/>
              </a:solidFill>
              <a:latin typeface="Consolas"/>
            </a:endParaRPr>
          </a:p>
        </p:txBody>
      </p:sp>
      <p:sp>
        <p:nvSpPr>
          <p:cNvPr id="1765406036" name="Номер слайда 4"/>
          <p:cNvSpPr>
            <a:spLocks noGrp="1"/>
          </p:cNvSpPr>
          <p:nvPr>
            <p:ph type="sldNum" sz="quarter" idx="12"/>
          </p:nvPr>
        </p:nvSpPr>
        <p:spPr bwMode="auto"/>
        <p:txBody>
          <a:bodyPr/>
          <a:lstStyle/>
          <a:p>
            <a:pPr>
              <a:defRPr/>
            </a:pPr>
            <a:fld id="{B67FBA2B-964F-4C4D-AAF7-5A8399264638}" type="slidenum">
              <a:rPr lang="en-US"/>
              <a:t>29</a:t>
            </a:fld>
            <a:endParaRPr lang="en-US"/>
          </a:p>
        </p:txBody>
      </p:sp>
      <p:cxnSp>
        <p:nvCxnSpPr>
          <p:cNvPr id="843527190" name="Прямая со стрелкой 13"/>
          <p:cNvCxnSpPr/>
          <p:nvPr/>
        </p:nvCxnSpPr>
        <p:spPr bwMode="auto">
          <a:xfrm flipV="1">
            <a:off x="6615545" y="2499139"/>
            <a:ext cx="755073" cy="111917"/>
          </a:xfrm>
          <a:prstGeom prst="straightConnector1">
            <a:avLst/>
          </a:prstGeom>
          <a:ln>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395311854" name="TextBox 16"/>
          <p:cNvSpPr txBox="1"/>
          <p:nvPr/>
        </p:nvSpPr>
        <p:spPr bwMode="auto">
          <a:xfrm>
            <a:off x="4689767" y="2314774"/>
            <a:ext cx="1925778" cy="584775"/>
          </a:xfrm>
          <a:prstGeom prst="rect">
            <a:avLst/>
          </a:prstGeom>
          <a:noFill/>
        </p:spPr>
        <p:txBody>
          <a:bodyPr wrap="square" rtlCol="0">
            <a:spAutoFit/>
          </a:bodyPr>
          <a:lstStyle/>
          <a:p>
            <a:pPr>
              <a:defRPr/>
            </a:pPr>
            <a:r>
              <a:rPr lang="ru-RU" sz="1600"/>
              <a:t>Чтение количества элементов массива</a:t>
            </a:r>
            <a:endParaRPr/>
          </a:p>
        </p:txBody>
      </p:sp>
      <p:sp>
        <p:nvSpPr>
          <p:cNvPr id="2048266236" name="TextBox 20"/>
          <p:cNvSpPr txBox="1"/>
          <p:nvPr/>
        </p:nvSpPr>
        <p:spPr bwMode="auto">
          <a:xfrm>
            <a:off x="4856026" y="3887651"/>
            <a:ext cx="1454724" cy="830997"/>
          </a:xfrm>
          <a:prstGeom prst="rect">
            <a:avLst/>
          </a:prstGeom>
          <a:noFill/>
        </p:spPr>
        <p:txBody>
          <a:bodyPr wrap="square" rtlCol="0">
            <a:spAutoFit/>
          </a:bodyPr>
          <a:lstStyle/>
          <a:p>
            <a:pPr>
              <a:defRPr/>
            </a:pPr>
            <a:r>
              <a:rPr lang="ru-RU" sz="1600"/>
              <a:t>Вызов деструкторов объектов</a:t>
            </a:r>
            <a:endParaRPr/>
          </a:p>
        </p:txBody>
      </p:sp>
      <p:sp>
        <p:nvSpPr>
          <p:cNvPr id="1428057709" name="Дуга 21"/>
          <p:cNvSpPr/>
          <p:nvPr/>
        </p:nvSpPr>
        <p:spPr bwMode="auto">
          <a:xfrm>
            <a:off x="8305800" y="3395355"/>
            <a:ext cx="962890" cy="1054552"/>
          </a:xfrm>
          <a:prstGeom prst="arc">
            <a:avLst>
              <a:gd name="adj1" fmla="val 18770959"/>
              <a:gd name="adj2" fmla="val 5298724"/>
            </a:avLst>
          </a:prstGeom>
          <a:ln>
            <a:prstDash val="lgDash"/>
            <a:headEnd type="triangle" w="med" len="med"/>
            <a:tailEnd type="none" w="med" len="med"/>
          </a:ln>
        </p:spPr>
        <p:style>
          <a:lnRef idx="1">
            <a:schemeClr val="dk1"/>
          </a:lnRef>
          <a:fillRef idx="0">
            <a:schemeClr val="dk1"/>
          </a:fillRef>
          <a:effectRef idx="0">
            <a:schemeClr val="dk1"/>
          </a:effectRef>
          <a:fontRef idx="minor">
            <a:schemeClr val="tx1"/>
          </a:fontRef>
        </p:style>
        <p:txBody>
          <a:bodyPr rtlCol="0" anchor="ctr"/>
          <a:lstStyle/>
          <a:p>
            <a:pPr algn="ctr">
              <a:defRPr/>
            </a:pPr>
            <a:endParaRPr lang="ru-RU"/>
          </a:p>
        </p:txBody>
      </p:sp>
      <p:cxnSp>
        <p:nvCxnSpPr>
          <p:cNvPr id="1783345050" name="Прямая со стрелкой 22"/>
          <p:cNvCxnSpPr>
            <a:stCxn id="2048266236" idx="3"/>
          </p:cNvCxnSpPr>
          <p:nvPr/>
        </p:nvCxnSpPr>
        <p:spPr bwMode="auto">
          <a:xfrm flipV="1">
            <a:off x="6310750" y="3976255"/>
            <a:ext cx="976741" cy="326895"/>
          </a:xfrm>
          <a:prstGeom prst="straightConnector1">
            <a:avLst/>
          </a:prstGeom>
          <a:ln>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969299379" name="TextBox 27"/>
          <p:cNvSpPr txBox="1"/>
          <p:nvPr/>
        </p:nvSpPr>
        <p:spPr bwMode="auto">
          <a:xfrm>
            <a:off x="261262" y="3117783"/>
            <a:ext cx="4336473" cy="2031325"/>
          </a:xfrm>
          <a:prstGeom prst="rect">
            <a:avLst/>
          </a:prstGeom>
          <a:noFill/>
        </p:spPr>
        <p:txBody>
          <a:bodyPr wrap="square" rtlCol="0">
            <a:spAutoFit/>
          </a:bodyPr>
          <a:lstStyle/>
          <a:p>
            <a:pPr>
              <a:defRPr/>
            </a:pPr>
            <a:r>
              <a:rPr lang="ru-RU" dirty="0"/>
              <a:t>Оператор </a:t>
            </a:r>
            <a:r>
              <a:rPr lang="en-US" dirty="0"/>
              <a:t>delete[] </a:t>
            </a:r>
            <a:r>
              <a:rPr lang="ru-RU" dirty="0"/>
              <a:t>функционирует обратно оператору </a:t>
            </a:r>
            <a:r>
              <a:rPr lang="en-US" dirty="0"/>
              <a:t>new[] </a:t>
            </a:r>
            <a:r>
              <a:rPr lang="ru-RU" dirty="0"/>
              <a:t> (считывает количество элементов – вызывает деструкторы – удаляет буфер).</a:t>
            </a:r>
            <a:endParaRPr dirty="0"/>
          </a:p>
          <a:p>
            <a:pPr>
              <a:defRPr/>
            </a:pPr>
            <a:endParaRPr lang="ru-RU" dirty="0"/>
          </a:p>
          <a:p>
            <a:pPr>
              <a:defRPr/>
            </a:pPr>
            <a:endParaRPr lang="ru-RU" dirty="0"/>
          </a:p>
          <a:p>
            <a:pPr>
              <a:defRPr/>
            </a:pPr>
            <a:endParaRPr lang="ru-RU" dirty="0"/>
          </a:p>
        </p:txBody>
      </p:sp>
      <p:sp>
        <p:nvSpPr>
          <p:cNvPr id="298284333" name="TextBox 6"/>
          <p:cNvSpPr txBox="1"/>
          <p:nvPr/>
        </p:nvSpPr>
        <p:spPr bwMode="auto">
          <a:xfrm>
            <a:off x="361707" y="1531556"/>
            <a:ext cx="4135582" cy="923330"/>
          </a:xfrm>
          <a:prstGeom prst="rect">
            <a:avLst/>
          </a:prstGeom>
          <a:noFill/>
        </p:spPr>
        <p:txBody>
          <a:bodyPr wrap="square">
            <a:spAutoFit/>
          </a:bodyPr>
          <a:lstStyle/>
          <a:p>
            <a:pPr>
              <a:defRPr/>
            </a:pPr>
            <a:r>
              <a:rPr lang="en-US" b="0">
                <a:solidFill>
                  <a:srgbClr val="0000FF"/>
                </a:solidFill>
                <a:latin typeface="Consolas"/>
              </a:rPr>
              <a:t>void</a:t>
            </a:r>
            <a:r>
              <a:rPr lang="en-US" b="0">
                <a:solidFill>
                  <a:srgbClr val="000000"/>
                </a:solidFill>
                <a:latin typeface="Consolas"/>
              </a:rPr>
              <a:t> delete_array(C* array){</a:t>
            </a:r>
            <a:endParaRPr/>
          </a:p>
          <a:p>
            <a:pPr>
              <a:defRPr/>
            </a:pPr>
            <a:r>
              <a:rPr lang="en-US" b="0">
                <a:solidFill>
                  <a:srgbClr val="000000"/>
                </a:solidFill>
                <a:latin typeface="Consolas"/>
              </a:rPr>
              <a:t>    </a:t>
            </a:r>
            <a:r>
              <a:rPr lang="en-US" b="0">
                <a:solidFill>
                  <a:srgbClr val="0000FF"/>
                </a:solidFill>
                <a:latin typeface="Consolas"/>
              </a:rPr>
              <a:t>delete</a:t>
            </a:r>
            <a:r>
              <a:rPr lang="en-US" b="0">
                <a:solidFill>
                  <a:srgbClr val="000000"/>
                </a:solidFill>
                <a:latin typeface="Consolas"/>
              </a:rPr>
              <a:t>[] array;</a:t>
            </a:r>
            <a:endParaRPr/>
          </a:p>
          <a:p>
            <a:pPr>
              <a:defRPr/>
            </a:pPr>
            <a:r>
              <a:rPr lang="en-US" b="0">
                <a:solidFill>
                  <a:srgbClr val="000000"/>
                </a:solidFill>
                <a:latin typeface="Consolas"/>
              </a:rPr>
              <a:t>}</a:t>
            </a:r>
            <a:endParaRPr/>
          </a:p>
        </p:txBody>
      </p:sp>
      <p:sp>
        <p:nvSpPr>
          <p:cNvPr id="1308732815" name="TextBox 17"/>
          <p:cNvSpPr txBox="1"/>
          <p:nvPr/>
        </p:nvSpPr>
        <p:spPr bwMode="auto">
          <a:xfrm>
            <a:off x="4876807" y="5242014"/>
            <a:ext cx="1454724" cy="584775"/>
          </a:xfrm>
          <a:prstGeom prst="rect">
            <a:avLst/>
          </a:prstGeom>
          <a:noFill/>
        </p:spPr>
        <p:txBody>
          <a:bodyPr wrap="square" rtlCol="0">
            <a:spAutoFit/>
          </a:bodyPr>
          <a:lstStyle/>
          <a:p>
            <a:pPr>
              <a:defRPr/>
            </a:pPr>
            <a:r>
              <a:rPr lang="ru-RU" sz="1600"/>
              <a:t>Удаление буфера</a:t>
            </a:r>
            <a:endParaRPr/>
          </a:p>
        </p:txBody>
      </p:sp>
      <p:cxnSp>
        <p:nvCxnSpPr>
          <p:cNvPr id="1620228067" name="Прямая со стрелкой 18"/>
          <p:cNvCxnSpPr>
            <a:stCxn id="1308732815" idx="3"/>
          </p:cNvCxnSpPr>
          <p:nvPr/>
        </p:nvCxnSpPr>
        <p:spPr bwMode="auto">
          <a:xfrm flipV="1">
            <a:off x="6331531" y="5479473"/>
            <a:ext cx="1039087" cy="54929"/>
          </a:xfrm>
          <a:prstGeom prst="straightConnector1">
            <a:avLst/>
          </a:prstGeom>
          <a:ln>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1435962493" name="Заголовок 1"/>
          <p:cNvSpPr>
            <a:spLocks noGrp="1"/>
          </p:cNvSpPr>
          <p:nvPr>
            <p:ph type="title"/>
          </p:nvPr>
        </p:nvSpPr>
        <p:spPr bwMode="auto">
          <a:xfrm>
            <a:off x="512618" y="7609"/>
            <a:ext cx="10515600" cy="1325563"/>
          </a:xfrm>
        </p:spPr>
        <p:txBody>
          <a:bodyPr/>
          <a:lstStyle/>
          <a:p>
            <a:pPr>
              <a:defRPr/>
            </a:pPr>
            <a:r>
              <a:rPr lang="ru-RU"/>
              <a:t>Операторы </a:t>
            </a:r>
            <a:r>
              <a:rPr lang="en-US"/>
              <a:t>new[] </a:t>
            </a:r>
            <a:r>
              <a:rPr lang="ru-RU"/>
              <a:t>и </a:t>
            </a:r>
            <a:r>
              <a:rPr lang="en-US"/>
              <a:t>delete[]</a:t>
            </a:r>
            <a:endParaRPr/>
          </a:p>
        </p:txBody>
      </p:sp>
      <p:sp>
        <p:nvSpPr>
          <p:cNvPr id="2" name="Rectangle 1">
            <a:extLst>
              <a:ext uri="{FF2B5EF4-FFF2-40B4-BE49-F238E27FC236}">
                <a16:creationId xmlns:a16="http://schemas.microsoft.com/office/drawing/2014/main" id="{D8E40797-D4D2-19E9-FAF9-EE92ED0C9A9E}"/>
              </a:ext>
            </a:extLst>
          </p:cNvPr>
          <p:cNvSpPr/>
          <p:nvPr/>
        </p:nvSpPr>
        <p:spPr bwMode="auto">
          <a:xfrm>
            <a:off x="415122" y="6084780"/>
            <a:ext cx="779509" cy="54000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count</a:t>
            </a:r>
            <a:endParaRPr lang="ru-RU" dirty="0"/>
          </a:p>
        </p:txBody>
      </p:sp>
      <p:sp>
        <p:nvSpPr>
          <p:cNvPr id="3" name="Rectangle 2">
            <a:extLst>
              <a:ext uri="{FF2B5EF4-FFF2-40B4-BE49-F238E27FC236}">
                <a16:creationId xmlns:a16="http://schemas.microsoft.com/office/drawing/2014/main" id="{CF9BE0AE-4021-58A4-64A2-882FB1BB3557}"/>
              </a:ext>
            </a:extLst>
          </p:cNvPr>
          <p:cNvSpPr/>
          <p:nvPr/>
        </p:nvSpPr>
        <p:spPr bwMode="auto">
          <a:xfrm>
            <a:off x="1194631" y="6084780"/>
            <a:ext cx="1080000" cy="540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object</a:t>
            </a:r>
            <a:endParaRPr lang="ru-RU" dirty="0"/>
          </a:p>
        </p:txBody>
      </p:sp>
      <p:sp>
        <p:nvSpPr>
          <p:cNvPr id="4" name="Rectangle 3">
            <a:extLst>
              <a:ext uri="{FF2B5EF4-FFF2-40B4-BE49-F238E27FC236}">
                <a16:creationId xmlns:a16="http://schemas.microsoft.com/office/drawing/2014/main" id="{1A48C929-7AF2-1CB9-EFBE-48D3439EA76A}"/>
              </a:ext>
            </a:extLst>
          </p:cNvPr>
          <p:cNvSpPr/>
          <p:nvPr/>
        </p:nvSpPr>
        <p:spPr bwMode="auto">
          <a:xfrm>
            <a:off x="2274631" y="6083277"/>
            <a:ext cx="1080000" cy="540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object</a:t>
            </a:r>
            <a:endParaRPr lang="ru-RU" dirty="0"/>
          </a:p>
        </p:txBody>
      </p:sp>
      <p:sp>
        <p:nvSpPr>
          <p:cNvPr id="5" name="Rectangle 4">
            <a:extLst>
              <a:ext uri="{FF2B5EF4-FFF2-40B4-BE49-F238E27FC236}">
                <a16:creationId xmlns:a16="http://schemas.microsoft.com/office/drawing/2014/main" id="{6647B56C-1C63-46C3-B3CF-29EF6E2C9970}"/>
              </a:ext>
            </a:extLst>
          </p:cNvPr>
          <p:cNvSpPr/>
          <p:nvPr/>
        </p:nvSpPr>
        <p:spPr bwMode="auto">
          <a:xfrm>
            <a:off x="3354631" y="6083277"/>
            <a:ext cx="1080000" cy="540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object</a:t>
            </a:r>
            <a:endParaRPr lang="ru-RU" dirty="0"/>
          </a:p>
        </p:txBody>
      </p:sp>
      <p:sp>
        <p:nvSpPr>
          <p:cNvPr id="6" name="Rectangle 5">
            <a:extLst>
              <a:ext uri="{FF2B5EF4-FFF2-40B4-BE49-F238E27FC236}">
                <a16:creationId xmlns:a16="http://schemas.microsoft.com/office/drawing/2014/main" id="{9C5696A4-4AA3-C090-916F-02C698D45095}"/>
              </a:ext>
            </a:extLst>
          </p:cNvPr>
          <p:cNvSpPr/>
          <p:nvPr/>
        </p:nvSpPr>
        <p:spPr bwMode="auto">
          <a:xfrm>
            <a:off x="4434631" y="6083277"/>
            <a:ext cx="1080000" cy="540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ru-RU"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57173916" name="Заголовок 1"/>
          <p:cNvSpPr>
            <a:spLocks noGrp="1"/>
          </p:cNvSpPr>
          <p:nvPr>
            <p:ph type="title"/>
          </p:nvPr>
        </p:nvSpPr>
        <p:spPr bwMode="auto"/>
        <p:txBody>
          <a:bodyPr/>
          <a:lstStyle/>
          <a:p>
            <a:pPr>
              <a:defRPr/>
            </a:pPr>
            <a:r>
              <a:rPr lang="ru-RU"/>
              <a:t>Наследование</a:t>
            </a:r>
            <a:endParaRPr lang="en-US"/>
          </a:p>
        </p:txBody>
      </p:sp>
      <p:sp>
        <p:nvSpPr>
          <p:cNvPr id="1829864311" name="Объект 2"/>
          <p:cNvSpPr>
            <a:spLocks noGrp="1"/>
          </p:cNvSpPr>
          <p:nvPr>
            <p:ph idx="1"/>
          </p:nvPr>
        </p:nvSpPr>
        <p:spPr bwMode="auto"/>
        <p:txBody>
          <a:bodyPr>
            <a:normAutofit/>
          </a:bodyPr>
          <a:lstStyle/>
          <a:p>
            <a:pPr marL="0" indent="0">
              <a:buNone/>
              <a:defRPr/>
            </a:pPr>
            <a:r>
              <a:rPr lang="ru-RU" sz="2000"/>
              <a:t>В результате наследования один класс может расширять поведение другого класса.</a:t>
            </a:r>
            <a:endParaRPr/>
          </a:p>
          <a:p>
            <a:pPr marL="0" indent="0">
              <a:buNone/>
              <a:defRPr/>
            </a:pPr>
            <a:r>
              <a:rPr lang="ru-RU" sz="2000"/>
              <a:t>С точки расположения в памяти </a:t>
            </a:r>
            <a:r>
              <a:rPr lang="ru-RU" sz="2000" i="1"/>
              <a:t>объект класса-предка является частью объекта класса-потомка</a:t>
            </a:r>
            <a:r>
              <a:rPr lang="ru-RU" sz="2000"/>
              <a:t> (</a:t>
            </a:r>
            <a:r>
              <a:rPr lang="en-US" sz="2000"/>
              <a:t>“</a:t>
            </a:r>
            <a:r>
              <a:rPr lang="ru-RU" sz="2000"/>
              <a:t>матрешка</a:t>
            </a:r>
            <a:r>
              <a:rPr lang="en-US" sz="2000"/>
              <a:t>”</a:t>
            </a:r>
            <a:r>
              <a:rPr lang="ru-RU" sz="2000"/>
              <a:t>).</a:t>
            </a:r>
            <a:endParaRPr/>
          </a:p>
          <a:p>
            <a:pPr marL="0" indent="0">
              <a:buNone/>
              <a:defRPr/>
            </a:pPr>
            <a:r>
              <a:rPr lang="ru-RU" sz="2000"/>
              <a:t>В случае создания объекта класса-потомка конструкторы всех его классов-предков вызываются по цепочке в порядке наследования.</a:t>
            </a:r>
            <a:endParaRPr/>
          </a:p>
          <a:p>
            <a:pPr marL="0" indent="0">
              <a:buNone/>
              <a:defRPr/>
            </a:pPr>
            <a:r>
              <a:rPr lang="ru-RU" sz="2000"/>
              <a:t>Вызов деструкторов происходит в порядке, обратном порядку наследования.</a:t>
            </a:r>
            <a:endParaRPr/>
          </a:p>
          <a:p>
            <a:pPr marL="0" indent="0">
              <a:buNone/>
              <a:defRPr/>
            </a:pPr>
            <a:endParaRPr lang="ru-RU" sz="2000"/>
          </a:p>
          <a:p>
            <a:pPr marL="0" indent="0">
              <a:buNone/>
              <a:defRPr/>
            </a:pPr>
            <a:endParaRPr lang="ru-RU" sz="2000"/>
          </a:p>
          <a:p>
            <a:pPr marL="0" indent="0">
              <a:buNone/>
              <a:defRPr/>
            </a:pPr>
            <a:r>
              <a:rPr lang="en-US" sz="1600" i="1"/>
              <a:t>P.S. </a:t>
            </a:r>
            <a:r>
              <a:rPr lang="ru-RU" sz="1600" i="1"/>
              <a:t>Множественное или виртуальное наследование существенно усложняет положение дел, но здесь рассматриваться не будет</a:t>
            </a:r>
            <a:endParaRPr lang="en-US" sz="1600" i="1"/>
          </a:p>
        </p:txBody>
      </p:sp>
      <p:sp>
        <p:nvSpPr>
          <p:cNvPr id="613893964" name="Номер слайда 4"/>
          <p:cNvSpPr>
            <a:spLocks noGrp="1"/>
          </p:cNvSpPr>
          <p:nvPr>
            <p:ph type="sldNum" sz="quarter" idx="12"/>
          </p:nvPr>
        </p:nvSpPr>
        <p:spPr bwMode="auto"/>
        <p:txBody>
          <a:bodyPr/>
          <a:lstStyle/>
          <a:p>
            <a:pPr>
              <a:defRPr/>
            </a:pPr>
            <a:fld id="{B67FBA2B-964F-4C4D-AAF7-5A8399264638}" type="slidenum">
              <a:rPr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921216032" name="Заголовок 1"/>
          <p:cNvSpPr>
            <a:spLocks noGrp="1"/>
          </p:cNvSpPr>
          <p:nvPr>
            <p:ph type="title"/>
          </p:nvPr>
        </p:nvSpPr>
        <p:spPr bwMode="auto"/>
        <p:txBody>
          <a:bodyPr/>
          <a:lstStyle/>
          <a:p>
            <a:pPr>
              <a:defRPr/>
            </a:pPr>
            <a:r>
              <a:rPr lang="ru-RU"/>
              <a:t>Наследование</a:t>
            </a:r>
            <a:endParaRPr lang="en-US"/>
          </a:p>
        </p:txBody>
      </p:sp>
      <p:sp>
        <p:nvSpPr>
          <p:cNvPr id="784790065" name="Номер слайда 4"/>
          <p:cNvSpPr>
            <a:spLocks noGrp="1"/>
          </p:cNvSpPr>
          <p:nvPr>
            <p:ph type="sldNum" sz="quarter" idx="12"/>
          </p:nvPr>
        </p:nvSpPr>
        <p:spPr bwMode="auto"/>
        <p:txBody>
          <a:bodyPr/>
          <a:lstStyle/>
          <a:p>
            <a:pPr>
              <a:defRPr/>
            </a:pPr>
            <a:fld id="{B67FBA2B-964F-4C4D-AAF7-5A8399264638}" type="slidenum">
              <a:rPr lang="en-US"/>
              <a:t>31</a:t>
            </a:fld>
            <a:endParaRPr lang="en-US"/>
          </a:p>
        </p:txBody>
      </p:sp>
      <p:sp>
        <p:nvSpPr>
          <p:cNvPr id="741242467" name="TextBox 8"/>
          <p:cNvSpPr txBox="1"/>
          <p:nvPr/>
        </p:nvSpPr>
        <p:spPr bwMode="auto">
          <a:xfrm>
            <a:off x="948072" y="1730037"/>
            <a:ext cx="5083297" cy="3693319"/>
          </a:xfrm>
          <a:prstGeom prst="rect">
            <a:avLst/>
          </a:prstGeom>
          <a:noFill/>
        </p:spPr>
        <p:txBody>
          <a:bodyPr wrap="square">
            <a:spAutoFit/>
          </a:bodyPr>
          <a:lstStyle/>
          <a:p>
            <a:pPr>
              <a:defRPr/>
            </a:pPr>
            <a:r>
              <a:rPr lang="en-US">
                <a:solidFill>
                  <a:srgbClr val="0000FF"/>
                </a:solidFill>
                <a:latin typeface="Consolas, "/>
              </a:rPr>
              <a:t>class</a:t>
            </a:r>
            <a:r>
              <a:rPr lang="en-US">
                <a:solidFill>
                  <a:srgbClr val="000000"/>
                </a:solidFill>
                <a:latin typeface="Consolas, "/>
              </a:rPr>
              <a:t> A{</a:t>
            </a:r>
            <a:endParaRPr/>
          </a:p>
          <a:p>
            <a:pPr>
              <a:defRPr/>
            </a:pPr>
            <a:r>
              <a:rPr lang="en-US">
                <a:solidFill>
                  <a:srgbClr val="0000FF"/>
                </a:solidFill>
                <a:latin typeface="Consolas, "/>
              </a:rPr>
              <a:t>public</a:t>
            </a:r>
            <a:r>
              <a:rPr lang="en-US">
                <a:solidFill>
                  <a:srgbClr val="000000"/>
                </a:solidFill>
                <a:latin typeface="Consolas, "/>
              </a:rPr>
              <a:t>:</a:t>
            </a:r>
            <a:endParaRPr/>
          </a:p>
          <a:p>
            <a:pPr>
              <a:defRPr/>
            </a:pPr>
            <a:r>
              <a:rPr lang="en-US">
                <a:solidFill>
                  <a:srgbClr val="000000"/>
                </a:solidFill>
                <a:latin typeface="Consolas, "/>
              </a:rPr>
              <a:t>    </a:t>
            </a:r>
            <a:r>
              <a:rPr lang="en-US">
                <a:solidFill>
                  <a:srgbClr val="0000FF"/>
                </a:solidFill>
                <a:latin typeface="Consolas, "/>
              </a:rPr>
              <a:t>int</a:t>
            </a:r>
            <a:r>
              <a:rPr lang="en-US">
                <a:solidFill>
                  <a:srgbClr val="000000"/>
                </a:solidFill>
                <a:latin typeface="Consolas, "/>
              </a:rPr>
              <a:t> x=</a:t>
            </a:r>
            <a:r>
              <a:rPr lang="en-US">
                <a:solidFill>
                  <a:srgbClr val="098658"/>
                </a:solidFill>
                <a:latin typeface="Consolas, "/>
              </a:rPr>
              <a:t>0</a:t>
            </a:r>
            <a:r>
              <a:rPr lang="en-US">
                <a:solidFill>
                  <a:srgbClr val="000000"/>
                </a:solidFill>
                <a:latin typeface="Consolas, "/>
              </a:rPr>
              <a:t>;</a:t>
            </a:r>
            <a:endParaRPr/>
          </a:p>
          <a:p>
            <a:pPr>
              <a:defRPr/>
            </a:pPr>
            <a:r>
              <a:rPr lang="en-US">
                <a:solidFill>
                  <a:srgbClr val="000000"/>
                </a:solidFill>
                <a:latin typeface="Consolas, "/>
              </a:rPr>
              <a:t>    A(){printf(</a:t>
            </a:r>
            <a:r>
              <a:rPr lang="en-US">
                <a:solidFill>
                  <a:srgbClr val="A31515"/>
                </a:solidFill>
                <a:latin typeface="Consolas, "/>
              </a:rPr>
              <a:t>"A"</a:t>
            </a:r>
            <a:r>
              <a:rPr lang="en-US">
                <a:solidFill>
                  <a:srgbClr val="000000"/>
                </a:solidFill>
                <a:latin typeface="Consolas, "/>
              </a:rPr>
              <a:t>);};</a:t>
            </a:r>
            <a:endParaRPr/>
          </a:p>
          <a:p>
            <a:pPr>
              <a:defRPr/>
            </a:pPr>
            <a:r>
              <a:rPr lang="en-US">
                <a:solidFill>
                  <a:srgbClr val="000000"/>
                </a:solidFill>
                <a:latin typeface="Consolas, "/>
              </a:rPr>
              <a:t>    ~A(){printf(</a:t>
            </a:r>
            <a:r>
              <a:rPr lang="en-US">
                <a:solidFill>
                  <a:srgbClr val="A31515"/>
                </a:solidFill>
                <a:latin typeface="Consolas, "/>
              </a:rPr>
              <a:t>"~A"</a:t>
            </a:r>
            <a:r>
              <a:rPr lang="en-US">
                <a:solidFill>
                  <a:srgbClr val="000000"/>
                </a:solidFill>
                <a:latin typeface="Consolas, "/>
              </a:rPr>
              <a:t>);};</a:t>
            </a:r>
            <a:endParaRPr/>
          </a:p>
          <a:p>
            <a:pPr>
              <a:defRPr/>
            </a:pPr>
            <a:r>
              <a:rPr lang="en-US">
                <a:solidFill>
                  <a:srgbClr val="000000"/>
                </a:solidFill>
                <a:latin typeface="Consolas, "/>
              </a:rPr>
              <a:t>};</a:t>
            </a:r>
            <a:endParaRPr/>
          </a:p>
          <a:p>
            <a:pPr>
              <a:defRPr/>
            </a:pPr>
            <a:br>
              <a:rPr lang="en-US">
                <a:solidFill>
                  <a:srgbClr val="000000"/>
                </a:solidFill>
                <a:latin typeface="Consolas, "/>
              </a:rPr>
            </a:br>
            <a:r>
              <a:rPr lang="en-US">
                <a:solidFill>
                  <a:srgbClr val="0000FF"/>
                </a:solidFill>
                <a:latin typeface="Consolas, "/>
              </a:rPr>
              <a:t>class</a:t>
            </a:r>
            <a:r>
              <a:rPr lang="en-US">
                <a:solidFill>
                  <a:srgbClr val="000000"/>
                </a:solidFill>
                <a:latin typeface="Consolas, "/>
              </a:rPr>
              <a:t> B: </a:t>
            </a:r>
            <a:r>
              <a:rPr lang="en-US">
                <a:solidFill>
                  <a:srgbClr val="0000FF"/>
                </a:solidFill>
                <a:latin typeface="Consolas, "/>
              </a:rPr>
              <a:t>public</a:t>
            </a:r>
            <a:r>
              <a:rPr lang="en-US">
                <a:solidFill>
                  <a:srgbClr val="000000"/>
                </a:solidFill>
                <a:latin typeface="Consolas, "/>
              </a:rPr>
              <a:t> A{</a:t>
            </a:r>
            <a:endParaRPr/>
          </a:p>
          <a:p>
            <a:pPr>
              <a:defRPr/>
            </a:pPr>
            <a:r>
              <a:rPr lang="en-US">
                <a:solidFill>
                  <a:srgbClr val="0000FF"/>
                </a:solidFill>
                <a:latin typeface="Consolas, "/>
              </a:rPr>
              <a:t>public</a:t>
            </a:r>
            <a:r>
              <a:rPr lang="en-US">
                <a:solidFill>
                  <a:srgbClr val="000000"/>
                </a:solidFill>
                <a:latin typeface="Consolas, "/>
              </a:rPr>
              <a:t>:</a:t>
            </a:r>
            <a:endParaRPr/>
          </a:p>
          <a:p>
            <a:pPr>
              <a:defRPr/>
            </a:pPr>
            <a:r>
              <a:rPr lang="en-US">
                <a:solidFill>
                  <a:srgbClr val="000000"/>
                </a:solidFill>
                <a:latin typeface="Consolas, "/>
              </a:rPr>
              <a:t>    </a:t>
            </a:r>
            <a:r>
              <a:rPr lang="en-US">
                <a:solidFill>
                  <a:srgbClr val="0000FF"/>
                </a:solidFill>
                <a:latin typeface="Consolas, "/>
              </a:rPr>
              <a:t>int</a:t>
            </a:r>
            <a:r>
              <a:rPr lang="en-US">
                <a:solidFill>
                  <a:srgbClr val="000000"/>
                </a:solidFill>
                <a:latin typeface="Consolas, "/>
              </a:rPr>
              <a:t> y=</a:t>
            </a:r>
            <a:r>
              <a:rPr lang="en-US">
                <a:solidFill>
                  <a:srgbClr val="098658"/>
                </a:solidFill>
                <a:latin typeface="Consolas, "/>
              </a:rPr>
              <a:t>1</a:t>
            </a:r>
            <a:r>
              <a:rPr lang="en-US">
                <a:solidFill>
                  <a:srgbClr val="000000"/>
                </a:solidFill>
                <a:latin typeface="Consolas, "/>
              </a:rPr>
              <a:t>;</a:t>
            </a:r>
            <a:endParaRPr/>
          </a:p>
          <a:p>
            <a:pPr>
              <a:defRPr/>
            </a:pPr>
            <a:r>
              <a:rPr lang="en-US">
                <a:solidFill>
                  <a:srgbClr val="000000"/>
                </a:solidFill>
                <a:latin typeface="Consolas, "/>
              </a:rPr>
              <a:t>    B() {printf(</a:t>
            </a:r>
            <a:r>
              <a:rPr lang="en-US">
                <a:solidFill>
                  <a:srgbClr val="A31515"/>
                </a:solidFill>
                <a:latin typeface="Consolas, "/>
              </a:rPr>
              <a:t>"B"</a:t>
            </a:r>
            <a:r>
              <a:rPr lang="en-US">
                <a:solidFill>
                  <a:srgbClr val="000000"/>
                </a:solidFill>
                <a:latin typeface="Consolas, "/>
              </a:rPr>
              <a:t>);}</a:t>
            </a:r>
            <a:endParaRPr/>
          </a:p>
          <a:p>
            <a:pPr>
              <a:defRPr/>
            </a:pPr>
            <a:r>
              <a:rPr lang="en-US">
                <a:solidFill>
                  <a:srgbClr val="000000"/>
                </a:solidFill>
                <a:latin typeface="Consolas, "/>
              </a:rPr>
              <a:t>    ~B() {printf(</a:t>
            </a:r>
            <a:r>
              <a:rPr lang="en-US">
                <a:solidFill>
                  <a:srgbClr val="A31515"/>
                </a:solidFill>
                <a:latin typeface="Consolas, "/>
              </a:rPr>
              <a:t>"~B"</a:t>
            </a:r>
            <a:r>
              <a:rPr lang="en-US">
                <a:solidFill>
                  <a:srgbClr val="000000"/>
                </a:solidFill>
                <a:latin typeface="Consolas, "/>
              </a:rPr>
              <a:t>);}</a:t>
            </a:r>
            <a:endParaRPr/>
          </a:p>
          <a:p>
            <a:pPr>
              <a:defRPr/>
            </a:pPr>
            <a:r>
              <a:rPr lang="en-US">
                <a:solidFill>
                  <a:srgbClr val="000000"/>
                </a:solidFill>
                <a:latin typeface="Consolas, "/>
              </a:rPr>
              <a:t>};</a:t>
            </a:r>
            <a:endParaRPr/>
          </a:p>
        </p:txBody>
      </p:sp>
      <p:sp>
        <p:nvSpPr>
          <p:cNvPr id="704276247" name="Прямоугольник 9"/>
          <p:cNvSpPr/>
          <p:nvPr/>
        </p:nvSpPr>
        <p:spPr bwMode="auto">
          <a:xfrm>
            <a:off x="7663625" y="2663031"/>
            <a:ext cx="1996906" cy="456833"/>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defRPr/>
            </a:pPr>
            <a:r>
              <a:rPr lang="en-US"/>
              <a:t>A::x</a:t>
            </a:r>
            <a:endParaRPr/>
          </a:p>
        </p:txBody>
      </p:sp>
      <p:sp>
        <p:nvSpPr>
          <p:cNvPr id="292010004" name="Прямоугольник 10"/>
          <p:cNvSpPr/>
          <p:nvPr/>
        </p:nvSpPr>
        <p:spPr bwMode="auto">
          <a:xfrm>
            <a:off x="7663625" y="3119864"/>
            <a:ext cx="1996906" cy="456833"/>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defRPr/>
            </a:pPr>
            <a:r>
              <a:rPr lang="en-US"/>
              <a:t>B::y</a:t>
            </a:r>
            <a:endParaRPr/>
          </a:p>
        </p:txBody>
      </p:sp>
      <p:sp>
        <p:nvSpPr>
          <p:cNvPr id="465134835" name="Левая фигурная скобка 14"/>
          <p:cNvSpPr/>
          <p:nvPr/>
        </p:nvSpPr>
        <p:spPr bwMode="auto">
          <a:xfrm>
            <a:off x="7468763" y="2663031"/>
            <a:ext cx="194862" cy="456833"/>
          </a:xfrm>
          <a:prstGeom prst="leftBrace">
            <a:avLst>
              <a:gd name="adj1" fmla="val 8333"/>
              <a:gd name="adj2" fmla="val 50000"/>
            </a:avLst>
          </a:prstGeom>
          <a:ln w="9525"/>
        </p:spPr>
        <p:style>
          <a:lnRef idx="1">
            <a:schemeClr val="dk1"/>
          </a:lnRef>
          <a:fillRef idx="0">
            <a:schemeClr val="dk1"/>
          </a:fillRef>
          <a:effectRef idx="0">
            <a:schemeClr val="dk1"/>
          </a:effectRef>
          <a:fontRef idx="minor">
            <a:schemeClr val="tx1"/>
          </a:fontRef>
        </p:style>
        <p:txBody>
          <a:bodyPr rtlCol="0" anchor="ctr"/>
          <a:lstStyle/>
          <a:p>
            <a:pPr algn="ctr">
              <a:defRPr/>
            </a:pPr>
            <a:endParaRPr lang="en-US">
              <a:ln w="0"/>
            </a:endParaRPr>
          </a:p>
        </p:txBody>
      </p:sp>
      <p:sp>
        <p:nvSpPr>
          <p:cNvPr id="1592372472" name="TextBox 15"/>
          <p:cNvSpPr txBox="1"/>
          <p:nvPr/>
        </p:nvSpPr>
        <p:spPr bwMode="auto">
          <a:xfrm>
            <a:off x="7126152" y="2706781"/>
            <a:ext cx="317716" cy="369332"/>
          </a:xfrm>
          <a:prstGeom prst="rect">
            <a:avLst/>
          </a:prstGeom>
          <a:noFill/>
        </p:spPr>
        <p:txBody>
          <a:bodyPr wrap="none" rtlCol="0">
            <a:spAutoFit/>
          </a:bodyPr>
          <a:lstStyle/>
          <a:p>
            <a:pPr>
              <a:defRPr/>
            </a:pPr>
            <a:r>
              <a:rPr lang="en-US"/>
              <a:t>A</a:t>
            </a:r>
            <a:endParaRPr/>
          </a:p>
        </p:txBody>
      </p:sp>
      <p:sp>
        <p:nvSpPr>
          <p:cNvPr id="1020782065" name="Левая фигурная скобка 16"/>
          <p:cNvSpPr/>
          <p:nvPr/>
        </p:nvSpPr>
        <p:spPr bwMode="auto">
          <a:xfrm>
            <a:off x="6931290" y="2706781"/>
            <a:ext cx="194862" cy="869915"/>
          </a:xfrm>
          <a:prstGeom prst="leftBrace">
            <a:avLst>
              <a:gd name="adj1" fmla="val 8333"/>
              <a:gd name="adj2" fmla="val 50000"/>
            </a:avLst>
          </a:prstGeom>
          <a:ln w="9525"/>
        </p:spPr>
        <p:style>
          <a:lnRef idx="1">
            <a:schemeClr val="dk1"/>
          </a:lnRef>
          <a:fillRef idx="0">
            <a:schemeClr val="dk1"/>
          </a:fillRef>
          <a:effectRef idx="0">
            <a:schemeClr val="dk1"/>
          </a:effectRef>
          <a:fontRef idx="minor">
            <a:schemeClr val="tx1"/>
          </a:fontRef>
        </p:style>
        <p:txBody>
          <a:bodyPr rtlCol="0" anchor="ctr"/>
          <a:lstStyle/>
          <a:p>
            <a:pPr algn="ctr">
              <a:defRPr/>
            </a:pPr>
            <a:endParaRPr lang="en-US">
              <a:ln w="0"/>
            </a:endParaRPr>
          </a:p>
        </p:txBody>
      </p:sp>
      <p:sp>
        <p:nvSpPr>
          <p:cNvPr id="1087684027" name="TextBox 17"/>
          <p:cNvSpPr txBox="1"/>
          <p:nvPr/>
        </p:nvSpPr>
        <p:spPr bwMode="auto">
          <a:xfrm>
            <a:off x="6568842" y="2935198"/>
            <a:ext cx="317716" cy="369332"/>
          </a:xfrm>
          <a:prstGeom prst="rect">
            <a:avLst/>
          </a:prstGeom>
          <a:noFill/>
        </p:spPr>
        <p:txBody>
          <a:bodyPr wrap="none" rtlCol="0">
            <a:spAutoFit/>
          </a:bodyPr>
          <a:lstStyle/>
          <a:p>
            <a:pPr>
              <a:defRPr/>
            </a:pPr>
            <a:r>
              <a:rPr lang="en-US"/>
              <a:t>B</a:t>
            </a:r>
            <a:endParaRPr/>
          </a:p>
        </p:txBody>
      </p:sp>
      <p:sp>
        <p:nvSpPr>
          <p:cNvPr id="1206639091" name="TextBox 12"/>
          <p:cNvSpPr txBox="1"/>
          <p:nvPr/>
        </p:nvSpPr>
        <p:spPr bwMode="auto">
          <a:xfrm>
            <a:off x="6727700" y="4285675"/>
            <a:ext cx="3475500" cy="369332"/>
          </a:xfrm>
          <a:prstGeom prst="rect">
            <a:avLst/>
          </a:prstGeom>
          <a:noFill/>
        </p:spPr>
        <p:txBody>
          <a:bodyPr wrap="square">
            <a:spAutoFit/>
          </a:bodyPr>
          <a:lstStyle/>
          <a:p>
            <a:pPr>
              <a:defRPr/>
            </a:pPr>
            <a:r>
              <a:rPr lang="en-US" u="sng">
                <a:hlinkClick r:id="rId3"/>
              </a:rPr>
              <a:t>https://godbolt.org/z/dzKrz5rnv</a:t>
            </a:r>
            <a:endParaRPr lang="ru-RU"/>
          </a:p>
        </p:txBody>
      </p:sp>
      <p:cxnSp>
        <p:nvCxnSpPr>
          <p:cNvPr id="1445108458" name="Прямая со стрелкой 6"/>
          <p:cNvCxnSpPr/>
          <p:nvPr/>
        </p:nvCxnSpPr>
        <p:spPr bwMode="auto">
          <a:xfrm flipH="1">
            <a:off x="9660530" y="2656155"/>
            <a:ext cx="754075" cy="687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00169065" name="TextBox 11"/>
          <p:cNvSpPr txBox="1"/>
          <p:nvPr/>
        </p:nvSpPr>
        <p:spPr bwMode="auto">
          <a:xfrm>
            <a:off x="9982200" y="2378715"/>
            <a:ext cx="526106" cy="369332"/>
          </a:xfrm>
          <a:prstGeom prst="rect">
            <a:avLst/>
          </a:prstGeom>
          <a:noFill/>
        </p:spPr>
        <p:txBody>
          <a:bodyPr wrap="none" rtlCol="0">
            <a:spAutoFit/>
          </a:bodyPr>
          <a:lstStyle/>
          <a:p>
            <a:pPr>
              <a:defRPr/>
            </a:pPr>
            <a:r>
              <a:rPr lang="en-US"/>
              <a:t>this</a:t>
            </a:r>
            <a:endParaRPr lang="ru-RU"/>
          </a:p>
        </p:txBody>
      </p:sp>
      <p:cxnSp>
        <p:nvCxnSpPr>
          <p:cNvPr id="1304891568" name="Прямая со стрелкой 18"/>
          <p:cNvCxnSpPr/>
          <p:nvPr/>
        </p:nvCxnSpPr>
        <p:spPr bwMode="auto">
          <a:xfrm flipH="1">
            <a:off x="9660530" y="3089923"/>
            <a:ext cx="754075" cy="687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93534429" name="TextBox 19"/>
          <p:cNvSpPr txBox="1"/>
          <p:nvPr/>
        </p:nvSpPr>
        <p:spPr bwMode="auto">
          <a:xfrm>
            <a:off x="9982200" y="2812483"/>
            <a:ext cx="758540" cy="369332"/>
          </a:xfrm>
          <a:prstGeom prst="rect">
            <a:avLst/>
          </a:prstGeom>
          <a:noFill/>
        </p:spPr>
        <p:txBody>
          <a:bodyPr wrap="none" rtlCol="0">
            <a:spAutoFit/>
          </a:bodyPr>
          <a:lstStyle/>
          <a:p>
            <a:pPr>
              <a:defRPr/>
            </a:pPr>
            <a:r>
              <a:rPr lang="en-US"/>
              <a:t>this+4</a:t>
            </a:r>
            <a:endParaRPr lang="ru-RU"/>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760842381" name="Заголовок 1"/>
          <p:cNvSpPr>
            <a:spLocks noGrp="1"/>
          </p:cNvSpPr>
          <p:nvPr>
            <p:ph type="title"/>
          </p:nvPr>
        </p:nvSpPr>
        <p:spPr bwMode="auto"/>
        <p:txBody>
          <a:bodyPr/>
          <a:lstStyle/>
          <a:p>
            <a:pPr>
              <a:defRPr/>
            </a:pPr>
            <a:r>
              <a:rPr lang="ru-RU"/>
              <a:t>Виртуальные методы</a:t>
            </a:r>
            <a:endParaRPr lang="en-US"/>
          </a:p>
        </p:txBody>
      </p:sp>
      <p:sp>
        <p:nvSpPr>
          <p:cNvPr id="339870504" name="Объект 2"/>
          <p:cNvSpPr>
            <a:spLocks noGrp="1"/>
          </p:cNvSpPr>
          <p:nvPr>
            <p:ph idx="1"/>
          </p:nvPr>
        </p:nvSpPr>
        <p:spPr bwMode="auto">
          <a:xfrm>
            <a:off x="838200" y="1825625"/>
            <a:ext cx="5171711" cy="4351338"/>
          </a:xfrm>
        </p:spPr>
        <p:txBody>
          <a:bodyPr>
            <a:normAutofit/>
          </a:bodyPr>
          <a:lstStyle/>
          <a:p>
            <a:pPr marL="0" indent="0">
              <a:buNone/>
              <a:defRPr/>
            </a:pPr>
            <a:r>
              <a:rPr lang="ru-RU" sz="2000"/>
              <a:t>Виртуальные методы необходимы для реализации полиморфизма.</a:t>
            </a:r>
            <a:endParaRPr/>
          </a:p>
          <a:p>
            <a:pPr marL="0" indent="0">
              <a:buNone/>
              <a:defRPr/>
            </a:pPr>
            <a:r>
              <a:rPr lang="ru-RU" sz="2000"/>
              <a:t>При вызове обычного метода компилятор вызывает метод </a:t>
            </a:r>
            <a:r>
              <a:rPr lang="ru-RU" sz="2000" i="1"/>
              <a:t>декларируемого</a:t>
            </a:r>
            <a:r>
              <a:rPr lang="ru-RU" sz="2000"/>
              <a:t> типа объекта.</a:t>
            </a:r>
            <a:endParaRPr/>
          </a:p>
          <a:p>
            <a:pPr marL="0" indent="0">
              <a:buNone/>
              <a:defRPr/>
            </a:pPr>
            <a:r>
              <a:rPr lang="ru-RU" sz="2000"/>
              <a:t>В ходе вызова виртуального метода компилятор вызывает метод, принадлежащий </a:t>
            </a:r>
            <a:r>
              <a:rPr lang="ru-RU" sz="2000" i="1"/>
              <a:t>реальному</a:t>
            </a:r>
            <a:r>
              <a:rPr lang="ru-RU" sz="2000"/>
              <a:t> типу объекта.</a:t>
            </a:r>
            <a:endParaRPr/>
          </a:p>
        </p:txBody>
      </p:sp>
      <p:sp>
        <p:nvSpPr>
          <p:cNvPr id="2030202743" name="Номер слайда 4"/>
          <p:cNvSpPr>
            <a:spLocks noGrp="1"/>
          </p:cNvSpPr>
          <p:nvPr>
            <p:ph type="sldNum" sz="quarter" idx="12"/>
          </p:nvPr>
        </p:nvSpPr>
        <p:spPr bwMode="auto"/>
        <p:txBody>
          <a:bodyPr/>
          <a:lstStyle/>
          <a:p>
            <a:pPr>
              <a:defRPr/>
            </a:pPr>
            <a:fld id="{B67FBA2B-964F-4C4D-AAF7-5A8399264638}" type="slidenum">
              <a:rPr lang="en-US"/>
              <a:t>32</a:t>
            </a:fld>
            <a:endParaRPr lang="en-US"/>
          </a:p>
        </p:txBody>
      </p:sp>
      <p:sp>
        <p:nvSpPr>
          <p:cNvPr id="2013395871" name="TextBox 7"/>
          <p:cNvSpPr txBox="1"/>
          <p:nvPr/>
        </p:nvSpPr>
        <p:spPr bwMode="auto">
          <a:xfrm>
            <a:off x="6523330" y="1492498"/>
            <a:ext cx="5668669" cy="5078312"/>
          </a:xfrm>
          <a:prstGeom prst="rect">
            <a:avLst/>
          </a:prstGeom>
          <a:noFill/>
        </p:spPr>
        <p:txBody>
          <a:bodyPr wrap="square">
            <a:spAutoFit/>
          </a:bodyPr>
          <a:lstStyle/>
          <a:p>
            <a:pPr>
              <a:defRPr/>
            </a:pPr>
            <a:r>
              <a:rPr lang="en-US" b="0">
                <a:solidFill>
                  <a:srgbClr val="0000FF"/>
                </a:solidFill>
                <a:latin typeface="Consolas"/>
              </a:rPr>
              <a:t>class</a:t>
            </a:r>
            <a:r>
              <a:rPr lang="en-US" b="0">
                <a:solidFill>
                  <a:srgbClr val="000000"/>
                </a:solidFill>
                <a:latin typeface="Consolas"/>
              </a:rPr>
              <a:t> A{</a:t>
            </a:r>
            <a:endParaRPr/>
          </a:p>
          <a:p>
            <a:pPr>
              <a:defRPr/>
            </a:pPr>
            <a:r>
              <a:rPr lang="en-US" b="0">
                <a:solidFill>
                  <a:srgbClr val="0000FF"/>
                </a:solidFill>
                <a:latin typeface="Consolas"/>
              </a:rPr>
              <a:t>public</a:t>
            </a:r>
            <a:r>
              <a:rPr lang="en-US" b="0">
                <a:solidFill>
                  <a:srgbClr val="000000"/>
                </a:solidFill>
                <a:latin typeface="Consolas"/>
              </a:rPr>
              <a:t>:</a:t>
            </a:r>
            <a:endParaRPr/>
          </a:p>
          <a:p>
            <a:pPr>
              <a:defRPr/>
            </a:pPr>
            <a:r>
              <a:rPr lang="en-US" b="0">
                <a:solidFill>
                  <a:srgbClr val="000000"/>
                </a:solidFill>
                <a:latin typeface="Consolas"/>
              </a:rPr>
              <a:t>    </a:t>
            </a:r>
            <a:r>
              <a:rPr lang="en-US" b="0">
                <a:solidFill>
                  <a:srgbClr val="0000FF"/>
                </a:solidFill>
                <a:latin typeface="Consolas"/>
              </a:rPr>
              <a:t>int</a:t>
            </a:r>
            <a:r>
              <a:rPr lang="en-US" b="0">
                <a:solidFill>
                  <a:srgbClr val="000000"/>
                </a:solidFill>
                <a:latin typeface="Consolas"/>
              </a:rPr>
              <a:t> x=</a:t>
            </a:r>
            <a:r>
              <a:rPr lang="en-US" b="0">
                <a:solidFill>
                  <a:srgbClr val="098658"/>
                </a:solidFill>
                <a:latin typeface="Consolas"/>
              </a:rPr>
              <a:t>0</a:t>
            </a:r>
            <a:r>
              <a:rPr lang="en-US" b="0">
                <a:solidFill>
                  <a:srgbClr val="000000"/>
                </a:solidFill>
                <a:latin typeface="Consolas"/>
              </a:rPr>
              <a:t>;</a:t>
            </a:r>
            <a:endParaRPr/>
          </a:p>
          <a:p>
            <a:pPr>
              <a:defRPr/>
            </a:pPr>
            <a:r>
              <a:rPr lang="en-US" b="0">
                <a:solidFill>
                  <a:srgbClr val="000000"/>
                </a:solidFill>
                <a:latin typeface="Consolas"/>
              </a:rPr>
              <a:t>    </a:t>
            </a:r>
            <a:r>
              <a:rPr lang="en-US" b="0">
                <a:solidFill>
                  <a:srgbClr val="0000FF"/>
                </a:solidFill>
                <a:latin typeface="Consolas"/>
              </a:rPr>
              <a:t>void</a:t>
            </a:r>
            <a:r>
              <a:rPr lang="en-US" b="0">
                <a:solidFill>
                  <a:srgbClr val="000000"/>
                </a:solidFill>
                <a:latin typeface="Consolas"/>
              </a:rPr>
              <a:t> non_virt(){puts(</a:t>
            </a:r>
            <a:r>
              <a:rPr lang="en-US" b="0">
                <a:solidFill>
                  <a:srgbClr val="A31515"/>
                </a:solidFill>
                <a:latin typeface="Consolas"/>
              </a:rPr>
              <a:t>"A::non_virt"</a:t>
            </a:r>
            <a:r>
              <a:rPr lang="en-US" b="0">
                <a:solidFill>
                  <a:srgbClr val="000000"/>
                </a:solidFill>
                <a:latin typeface="Consolas"/>
              </a:rPr>
              <a:t>);}</a:t>
            </a:r>
            <a:endParaRPr/>
          </a:p>
          <a:p>
            <a:pPr>
              <a:defRPr/>
            </a:pPr>
            <a:r>
              <a:rPr lang="en-US" b="0">
                <a:solidFill>
                  <a:srgbClr val="000000"/>
                </a:solidFill>
                <a:latin typeface="Consolas"/>
              </a:rPr>
              <a:t>    </a:t>
            </a:r>
            <a:r>
              <a:rPr lang="en-US" b="0">
                <a:solidFill>
                  <a:srgbClr val="0000FF"/>
                </a:solidFill>
                <a:latin typeface="Consolas"/>
              </a:rPr>
              <a:t>virtual</a:t>
            </a:r>
            <a:r>
              <a:rPr lang="en-US" b="0">
                <a:solidFill>
                  <a:srgbClr val="000000"/>
                </a:solidFill>
                <a:latin typeface="Consolas"/>
              </a:rPr>
              <a:t> </a:t>
            </a:r>
            <a:r>
              <a:rPr lang="en-US" b="0">
                <a:solidFill>
                  <a:srgbClr val="0000FF"/>
                </a:solidFill>
                <a:latin typeface="Consolas"/>
              </a:rPr>
              <a:t>void</a:t>
            </a:r>
            <a:r>
              <a:rPr lang="en-US" b="0">
                <a:solidFill>
                  <a:srgbClr val="000000"/>
                </a:solidFill>
                <a:latin typeface="Consolas"/>
              </a:rPr>
              <a:t> virt(){puts(</a:t>
            </a:r>
            <a:r>
              <a:rPr lang="en-US" b="0">
                <a:solidFill>
                  <a:srgbClr val="A31515"/>
                </a:solidFill>
                <a:latin typeface="Consolas"/>
              </a:rPr>
              <a:t>"A::virt"</a:t>
            </a:r>
            <a:r>
              <a:rPr lang="en-US" b="0">
                <a:solidFill>
                  <a:srgbClr val="000000"/>
                </a:solidFill>
                <a:latin typeface="Consolas"/>
              </a:rPr>
              <a:t>);}</a:t>
            </a:r>
            <a:endParaRPr/>
          </a:p>
          <a:p>
            <a:pPr>
              <a:defRPr/>
            </a:pPr>
            <a:r>
              <a:rPr lang="en-US" b="0">
                <a:solidFill>
                  <a:srgbClr val="000000"/>
                </a:solidFill>
                <a:latin typeface="Consolas"/>
              </a:rPr>
              <a:t>};</a:t>
            </a:r>
            <a:endParaRPr/>
          </a:p>
          <a:p>
            <a:pPr>
              <a:defRPr/>
            </a:pPr>
            <a:br>
              <a:rPr lang="en-US" b="0">
                <a:solidFill>
                  <a:srgbClr val="000000"/>
                </a:solidFill>
                <a:latin typeface="Consolas"/>
              </a:rPr>
            </a:br>
            <a:r>
              <a:rPr lang="en-US" b="0">
                <a:solidFill>
                  <a:srgbClr val="0000FF"/>
                </a:solidFill>
                <a:latin typeface="Consolas"/>
              </a:rPr>
              <a:t>class</a:t>
            </a:r>
            <a:r>
              <a:rPr lang="en-US" b="0">
                <a:solidFill>
                  <a:srgbClr val="000000"/>
                </a:solidFill>
                <a:latin typeface="Consolas"/>
              </a:rPr>
              <a:t> B:</a:t>
            </a:r>
            <a:r>
              <a:rPr lang="en-US" b="0">
                <a:solidFill>
                  <a:srgbClr val="0000FF"/>
                </a:solidFill>
                <a:latin typeface="Consolas"/>
              </a:rPr>
              <a:t>public</a:t>
            </a:r>
            <a:r>
              <a:rPr lang="en-US" b="0">
                <a:solidFill>
                  <a:srgbClr val="000000"/>
                </a:solidFill>
                <a:latin typeface="Consolas"/>
              </a:rPr>
              <a:t> A{</a:t>
            </a:r>
            <a:endParaRPr/>
          </a:p>
          <a:p>
            <a:pPr>
              <a:defRPr/>
            </a:pPr>
            <a:r>
              <a:rPr lang="en-US" b="0">
                <a:solidFill>
                  <a:srgbClr val="0000FF"/>
                </a:solidFill>
                <a:latin typeface="Consolas"/>
              </a:rPr>
              <a:t>public</a:t>
            </a:r>
            <a:r>
              <a:rPr lang="en-US" b="0">
                <a:solidFill>
                  <a:srgbClr val="000000"/>
                </a:solidFill>
                <a:latin typeface="Consolas"/>
              </a:rPr>
              <a:t>:</a:t>
            </a:r>
            <a:endParaRPr/>
          </a:p>
          <a:p>
            <a:pPr>
              <a:defRPr/>
            </a:pPr>
            <a:r>
              <a:rPr lang="en-US" b="0">
                <a:solidFill>
                  <a:srgbClr val="000000"/>
                </a:solidFill>
                <a:latin typeface="Consolas"/>
              </a:rPr>
              <a:t>    </a:t>
            </a:r>
            <a:r>
              <a:rPr lang="en-US" b="0">
                <a:solidFill>
                  <a:srgbClr val="0000FF"/>
                </a:solidFill>
                <a:latin typeface="Consolas"/>
              </a:rPr>
              <a:t>int</a:t>
            </a:r>
            <a:r>
              <a:rPr lang="en-US" b="0">
                <a:solidFill>
                  <a:srgbClr val="000000"/>
                </a:solidFill>
                <a:latin typeface="Consolas"/>
              </a:rPr>
              <a:t> y=</a:t>
            </a:r>
            <a:r>
              <a:rPr lang="en-US" b="0">
                <a:solidFill>
                  <a:srgbClr val="098658"/>
                </a:solidFill>
                <a:latin typeface="Consolas"/>
              </a:rPr>
              <a:t>1</a:t>
            </a:r>
            <a:r>
              <a:rPr lang="en-US" b="0">
                <a:solidFill>
                  <a:srgbClr val="000000"/>
                </a:solidFill>
                <a:latin typeface="Consolas"/>
              </a:rPr>
              <a:t>;</a:t>
            </a:r>
            <a:endParaRPr/>
          </a:p>
          <a:p>
            <a:pPr>
              <a:defRPr/>
            </a:pPr>
            <a:r>
              <a:rPr lang="en-US" b="0">
                <a:solidFill>
                  <a:srgbClr val="000000"/>
                </a:solidFill>
                <a:latin typeface="Consolas"/>
              </a:rPr>
              <a:t>    </a:t>
            </a:r>
            <a:r>
              <a:rPr lang="en-US" b="0">
                <a:solidFill>
                  <a:srgbClr val="0000FF"/>
                </a:solidFill>
                <a:latin typeface="Consolas"/>
              </a:rPr>
              <a:t>void</a:t>
            </a:r>
            <a:r>
              <a:rPr lang="en-US" b="0">
                <a:solidFill>
                  <a:srgbClr val="000000"/>
                </a:solidFill>
                <a:latin typeface="Consolas"/>
              </a:rPr>
              <a:t> non_virt(){puts(</a:t>
            </a:r>
            <a:r>
              <a:rPr lang="en-US" b="0">
                <a:solidFill>
                  <a:srgbClr val="A31515"/>
                </a:solidFill>
                <a:latin typeface="Consolas"/>
              </a:rPr>
              <a:t>"B::non_virt"</a:t>
            </a:r>
            <a:r>
              <a:rPr lang="en-US" b="0">
                <a:solidFill>
                  <a:srgbClr val="000000"/>
                </a:solidFill>
                <a:latin typeface="Consolas"/>
              </a:rPr>
              <a:t>);}</a:t>
            </a:r>
            <a:endParaRPr/>
          </a:p>
          <a:p>
            <a:pPr>
              <a:defRPr/>
            </a:pPr>
            <a:r>
              <a:rPr lang="en-US" b="0">
                <a:solidFill>
                  <a:srgbClr val="000000"/>
                </a:solidFill>
                <a:latin typeface="Consolas"/>
              </a:rPr>
              <a:t>    </a:t>
            </a:r>
            <a:r>
              <a:rPr lang="en-US" b="0">
                <a:solidFill>
                  <a:srgbClr val="0000FF"/>
                </a:solidFill>
                <a:latin typeface="Consolas"/>
              </a:rPr>
              <a:t>void</a:t>
            </a:r>
            <a:r>
              <a:rPr lang="en-US" b="0">
                <a:solidFill>
                  <a:srgbClr val="000000"/>
                </a:solidFill>
                <a:latin typeface="Consolas"/>
              </a:rPr>
              <a:t> virt() </a:t>
            </a:r>
            <a:r>
              <a:rPr lang="en-US" b="0">
                <a:solidFill>
                  <a:srgbClr val="0000FF"/>
                </a:solidFill>
                <a:latin typeface="Consolas"/>
              </a:rPr>
              <a:t>override</a:t>
            </a:r>
            <a:r>
              <a:rPr lang="en-US" b="0">
                <a:solidFill>
                  <a:srgbClr val="000000"/>
                </a:solidFill>
                <a:latin typeface="Consolas"/>
              </a:rPr>
              <a:t> {puts(</a:t>
            </a:r>
            <a:r>
              <a:rPr lang="en-US">
                <a:solidFill>
                  <a:srgbClr val="A31515"/>
                </a:solidFill>
                <a:latin typeface="Consolas"/>
              </a:rPr>
              <a:t>“</a:t>
            </a:r>
            <a:r>
              <a:rPr lang="en-US" b="0">
                <a:solidFill>
                  <a:srgbClr val="A31515"/>
                </a:solidFill>
                <a:latin typeface="Consolas"/>
              </a:rPr>
              <a:t>B::virt”</a:t>
            </a:r>
            <a:r>
              <a:rPr lang="en-US" b="0">
                <a:solidFill>
                  <a:srgbClr val="000000"/>
                </a:solidFill>
                <a:latin typeface="Consolas"/>
              </a:rPr>
              <a:t>);}</a:t>
            </a:r>
            <a:endParaRPr/>
          </a:p>
          <a:p>
            <a:pPr>
              <a:defRPr/>
            </a:pPr>
            <a:r>
              <a:rPr lang="en-US" b="0">
                <a:solidFill>
                  <a:srgbClr val="000000"/>
                </a:solidFill>
                <a:latin typeface="Consolas"/>
              </a:rPr>
              <a:t>};</a:t>
            </a:r>
            <a:endParaRPr/>
          </a:p>
          <a:p>
            <a:pPr>
              <a:defRPr/>
            </a:pPr>
            <a:br>
              <a:rPr lang="en-US" b="0">
                <a:solidFill>
                  <a:srgbClr val="000000"/>
                </a:solidFill>
                <a:latin typeface="Consolas"/>
              </a:rPr>
            </a:br>
            <a:r>
              <a:rPr lang="en-US" b="0">
                <a:solidFill>
                  <a:srgbClr val="0000FF"/>
                </a:solidFill>
                <a:latin typeface="Consolas"/>
              </a:rPr>
              <a:t>void</a:t>
            </a:r>
            <a:r>
              <a:rPr lang="en-US" b="0">
                <a:solidFill>
                  <a:srgbClr val="000000"/>
                </a:solidFill>
                <a:latin typeface="Consolas"/>
              </a:rPr>
              <a:t> bar(A&amp; a){</a:t>
            </a:r>
            <a:endParaRPr/>
          </a:p>
          <a:p>
            <a:pPr>
              <a:defRPr/>
            </a:pPr>
            <a:r>
              <a:rPr lang="en-US" b="0">
                <a:solidFill>
                  <a:srgbClr val="000000"/>
                </a:solidFill>
                <a:latin typeface="Consolas"/>
              </a:rPr>
              <a:t>    a.non_virt();</a:t>
            </a:r>
            <a:endParaRPr/>
          </a:p>
          <a:p>
            <a:pPr>
              <a:defRPr/>
            </a:pPr>
            <a:r>
              <a:rPr lang="en-US" b="0">
                <a:solidFill>
                  <a:srgbClr val="000000"/>
                </a:solidFill>
                <a:latin typeface="Consolas"/>
              </a:rPr>
              <a:t>    a.virt();</a:t>
            </a:r>
            <a:endParaRPr/>
          </a:p>
          <a:p>
            <a:pPr>
              <a:defRPr/>
            </a:pPr>
            <a:r>
              <a:rPr lang="en-US" b="0">
                <a:solidFill>
                  <a:srgbClr val="000000"/>
                </a:solidFill>
                <a:latin typeface="Consolas"/>
              </a:rPr>
              <a:t>}</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00371745" name="Заголовок 1"/>
          <p:cNvSpPr>
            <a:spLocks noGrp="1"/>
          </p:cNvSpPr>
          <p:nvPr>
            <p:ph type="title"/>
          </p:nvPr>
        </p:nvSpPr>
        <p:spPr bwMode="auto"/>
        <p:txBody>
          <a:bodyPr/>
          <a:lstStyle/>
          <a:p>
            <a:pPr>
              <a:defRPr/>
            </a:pPr>
            <a:r>
              <a:rPr lang="ru-RU"/>
              <a:t>Виртуальные методы</a:t>
            </a:r>
            <a:endParaRPr lang="en-US"/>
          </a:p>
        </p:txBody>
      </p:sp>
      <p:sp>
        <p:nvSpPr>
          <p:cNvPr id="2022564521" name="Объект 2"/>
          <p:cNvSpPr>
            <a:spLocks noGrp="1"/>
          </p:cNvSpPr>
          <p:nvPr>
            <p:ph idx="1"/>
          </p:nvPr>
        </p:nvSpPr>
        <p:spPr bwMode="auto">
          <a:xfrm>
            <a:off x="838200" y="1825625"/>
            <a:ext cx="5171711" cy="4351338"/>
          </a:xfrm>
        </p:spPr>
        <p:txBody>
          <a:bodyPr>
            <a:normAutofit/>
          </a:bodyPr>
          <a:lstStyle/>
          <a:p>
            <a:pPr marL="0" indent="0">
              <a:buNone/>
              <a:defRPr/>
            </a:pPr>
            <a:r>
              <a:rPr lang="ru-RU" sz="2000"/>
              <a:t>Если в классе определен хотя бы 1 виртуальный метод, компилятор создает для класса </a:t>
            </a:r>
            <a:r>
              <a:rPr lang="ru-RU" sz="2000" b="1"/>
              <a:t>таблицу виртуальных методов </a:t>
            </a:r>
            <a:r>
              <a:rPr lang="ru-RU" sz="2000"/>
              <a:t>(</a:t>
            </a:r>
            <a:r>
              <a:rPr lang="en-US" sz="2000"/>
              <a:t>vtable</a:t>
            </a:r>
            <a:r>
              <a:rPr lang="ru-RU" sz="2000"/>
              <a:t>)</a:t>
            </a:r>
            <a:r>
              <a:rPr lang="en-US" sz="2000"/>
              <a:t>. </a:t>
            </a:r>
            <a:endParaRPr lang="ru-RU" sz="2000"/>
          </a:p>
          <a:p>
            <a:pPr marL="0" indent="0">
              <a:buNone/>
              <a:defRPr/>
            </a:pPr>
            <a:r>
              <a:rPr lang="ru-RU" sz="2000"/>
              <a:t>В данной таблице содержатся адреса реализаций методов для конкретного класса.</a:t>
            </a:r>
            <a:endParaRPr/>
          </a:p>
          <a:p>
            <a:pPr marL="0" indent="0">
              <a:buNone/>
              <a:defRPr/>
            </a:pPr>
            <a:r>
              <a:rPr lang="ru-RU" sz="2000"/>
              <a:t>Помимо непосредственно адресов методов, в таблице содержатся служебная информация, обычно используемая при множественном наследовании</a:t>
            </a:r>
            <a:r>
              <a:rPr lang="en-US" sz="2000"/>
              <a:t>.</a:t>
            </a:r>
            <a:endParaRPr/>
          </a:p>
          <a:p>
            <a:pPr marL="0" indent="0">
              <a:buNone/>
              <a:defRPr/>
            </a:pPr>
            <a:r>
              <a:rPr lang="ru-RU" sz="2000"/>
              <a:t>Доступ к таблице виртуальных методов осуществляется через скрытое приватное поле </a:t>
            </a:r>
            <a:r>
              <a:rPr lang="en-US" sz="2000" b="1"/>
              <a:t>_vptr</a:t>
            </a:r>
            <a:r>
              <a:rPr lang="ru-RU" sz="2000"/>
              <a:t>, содержащее указатель на таблицу виртуальных методов.</a:t>
            </a:r>
            <a:endParaRPr/>
          </a:p>
          <a:p>
            <a:pPr marL="0" indent="0">
              <a:buNone/>
              <a:defRPr/>
            </a:pPr>
            <a:endParaRPr lang="ru-RU" sz="2000"/>
          </a:p>
        </p:txBody>
      </p:sp>
      <p:sp>
        <p:nvSpPr>
          <p:cNvPr id="120768330" name="Номер слайда 4"/>
          <p:cNvSpPr>
            <a:spLocks noGrp="1"/>
          </p:cNvSpPr>
          <p:nvPr>
            <p:ph type="sldNum" sz="quarter" idx="12"/>
          </p:nvPr>
        </p:nvSpPr>
        <p:spPr bwMode="auto"/>
        <p:txBody>
          <a:bodyPr/>
          <a:lstStyle/>
          <a:p>
            <a:pPr>
              <a:defRPr/>
            </a:pPr>
            <a:fld id="{B67FBA2B-964F-4C4D-AAF7-5A8399264638}" type="slidenum">
              <a:rPr lang="en-US"/>
              <a:t>33</a:t>
            </a:fld>
            <a:endParaRPr lang="en-US"/>
          </a:p>
        </p:txBody>
      </p:sp>
      <p:sp>
        <p:nvSpPr>
          <p:cNvPr id="452765609" name="TextBox 6"/>
          <p:cNvSpPr txBox="1"/>
          <p:nvPr/>
        </p:nvSpPr>
        <p:spPr bwMode="auto">
          <a:xfrm>
            <a:off x="6748063" y="1765372"/>
            <a:ext cx="5443937" cy="2862322"/>
          </a:xfrm>
          <a:prstGeom prst="rect">
            <a:avLst/>
          </a:prstGeom>
          <a:noFill/>
        </p:spPr>
        <p:txBody>
          <a:bodyPr wrap="square">
            <a:spAutoFit/>
          </a:bodyPr>
          <a:lstStyle/>
          <a:p>
            <a:pPr>
              <a:defRPr/>
            </a:pPr>
            <a:r>
              <a:rPr lang="en-US" b="0">
                <a:solidFill>
                  <a:srgbClr val="0000FF"/>
                </a:solidFill>
                <a:latin typeface="Consolas"/>
              </a:rPr>
              <a:t>class</a:t>
            </a:r>
            <a:r>
              <a:rPr lang="en-US" b="0">
                <a:solidFill>
                  <a:srgbClr val="000000"/>
                </a:solidFill>
                <a:latin typeface="Consolas"/>
              </a:rPr>
              <a:t> A{</a:t>
            </a:r>
            <a:endParaRPr/>
          </a:p>
          <a:p>
            <a:pPr>
              <a:defRPr/>
            </a:pPr>
            <a:r>
              <a:rPr lang="en-US" b="0">
                <a:solidFill>
                  <a:srgbClr val="0000FF"/>
                </a:solidFill>
                <a:latin typeface="Consolas"/>
              </a:rPr>
              <a:t>private</a:t>
            </a:r>
            <a:r>
              <a:rPr lang="en-US" b="0">
                <a:solidFill>
                  <a:srgbClr val="000000"/>
                </a:solidFill>
                <a:latin typeface="Consolas"/>
              </a:rPr>
              <a:t>:</a:t>
            </a:r>
            <a:endParaRPr/>
          </a:p>
          <a:p>
            <a:pPr>
              <a:defRPr/>
            </a:pPr>
            <a:r>
              <a:rPr lang="en-US">
                <a:solidFill>
                  <a:srgbClr val="000000"/>
                </a:solidFill>
                <a:latin typeface="Consolas"/>
              </a:rPr>
              <a:t>   </a:t>
            </a:r>
            <a:r>
              <a:rPr lang="en-US">
                <a:solidFill>
                  <a:srgbClr val="000000">
                    <a:alpha val="26000"/>
                  </a:srgbClr>
                </a:solidFill>
                <a:latin typeface="Consolas"/>
              </a:rPr>
              <a:t> </a:t>
            </a:r>
            <a:r>
              <a:rPr lang="en-US">
                <a:solidFill>
                  <a:srgbClr val="0000FF">
                    <a:alpha val="26000"/>
                  </a:srgbClr>
                </a:solidFill>
                <a:latin typeface="Consolas"/>
              </a:rPr>
              <a:t>void</a:t>
            </a:r>
            <a:r>
              <a:rPr lang="en-US" b="0">
                <a:solidFill>
                  <a:schemeClr val="tx1">
                    <a:alpha val="26000"/>
                  </a:schemeClr>
                </a:solidFill>
                <a:latin typeface="Consolas"/>
              </a:rPr>
              <a:t>*</a:t>
            </a:r>
            <a:r>
              <a:rPr lang="en-US" b="0">
                <a:solidFill>
                  <a:srgbClr val="000000">
                    <a:alpha val="26000"/>
                  </a:srgbClr>
                </a:solidFill>
                <a:latin typeface="Consolas"/>
              </a:rPr>
              <a:t> </a:t>
            </a:r>
            <a:r>
              <a:rPr lang="en-US">
                <a:solidFill>
                  <a:srgbClr val="000000">
                    <a:alpha val="26000"/>
                  </a:srgbClr>
                </a:solidFill>
                <a:latin typeface="Consolas"/>
              </a:rPr>
              <a:t>_vptr</a:t>
            </a:r>
            <a:r>
              <a:rPr lang="en-US" b="0">
                <a:solidFill>
                  <a:srgbClr val="000000">
                    <a:alpha val="26000"/>
                  </a:srgbClr>
                </a:solidFill>
                <a:latin typeface="Consolas"/>
              </a:rPr>
              <a:t>=</a:t>
            </a:r>
            <a:r>
              <a:rPr lang="en-US">
                <a:solidFill>
                  <a:schemeClr val="tx1">
                    <a:alpha val="26000"/>
                  </a:schemeClr>
                </a:solidFill>
                <a:latin typeface="Consolas"/>
              </a:rPr>
              <a:t>(</a:t>
            </a:r>
            <a:r>
              <a:rPr lang="en-US">
                <a:solidFill>
                  <a:srgbClr val="098658">
                    <a:alpha val="26000"/>
                  </a:srgbClr>
                </a:solidFill>
                <a:latin typeface="Consolas"/>
              </a:rPr>
              <a:t>vtable</a:t>
            </a:r>
            <a:r>
              <a:rPr lang="en-US">
                <a:solidFill>
                  <a:schemeClr val="tx1">
                    <a:alpha val="26000"/>
                  </a:schemeClr>
                </a:solidFill>
                <a:latin typeface="Consolas"/>
              </a:rPr>
              <a:t>+16)</a:t>
            </a:r>
            <a:r>
              <a:rPr lang="en-US" b="0">
                <a:solidFill>
                  <a:schemeClr val="tx1">
                    <a:alpha val="26000"/>
                  </a:schemeClr>
                </a:solidFill>
                <a:latin typeface="Consolas"/>
              </a:rPr>
              <a:t>;</a:t>
            </a:r>
            <a:endParaRPr/>
          </a:p>
          <a:p>
            <a:pPr>
              <a:defRPr/>
            </a:pPr>
            <a:r>
              <a:rPr lang="en-US" b="0">
                <a:solidFill>
                  <a:srgbClr val="0000FF"/>
                </a:solidFill>
                <a:latin typeface="Consolas"/>
              </a:rPr>
              <a:t>public</a:t>
            </a:r>
            <a:r>
              <a:rPr lang="en-US" b="0">
                <a:solidFill>
                  <a:srgbClr val="000000"/>
                </a:solidFill>
                <a:latin typeface="Consolas"/>
              </a:rPr>
              <a:t>:</a:t>
            </a:r>
            <a:endParaRPr/>
          </a:p>
          <a:p>
            <a:pPr>
              <a:defRPr/>
            </a:pPr>
            <a:r>
              <a:rPr lang="en-US" b="0">
                <a:solidFill>
                  <a:srgbClr val="000000"/>
                </a:solidFill>
                <a:latin typeface="Consolas"/>
              </a:rPr>
              <a:t>    </a:t>
            </a:r>
            <a:r>
              <a:rPr lang="en-US" b="0">
                <a:solidFill>
                  <a:srgbClr val="0000FF"/>
                </a:solidFill>
                <a:latin typeface="Consolas"/>
              </a:rPr>
              <a:t>int</a:t>
            </a:r>
            <a:r>
              <a:rPr lang="en-US" b="0">
                <a:solidFill>
                  <a:srgbClr val="000000"/>
                </a:solidFill>
                <a:latin typeface="Consolas"/>
              </a:rPr>
              <a:t> x=</a:t>
            </a:r>
            <a:r>
              <a:rPr lang="en-US" b="0">
                <a:solidFill>
                  <a:srgbClr val="098658"/>
                </a:solidFill>
                <a:latin typeface="Consolas"/>
              </a:rPr>
              <a:t>0</a:t>
            </a:r>
            <a:r>
              <a:rPr lang="en-US" b="0">
                <a:solidFill>
                  <a:srgbClr val="000000"/>
                </a:solidFill>
                <a:latin typeface="Consolas"/>
              </a:rPr>
              <a:t>;</a:t>
            </a:r>
            <a:endParaRPr/>
          </a:p>
          <a:p>
            <a:pPr>
              <a:defRPr/>
            </a:pPr>
            <a:r>
              <a:rPr lang="en-US" b="0">
                <a:solidFill>
                  <a:srgbClr val="000000"/>
                </a:solidFill>
                <a:latin typeface="Consolas"/>
              </a:rPr>
              <a:t>    </a:t>
            </a:r>
            <a:r>
              <a:rPr lang="en-US" b="0">
                <a:solidFill>
                  <a:srgbClr val="0000FF"/>
                </a:solidFill>
                <a:latin typeface="Consolas"/>
              </a:rPr>
              <a:t>void</a:t>
            </a:r>
            <a:r>
              <a:rPr lang="en-US" b="0">
                <a:solidFill>
                  <a:srgbClr val="000000"/>
                </a:solidFill>
                <a:latin typeface="Consolas"/>
              </a:rPr>
              <a:t> non_virt(){puts(</a:t>
            </a:r>
            <a:r>
              <a:rPr lang="en-US" b="0">
                <a:solidFill>
                  <a:srgbClr val="A31515"/>
                </a:solidFill>
                <a:latin typeface="Consolas"/>
              </a:rPr>
              <a:t>"A::non_virt"</a:t>
            </a:r>
            <a:r>
              <a:rPr lang="en-US" b="0">
                <a:solidFill>
                  <a:srgbClr val="000000"/>
                </a:solidFill>
                <a:latin typeface="Consolas"/>
              </a:rPr>
              <a:t>);}</a:t>
            </a:r>
            <a:endParaRPr/>
          </a:p>
          <a:p>
            <a:pPr>
              <a:defRPr/>
            </a:pPr>
            <a:r>
              <a:rPr lang="en-US" b="0">
                <a:solidFill>
                  <a:srgbClr val="000000"/>
                </a:solidFill>
                <a:latin typeface="Consolas"/>
              </a:rPr>
              <a:t>    </a:t>
            </a:r>
            <a:r>
              <a:rPr lang="en-US" b="0">
                <a:solidFill>
                  <a:srgbClr val="0000FF"/>
                </a:solidFill>
                <a:latin typeface="Consolas"/>
              </a:rPr>
              <a:t>virtual</a:t>
            </a:r>
            <a:r>
              <a:rPr lang="en-US" b="0">
                <a:solidFill>
                  <a:srgbClr val="000000"/>
                </a:solidFill>
                <a:latin typeface="Consolas"/>
              </a:rPr>
              <a:t> </a:t>
            </a:r>
            <a:r>
              <a:rPr lang="en-US" b="0">
                <a:solidFill>
                  <a:srgbClr val="0000FF"/>
                </a:solidFill>
                <a:latin typeface="Consolas"/>
              </a:rPr>
              <a:t>void</a:t>
            </a:r>
            <a:r>
              <a:rPr lang="en-US" b="0">
                <a:solidFill>
                  <a:srgbClr val="000000"/>
                </a:solidFill>
                <a:latin typeface="Consolas"/>
              </a:rPr>
              <a:t> virt(){puts(</a:t>
            </a:r>
            <a:r>
              <a:rPr lang="en-US" b="0">
                <a:solidFill>
                  <a:srgbClr val="A31515"/>
                </a:solidFill>
                <a:latin typeface="Consolas"/>
              </a:rPr>
              <a:t>"A::virt"</a:t>
            </a:r>
            <a:r>
              <a:rPr lang="en-US" b="0">
                <a:solidFill>
                  <a:srgbClr val="000000"/>
                </a:solidFill>
                <a:latin typeface="Consolas"/>
              </a:rPr>
              <a:t>);}</a:t>
            </a:r>
            <a:endParaRPr/>
          </a:p>
          <a:p>
            <a:pPr>
              <a:defRPr/>
            </a:pPr>
            <a:r>
              <a:rPr lang="en-US" b="0">
                <a:solidFill>
                  <a:srgbClr val="000000"/>
                </a:solidFill>
                <a:latin typeface="Consolas"/>
              </a:rPr>
              <a:t>};</a:t>
            </a:r>
            <a:endParaRPr/>
          </a:p>
          <a:p>
            <a:pPr>
              <a:defRPr/>
            </a:pPr>
            <a:br>
              <a:rPr lang="en-US">
                <a:solidFill>
                  <a:srgbClr val="000000"/>
                </a:solidFill>
                <a:latin typeface="Consolas, "/>
              </a:rPr>
            </a:br>
            <a:endParaRPr lang="en-US">
              <a:solidFill>
                <a:srgbClr val="000000"/>
              </a:solidFill>
              <a:latin typeface="Consolas, "/>
            </a:endParaRPr>
          </a:p>
        </p:txBody>
      </p:sp>
      <p:sp>
        <p:nvSpPr>
          <p:cNvPr id="1624745708" name="TextBox 15"/>
          <p:cNvSpPr txBox="1"/>
          <p:nvPr/>
        </p:nvSpPr>
        <p:spPr bwMode="auto">
          <a:xfrm>
            <a:off x="6748063" y="4963527"/>
            <a:ext cx="4047851" cy="1200329"/>
          </a:xfrm>
          <a:prstGeom prst="rect">
            <a:avLst/>
          </a:prstGeom>
          <a:noFill/>
        </p:spPr>
        <p:txBody>
          <a:bodyPr wrap="square">
            <a:spAutoFit/>
          </a:bodyPr>
          <a:lstStyle/>
          <a:p>
            <a:pPr>
              <a:defRPr/>
            </a:pPr>
            <a:r>
              <a:rPr lang="en-US">
                <a:solidFill>
                  <a:srgbClr val="008080"/>
                </a:solidFill>
                <a:latin typeface="Consolas, "/>
              </a:rPr>
              <a:t>vtable for A:</a:t>
            </a:r>
            <a:endParaRPr lang="en-US">
              <a:solidFill>
                <a:srgbClr val="000000"/>
              </a:solidFill>
              <a:latin typeface="Consolas, "/>
            </a:endParaRPr>
          </a:p>
          <a:p>
            <a:pPr>
              <a:defRPr/>
            </a:pPr>
            <a:r>
              <a:rPr lang="en-US">
                <a:solidFill>
                  <a:srgbClr val="000000"/>
                </a:solidFill>
                <a:latin typeface="Consolas, "/>
              </a:rPr>
              <a:t>        </a:t>
            </a:r>
            <a:r>
              <a:rPr lang="en-US">
                <a:solidFill>
                  <a:srgbClr val="0000FF"/>
                </a:solidFill>
                <a:latin typeface="Consolas, "/>
              </a:rPr>
              <a:t>qword</a:t>
            </a:r>
            <a:r>
              <a:rPr lang="en-US">
                <a:solidFill>
                  <a:srgbClr val="000000"/>
                </a:solidFill>
                <a:latin typeface="Consolas, "/>
              </a:rPr>
              <a:t>   </a:t>
            </a:r>
            <a:r>
              <a:rPr lang="en-US">
                <a:solidFill>
                  <a:srgbClr val="098658"/>
                </a:solidFill>
                <a:latin typeface="Consolas, "/>
              </a:rPr>
              <a:t>0</a:t>
            </a:r>
            <a:endParaRPr lang="en-US">
              <a:solidFill>
                <a:srgbClr val="000000"/>
              </a:solidFill>
              <a:latin typeface="Consolas, "/>
            </a:endParaRPr>
          </a:p>
          <a:p>
            <a:pPr>
              <a:defRPr/>
            </a:pPr>
            <a:r>
              <a:rPr lang="en-US">
                <a:solidFill>
                  <a:srgbClr val="000000"/>
                </a:solidFill>
                <a:latin typeface="Consolas, "/>
              </a:rPr>
              <a:t>        </a:t>
            </a:r>
            <a:r>
              <a:rPr lang="en-US">
                <a:solidFill>
                  <a:srgbClr val="0000FF"/>
                </a:solidFill>
                <a:latin typeface="Consolas, "/>
              </a:rPr>
              <a:t>qword</a:t>
            </a:r>
            <a:r>
              <a:rPr lang="en-US">
                <a:solidFill>
                  <a:srgbClr val="000000"/>
                </a:solidFill>
                <a:latin typeface="Consolas, "/>
              </a:rPr>
              <a:t>   </a:t>
            </a:r>
            <a:r>
              <a:rPr lang="en-US">
                <a:solidFill>
                  <a:srgbClr val="008080"/>
                </a:solidFill>
                <a:latin typeface="Consolas, "/>
              </a:rPr>
              <a:t>typeinfo</a:t>
            </a:r>
            <a:r>
              <a:rPr lang="en-US">
                <a:solidFill>
                  <a:srgbClr val="000000"/>
                </a:solidFill>
                <a:latin typeface="Consolas, "/>
              </a:rPr>
              <a:t> </a:t>
            </a:r>
            <a:r>
              <a:rPr lang="en-US">
                <a:solidFill>
                  <a:srgbClr val="008080"/>
                </a:solidFill>
                <a:latin typeface="Consolas, "/>
              </a:rPr>
              <a:t>for</a:t>
            </a:r>
            <a:r>
              <a:rPr lang="en-US">
                <a:solidFill>
                  <a:srgbClr val="000000"/>
                </a:solidFill>
                <a:latin typeface="Consolas, "/>
              </a:rPr>
              <a:t> </a:t>
            </a:r>
            <a:r>
              <a:rPr lang="en-US">
                <a:solidFill>
                  <a:srgbClr val="008080"/>
                </a:solidFill>
                <a:latin typeface="Consolas, "/>
              </a:rPr>
              <a:t>A</a:t>
            </a:r>
            <a:endParaRPr lang="en-US">
              <a:solidFill>
                <a:srgbClr val="000000"/>
              </a:solidFill>
              <a:latin typeface="Consolas, "/>
            </a:endParaRPr>
          </a:p>
          <a:p>
            <a:pPr>
              <a:defRPr/>
            </a:pPr>
            <a:r>
              <a:rPr lang="en-US">
                <a:solidFill>
                  <a:srgbClr val="000000"/>
                </a:solidFill>
                <a:latin typeface="Consolas, "/>
              </a:rPr>
              <a:t>        </a:t>
            </a:r>
            <a:r>
              <a:rPr lang="en-US">
                <a:solidFill>
                  <a:srgbClr val="0000FF"/>
                </a:solidFill>
                <a:latin typeface="Consolas, "/>
              </a:rPr>
              <a:t>qword</a:t>
            </a:r>
            <a:r>
              <a:rPr lang="en-US">
                <a:solidFill>
                  <a:srgbClr val="000000"/>
                </a:solidFill>
                <a:latin typeface="Consolas, "/>
              </a:rPr>
              <a:t>   </a:t>
            </a:r>
            <a:r>
              <a:rPr lang="en-US">
                <a:solidFill>
                  <a:srgbClr val="008080"/>
                </a:solidFill>
                <a:latin typeface="Consolas, "/>
              </a:rPr>
              <a:t>A</a:t>
            </a:r>
            <a:r>
              <a:rPr lang="en-US">
                <a:solidFill>
                  <a:srgbClr val="000000"/>
                </a:solidFill>
                <a:latin typeface="Consolas, "/>
              </a:rPr>
              <a:t>::</a:t>
            </a:r>
            <a:r>
              <a:rPr lang="en-US">
                <a:solidFill>
                  <a:srgbClr val="008080"/>
                </a:solidFill>
                <a:latin typeface="Consolas, "/>
              </a:rPr>
              <a:t>virt</a:t>
            </a:r>
            <a:r>
              <a:rPr lang="en-US">
                <a:solidFill>
                  <a:srgbClr val="000000"/>
                </a:solidFill>
                <a:latin typeface="Consolas, "/>
              </a:rPr>
              <a:t>()</a:t>
            </a:r>
            <a:endParaRPr/>
          </a:p>
        </p:txBody>
      </p:sp>
      <p:sp>
        <p:nvSpPr>
          <p:cNvPr id="373262793" name="Прямоугольник 17"/>
          <p:cNvSpPr/>
          <p:nvPr/>
        </p:nvSpPr>
        <p:spPr bwMode="auto">
          <a:xfrm>
            <a:off x="7263994" y="2393591"/>
            <a:ext cx="2860243" cy="299923"/>
          </a:xfrm>
          <a:prstGeom prst="rect">
            <a:avLst/>
          </a:prstGeom>
          <a:no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defRPr/>
            </a:pPr>
            <a:endParaRPr lang="ru-RU"/>
          </a:p>
        </p:txBody>
      </p:sp>
      <p:sp>
        <p:nvSpPr>
          <p:cNvPr id="1537215760" name="Прямоугольник 18"/>
          <p:cNvSpPr/>
          <p:nvPr/>
        </p:nvSpPr>
        <p:spPr bwMode="auto">
          <a:xfrm>
            <a:off x="7811922" y="5836037"/>
            <a:ext cx="2910840" cy="299923"/>
          </a:xfrm>
          <a:prstGeom prst="rect">
            <a:avLst/>
          </a:prstGeom>
          <a:no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defRPr/>
            </a:pPr>
            <a:endParaRPr lang="ru-RU"/>
          </a:p>
        </p:txBody>
      </p:sp>
      <p:cxnSp>
        <p:nvCxnSpPr>
          <p:cNvPr id="1743531089" name="Соединитель: уступ 20"/>
          <p:cNvCxnSpPr>
            <a:stCxn id="373262793" idx="1"/>
            <a:endCxn id="1537215760" idx="1"/>
          </p:cNvCxnSpPr>
          <p:nvPr/>
        </p:nvCxnSpPr>
        <p:spPr bwMode="auto">
          <a:xfrm rot="10800000" flipH="1" flipV="1">
            <a:off x="7263994" y="2543553"/>
            <a:ext cx="547928" cy="3442445"/>
          </a:xfrm>
          <a:prstGeom prst="bentConnector3">
            <a:avLst>
              <a:gd name="adj1" fmla="val -172558"/>
            </a:avLst>
          </a:prstGeom>
          <a:ln>
            <a:tailEnd type="triangle"/>
          </a:ln>
        </p:spPr>
        <p:style>
          <a:lnRef idx="1">
            <a:schemeClr val="dk1"/>
          </a:lnRef>
          <a:fillRef idx="0">
            <a:schemeClr val="dk1"/>
          </a:fillRef>
          <a:effectRef idx="0">
            <a:schemeClr val="dk1"/>
          </a:effectRef>
          <a:fontRef idx="minor">
            <a:schemeClr val="tx1"/>
          </a:fontRef>
        </p:style>
      </p:cxnSp>
      <p:cxnSp>
        <p:nvCxnSpPr>
          <p:cNvPr id="226369499" name="Соединитель: уступ 23"/>
          <p:cNvCxnSpPr>
            <a:stCxn id="1537215760" idx="3"/>
          </p:cNvCxnSpPr>
          <p:nvPr/>
        </p:nvCxnSpPr>
        <p:spPr bwMode="auto">
          <a:xfrm flipV="1">
            <a:off x="10722761" y="3781958"/>
            <a:ext cx="425603" cy="2204041"/>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72445000" name="Прямоугольник 30"/>
          <p:cNvSpPr/>
          <p:nvPr/>
        </p:nvSpPr>
        <p:spPr bwMode="auto">
          <a:xfrm>
            <a:off x="1187501" y="3560681"/>
            <a:ext cx="1862938" cy="281610"/>
          </a:xfrm>
          <a:prstGeom prst="rect">
            <a:avLst/>
          </a:prstGeom>
          <a:solidFill>
            <a:schemeClr val="accent5">
              <a:lumMod val="40000"/>
              <a:lumOff val="60000"/>
            </a:schemeClr>
          </a:solidFill>
          <a:ln>
            <a:noFill/>
          </a:ln>
        </p:spPr>
        <p:style>
          <a:lnRef idx="3">
            <a:schemeClr val="lt1"/>
          </a:lnRef>
          <a:fillRef idx="1">
            <a:schemeClr val="accent6"/>
          </a:fillRef>
          <a:effectRef idx="1">
            <a:schemeClr val="accent6"/>
          </a:effectRef>
          <a:fontRef idx="minor">
            <a:schemeClr val="lt1"/>
          </a:fontRef>
        </p:style>
        <p:txBody>
          <a:bodyPr rtlCol="0" anchor="ctr"/>
          <a:lstStyle/>
          <a:p>
            <a:pPr algn="ctr">
              <a:defRPr/>
            </a:pPr>
            <a:endParaRPr lang="ru-RU"/>
          </a:p>
        </p:txBody>
      </p:sp>
      <p:sp>
        <p:nvSpPr>
          <p:cNvPr id="1967708896" name="Прямоугольник 31"/>
          <p:cNvSpPr/>
          <p:nvPr/>
        </p:nvSpPr>
        <p:spPr bwMode="auto">
          <a:xfrm>
            <a:off x="1187501" y="3202315"/>
            <a:ext cx="1862938" cy="343831"/>
          </a:xfrm>
          <a:prstGeom prst="rect">
            <a:avLst/>
          </a:prstGeom>
          <a:solidFill>
            <a:schemeClr val="accent6">
              <a:lumMod val="40000"/>
              <a:lumOff val="60000"/>
            </a:schemeClr>
          </a:solidFill>
          <a:ln>
            <a:noFill/>
          </a:ln>
        </p:spPr>
        <p:style>
          <a:lnRef idx="3">
            <a:schemeClr val="lt1"/>
          </a:lnRef>
          <a:fillRef idx="1">
            <a:schemeClr val="accent6"/>
          </a:fillRef>
          <a:effectRef idx="1">
            <a:schemeClr val="accent6"/>
          </a:effectRef>
          <a:fontRef idx="minor">
            <a:schemeClr val="lt1"/>
          </a:fontRef>
        </p:style>
        <p:txBody>
          <a:bodyPr rtlCol="0" anchor="ctr"/>
          <a:lstStyle/>
          <a:p>
            <a:pPr algn="ctr">
              <a:defRPr/>
            </a:pPr>
            <a:endParaRPr lang="ru-RU"/>
          </a:p>
        </p:txBody>
      </p:sp>
      <p:sp>
        <p:nvSpPr>
          <p:cNvPr id="1741725521" name="Прямоугольник 29"/>
          <p:cNvSpPr/>
          <p:nvPr/>
        </p:nvSpPr>
        <p:spPr bwMode="auto">
          <a:xfrm>
            <a:off x="4967021" y="4059098"/>
            <a:ext cx="2809037" cy="829640"/>
          </a:xfrm>
          <a:prstGeom prst="rect">
            <a:avLst/>
          </a:prstGeom>
          <a:solidFill>
            <a:schemeClr val="accent5">
              <a:lumMod val="40000"/>
              <a:lumOff val="60000"/>
            </a:schemeClr>
          </a:solidFill>
          <a:ln>
            <a:noFill/>
          </a:ln>
        </p:spPr>
        <p:style>
          <a:lnRef idx="3">
            <a:schemeClr val="lt1"/>
          </a:lnRef>
          <a:fillRef idx="1">
            <a:schemeClr val="accent6"/>
          </a:fillRef>
          <a:effectRef idx="1">
            <a:schemeClr val="accent6"/>
          </a:effectRef>
          <a:fontRef idx="minor">
            <a:schemeClr val="lt1"/>
          </a:fontRef>
        </p:style>
        <p:txBody>
          <a:bodyPr rtlCol="0" anchor="ctr"/>
          <a:lstStyle/>
          <a:p>
            <a:pPr algn="ctr">
              <a:defRPr/>
            </a:pPr>
            <a:endParaRPr lang="ru-RU"/>
          </a:p>
        </p:txBody>
      </p:sp>
      <p:sp>
        <p:nvSpPr>
          <p:cNvPr id="930148792" name="Прямоугольник 28"/>
          <p:cNvSpPr/>
          <p:nvPr/>
        </p:nvSpPr>
        <p:spPr bwMode="auto">
          <a:xfrm>
            <a:off x="4967021" y="3782291"/>
            <a:ext cx="2809037" cy="270330"/>
          </a:xfrm>
          <a:prstGeom prst="rect">
            <a:avLst/>
          </a:prstGeom>
          <a:solidFill>
            <a:schemeClr val="accent6">
              <a:lumMod val="40000"/>
              <a:lumOff val="60000"/>
            </a:schemeClr>
          </a:solidFill>
          <a:ln>
            <a:noFill/>
          </a:ln>
        </p:spPr>
        <p:style>
          <a:lnRef idx="3">
            <a:schemeClr val="lt1"/>
          </a:lnRef>
          <a:fillRef idx="1">
            <a:schemeClr val="accent6"/>
          </a:fillRef>
          <a:effectRef idx="1">
            <a:schemeClr val="accent6"/>
          </a:effectRef>
          <a:fontRef idx="minor">
            <a:schemeClr val="lt1"/>
          </a:fontRef>
        </p:style>
        <p:txBody>
          <a:bodyPr rtlCol="0" anchor="ctr"/>
          <a:lstStyle/>
          <a:p>
            <a:pPr algn="ctr">
              <a:defRPr/>
            </a:pPr>
            <a:endParaRPr lang="ru-RU"/>
          </a:p>
        </p:txBody>
      </p:sp>
      <p:sp>
        <p:nvSpPr>
          <p:cNvPr id="1288283982" name="Заголовок 1"/>
          <p:cNvSpPr>
            <a:spLocks noGrp="1"/>
          </p:cNvSpPr>
          <p:nvPr>
            <p:ph type="title"/>
          </p:nvPr>
        </p:nvSpPr>
        <p:spPr bwMode="auto"/>
        <p:txBody>
          <a:bodyPr/>
          <a:lstStyle/>
          <a:p>
            <a:pPr>
              <a:defRPr/>
            </a:pPr>
            <a:r>
              <a:rPr lang="ru-RU"/>
              <a:t>Виртуальные методы</a:t>
            </a:r>
            <a:endParaRPr lang="en-US"/>
          </a:p>
        </p:txBody>
      </p:sp>
      <p:sp>
        <p:nvSpPr>
          <p:cNvPr id="153851352" name="Номер слайда 4"/>
          <p:cNvSpPr>
            <a:spLocks noGrp="1"/>
          </p:cNvSpPr>
          <p:nvPr>
            <p:ph type="sldNum" sz="quarter" idx="12"/>
          </p:nvPr>
        </p:nvSpPr>
        <p:spPr bwMode="auto"/>
        <p:txBody>
          <a:bodyPr/>
          <a:lstStyle/>
          <a:p>
            <a:pPr>
              <a:defRPr/>
            </a:pPr>
            <a:fld id="{B67FBA2B-964F-4C4D-AAF7-5A8399264638}" type="slidenum">
              <a:rPr lang="en-US"/>
              <a:t>34</a:t>
            </a:fld>
            <a:endParaRPr lang="en-US"/>
          </a:p>
        </p:txBody>
      </p:sp>
      <p:sp>
        <p:nvSpPr>
          <p:cNvPr id="1061734013" name="TextBox 13"/>
          <p:cNvSpPr txBox="1"/>
          <p:nvPr/>
        </p:nvSpPr>
        <p:spPr bwMode="auto">
          <a:xfrm>
            <a:off x="3498190" y="1569153"/>
            <a:ext cx="5195620" cy="400110"/>
          </a:xfrm>
          <a:prstGeom prst="rect">
            <a:avLst/>
          </a:prstGeom>
          <a:noFill/>
        </p:spPr>
        <p:txBody>
          <a:bodyPr wrap="square">
            <a:spAutoFit/>
          </a:bodyPr>
          <a:lstStyle/>
          <a:p>
            <a:pPr algn="ctr">
              <a:defRPr/>
            </a:pPr>
            <a:r>
              <a:rPr lang="en-US" sz="2000" u="sng">
                <a:hlinkClick r:id="rId3"/>
              </a:rPr>
              <a:t>https://godbolt.org/z/Er77xqEWj</a:t>
            </a:r>
            <a:endParaRPr lang="ru-RU" sz="2000"/>
          </a:p>
        </p:txBody>
      </p:sp>
      <p:sp>
        <p:nvSpPr>
          <p:cNvPr id="1282207457" name="TextBox 6"/>
          <p:cNvSpPr txBox="1"/>
          <p:nvPr/>
        </p:nvSpPr>
        <p:spPr bwMode="auto">
          <a:xfrm>
            <a:off x="763524" y="2906170"/>
            <a:ext cx="2510942" cy="1200329"/>
          </a:xfrm>
          <a:prstGeom prst="rect">
            <a:avLst/>
          </a:prstGeom>
          <a:noFill/>
        </p:spPr>
        <p:txBody>
          <a:bodyPr wrap="square">
            <a:spAutoFit/>
          </a:bodyPr>
          <a:lstStyle/>
          <a:p>
            <a:pPr>
              <a:defRPr/>
            </a:pPr>
            <a:r>
              <a:rPr lang="en-US" b="0">
                <a:solidFill>
                  <a:srgbClr val="0000FF"/>
                </a:solidFill>
                <a:latin typeface="Consolas"/>
              </a:rPr>
              <a:t>void</a:t>
            </a:r>
            <a:r>
              <a:rPr lang="en-US" b="0">
                <a:solidFill>
                  <a:srgbClr val="000000"/>
                </a:solidFill>
                <a:latin typeface="Consolas"/>
              </a:rPr>
              <a:t> bar(A&amp; a){</a:t>
            </a:r>
            <a:endParaRPr/>
          </a:p>
          <a:p>
            <a:pPr>
              <a:defRPr/>
            </a:pPr>
            <a:r>
              <a:rPr lang="en-US" b="0">
                <a:solidFill>
                  <a:srgbClr val="000000"/>
                </a:solidFill>
                <a:latin typeface="Consolas"/>
              </a:rPr>
              <a:t>    a.non_virt();</a:t>
            </a:r>
            <a:endParaRPr/>
          </a:p>
          <a:p>
            <a:pPr>
              <a:defRPr/>
            </a:pPr>
            <a:r>
              <a:rPr lang="en-US" b="0">
                <a:solidFill>
                  <a:srgbClr val="000000"/>
                </a:solidFill>
                <a:latin typeface="Consolas"/>
              </a:rPr>
              <a:t>    a.virt();</a:t>
            </a:r>
            <a:endParaRPr/>
          </a:p>
          <a:p>
            <a:pPr>
              <a:defRPr/>
            </a:pPr>
            <a:r>
              <a:rPr lang="en-US" b="0">
                <a:solidFill>
                  <a:srgbClr val="000000"/>
                </a:solidFill>
                <a:latin typeface="Consolas"/>
              </a:rPr>
              <a:t>}</a:t>
            </a:r>
            <a:endParaRPr/>
          </a:p>
        </p:txBody>
      </p:sp>
      <p:sp>
        <p:nvSpPr>
          <p:cNvPr id="274887753" name="TextBox 8"/>
          <p:cNvSpPr txBox="1"/>
          <p:nvPr/>
        </p:nvSpPr>
        <p:spPr bwMode="auto">
          <a:xfrm>
            <a:off x="838200" y="4769356"/>
            <a:ext cx="1180795" cy="646331"/>
          </a:xfrm>
          <a:prstGeom prst="rect">
            <a:avLst/>
          </a:prstGeom>
          <a:noFill/>
        </p:spPr>
        <p:txBody>
          <a:bodyPr wrap="square">
            <a:spAutoFit/>
          </a:bodyPr>
          <a:lstStyle/>
          <a:p>
            <a:pPr>
              <a:defRPr/>
            </a:pPr>
            <a:r>
              <a:rPr lang="en-US" b="1">
                <a:solidFill>
                  <a:srgbClr val="000000"/>
                </a:solidFill>
                <a:latin typeface="Consolas"/>
              </a:rPr>
              <a:t>A a;</a:t>
            </a:r>
            <a:endParaRPr/>
          </a:p>
          <a:p>
            <a:pPr>
              <a:defRPr/>
            </a:pPr>
            <a:r>
              <a:rPr lang="en-US" b="0">
                <a:solidFill>
                  <a:srgbClr val="000000"/>
                </a:solidFill>
                <a:latin typeface="Consolas"/>
              </a:rPr>
              <a:t>bar(a);</a:t>
            </a:r>
            <a:endParaRPr/>
          </a:p>
        </p:txBody>
      </p:sp>
      <p:sp>
        <p:nvSpPr>
          <p:cNvPr id="1439020373" name="TextBox 11"/>
          <p:cNvSpPr txBox="1"/>
          <p:nvPr/>
        </p:nvSpPr>
        <p:spPr bwMode="auto">
          <a:xfrm>
            <a:off x="8121593" y="1992143"/>
            <a:ext cx="4047851" cy="1200329"/>
          </a:xfrm>
          <a:prstGeom prst="rect">
            <a:avLst/>
          </a:prstGeom>
          <a:noFill/>
        </p:spPr>
        <p:txBody>
          <a:bodyPr wrap="square">
            <a:spAutoFit/>
          </a:bodyPr>
          <a:lstStyle/>
          <a:p>
            <a:pPr>
              <a:defRPr/>
            </a:pPr>
            <a:r>
              <a:rPr lang="en-US">
                <a:solidFill>
                  <a:srgbClr val="008080"/>
                </a:solidFill>
                <a:latin typeface="Consolas, "/>
              </a:rPr>
              <a:t>vtable for A:</a:t>
            </a:r>
            <a:endParaRPr lang="en-US">
              <a:solidFill>
                <a:srgbClr val="000000"/>
              </a:solidFill>
              <a:latin typeface="Consolas, "/>
            </a:endParaRPr>
          </a:p>
          <a:p>
            <a:pPr>
              <a:defRPr/>
            </a:pPr>
            <a:r>
              <a:rPr lang="en-US">
                <a:solidFill>
                  <a:srgbClr val="000000"/>
                </a:solidFill>
                <a:latin typeface="Consolas, "/>
              </a:rPr>
              <a:t>        </a:t>
            </a:r>
            <a:r>
              <a:rPr lang="en-US">
                <a:solidFill>
                  <a:srgbClr val="0000FF"/>
                </a:solidFill>
                <a:latin typeface="Consolas, "/>
              </a:rPr>
              <a:t>qword</a:t>
            </a:r>
            <a:r>
              <a:rPr lang="en-US">
                <a:solidFill>
                  <a:srgbClr val="000000"/>
                </a:solidFill>
                <a:latin typeface="Consolas, "/>
              </a:rPr>
              <a:t>   </a:t>
            </a:r>
            <a:r>
              <a:rPr lang="en-US">
                <a:solidFill>
                  <a:srgbClr val="098658"/>
                </a:solidFill>
                <a:latin typeface="Consolas, "/>
              </a:rPr>
              <a:t>0</a:t>
            </a:r>
            <a:endParaRPr lang="en-US">
              <a:solidFill>
                <a:srgbClr val="000000"/>
              </a:solidFill>
              <a:latin typeface="Consolas, "/>
            </a:endParaRPr>
          </a:p>
          <a:p>
            <a:pPr>
              <a:defRPr/>
            </a:pPr>
            <a:r>
              <a:rPr lang="en-US">
                <a:solidFill>
                  <a:srgbClr val="000000"/>
                </a:solidFill>
                <a:latin typeface="Consolas, "/>
              </a:rPr>
              <a:t>        </a:t>
            </a:r>
            <a:r>
              <a:rPr lang="en-US">
                <a:solidFill>
                  <a:srgbClr val="0000FF"/>
                </a:solidFill>
                <a:latin typeface="Consolas, "/>
              </a:rPr>
              <a:t>qword</a:t>
            </a:r>
            <a:r>
              <a:rPr lang="en-US">
                <a:solidFill>
                  <a:srgbClr val="000000"/>
                </a:solidFill>
                <a:latin typeface="Consolas, "/>
              </a:rPr>
              <a:t>   </a:t>
            </a:r>
            <a:r>
              <a:rPr lang="en-US">
                <a:solidFill>
                  <a:srgbClr val="008080"/>
                </a:solidFill>
                <a:latin typeface="Consolas, "/>
              </a:rPr>
              <a:t>typeinfo</a:t>
            </a:r>
            <a:r>
              <a:rPr lang="en-US">
                <a:solidFill>
                  <a:srgbClr val="000000"/>
                </a:solidFill>
                <a:latin typeface="Consolas, "/>
              </a:rPr>
              <a:t> </a:t>
            </a:r>
            <a:r>
              <a:rPr lang="en-US">
                <a:solidFill>
                  <a:srgbClr val="008080"/>
                </a:solidFill>
                <a:latin typeface="Consolas, "/>
              </a:rPr>
              <a:t>for</a:t>
            </a:r>
            <a:r>
              <a:rPr lang="en-US">
                <a:solidFill>
                  <a:srgbClr val="000000"/>
                </a:solidFill>
                <a:latin typeface="Consolas, "/>
              </a:rPr>
              <a:t> </a:t>
            </a:r>
            <a:r>
              <a:rPr lang="en-US">
                <a:solidFill>
                  <a:srgbClr val="008080"/>
                </a:solidFill>
                <a:latin typeface="Consolas, "/>
              </a:rPr>
              <a:t>A</a:t>
            </a:r>
            <a:endParaRPr lang="en-US">
              <a:solidFill>
                <a:srgbClr val="000000"/>
              </a:solidFill>
              <a:latin typeface="Consolas, "/>
            </a:endParaRPr>
          </a:p>
          <a:p>
            <a:pPr>
              <a:defRPr/>
            </a:pPr>
            <a:r>
              <a:rPr lang="en-US">
                <a:solidFill>
                  <a:srgbClr val="000000"/>
                </a:solidFill>
                <a:latin typeface="Consolas, "/>
              </a:rPr>
              <a:t>        </a:t>
            </a:r>
            <a:r>
              <a:rPr lang="en-US">
                <a:solidFill>
                  <a:srgbClr val="0000FF"/>
                </a:solidFill>
                <a:latin typeface="Consolas, "/>
              </a:rPr>
              <a:t>qword</a:t>
            </a:r>
            <a:r>
              <a:rPr lang="en-US">
                <a:solidFill>
                  <a:srgbClr val="000000"/>
                </a:solidFill>
                <a:latin typeface="Consolas, "/>
              </a:rPr>
              <a:t>   </a:t>
            </a:r>
            <a:r>
              <a:rPr lang="en-US">
                <a:solidFill>
                  <a:srgbClr val="008080"/>
                </a:solidFill>
                <a:latin typeface="Consolas, "/>
              </a:rPr>
              <a:t>A</a:t>
            </a:r>
            <a:r>
              <a:rPr lang="en-US">
                <a:solidFill>
                  <a:srgbClr val="000000"/>
                </a:solidFill>
                <a:latin typeface="Consolas, "/>
              </a:rPr>
              <a:t>::</a:t>
            </a:r>
            <a:r>
              <a:rPr lang="en-US">
                <a:solidFill>
                  <a:srgbClr val="008080"/>
                </a:solidFill>
                <a:latin typeface="Consolas, "/>
              </a:rPr>
              <a:t>virt</a:t>
            </a:r>
            <a:r>
              <a:rPr lang="en-US">
                <a:solidFill>
                  <a:srgbClr val="000000"/>
                </a:solidFill>
                <a:latin typeface="Consolas, "/>
              </a:rPr>
              <a:t>()</a:t>
            </a:r>
            <a:endParaRPr/>
          </a:p>
        </p:txBody>
      </p:sp>
      <p:cxnSp>
        <p:nvCxnSpPr>
          <p:cNvPr id="449881256" name="Прямая со стрелкой 12"/>
          <p:cNvCxnSpPr/>
          <p:nvPr/>
        </p:nvCxnSpPr>
        <p:spPr bwMode="auto">
          <a:xfrm flipH="1">
            <a:off x="7402982" y="3071383"/>
            <a:ext cx="1719072" cy="1171024"/>
          </a:xfrm>
          <a:prstGeom prst="straightConnector1">
            <a:avLst/>
          </a:prstGeom>
          <a:ln w="9525">
            <a:prstDash val="lgDash"/>
            <a:tailEnd type="triangle"/>
          </a:ln>
        </p:spPr>
        <p:style>
          <a:lnRef idx="1">
            <a:schemeClr val="dk1"/>
          </a:lnRef>
          <a:fillRef idx="0">
            <a:schemeClr val="dk1"/>
          </a:fillRef>
          <a:effectRef idx="0">
            <a:schemeClr val="dk1"/>
          </a:effectRef>
          <a:fontRef idx="minor">
            <a:schemeClr val="tx1"/>
          </a:fontRef>
        </p:style>
      </p:cxnSp>
      <p:cxnSp>
        <p:nvCxnSpPr>
          <p:cNvPr id="1188104702" name="Прямая со стрелкой 16"/>
          <p:cNvCxnSpPr/>
          <p:nvPr/>
        </p:nvCxnSpPr>
        <p:spPr bwMode="auto">
          <a:xfrm>
            <a:off x="6766560" y="4769356"/>
            <a:ext cx="3057754" cy="20629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68391890" name="TextBox 25"/>
          <p:cNvSpPr txBox="1"/>
          <p:nvPr/>
        </p:nvSpPr>
        <p:spPr bwMode="auto">
          <a:xfrm>
            <a:off x="9299449" y="5019671"/>
            <a:ext cx="3624072" cy="923330"/>
          </a:xfrm>
          <a:prstGeom prst="rect">
            <a:avLst/>
          </a:prstGeom>
          <a:noFill/>
        </p:spPr>
        <p:txBody>
          <a:bodyPr wrap="square">
            <a:spAutoFit/>
          </a:bodyPr>
          <a:lstStyle/>
          <a:p>
            <a:pPr>
              <a:defRPr/>
            </a:pPr>
            <a:r>
              <a:rPr lang="en-US" b="0">
                <a:solidFill>
                  <a:srgbClr val="008080"/>
                </a:solidFill>
                <a:latin typeface="Consolas"/>
              </a:rPr>
              <a:t>A::virt():</a:t>
            </a:r>
            <a:endParaRPr lang="en-US" b="0">
              <a:solidFill>
                <a:srgbClr val="000000"/>
              </a:solidFill>
              <a:latin typeface="Consolas"/>
            </a:endParaRPr>
          </a:p>
          <a:p>
            <a:pPr>
              <a:defRPr/>
            </a:pPr>
            <a:r>
              <a:rPr lang="en-US" b="0">
                <a:solidFill>
                  <a:srgbClr val="000000"/>
                </a:solidFill>
                <a:latin typeface="Consolas"/>
              </a:rPr>
              <a:t>        </a:t>
            </a:r>
            <a:r>
              <a:rPr lang="en-US" b="0">
                <a:solidFill>
                  <a:srgbClr val="0000FF"/>
                </a:solidFill>
                <a:latin typeface="Consolas"/>
              </a:rPr>
              <a:t>push</a:t>
            </a:r>
            <a:r>
              <a:rPr lang="en-US" b="0">
                <a:solidFill>
                  <a:srgbClr val="000000"/>
                </a:solidFill>
                <a:latin typeface="Consolas"/>
              </a:rPr>
              <a:t>    </a:t>
            </a:r>
            <a:r>
              <a:rPr lang="en-US" b="0">
                <a:solidFill>
                  <a:srgbClr val="4864AA"/>
                </a:solidFill>
                <a:latin typeface="Consolas"/>
              </a:rPr>
              <a:t>rbp</a:t>
            </a:r>
          </a:p>
          <a:p>
            <a:pPr>
              <a:defRPr/>
            </a:pPr>
            <a:r>
              <a:rPr lang="en-US">
                <a:solidFill>
                  <a:srgbClr val="4864AA"/>
                </a:solidFill>
                <a:latin typeface="Consolas"/>
              </a:rPr>
              <a:t>        …</a:t>
            </a:r>
            <a:endParaRPr lang="en-US" b="0">
              <a:solidFill>
                <a:srgbClr val="000000"/>
              </a:solidFill>
              <a:latin typeface="Consolas"/>
            </a:endParaRPr>
          </a:p>
        </p:txBody>
      </p:sp>
      <p:sp>
        <p:nvSpPr>
          <p:cNvPr id="174472481" name="TextBox 10"/>
          <p:cNvSpPr txBox="1"/>
          <p:nvPr/>
        </p:nvSpPr>
        <p:spPr bwMode="auto">
          <a:xfrm>
            <a:off x="3996537" y="2102904"/>
            <a:ext cx="3984346" cy="3693319"/>
          </a:xfrm>
          <a:prstGeom prst="rect">
            <a:avLst/>
          </a:prstGeom>
          <a:noFill/>
        </p:spPr>
        <p:txBody>
          <a:bodyPr wrap="square">
            <a:spAutoFit/>
          </a:bodyPr>
          <a:lstStyle/>
          <a:p>
            <a:pPr>
              <a:defRPr/>
            </a:pPr>
            <a:r>
              <a:rPr lang="en-US" b="0">
                <a:solidFill>
                  <a:srgbClr val="008080"/>
                </a:solidFill>
                <a:latin typeface="Consolas"/>
              </a:rPr>
              <a:t>bar(A&amp;):</a:t>
            </a:r>
            <a:endParaRPr lang="en-US" b="0">
              <a:solidFill>
                <a:srgbClr val="000000"/>
              </a:solidFill>
              <a:latin typeface="Consolas"/>
            </a:endParaRPr>
          </a:p>
          <a:p>
            <a:pPr>
              <a:defRPr/>
            </a:pPr>
            <a:r>
              <a:rPr lang="en-US" b="0">
                <a:solidFill>
                  <a:srgbClr val="000000"/>
                </a:solidFill>
                <a:latin typeface="Consolas"/>
              </a:rPr>
              <a:t>        </a:t>
            </a:r>
            <a:r>
              <a:rPr lang="en-US" b="0">
                <a:solidFill>
                  <a:srgbClr val="0000FF"/>
                </a:solidFill>
                <a:latin typeface="Consolas"/>
              </a:rPr>
              <a:t>push</a:t>
            </a:r>
            <a:r>
              <a:rPr lang="en-US" b="0">
                <a:solidFill>
                  <a:srgbClr val="000000"/>
                </a:solidFill>
                <a:latin typeface="Consolas"/>
              </a:rPr>
              <a:t>    </a:t>
            </a:r>
            <a:r>
              <a:rPr lang="en-US" b="0">
                <a:solidFill>
                  <a:srgbClr val="4864AA"/>
                </a:solidFill>
                <a:latin typeface="Consolas"/>
              </a:rPr>
              <a:t>rbp</a:t>
            </a:r>
            <a:endParaRPr lang="en-US" b="0">
              <a:solidFill>
                <a:srgbClr val="000000"/>
              </a:solidFill>
              <a:latin typeface="Consolas"/>
            </a:endParaRPr>
          </a:p>
          <a:p>
            <a:pPr>
              <a:defRPr/>
            </a:pPr>
            <a:r>
              <a:rPr lang="en-US" b="0">
                <a:solidFill>
                  <a:srgbClr val="000000"/>
                </a:solidFill>
                <a:latin typeface="Consolas"/>
              </a:rPr>
              <a:t>        </a:t>
            </a:r>
            <a:r>
              <a:rPr lang="en-US" b="0">
                <a:solidFill>
                  <a:srgbClr val="0000FF"/>
                </a:solidFill>
                <a:latin typeface="Consolas"/>
              </a:rPr>
              <a:t>mov</a:t>
            </a:r>
            <a:r>
              <a:rPr lang="en-US" b="0">
                <a:solidFill>
                  <a:srgbClr val="000000"/>
                </a:solidFill>
                <a:latin typeface="Consolas"/>
              </a:rPr>
              <a:t>     </a:t>
            </a:r>
            <a:r>
              <a:rPr lang="en-US" b="0">
                <a:solidFill>
                  <a:srgbClr val="4864AA"/>
                </a:solidFill>
                <a:latin typeface="Consolas"/>
              </a:rPr>
              <a:t>rbp</a:t>
            </a:r>
            <a:r>
              <a:rPr lang="en-US" b="0">
                <a:solidFill>
                  <a:srgbClr val="000000"/>
                </a:solidFill>
                <a:latin typeface="Consolas"/>
              </a:rPr>
              <a:t>, </a:t>
            </a:r>
            <a:r>
              <a:rPr lang="en-US" b="0">
                <a:solidFill>
                  <a:srgbClr val="4864AA"/>
                </a:solidFill>
                <a:latin typeface="Consolas"/>
              </a:rPr>
              <a:t>rsp</a:t>
            </a:r>
            <a:endParaRPr lang="en-US" b="0">
              <a:solidFill>
                <a:srgbClr val="000000"/>
              </a:solidFill>
              <a:latin typeface="Consolas"/>
            </a:endParaRPr>
          </a:p>
          <a:p>
            <a:pPr>
              <a:defRPr/>
            </a:pPr>
            <a:r>
              <a:rPr lang="en-US" b="0">
                <a:solidFill>
                  <a:srgbClr val="000000"/>
                </a:solidFill>
                <a:latin typeface="Consolas"/>
              </a:rPr>
              <a:t>        </a:t>
            </a:r>
            <a:r>
              <a:rPr lang="en-US" b="0">
                <a:solidFill>
                  <a:srgbClr val="0000FF"/>
                </a:solidFill>
                <a:latin typeface="Consolas"/>
              </a:rPr>
              <a:t>push</a:t>
            </a:r>
            <a:r>
              <a:rPr lang="en-US" b="0">
                <a:solidFill>
                  <a:srgbClr val="000000"/>
                </a:solidFill>
                <a:latin typeface="Consolas"/>
              </a:rPr>
              <a:t>    </a:t>
            </a:r>
            <a:r>
              <a:rPr lang="en-US" b="0">
                <a:solidFill>
                  <a:srgbClr val="4864AA"/>
                </a:solidFill>
                <a:latin typeface="Consolas"/>
              </a:rPr>
              <a:t>rbx</a:t>
            </a:r>
            <a:endParaRPr lang="en-US" b="0">
              <a:solidFill>
                <a:srgbClr val="000000"/>
              </a:solidFill>
              <a:latin typeface="Consolas"/>
            </a:endParaRPr>
          </a:p>
          <a:p>
            <a:pPr>
              <a:defRPr/>
            </a:pPr>
            <a:r>
              <a:rPr lang="en-US" b="0">
                <a:solidFill>
                  <a:srgbClr val="000000"/>
                </a:solidFill>
                <a:latin typeface="Consolas"/>
              </a:rPr>
              <a:t>        </a:t>
            </a:r>
            <a:r>
              <a:rPr lang="en-US" b="0">
                <a:solidFill>
                  <a:srgbClr val="0000FF"/>
                </a:solidFill>
                <a:latin typeface="Consolas"/>
              </a:rPr>
              <a:t>sub</a:t>
            </a:r>
            <a:r>
              <a:rPr lang="en-US" b="0">
                <a:solidFill>
                  <a:srgbClr val="000000"/>
                </a:solidFill>
                <a:latin typeface="Consolas"/>
              </a:rPr>
              <a:t>     </a:t>
            </a:r>
            <a:r>
              <a:rPr lang="en-US" b="0">
                <a:solidFill>
                  <a:srgbClr val="4864AA"/>
                </a:solidFill>
                <a:latin typeface="Consolas"/>
              </a:rPr>
              <a:t>rsp</a:t>
            </a:r>
            <a:r>
              <a:rPr lang="en-US" b="0">
                <a:solidFill>
                  <a:srgbClr val="000000"/>
                </a:solidFill>
                <a:latin typeface="Consolas"/>
              </a:rPr>
              <a:t>, </a:t>
            </a:r>
            <a:r>
              <a:rPr lang="en-US" b="0">
                <a:solidFill>
                  <a:srgbClr val="098658"/>
                </a:solidFill>
                <a:latin typeface="Consolas"/>
              </a:rPr>
              <a:t>40</a:t>
            </a:r>
            <a:endParaRPr lang="en-US" b="0">
              <a:solidFill>
                <a:srgbClr val="000000"/>
              </a:solidFill>
              <a:latin typeface="Consolas"/>
            </a:endParaRPr>
          </a:p>
          <a:p>
            <a:pPr>
              <a:defRPr/>
            </a:pPr>
            <a:r>
              <a:rPr lang="en-US" b="0">
                <a:solidFill>
                  <a:srgbClr val="000000"/>
                </a:solidFill>
                <a:latin typeface="Consolas"/>
              </a:rPr>
              <a:t>        </a:t>
            </a:r>
            <a:r>
              <a:rPr lang="en-US" b="0">
                <a:solidFill>
                  <a:srgbClr val="0000FF"/>
                </a:solidFill>
                <a:latin typeface="Consolas"/>
              </a:rPr>
              <a:t>mov</a:t>
            </a:r>
            <a:r>
              <a:rPr lang="en-US" b="0">
                <a:solidFill>
                  <a:srgbClr val="000000"/>
                </a:solidFill>
                <a:latin typeface="Consolas"/>
              </a:rPr>
              <a:t>     </a:t>
            </a:r>
            <a:r>
              <a:rPr lang="en-US" b="0">
                <a:solidFill>
                  <a:srgbClr val="4864AA"/>
                </a:solidFill>
                <a:latin typeface="Consolas"/>
              </a:rPr>
              <a:t>rbx</a:t>
            </a:r>
            <a:r>
              <a:rPr lang="en-US" b="0">
                <a:solidFill>
                  <a:srgbClr val="000000"/>
                </a:solidFill>
                <a:latin typeface="Consolas"/>
              </a:rPr>
              <a:t>, </a:t>
            </a:r>
            <a:r>
              <a:rPr lang="en-US" b="0">
                <a:solidFill>
                  <a:srgbClr val="4864AA"/>
                </a:solidFill>
                <a:latin typeface="Consolas"/>
              </a:rPr>
              <a:t>rcx</a:t>
            </a:r>
            <a:endParaRPr lang="en-US" b="0">
              <a:solidFill>
                <a:srgbClr val="000000"/>
              </a:solidFill>
              <a:latin typeface="Consolas"/>
            </a:endParaRPr>
          </a:p>
          <a:p>
            <a:pPr>
              <a:defRPr/>
            </a:pPr>
            <a:r>
              <a:rPr lang="en-US" b="0">
                <a:solidFill>
                  <a:srgbClr val="000000"/>
                </a:solidFill>
                <a:latin typeface="Consolas"/>
              </a:rPr>
              <a:t>        </a:t>
            </a:r>
            <a:r>
              <a:rPr lang="en-US" b="0">
                <a:solidFill>
                  <a:srgbClr val="0000FF"/>
                </a:solidFill>
                <a:latin typeface="Consolas"/>
              </a:rPr>
              <a:t>call</a:t>
            </a:r>
            <a:r>
              <a:rPr lang="en-US" b="0">
                <a:solidFill>
                  <a:srgbClr val="000000"/>
                </a:solidFill>
                <a:latin typeface="Consolas"/>
              </a:rPr>
              <a:t>    </a:t>
            </a:r>
            <a:r>
              <a:rPr lang="en-US" b="0">
                <a:solidFill>
                  <a:srgbClr val="008080"/>
                </a:solidFill>
                <a:latin typeface="Consolas"/>
              </a:rPr>
              <a:t>A</a:t>
            </a:r>
            <a:r>
              <a:rPr lang="en-US" b="0">
                <a:solidFill>
                  <a:srgbClr val="000000"/>
                </a:solidFill>
                <a:latin typeface="Consolas"/>
              </a:rPr>
              <a:t>::</a:t>
            </a:r>
            <a:r>
              <a:rPr lang="en-US" b="0">
                <a:solidFill>
                  <a:srgbClr val="008080"/>
                </a:solidFill>
                <a:latin typeface="Consolas"/>
              </a:rPr>
              <a:t>non_virt</a:t>
            </a:r>
            <a:r>
              <a:rPr lang="en-US" b="0">
                <a:solidFill>
                  <a:srgbClr val="000000"/>
                </a:solidFill>
                <a:latin typeface="Consolas"/>
              </a:rPr>
              <a:t>()</a:t>
            </a:r>
            <a:endParaRPr/>
          </a:p>
          <a:p>
            <a:pPr>
              <a:defRPr/>
            </a:pPr>
            <a:r>
              <a:rPr lang="en-US" b="0">
                <a:solidFill>
                  <a:srgbClr val="000000"/>
                </a:solidFill>
                <a:latin typeface="Consolas"/>
              </a:rPr>
              <a:t>        </a:t>
            </a:r>
            <a:r>
              <a:rPr lang="en-US" b="0">
                <a:solidFill>
                  <a:srgbClr val="0000FF"/>
                </a:solidFill>
                <a:latin typeface="Consolas"/>
              </a:rPr>
              <a:t>mov</a:t>
            </a:r>
            <a:r>
              <a:rPr lang="en-US" b="0">
                <a:solidFill>
                  <a:srgbClr val="000000"/>
                </a:solidFill>
                <a:latin typeface="Consolas"/>
              </a:rPr>
              <a:t>     </a:t>
            </a:r>
            <a:r>
              <a:rPr lang="en-US" b="0">
                <a:solidFill>
                  <a:srgbClr val="4864AA"/>
                </a:solidFill>
                <a:latin typeface="Consolas"/>
              </a:rPr>
              <a:t>rax</a:t>
            </a:r>
            <a:r>
              <a:rPr lang="en-US" b="0">
                <a:solidFill>
                  <a:srgbClr val="000000"/>
                </a:solidFill>
                <a:latin typeface="Consolas"/>
              </a:rPr>
              <a:t>, [</a:t>
            </a:r>
            <a:r>
              <a:rPr lang="en-US" b="0">
                <a:solidFill>
                  <a:srgbClr val="4864AA"/>
                </a:solidFill>
                <a:latin typeface="Consolas"/>
              </a:rPr>
              <a:t>rbx</a:t>
            </a:r>
            <a:r>
              <a:rPr lang="en-US" b="0">
                <a:solidFill>
                  <a:srgbClr val="000000"/>
                </a:solidFill>
                <a:latin typeface="Consolas"/>
              </a:rPr>
              <a:t>]</a:t>
            </a:r>
            <a:endParaRPr/>
          </a:p>
          <a:p>
            <a:pPr>
              <a:defRPr/>
            </a:pPr>
            <a:r>
              <a:rPr lang="en-US" b="0">
                <a:solidFill>
                  <a:srgbClr val="000000"/>
                </a:solidFill>
                <a:latin typeface="Consolas"/>
              </a:rPr>
              <a:t>        </a:t>
            </a:r>
            <a:r>
              <a:rPr lang="en-US" b="0">
                <a:solidFill>
                  <a:srgbClr val="0000FF"/>
                </a:solidFill>
                <a:latin typeface="Consolas"/>
              </a:rPr>
              <a:t>mov</a:t>
            </a:r>
            <a:r>
              <a:rPr lang="en-US" b="0">
                <a:solidFill>
                  <a:srgbClr val="000000"/>
                </a:solidFill>
                <a:latin typeface="Consolas"/>
              </a:rPr>
              <a:t>     </a:t>
            </a:r>
            <a:r>
              <a:rPr lang="en-US" b="0">
                <a:solidFill>
                  <a:srgbClr val="4864AA"/>
                </a:solidFill>
                <a:latin typeface="Consolas"/>
              </a:rPr>
              <a:t>rcx</a:t>
            </a:r>
            <a:r>
              <a:rPr lang="en-US" b="0">
                <a:solidFill>
                  <a:srgbClr val="000000"/>
                </a:solidFill>
                <a:latin typeface="Consolas"/>
              </a:rPr>
              <a:t>, </a:t>
            </a:r>
            <a:r>
              <a:rPr lang="en-US" b="0">
                <a:solidFill>
                  <a:srgbClr val="4864AA"/>
                </a:solidFill>
                <a:latin typeface="Consolas"/>
              </a:rPr>
              <a:t>rbx</a:t>
            </a:r>
            <a:endParaRPr lang="en-US" b="0">
              <a:solidFill>
                <a:srgbClr val="000000"/>
              </a:solidFill>
              <a:latin typeface="Consolas"/>
            </a:endParaRPr>
          </a:p>
          <a:p>
            <a:pPr>
              <a:defRPr/>
            </a:pPr>
            <a:r>
              <a:rPr lang="en-US" b="0">
                <a:solidFill>
                  <a:srgbClr val="000000"/>
                </a:solidFill>
                <a:latin typeface="Consolas"/>
              </a:rPr>
              <a:t>        </a:t>
            </a:r>
            <a:r>
              <a:rPr lang="en-US" b="0">
                <a:solidFill>
                  <a:srgbClr val="0000FF"/>
                </a:solidFill>
                <a:latin typeface="Consolas"/>
              </a:rPr>
              <a:t>call</a:t>
            </a:r>
            <a:r>
              <a:rPr lang="en-US" b="0">
                <a:solidFill>
                  <a:srgbClr val="000000"/>
                </a:solidFill>
                <a:latin typeface="Consolas"/>
              </a:rPr>
              <a:t>    [</a:t>
            </a:r>
            <a:r>
              <a:rPr lang="en-US" b="0">
                <a:solidFill>
                  <a:srgbClr val="4864AA"/>
                </a:solidFill>
                <a:latin typeface="Consolas"/>
              </a:rPr>
              <a:t>rax</a:t>
            </a:r>
            <a:r>
              <a:rPr lang="en-US" b="0">
                <a:solidFill>
                  <a:srgbClr val="000000"/>
                </a:solidFill>
                <a:latin typeface="Consolas"/>
              </a:rPr>
              <a:t>]</a:t>
            </a:r>
            <a:endParaRPr/>
          </a:p>
          <a:p>
            <a:pPr>
              <a:defRPr/>
            </a:pPr>
            <a:r>
              <a:rPr lang="en-US" b="0">
                <a:solidFill>
                  <a:srgbClr val="000000"/>
                </a:solidFill>
                <a:latin typeface="Consolas"/>
              </a:rPr>
              <a:t>        </a:t>
            </a:r>
            <a:r>
              <a:rPr lang="en-US" b="0">
                <a:solidFill>
                  <a:srgbClr val="0000FF"/>
                </a:solidFill>
                <a:latin typeface="Consolas"/>
              </a:rPr>
              <a:t>mov</a:t>
            </a:r>
            <a:r>
              <a:rPr lang="en-US" b="0">
                <a:solidFill>
                  <a:srgbClr val="000000"/>
                </a:solidFill>
                <a:latin typeface="Consolas"/>
              </a:rPr>
              <a:t>     </a:t>
            </a:r>
            <a:r>
              <a:rPr lang="en-US" b="0">
                <a:solidFill>
                  <a:srgbClr val="4864AA"/>
                </a:solidFill>
                <a:latin typeface="Consolas"/>
              </a:rPr>
              <a:t>rbx</a:t>
            </a:r>
            <a:r>
              <a:rPr lang="en-US" b="0">
                <a:solidFill>
                  <a:srgbClr val="000000"/>
                </a:solidFill>
                <a:latin typeface="Consolas"/>
              </a:rPr>
              <a:t>, [</a:t>
            </a:r>
            <a:r>
              <a:rPr lang="en-US" b="0">
                <a:solidFill>
                  <a:srgbClr val="4864AA"/>
                </a:solidFill>
                <a:latin typeface="Consolas"/>
              </a:rPr>
              <a:t>rbp</a:t>
            </a:r>
            <a:r>
              <a:rPr lang="en-US" b="0">
                <a:solidFill>
                  <a:srgbClr val="000000"/>
                </a:solidFill>
                <a:latin typeface="Consolas"/>
              </a:rPr>
              <a:t>-</a:t>
            </a:r>
            <a:r>
              <a:rPr lang="en-US" b="0">
                <a:solidFill>
                  <a:srgbClr val="098658"/>
                </a:solidFill>
                <a:latin typeface="Consolas"/>
              </a:rPr>
              <a:t>8</a:t>
            </a:r>
            <a:r>
              <a:rPr lang="en-US" b="0">
                <a:solidFill>
                  <a:srgbClr val="000000"/>
                </a:solidFill>
                <a:latin typeface="Consolas"/>
              </a:rPr>
              <a:t>]</a:t>
            </a:r>
            <a:endParaRPr/>
          </a:p>
          <a:p>
            <a:pPr>
              <a:defRPr/>
            </a:pPr>
            <a:r>
              <a:rPr lang="en-US" b="0">
                <a:solidFill>
                  <a:srgbClr val="000000"/>
                </a:solidFill>
                <a:latin typeface="Consolas"/>
              </a:rPr>
              <a:t>        </a:t>
            </a:r>
            <a:r>
              <a:rPr lang="en-US" b="0">
                <a:solidFill>
                  <a:srgbClr val="0000FF"/>
                </a:solidFill>
                <a:latin typeface="Consolas"/>
              </a:rPr>
              <a:t>leave</a:t>
            </a:r>
            <a:endParaRPr lang="en-US" b="0">
              <a:solidFill>
                <a:srgbClr val="000000"/>
              </a:solidFill>
              <a:latin typeface="Consolas"/>
            </a:endParaRPr>
          </a:p>
          <a:p>
            <a:pPr>
              <a:defRPr/>
            </a:pPr>
            <a:r>
              <a:rPr lang="en-US" b="0">
                <a:solidFill>
                  <a:srgbClr val="000000"/>
                </a:solidFill>
                <a:latin typeface="Consolas"/>
              </a:rPr>
              <a:t>        </a:t>
            </a:r>
            <a:r>
              <a:rPr lang="en-US" b="0">
                <a:solidFill>
                  <a:srgbClr val="0000FF"/>
                </a:solidFill>
                <a:latin typeface="Consolas"/>
              </a:rPr>
              <a:t>ret</a:t>
            </a:r>
            <a:endParaRPr lang="en-US" b="0">
              <a:solidFill>
                <a:srgbClr val="000000"/>
              </a:solidFill>
              <a:latin typeface="Consolas"/>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667316266" name="Прямоугольник 30"/>
          <p:cNvSpPr/>
          <p:nvPr/>
        </p:nvSpPr>
        <p:spPr bwMode="auto">
          <a:xfrm>
            <a:off x="1187501" y="3560681"/>
            <a:ext cx="1862938" cy="281610"/>
          </a:xfrm>
          <a:prstGeom prst="rect">
            <a:avLst/>
          </a:prstGeom>
          <a:solidFill>
            <a:schemeClr val="accent5">
              <a:lumMod val="40000"/>
              <a:lumOff val="60000"/>
            </a:schemeClr>
          </a:solidFill>
          <a:ln>
            <a:noFill/>
          </a:ln>
        </p:spPr>
        <p:style>
          <a:lnRef idx="3">
            <a:schemeClr val="lt1"/>
          </a:lnRef>
          <a:fillRef idx="1">
            <a:schemeClr val="accent6"/>
          </a:fillRef>
          <a:effectRef idx="1">
            <a:schemeClr val="accent6"/>
          </a:effectRef>
          <a:fontRef idx="minor">
            <a:schemeClr val="lt1"/>
          </a:fontRef>
        </p:style>
        <p:txBody>
          <a:bodyPr rtlCol="0" anchor="ctr"/>
          <a:lstStyle/>
          <a:p>
            <a:pPr algn="ctr">
              <a:defRPr/>
            </a:pPr>
            <a:endParaRPr lang="ru-RU"/>
          </a:p>
        </p:txBody>
      </p:sp>
      <p:sp>
        <p:nvSpPr>
          <p:cNvPr id="316970406" name="Прямоугольник 31"/>
          <p:cNvSpPr/>
          <p:nvPr/>
        </p:nvSpPr>
        <p:spPr bwMode="auto">
          <a:xfrm>
            <a:off x="1187501" y="3202315"/>
            <a:ext cx="1862938" cy="343831"/>
          </a:xfrm>
          <a:prstGeom prst="rect">
            <a:avLst/>
          </a:prstGeom>
          <a:solidFill>
            <a:schemeClr val="accent6">
              <a:lumMod val="40000"/>
              <a:lumOff val="60000"/>
            </a:schemeClr>
          </a:solidFill>
          <a:ln>
            <a:noFill/>
          </a:ln>
        </p:spPr>
        <p:style>
          <a:lnRef idx="3">
            <a:schemeClr val="lt1"/>
          </a:lnRef>
          <a:fillRef idx="1">
            <a:schemeClr val="accent6"/>
          </a:fillRef>
          <a:effectRef idx="1">
            <a:schemeClr val="accent6"/>
          </a:effectRef>
          <a:fontRef idx="minor">
            <a:schemeClr val="lt1"/>
          </a:fontRef>
        </p:style>
        <p:txBody>
          <a:bodyPr rtlCol="0" anchor="ctr"/>
          <a:lstStyle/>
          <a:p>
            <a:pPr algn="ctr">
              <a:defRPr/>
            </a:pPr>
            <a:endParaRPr lang="ru-RU"/>
          </a:p>
        </p:txBody>
      </p:sp>
      <p:sp>
        <p:nvSpPr>
          <p:cNvPr id="933655848" name="Прямоугольник 29"/>
          <p:cNvSpPr/>
          <p:nvPr/>
        </p:nvSpPr>
        <p:spPr bwMode="auto">
          <a:xfrm>
            <a:off x="4967021" y="4059098"/>
            <a:ext cx="2809037" cy="829640"/>
          </a:xfrm>
          <a:prstGeom prst="rect">
            <a:avLst/>
          </a:prstGeom>
          <a:solidFill>
            <a:schemeClr val="accent5">
              <a:lumMod val="40000"/>
              <a:lumOff val="60000"/>
            </a:schemeClr>
          </a:solidFill>
          <a:ln>
            <a:noFill/>
          </a:ln>
        </p:spPr>
        <p:style>
          <a:lnRef idx="3">
            <a:schemeClr val="lt1"/>
          </a:lnRef>
          <a:fillRef idx="1">
            <a:schemeClr val="accent6"/>
          </a:fillRef>
          <a:effectRef idx="1">
            <a:schemeClr val="accent6"/>
          </a:effectRef>
          <a:fontRef idx="minor">
            <a:schemeClr val="lt1"/>
          </a:fontRef>
        </p:style>
        <p:txBody>
          <a:bodyPr rtlCol="0" anchor="ctr"/>
          <a:lstStyle/>
          <a:p>
            <a:pPr algn="ctr">
              <a:defRPr/>
            </a:pPr>
            <a:endParaRPr lang="ru-RU"/>
          </a:p>
        </p:txBody>
      </p:sp>
      <p:sp>
        <p:nvSpPr>
          <p:cNvPr id="1634546118" name="Прямоугольник 28"/>
          <p:cNvSpPr/>
          <p:nvPr/>
        </p:nvSpPr>
        <p:spPr bwMode="auto">
          <a:xfrm>
            <a:off x="4967021" y="3782291"/>
            <a:ext cx="2809037" cy="270330"/>
          </a:xfrm>
          <a:prstGeom prst="rect">
            <a:avLst/>
          </a:prstGeom>
          <a:solidFill>
            <a:schemeClr val="accent6">
              <a:lumMod val="40000"/>
              <a:lumOff val="60000"/>
            </a:schemeClr>
          </a:solidFill>
          <a:ln>
            <a:noFill/>
          </a:ln>
        </p:spPr>
        <p:style>
          <a:lnRef idx="3">
            <a:schemeClr val="lt1"/>
          </a:lnRef>
          <a:fillRef idx="1">
            <a:schemeClr val="accent6"/>
          </a:fillRef>
          <a:effectRef idx="1">
            <a:schemeClr val="accent6"/>
          </a:effectRef>
          <a:fontRef idx="minor">
            <a:schemeClr val="lt1"/>
          </a:fontRef>
        </p:style>
        <p:txBody>
          <a:bodyPr rtlCol="0" anchor="ctr"/>
          <a:lstStyle/>
          <a:p>
            <a:pPr algn="ctr">
              <a:defRPr/>
            </a:pPr>
            <a:endParaRPr lang="ru-RU"/>
          </a:p>
        </p:txBody>
      </p:sp>
      <p:sp>
        <p:nvSpPr>
          <p:cNvPr id="1591274262" name="Заголовок 1"/>
          <p:cNvSpPr>
            <a:spLocks noGrp="1"/>
          </p:cNvSpPr>
          <p:nvPr>
            <p:ph type="title"/>
          </p:nvPr>
        </p:nvSpPr>
        <p:spPr bwMode="auto"/>
        <p:txBody>
          <a:bodyPr/>
          <a:lstStyle/>
          <a:p>
            <a:pPr>
              <a:defRPr/>
            </a:pPr>
            <a:r>
              <a:rPr lang="ru-RU"/>
              <a:t>Виртуальные методы</a:t>
            </a:r>
            <a:endParaRPr lang="en-US"/>
          </a:p>
        </p:txBody>
      </p:sp>
      <p:sp>
        <p:nvSpPr>
          <p:cNvPr id="1684127276" name="Номер слайда 4"/>
          <p:cNvSpPr>
            <a:spLocks noGrp="1"/>
          </p:cNvSpPr>
          <p:nvPr>
            <p:ph type="sldNum" sz="quarter" idx="12"/>
          </p:nvPr>
        </p:nvSpPr>
        <p:spPr bwMode="auto"/>
        <p:txBody>
          <a:bodyPr/>
          <a:lstStyle/>
          <a:p>
            <a:pPr>
              <a:defRPr/>
            </a:pPr>
            <a:fld id="{B67FBA2B-964F-4C4D-AAF7-5A8399264638}" type="slidenum">
              <a:rPr lang="en-US"/>
              <a:t>35</a:t>
            </a:fld>
            <a:endParaRPr lang="en-US"/>
          </a:p>
        </p:txBody>
      </p:sp>
      <p:sp>
        <p:nvSpPr>
          <p:cNvPr id="944173182" name="TextBox 6"/>
          <p:cNvSpPr txBox="1"/>
          <p:nvPr/>
        </p:nvSpPr>
        <p:spPr bwMode="auto">
          <a:xfrm>
            <a:off x="763524" y="2906170"/>
            <a:ext cx="2510942" cy="1200329"/>
          </a:xfrm>
          <a:prstGeom prst="rect">
            <a:avLst/>
          </a:prstGeom>
          <a:noFill/>
        </p:spPr>
        <p:txBody>
          <a:bodyPr wrap="square">
            <a:spAutoFit/>
          </a:bodyPr>
          <a:lstStyle/>
          <a:p>
            <a:pPr>
              <a:defRPr/>
            </a:pPr>
            <a:r>
              <a:rPr lang="en-US" b="0">
                <a:solidFill>
                  <a:srgbClr val="0000FF"/>
                </a:solidFill>
                <a:latin typeface="Consolas"/>
              </a:rPr>
              <a:t>void</a:t>
            </a:r>
            <a:r>
              <a:rPr lang="en-US" b="0">
                <a:solidFill>
                  <a:srgbClr val="000000"/>
                </a:solidFill>
                <a:latin typeface="Consolas"/>
              </a:rPr>
              <a:t> bar(A&amp; a){</a:t>
            </a:r>
            <a:endParaRPr/>
          </a:p>
          <a:p>
            <a:pPr>
              <a:defRPr/>
            </a:pPr>
            <a:r>
              <a:rPr lang="en-US" b="0">
                <a:solidFill>
                  <a:srgbClr val="000000"/>
                </a:solidFill>
                <a:latin typeface="Consolas"/>
              </a:rPr>
              <a:t>    a.non_virt();</a:t>
            </a:r>
            <a:endParaRPr/>
          </a:p>
          <a:p>
            <a:pPr>
              <a:defRPr/>
            </a:pPr>
            <a:r>
              <a:rPr lang="en-US" b="0">
                <a:solidFill>
                  <a:srgbClr val="000000"/>
                </a:solidFill>
                <a:latin typeface="Consolas"/>
              </a:rPr>
              <a:t>    a.virt();</a:t>
            </a:r>
            <a:endParaRPr/>
          </a:p>
          <a:p>
            <a:pPr>
              <a:defRPr/>
            </a:pPr>
            <a:r>
              <a:rPr lang="en-US" b="0">
                <a:solidFill>
                  <a:srgbClr val="000000"/>
                </a:solidFill>
                <a:latin typeface="Consolas"/>
              </a:rPr>
              <a:t>}</a:t>
            </a:r>
            <a:endParaRPr/>
          </a:p>
        </p:txBody>
      </p:sp>
      <p:sp>
        <p:nvSpPr>
          <p:cNvPr id="1275197276" name="TextBox 8"/>
          <p:cNvSpPr txBox="1"/>
          <p:nvPr/>
        </p:nvSpPr>
        <p:spPr bwMode="auto">
          <a:xfrm>
            <a:off x="838200" y="4769356"/>
            <a:ext cx="1180795" cy="646331"/>
          </a:xfrm>
          <a:prstGeom prst="rect">
            <a:avLst/>
          </a:prstGeom>
          <a:noFill/>
        </p:spPr>
        <p:txBody>
          <a:bodyPr wrap="square">
            <a:spAutoFit/>
          </a:bodyPr>
          <a:lstStyle/>
          <a:p>
            <a:pPr>
              <a:defRPr/>
            </a:pPr>
            <a:r>
              <a:rPr lang="en-US" b="1">
                <a:solidFill>
                  <a:srgbClr val="000000"/>
                </a:solidFill>
                <a:latin typeface="Consolas"/>
              </a:rPr>
              <a:t>B b;</a:t>
            </a:r>
            <a:endParaRPr/>
          </a:p>
          <a:p>
            <a:pPr>
              <a:defRPr/>
            </a:pPr>
            <a:r>
              <a:rPr lang="en-US" b="0">
                <a:solidFill>
                  <a:srgbClr val="000000"/>
                </a:solidFill>
                <a:latin typeface="Consolas"/>
              </a:rPr>
              <a:t>bar(b);</a:t>
            </a:r>
            <a:endParaRPr/>
          </a:p>
        </p:txBody>
      </p:sp>
      <p:sp>
        <p:nvSpPr>
          <p:cNvPr id="1413268673" name="TextBox 11"/>
          <p:cNvSpPr txBox="1"/>
          <p:nvPr/>
        </p:nvSpPr>
        <p:spPr bwMode="auto">
          <a:xfrm>
            <a:off x="8121593" y="1992143"/>
            <a:ext cx="4047851" cy="1200329"/>
          </a:xfrm>
          <a:prstGeom prst="rect">
            <a:avLst/>
          </a:prstGeom>
          <a:noFill/>
        </p:spPr>
        <p:txBody>
          <a:bodyPr wrap="square">
            <a:spAutoFit/>
          </a:bodyPr>
          <a:lstStyle/>
          <a:p>
            <a:pPr>
              <a:defRPr/>
            </a:pPr>
            <a:r>
              <a:rPr lang="en-US">
                <a:solidFill>
                  <a:srgbClr val="008080"/>
                </a:solidFill>
                <a:latin typeface="Consolas, "/>
              </a:rPr>
              <a:t>vtable for B:</a:t>
            </a:r>
            <a:endParaRPr lang="en-US">
              <a:solidFill>
                <a:srgbClr val="000000"/>
              </a:solidFill>
              <a:latin typeface="Consolas, "/>
            </a:endParaRPr>
          </a:p>
          <a:p>
            <a:pPr>
              <a:defRPr/>
            </a:pPr>
            <a:r>
              <a:rPr lang="en-US">
                <a:solidFill>
                  <a:srgbClr val="000000"/>
                </a:solidFill>
                <a:latin typeface="Consolas, "/>
              </a:rPr>
              <a:t>        </a:t>
            </a:r>
            <a:r>
              <a:rPr lang="en-US">
                <a:solidFill>
                  <a:srgbClr val="0000FF"/>
                </a:solidFill>
                <a:latin typeface="Consolas, "/>
              </a:rPr>
              <a:t>qword</a:t>
            </a:r>
            <a:r>
              <a:rPr lang="en-US">
                <a:solidFill>
                  <a:srgbClr val="000000"/>
                </a:solidFill>
                <a:latin typeface="Consolas, "/>
              </a:rPr>
              <a:t>   </a:t>
            </a:r>
            <a:r>
              <a:rPr lang="en-US">
                <a:solidFill>
                  <a:srgbClr val="098658"/>
                </a:solidFill>
                <a:latin typeface="Consolas, "/>
              </a:rPr>
              <a:t>0</a:t>
            </a:r>
            <a:endParaRPr lang="en-US">
              <a:solidFill>
                <a:srgbClr val="000000"/>
              </a:solidFill>
              <a:latin typeface="Consolas, "/>
            </a:endParaRPr>
          </a:p>
          <a:p>
            <a:pPr>
              <a:defRPr/>
            </a:pPr>
            <a:r>
              <a:rPr lang="en-US">
                <a:solidFill>
                  <a:srgbClr val="000000"/>
                </a:solidFill>
                <a:latin typeface="Consolas, "/>
              </a:rPr>
              <a:t>        </a:t>
            </a:r>
            <a:r>
              <a:rPr lang="en-US">
                <a:solidFill>
                  <a:srgbClr val="0000FF"/>
                </a:solidFill>
                <a:latin typeface="Consolas, "/>
              </a:rPr>
              <a:t>qword</a:t>
            </a:r>
            <a:r>
              <a:rPr lang="en-US">
                <a:solidFill>
                  <a:srgbClr val="000000"/>
                </a:solidFill>
                <a:latin typeface="Consolas, "/>
              </a:rPr>
              <a:t>   </a:t>
            </a:r>
            <a:r>
              <a:rPr lang="en-US">
                <a:solidFill>
                  <a:srgbClr val="008080"/>
                </a:solidFill>
                <a:latin typeface="Consolas, "/>
              </a:rPr>
              <a:t>typeinfo</a:t>
            </a:r>
            <a:r>
              <a:rPr lang="en-US">
                <a:solidFill>
                  <a:srgbClr val="000000"/>
                </a:solidFill>
                <a:latin typeface="Consolas, "/>
              </a:rPr>
              <a:t> </a:t>
            </a:r>
            <a:r>
              <a:rPr lang="en-US">
                <a:solidFill>
                  <a:srgbClr val="008080"/>
                </a:solidFill>
                <a:latin typeface="Consolas, "/>
              </a:rPr>
              <a:t>for</a:t>
            </a:r>
            <a:r>
              <a:rPr lang="en-US">
                <a:solidFill>
                  <a:srgbClr val="000000"/>
                </a:solidFill>
                <a:latin typeface="Consolas, "/>
              </a:rPr>
              <a:t> </a:t>
            </a:r>
            <a:r>
              <a:rPr lang="en-US">
                <a:solidFill>
                  <a:srgbClr val="008080"/>
                </a:solidFill>
                <a:latin typeface="Consolas, "/>
              </a:rPr>
              <a:t>B</a:t>
            </a:r>
            <a:endParaRPr lang="en-US">
              <a:solidFill>
                <a:srgbClr val="000000"/>
              </a:solidFill>
              <a:latin typeface="Consolas, "/>
            </a:endParaRPr>
          </a:p>
          <a:p>
            <a:pPr>
              <a:defRPr/>
            </a:pPr>
            <a:r>
              <a:rPr lang="en-US">
                <a:solidFill>
                  <a:srgbClr val="000000"/>
                </a:solidFill>
                <a:latin typeface="Consolas, "/>
              </a:rPr>
              <a:t>        </a:t>
            </a:r>
            <a:r>
              <a:rPr lang="en-US">
                <a:solidFill>
                  <a:srgbClr val="0000FF"/>
                </a:solidFill>
                <a:latin typeface="Consolas, "/>
              </a:rPr>
              <a:t>qword</a:t>
            </a:r>
            <a:r>
              <a:rPr lang="en-US">
                <a:solidFill>
                  <a:srgbClr val="000000"/>
                </a:solidFill>
                <a:latin typeface="Consolas, "/>
              </a:rPr>
              <a:t>   </a:t>
            </a:r>
            <a:r>
              <a:rPr lang="en-US">
                <a:solidFill>
                  <a:srgbClr val="008080"/>
                </a:solidFill>
                <a:latin typeface="Consolas, "/>
              </a:rPr>
              <a:t>B</a:t>
            </a:r>
            <a:r>
              <a:rPr lang="en-US">
                <a:solidFill>
                  <a:srgbClr val="000000"/>
                </a:solidFill>
                <a:latin typeface="Consolas, "/>
              </a:rPr>
              <a:t>::</a:t>
            </a:r>
            <a:r>
              <a:rPr lang="en-US">
                <a:solidFill>
                  <a:srgbClr val="008080"/>
                </a:solidFill>
                <a:latin typeface="Consolas, "/>
              </a:rPr>
              <a:t>virt</a:t>
            </a:r>
            <a:r>
              <a:rPr lang="en-US">
                <a:solidFill>
                  <a:srgbClr val="000000"/>
                </a:solidFill>
                <a:latin typeface="Consolas, "/>
              </a:rPr>
              <a:t>()</a:t>
            </a:r>
            <a:endParaRPr/>
          </a:p>
        </p:txBody>
      </p:sp>
      <p:cxnSp>
        <p:nvCxnSpPr>
          <p:cNvPr id="1240862651" name="Прямая со стрелкой 12"/>
          <p:cNvCxnSpPr/>
          <p:nvPr/>
        </p:nvCxnSpPr>
        <p:spPr bwMode="auto">
          <a:xfrm flipH="1">
            <a:off x="7402982" y="3071383"/>
            <a:ext cx="1719072" cy="1171024"/>
          </a:xfrm>
          <a:prstGeom prst="straightConnector1">
            <a:avLst/>
          </a:prstGeom>
          <a:ln w="9525">
            <a:prstDash val="lgDash"/>
            <a:tailEnd type="triangle"/>
          </a:ln>
        </p:spPr>
        <p:style>
          <a:lnRef idx="1">
            <a:schemeClr val="dk1"/>
          </a:lnRef>
          <a:fillRef idx="0">
            <a:schemeClr val="dk1"/>
          </a:fillRef>
          <a:effectRef idx="0">
            <a:schemeClr val="dk1"/>
          </a:effectRef>
          <a:fontRef idx="minor">
            <a:schemeClr val="tx1"/>
          </a:fontRef>
        </p:style>
      </p:cxnSp>
      <p:cxnSp>
        <p:nvCxnSpPr>
          <p:cNvPr id="1681945762" name="Прямая со стрелкой 16"/>
          <p:cNvCxnSpPr/>
          <p:nvPr/>
        </p:nvCxnSpPr>
        <p:spPr bwMode="auto">
          <a:xfrm>
            <a:off x="6766560" y="4769356"/>
            <a:ext cx="3057754" cy="20629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37385947" name="TextBox 25"/>
          <p:cNvSpPr txBox="1"/>
          <p:nvPr/>
        </p:nvSpPr>
        <p:spPr bwMode="auto">
          <a:xfrm>
            <a:off x="9299449" y="5019671"/>
            <a:ext cx="3624072" cy="923330"/>
          </a:xfrm>
          <a:prstGeom prst="rect">
            <a:avLst/>
          </a:prstGeom>
          <a:noFill/>
        </p:spPr>
        <p:txBody>
          <a:bodyPr wrap="square">
            <a:spAutoFit/>
          </a:bodyPr>
          <a:lstStyle/>
          <a:p>
            <a:pPr>
              <a:defRPr/>
            </a:pPr>
            <a:r>
              <a:rPr lang="en-US">
                <a:solidFill>
                  <a:srgbClr val="008080"/>
                </a:solidFill>
                <a:latin typeface="Consolas"/>
              </a:rPr>
              <a:t>B</a:t>
            </a:r>
            <a:r>
              <a:rPr lang="en-US" b="0">
                <a:solidFill>
                  <a:srgbClr val="008080"/>
                </a:solidFill>
                <a:latin typeface="Consolas"/>
              </a:rPr>
              <a:t>::virt():</a:t>
            </a:r>
            <a:endParaRPr lang="en-US" b="0">
              <a:solidFill>
                <a:srgbClr val="000000"/>
              </a:solidFill>
              <a:latin typeface="Consolas"/>
            </a:endParaRPr>
          </a:p>
          <a:p>
            <a:pPr>
              <a:defRPr/>
            </a:pPr>
            <a:r>
              <a:rPr lang="en-US" b="0">
                <a:solidFill>
                  <a:srgbClr val="000000"/>
                </a:solidFill>
                <a:latin typeface="Consolas"/>
              </a:rPr>
              <a:t>        </a:t>
            </a:r>
            <a:r>
              <a:rPr lang="en-US" b="0">
                <a:solidFill>
                  <a:srgbClr val="0000FF"/>
                </a:solidFill>
                <a:latin typeface="Consolas"/>
              </a:rPr>
              <a:t>push</a:t>
            </a:r>
            <a:r>
              <a:rPr lang="en-US" b="0">
                <a:solidFill>
                  <a:srgbClr val="000000"/>
                </a:solidFill>
                <a:latin typeface="Consolas"/>
              </a:rPr>
              <a:t>    </a:t>
            </a:r>
            <a:r>
              <a:rPr lang="en-US" b="0">
                <a:solidFill>
                  <a:srgbClr val="4864AA"/>
                </a:solidFill>
                <a:latin typeface="Consolas"/>
              </a:rPr>
              <a:t>rbp</a:t>
            </a:r>
          </a:p>
          <a:p>
            <a:pPr>
              <a:defRPr/>
            </a:pPr>
            <a:r>
              <a:rPr lang="en-US">
                <a:solidFill>
                  <a:srgbClr val="4864AA"/>
                </a:solidFill>
                <a:latin typeface="Consolas"/>
              </a:rPr>
              <a:t>        …</a:t>
            </a:r>
            <a:endParaRPr lang="en-US" b="0">
              <a:solidFill>
                <a:srgbClr val="000000"/>
              </a:solidFill>
              <a:latin typeface="Consolas"/>
            </a:endParaRPr>
          </a:p>
        </p:txBody>
      </p:sp>
      <p:sp>
        <p:nvSpPr>
          <p:cNvPr id="110292477" name="TextBox 10"/>
          <p:cNvSpPr txBox="1"/>
          <p:nvPr/>
        </p:nvSpPr>
        <p:spPr bwMode="auto">
          <a:xfrm>
            <a:off x="3996537" y="2102904"/>
            <a:ext cx="3984346" cy="3693319"/>
          </a:xfrm>
          <a:prstGeom prst="rect">
            <a:avLst/>
          </a:prstGeom>
          <a:noFill/>
        </p:spPr>
        <p:txBody>
          <a:bodyPr wrap="square">
            <a:spAutoFit/>
          </a:bodyPr>
          <a:lstStyle/>
          <a:p>
            <a:pPr>
              <a:defRPr/>
            </a:pPr>
            <a:r>
              <a:rPr lang="en-US" b="0">
                <a:solidFill>
                  <a:srgbClr val="008080"/>
                </a:solidFill>
                <a:latin typeface="Consolas"/>
              </a:rPr>
              <a:t>bar(A&amp;):</a:t>
            </a:r>
            <a:endParaRPr lang="en-US" b="0">
              <a:solidFill>
                <a:srgbClr val="000000"/>
              </a:solidFill>
              <a:latin typeface="Consolas"/>
            </a:endParaRPr>
          </a:p>
          <a:p>
            <a:pPr>
              <a:defRPr/>
            </a:pPr>
            <a:r>
              <a:rPr lang="en-US" b="0">
                <a:solidFill>
                  <a:srgbClr val="000000"/>
                </a:solidFill>
                <a:latin typeface="Consolas"/>
              </a:rPr>
              <a:t>        </a:t>
            </a:r>
            <a:r>
              <a:rPr lang="en-US" b="0">
                <a:solidFill>
                  <a:srgbClr val="0000FF"/>
                </a:solidFill>
                <a:latin typeface="Consolas"/>
              </a:rPr>
              <a:t>push</a:t>
            </a:r>
            <a:r>
              <a:rPr lang="en-US" b="0">
                <a:solidFill>
                  <a:srgbClr val="000000"/>
                </a:solidFill>
                <a:latin typeface="Consolas"/>
              </a:rPr>
              <a:t>    </a:t>
            </a:r>
            <a:r>
              <a:rPr lang="en-US" b="0">
                <a:solidFill>
                  <a:srgbClr val="4864AA"/>
                </a:solidFill>
                <a:latin typeface="Consolas"/>
              </a:rPr>
              <a:t>rbp</a:t>
            </a:r>
            <a:endParaRPr lang="en-US" b="0">
              <a:solidFill>
                <a:srgbClr val="000000"/>
              </a:solidFill>
              <a:latin typeface="Consolas"/>
            </a:endParaRPr>
          </a:p>
          <a:p>
            <a:pPr>
              <a:defRPr/>
            </a:pPr>
            <a:r>
              <a:rPr lang="en-US" b="0">
                <a:solidFill>
                  <a:srgbClr val="000000"/>
                </a:solidFill>
                <a:latin typeface="Consolas"/>
              </a:rPr>
              <a:t>        </a:t>
            </a:r>
            <a:r>
              <a:rPr lang="en-US" b="0">
                <a:solidFill>
                  <a:srgbClr val="0000FF"/>
                </a:solidFill>
                <a:latin typeface="Consolas"/>
              </a:rPr>
              <a:t>mov</a:t>
            </a:r>
            <a:r>
              <a:rPr lang="en-US" b="0">
                <a:solidFill>
                  <a:srgbClr val="000000"/>
                </a:solidFill>
                <a:latin typeface="Consolas"/>
              </a:rPr>
              <a:t>     </a:t>
            </a:r>
            <a:r>
              <a:rPr lang="en-US" b="0">
                <a:solidFill>
                  <a:srgbClr val="4864AA"/>
                </a:solidFill>
                <a:latin typeface="Consolas"/>
              </a:rPr>
              <a:t>rbp</a:t>
            </a:r>
            <a:r>
              <a:rPr lang="en-US" b="0">
                <a:solidFill>
                  <a:srgbClr val="000000"/>
                </a:solidFill>
                <a:latin typeface="Consolas"/>
              </a:rPr>
              <a:t>, </a:t>
            </a:r>
            <a:r>
              <a:rPr lang="en-US" b="0">
                <a:solidFill>
                  <a:srgbClr val="4864AA"/>
                </a:solidFill>
                <a:latin typeface="Consolas"/>
              </a:rPr>
              <a:t>rsp</a:t>
            </a:r>
            <a:endParaRPr lang="en-US" b="0">
              <a:solidFill>
                <a:srgbClr val="000000"/>
              </a:solidFill>
              <a:latin typeface="Consolas"/>
            </a:endParaRPr>
          </a:p>
          <a:p>
            <a:pPr>
              <a:defRPr/>
            </a:pPr>
            <a:r>
              <a:rPr lang="en-US" b="0">
                <a:solidFill>
                  <a:srgbClr val="000000"/>
                </a:solidFill>
                <a:latin typeface="Consolas"/>
              </a:rPr>
              <a:t>        </a:t>
            </a:r>
            <a:r>
              <a:rPr lang="en-US" b="0">
                <a:solidFill>
                  <a:srgbClr val="0000FF"/>
                </a:solidFill>
                <a:latin typeface="Consolas"/>
              </a:rPr>
              <a:t>push</a:t>
            </a:r>
            <a:r>
              <a:rPr lang="en-US" b="0">
                <a:solidFill>
                  <a:srgbClr val="000000"/>
                </a:solidFill>
                <a:latin typeface="Consolas"/>
              </a:rPr>
              <a:t>    </a:t>
            </a:r>
            <a:r>
              <a:rPr lang="en-US" b="0">
                <a:solidFill>
                  <a:srgbClr val="4864AA"/>
                </a:solidFill>
                <a:latin typeface="Consolas"/>
              </a:rPr>
              <a:t>rbx</a:t>
            </a:r>
            <a:endParaRPr lang="en-US" b="0">
              <a:solidFill>
                <a:srgbClr val="000000"/>
              </a:solidFill>
              <a:latin typeface="Consolas"/>
            </a:endParaRPr>
          </a:p>
          <a:p>
            <a:pPr>
              <a:defRPr/>
            </a:pPr>
            <a:r>
              <a:rPr lang="en-US" b="0">
                <a:solidFill>
                  <a:srgbClr val="000000"/>
                </a:solidFill>
                <a:latin typeface="Consolas"/>
              </a:rPr>
              <a:t>        </a:t>
            </a:r>
            <a:r>
              <a:rPr lang="en-US" b="0">
                <a:solidFill>
                  <a:srgbClr val="0000FF"/>
                </a:solidFill>
                <a:latin typeface="Consolas"/>
              </a:rPr>
              <a:t>sub</a:t>
            </a:r>
            <a:r>
              <a:rPr lang="en-US" b="0">
                <a:solidFill>
                  <a:srgbClr val="000000"/>
                </a:solidFill>
                <a:latin typeface="Consolas"/>
              </a:rPr>
              <a:t>     </a:t>
            </a:r>
            <a:r>
              <a:rPr lang="en-US" b="0">
                <a:solidFill>
                  <a:srgbClr val="4864AA"/>
                </a:solidFill>
                <a:latin typeface="Consolas"/>
              </a:rPr>
              <a:t>rsp</a:t>
            </a:r>
            <a:r>
              <a:rPr lang="en-US" b="0">
                <a:solidFill>
                  <a:srgbClr val="000000"/>
                </a:solidFill>
                <a:latin typeface="Consolas"/>
              </a:rPr>
              <a:t>, </a:t>
            </a:r>
            <a:r>
              <a:rPr lang="en-US" b="0">
                <a:solidFill>
                  <a:srgbClr val="098658"/>
                </a:solidFill>
                <a:latin typeface="Consolas"/>
              </a:rPr>
              <a:t>40</a:t>
            </a:r>
            <a:endParaRPr lang="en-US" b="0">
              <a:solidFill>
                <a:srgbClr val="000000"/>
              </a:solidFill>
              <a:latin typeface="Consolas"/>
            </a:endParaRPr>
          </a:p>
          <a:p>
            <a:pPr>
              <a:defRPr/>
            </a:pPr>
            <a:r>
              <a:rPr lang="en-US" b="0">
                <a:solidFill>
                  <a:srgbClr val="000000"/>
                </a:solidFill>
                <a:latin typeface="Consolas"/>
              </a:rPr>
              <a:t>        </a:t>
            </a:r>
            <a:r>
              <a:rPr lang="en-US" b="0">
                <a:solidFill>
                  <a:srgbClr val="0000FF"/>
                </a:solidFill>
                <a:latin typeface="Consolas"/>
              </a:rPr>
              <a:t>mov</a:t>
            </a:r>
            <a:r>
              <a:rPr lang="en-US" b="0">
                <a:solidFill>
                  <a:srgbClr val="000000"/>
                </a:solidFill>
                <a:latin typeface="Consolas"/>
              </a:rPr>
              <a:t>     </a:t>
            </a:r>
            <a:r>
              <a:rPr lang="en-US" b="0">
                <a:solidFill>
                  <a:srgbClr val="4864AA"/>
                </a:solidFill>
                <a:latin typeface="Consolas"/>
              </a:rPr>
              <a:t>rbx</a:t>
            </a:r>
            <a:r>
              <a:rPr lang="en-US" b="0">
                <a:solidFill>
                  <a:srgbClr val="000000"/>
                </a:solidFill>
                <a:latin typeface="Consolas"/>
              </a:rPr>
              <a:t>, </a:t>
            </a:r>
            <a:r>
              <a:rPr lang="en-US" b="0">
                <a:solidFill>
                  <a:srgbClr val="4864AA"/>
                </a:solidFill>
                <a:latin typeface="Consolas"/>
              </a:rPr>
              <a:t>rcx</a:t>
            </a:r>
            <a:endParaRPr lang="en-US" b="0">
              <a:solidFill>
                <a:srgbClr val="000000"/>
              </a:solidFill>
              <a:latin typeface="Consolas"/>
            </a:endParaRPr>
          </a:p>
          <a:p>
            <a:pPr>
              <a:defRPr/>
            </a:pPr>
            <a:r>
              <a:rPr lang="en-US" b="0">
                <a:solidFill>
                  <a:srgbClr val="000000"/>
                </a:solidFill>
                <a:latin typeface="Consolas"/>
              </a:rPr>
              <a:t>        </a:t>
            </a:r>
            <a:r>
              <a:rPr lang="en-US" b="0">
                <a:solidFill>
                  <a:srgbClr val="0000FF"/>
                </a:solidFill>
                <a:latin typeface="Consolas"/>
              </a:rPr>
              <a:t>call</a:t>
            </a:r>
            <a:r>
              <a:rPr lang="en-US" b="0">
                <a:solidFill>
                  <a:srgbClr val="000000"/>
                </a:solidFill>
                <a:latin typeface="Consolas"/>
              </a:rPr>
              <a:t>    </a:t>
            </a:r>
            <a:r>
              <a:rPr lang="en-US" b="0">
                <a:solidFill>
                  <a:srgbClr val="008080"/>
                </a:solidFill>
                <a:latin typeface="Consolas"/>
              </a:rPr>
              <a:t>A</a:t>
            </a:r>
            <a:r>
              <a:rPr lang="en-US" b="0">
                <a:solidFill>
                  <a:srgbClr val="000000"/>
                </a:solidFill>
                <a:latin typeface="Consolas"/>
              </a:rPr>
              <a:t>::</a:t>
            </a:r>
            <a:r>
              <a:rPr lang="en-US" b="0">
                <a:solidFill>
                  <a:srgbClr val="008080"/>
                </a:solidFill>
                <a:latin typeface="Consolas"/>
              </a:rPr>
              <a:t>non_virt</a:t>
            </a:r>
            <a:r>
              <a:rPr lang="en-US" b="0">
                <a:solidFill>
                  <a:srgbClr val="000000"/>
                </a:solidFill>
                <a:latin typeface="Consolas"/>
              </a:rPr>
              <a:t>()</a:t>
            </a:r>
            <a:endParaRPr/>
          </a:p>
          <a:p>
            <a:pPr>
              <a:defRPr/>
            </a:pPr>
            <a:r>
              <a:rPr lang="en-US" b="0">
                <a:solidFill>
                  <a:srgbClr val="000000"/>
                </a:solidFill>
                <a:latin typeface="Consolas"/>
              </a:rPr>
              <a:t>        </a:t>
            </a:r>
            <a:r>
              <a:rPr lang="en-US" b="0">
                <a:solidFill>
                  <a:srgbClr val="0000FF"/>
                </a:solidFill>
                <a:latin typeface="Consolas"/>
              </a:rPr>
              <a:t>mov</a:t>
            </a:r>
            <a:r>
              <a:rPr lang="en-US" b="0">
                <a:solidFill>
                  <a:srgbClr val="000000"/>
                </a:solidFill>
                <a:latin typeface="Consolas"/>
              </a:rPr>
              <a:t>     </a:t>
            </a:r>
            <a:r>
              <a:rPr lang="en-US" b="0">
                <a:solidFill>
                  <a:srgbClr val="4864AA"/>
                </a:solidFill>
                <a:latin typeface="Consolas"/>
              </a:rPr>
              <a:t>rax</a:t>
            </a:r>
            <a:r>
              <a:rPr lang="en-US" b="0">
                <a:solidFill>
                  <a:srgbClr val="000000"/>
                </a:solidFill>
                <a:latin typeface="Consolas"/>
              </a:rPr>
              <a:t>, [</a:t>
            </a:r>
            <a:r>
              <a:rPr lang="en-US" b="0">
                <a:solidFill>
                  <a:srgbClr val="4864AA"/>
                </a:solidFill>
                <a:latin typeface="Consolas"/>
              </a:rPr>
              <a:t>rbx</a:t>
            </a:r>
            <a:r>
              <a:rPr lang="en-US" b="0">
                <a:solidFill>
                  <a:srgbClr val="000000"/>
                </a:solidFill>
                <a:latin typeface="Consolas"/>
              </a:rPr>
              <a:t>]</a:t>
            </a:r>
            <a:endParaRPr/>
          </a:p>
          <a:p>
            <a:pPr>
              <a:defRPr/>
            </a:pPr>
            <a:r>
              <a:rPr lang="en-US" b="0">
                <a:solidFill>
                  <a:srgbClr val="000000"/>
                </a:solidFill>
                <a:latin typeface="Consolas"/>
              </a:rPr>
              <a:t>        </a:t>
            </a:r>
            <a:r>
              <a:rPr lang="en-US" b="0">
                <a:solidFill>
                  <a:srgbClr val="0000FF"/>
                </a:solidFill>
                <a:latin typeface="Consolas"/>
              </a:rPr>
              <a:t>mov</a:t>
            </a:r>
            <a:r>
              <a:rPr lang="en-US" b="0">
                <a:solidFill>
                  <a:srgbClr val="000000"/>
                </a:solidFill>
                <a:latin typeface="Consolas"/>
              </a:rPr>
              <a:t>     </a:t>
            </a:r>
            <a:r>
              <a:rPr lang="en-US" b="0">
                <a:solidFill>
                  <a:srgbClr val="4864AA"/>
                </a:solidFill>
                <a:latin typeface="Consolas"/>
              </a:rPr>
              <a:t>rcx</a:t>
            </a:r>
            <a:r>
              <a:rPr lang="en-US" b="0">
                <a:solidFill>
                  <a:srgbClr val="000000"/>
                </a:solidFill>
                <a:latin typeface="Consolas"/>
              </a:rPr>
              <a:t>, </a:t>
            </a:r>
            <a:r>
              <a:rPr lang="en-US" b="0">
                <a:solidFill>
                  <a:srgbClr val="4864AA"/>
                </a:solidFill>
                <a:latin typeface="Consolas"/>
              </a:rPr>
              <a:t>rbx</a:t>
            </a:r>
            <a:endParaRPr lang="en-US" b="0">
              <a:solidFill>
                <a:srgbClr val="000000"/>
              </a:solidFill>
              <a:latin typeface="Consolas"/>
            </a:endParaRPr>
          </a:p>
          <a:p>
            <a:pPr>
              <a:defRPr/>
            </a:pPr>
            <a:r>
              <a:rPr lang="en-US" b="0">
                <a:solidFill>
                  <a:srgbClr val="000000"/>
                </a:solidFill>
                <a:latin typeface="Consolas"/>
              </a:rPr>
              <a:t>        </a:t>
            </a:r>
            <a:r>
              <a:rPr lang="en-US" b="0">
                <a:solidFill>
                  <a:srgbClr val="0000FF"/>
                </a:solidFill>
                <a:latin typeface="Consolas"/>
              </a:rPr>
              <a:t>call</a:t>
            </a:r>
            <a:r>
              <a:rPr lang="en-US" b="0">
                <a:solidFill>
                  <a:srgbClr val="000000"/>
                </a:solidFill>
                <a:latin typeface="Consolas"/>
              </a:rPr>
              <a:t>    [</a:t>
            </a:r>
            <a:r>
              <a:rPr lang="en-US" b="0">
                <a:solidFill>
                  <a:srgbClr val="4864AA"/>
                </a:solidFill>
                <a:latin typeface="Consolas"/>
              </a:rPr>
              <a:t>rax</a:t>
            </a:r>
            <a:r>
              <a:rPr lang="en-US" b="0">
                <a:solidFill>
                  <a:srgbClr val="000000"/>
                </a:solidFill>
                <a:latin typeface="Consolas"/>
              </a:rPr>
              <a:t>]</a:t>
            </a:r>
            <a:endParaRPr/>
          </a:p>
          <a:p>
            <a:pPr>
              <a:defRPr/>
            </a:pPr>
            <a:r>
              <a:rPr lang="en-US" b="0">
                <a:solidFill>
                  <a:srgbClr val="000000"/>
                </a:solidFill>
                <a:latin typeface="Consolas"/>
              </a:rPr>
              <a:t>        </a:t>
            </a:r>
            <a:r>
              <a:rPr lang="en-US" b="0">
                <a:solidFill>
                  <a:srgbClr val="0000FF"/>
                </a:solidFill>
                <a:latin typeface="Consolas"/>
              </a:rPr>
              <a:t>mov</a:t>
            </a:r>
            <a:r>
              <a:rPr lang="en-US" b="0">
                <a:solidFill>
                  <a:srgbClr val="000000"/>
                </a:solidFill>
                <a:latin typeface="Consolas"/>
              </a:rPr>
              <a:t>     </a:t>
            </a:r>
            <a:r>
              <a:rPr lang="en-US" b="0">
                <a:solidFill>
                  <a:srgbClr val="4864AA"/>
                </a:solidFill>
                <a:latin typeface="Consolas"/>
              </a:rPr>
              <a:t>rbx</a:t>
            </a:r>
            <a:r>
              <a:rPr lang="en-US" b="0">
                <a:solidFill>
                  <a:srgbClr val="000000"/>
                </a:solidFill>
                <a:latin typeface="Consolas"/>
              </a:rPr>
              <a:t>, [</a:t>
            </a:r>
            <a:r>
              <a:rPr lang="en-US" b="0">
                <a:solidFill>
                  <a:srgbClr val="4864AA"/>
                </a:solidFill>
                <a:latin typeface="Consolas"/>
              </a:rPr>
              <a:t>rbp</a:t>
            </a:r>
            <a:r>
              <a:rPr lang="en-US" b="0">
                <a:solidFill>
                  <a:srgbClr val="000000"/>
                </a:solidFill>
                <a:latin typeface="Consolas"/>
              </a:rPr>
              <a:t>-</a:t>
            </a:r>
            <a:r>
              <a:rPr lang="en-US" b="0">
                <a:solidFill>
                  <a:srgbClr val="098658"/>
                </a:solidFill>
                <a:latin typeface="Consolas"/>
              </a:rPr>
              <a:t>8</a:t>
            </a:r>
            <a:r>
              <a:rPr lang="en-US" b="0">
                <a:solidFill>
                  <a:srgbClr val="000000"/>
                </a:solidFill>
                <a:latin typeface="Consolas"/>
              </a:rPr>
              <a:t>]</a:t>
            </a:r>
            <a:endParaRPr/>
          </a:p>
          <a:p>
            <a:pPr>
              <a:defRPr/>
            </a:pPr>
            <a:r>
              <a:rPr lang="en-US" b="0">
                <a:solidFill>
                  <a:srgbClr val="000000"/>
                </a:solidFill>
                <a:latin typeface="Consolas"/>
              </a:rPr>
              <a:t>        </a:t>
            </a:r>
            <a:r>
              <a:rPr lang="en-US" b="0">
                <a:solidFill>
                  <a:srgbClr val="0000FF"/>
                </a:solidFill>
                <a:latin typeface="Consolas"/>
              </a:rPr>
              <a:t>leave</a:t>
            </a:r>
            <a:endParaRPr lang="en-US" b="0">
              <a:solidFill>
                <a:srgbClr val="000000"/>
              </a:solidFill>
              <a:latin typeface="Consolas"/>
            </a:endParaRPr>
          </a:p>
          <a:p>
            <a:pPr>
              <a:defRPr/>
            </a:pPr>
            <a:r>
              <a:rPr lang="en-US" b="0">
                <a:solidFill>
                  <a:srgbClr val="000000"/>
                </a:solidFill>
                <a:latin typeface="Consolas"/>
              </a:rPr>
              <a:t>        </a:t>
            </a:r>
            <a:r>
              <a:rPr lang="en-US" b="0">
                <a:solidFill>
                  <a:srgbClr val="0000FF"/>
                </a:solidFill>
                <a:latin typeface="Consolas"/>
              </a:rPr>
              <a:t>ret</a:t>
            </a:r>
            <a:endParaRPr lang="en-US" b="0">
              <a:solidFill>
                <a:srgbClr val="000000"/>
              </a:solidFill>
              <a:latin typeface="Consolas"/>
            </a:endParaRPr>
          </a:p>
        </p:txBody>
      </p:sp>
      <p:sp>
        <p:nvSpPr>
          <p:cNvPr id="709929717" name="TextBox 2"/>
          <p:cNvSpPr txBox="1"/>
          <p:nvPr/>
        </p:nvSpPr>
        <p:spPr bwMode="auto">
          <a:xfrm>
            <a:off x="3498190" y="1569153"/>
            <a:ext cx="5195620" cy="400110"/>
          </a:xfrm>
          <a:prstGeom prst="rect">
            <a:avLst/>
          </a:prstGeom>
          <a:noFill/>
        </p:spPr>
        <p:txBody>
          <a:bodyPr wrap="square">
            <a:spAutoFit/>
          </a:bodyPr>
          <a:lstStyle/>
          <a:p>
            <a:pPr algn="ctr">
              <a:defRPr/>
            </a:pPr>
            <a:r>
              <a:rPr lang="en-US" sz="2000" u="sng">
                <a:hlinkClick r:id="rId3"/>
              </a:rPr>
              <a:t>https://godbolt.org/z/Er77xqEWj</a:t>
            </a:r>
            <a:endParaRPr lang="ru-RU" sz="20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348409127" name="Заголовок 1"/>
          <p:cNvSpPr>
            <a:spLocks noGrp="1"/>
          </p:cNvSpPr>
          <p:nvPr>
            <p:ph type="title"/>
          </p:nvPr>
        </p:nvSpPr>
        <p:spPr bwMode="auto"/>
        <p:txBody>
          <a:bodyPr/>
          <a:lstStyle/>
          <a:p>
            <a:pPr>
              <a:defRPr/>
            </a:pPr>
            <a:r>
              <a:rPr lang="ru-RU"/>
              <a:t>Исключения в С++</a:t>
            </a:r>
            <a:endParaRPr lang="en-US"/>
          </a:p>
        </p:txBody>
      </p:sp>
      <p:sp>
        <p:nvSpPr>
          <p:cNvPr id="1225076531" name="Объект 2"/>
          <p:cNvSpPr>
            <a:spLocks noGrp="1"/>
          </p:cNvSpPr>
          <p:nvPr>
            <p:ph idx="1"/>
          </p:nvPr>
        </p:nvSpPr>
        <p:spPr bwMode="auto">
          <a:xfrm>
            <a:off x="838200" y="1509364"/>
            <a:ext cx="6177077" cy="5269571"/>
          </a:xfrm>
        </p:spPr>
        <p:txBody>
          <a:bodyPr>
            <a:normAutofit/>
          </a:bodyPr>
          <a:lstStyle/>
          <a:p>
            <a:pPr marL="0" indent="0">
              <a:buNone/>
              <a:defRPr/>
            </a:pPr>
            <a:r>
              <a:rPr lang="ru-RU" sz="2000" dirty="0"/>
              <a:t>Для обработки ошибок в языке С++ был введен механизм исключений.</a:t>
            </a:r>
            <a:endParaRPr dirty="0"/>
          </a:p>
          <a:p>
            <a:pPr marL="0" indent="0">
              <a:buNone/>
              <a:defRPr/>
            </a:pPr>
            <a:r>
              <a:rPr lang="ru-RU" sz="2000" b="1" dirty="0"/>
              <a:t>Исключительная ситуация </a:t>
            </a:r>
            <a:r>
              <a:rPr lang="ru-RU" sz="2000" dirty="0"/>
              <a:t>– ситуация, при которой дальнейшее выполнение программы невозможно.</a:t>
            </a:r>
            <a:endParaRPr dirty="0"/>
          </a:p>
          <a:p>
            <a:pPr marL="0" indent="0">
              <a:buNone/>
              <a:defRPr/>
            </a:pPr>
            <a:r>
              <a:rPr lang="ru-RU" sz="2000" b="1" dirty="0"/>
              <a:t>Исключение</a:t>
            </a:r>
            <a:r>
              <a:rPr lang="ru-RU" sz="2000" dirty="0"/>
              <a:t> – объект, содержащий информацию об исключительной ситуации.</a:t>
            </a:r>
            <a:endParaRPr lang="en-US" sz="2000" dirty="0"/>
          </a:p>
          <a:p>
            <a:pPr marL="0" indent="0">
              <a:buNone/>
              <a:defRPr/>
            </a:pPr>
            <a:r>
              <a:rPr lang="ru-RU" sz="2000" dirty="0"/>
              <a:t>Если исключение было брошено, и в выполняемом блоке кода для него определен обработчик, то на стеке уничтожаются только переменные, принадлежащие текущему  блоку кода, после чего управление передается обработчику.</a:t>
            </a:r>
            <a:endParaRPr dirty="0"/>
          </a:p>
          <a:p>
            <a:pPr marL="0" indent="0">
              <a:buNone/>
              <a:defRPr/>
            </a:pPr>
            <a:r>
              <a:rPr lang="ru-RU" sz="2000" dirty="0"/>
              <a:t>Если в текущей функции нет подходящего обработчика, то начинается процесс раскрутки стека.</a:t>
            </a:r>
            <a:endParaRPr lang="en-US" sz="2000" dirty="0"/>
          </a:p>
          <a:p>
            <a:pPr marL="0" indent="0">
              <a:buNone/>
              <a:defRPr/>
            </a:pPr>
            <a:r>
              <a:rPr lang="ru-RU" sz="2000" dirty="0"/>
              <a:t>До введения исключений единственным способом узнать об ошибке было сочетание специальных возвращаемых значений и системного макроса </a:t>
            </a:r>
            <a:r>
              <a:rPr lang="en-US" sz="2000" dirty="0" err="1"/>
              <a:t>errno</a:t>
            </a:r>
            <a:r>
              <a:rPr lang="en-US" sz="2000" dirty="0"/>
              <a:t>.</a:t>
            </a:r>
            <a:endParaRPr lang="ru-RU" sz="2000" dirty="0"/>
          </a:p>
          <a:p>
            <a:pPr marL="0" indent="0">
              <a:buNone/>
              <a:defRPr/>
            </a:pPr>
            <a:endParaRPr lang="en-US" sz="2000" dirty="0"/>
          </a:p>
        </p:txBody>
      </p:sp>
      <p:sp>
        <p:nvSpPr>
          <p:cNvPr id="249878847" name="Номер слайда 4"/>
          <p:cNvSpPr>
            <a:spLocks noGrp="1"/>
          </p:cNvSpPr>
          <p:nvPr>
            <p:ph type="sldNum" sz="quarter" idx="12"/>
          </p:nvPr>
        </p:nvSpPr>
        <p:spPr bwMode="auto"/>
        <p:txBody>
          <a:bodyPr/>
          <a:lstStyle/>
          <a:p>
            <a:pPr>
              <a:defRPr/>
            </a:pPr>
            <a:fld id="{B67FBA2B-964F-4C4D-AAF7-5A8399264638}" type="slidenum">
              <a:rPr lang="en-US"/>
              <a:t>36</a:t>
            </a:fld>
            <a:endParaRPr lang="en-US"/>
          </a:p>
        </p:txBody>
      </p:sp>
      <p:sp>
        <p:nvSpPr>
          <p:cNvPr id="1368292916" name="TextBox 3"/>
          <p:cNvSpPr txBox="1"/>
          <p:nvPr/>
        </p:nvSpPr>
        <p:spPr bwMode="auto">
          <a:xfrm>
            <a:off x="7390237" y="1188343"/>
            <a:ext cx="4906614" cy="4524315"/>
          </a:xfrm>
          <a:prstGeom prst="rect">
            <a:avLst/>
          </a:prstGeom>
          <a:noFill/>
        </p:spPr>
        <p:txBody>
          <a:bodyPr wrap="square">
            <a:spAutoFit/>
          </a:bodyPr>
          <a:lstStyle/>
          <a:p>
            <a:pPr>
              <a:defRPr/>
            </a:pPr>
            <a:r>
              <a:rPr lang="en-US" b="0">
                <a:solidFill>
                  <a:srgbClr val="0000FF"/>
                </a:solidFill>
                <a:latin typeface="Consolas"/>
              </a:rPr>
              <a:t>void</a:t>
            </a:r>
            <a:r>
              <a:rPr lang="en-US" b="0">
                <a:solidFill>
                  <a:srgbClr val="000000"/>
                </a:solidFill>
                <a:latin typeface="Consolas"/>
              </a:rPr>
              <a:t> foo(){</a:t>
            </a:r>
            <a:endParaRPr/>
          </a:p>
          <a:p>
            <a:pPr>
              <a:defRPr/>
            </a:pPr>
            <a:r>
              <a:rPr lang="en-US" b="0">
                <a:solidFill>
                  <a:srgbClr val="000000"/>
                </a:solidFill>
                <a:latin typeface="Consolas"/>
              </a:rPr>
              <a:t>    S c{</a:t>
            </a:r>
            <a:r>
              <a:rPr lang="en-US" b="0">
                <a:solidFill>
                  <a:srgbClr val="A31515"/>
                </a:solidFill>
                <a:latin typeface="Consolas"/>
              </a:rPr>
              <a:t>"C"</a:t>
            </a:r>
            <a:r>
              <a:rPr lang="en-US" b="0">
                <a:solidFill>
                  <a:srgbClr val="000000"/>
                </a:solidFill>
                <a:latin typeface="Consolas"/>
              </a:rPr>
              <a:t>};</a:t>
            </a:r>
            <a:endParaRPr/>
          </a:p>
          <a:p>
            <a:pPr>
              <a:defRPr/>
            </a:pPr>
            <a:r>
              <a:rPr lang="en-US" b="0">
                <a:solidFill>
                  <a:srgbClr val="000000"/>
                </a:solidFill>
                <a:latin typeface="Consolas"/>
              </a:rPr>
              <a:t>    </a:t>
            </a:r>
            <a:r>
              <a:rPr lang="en-US" b="0">
                <a:solidFill>
                  <a:srgbClr val="0000FF"/>
                </a:solidFill>
                <a:latin typeface="Consolas"/>
              </a:rPr>
              <a:t>if</a:t>
            </a:r>
            <a:r>
              <a:rPr lang="en-US" b="0">
                <a:solidFill>
                  <a:srgbClr val="000000"/>
                </a:solidFill>
                <a:latin typeface="Consolas"/>
              </a:rPr>
              <a:t>(rand())</a:t>
            </a:r>
            <a:endParaRPr/>
          </a:p>
          <a:p>
            <a:pPr>
              <a:defRPr/>
            </a:pPr>
            <a:r>
              <a:rPr lang="en-US" b="0">
                <a:solidFill>
                  <a:srgbClr val="000000"/>
                </a:solidFill>
                <a:latin typeface="Consolas"/>
              </a:rPr>
              <a:t>        </a:t>
            </a:r>
            <a:r>
              <a:rPr lang="en-US" b="0">
                <a:solidFill>
                  <a:srgbClr val="0000FF"/>
                </a:solidFill>
                <a:latin typeface="Consolas"/>
              </a:rPr>
              <a:t>throw</a:t>
            </a:r>
            <a:r>
              <a:rPr lang="en-US" b="0">
                <a:solidFill>
                  <a:srgbClr val="000000"/>
                </a:solidFill>
                <a:latin typeface="Consolas"/>
              </a:rPr>
              <a:t> std::logic_error(</a:t>
            </a:r>
            <a:r>
              <a:rPr lang="en-US" b="0">
                <a:solidFill>
                  <a:srgbClr val="A31515"/>
                </a:solidFill>
                <a:latin typeface="Consolas"/>
              </a:rPr>
              <a:t>""</a:t>
            </a:r>
            <a:r>
              <a:rPr lang="en-US" b="0">
                <a:solidFill>
                  <a:srgbClr val="000000"/>
                </a:solidFill>
                <a:latin typeface="Consolas"/>
              </a:rPr>
              <a:t>);</a:t>
            </a:r>
            <a:endParaRPr/>
          </a:p>
          <a:p>
            <a:pPr>
              <a:defRPr/>
            </a:pPr>
            <a:r>
              <a:rPr lang="en-US" b="0">
                <a:solidFill>
                  <a:srgbClr val="000000"/>
                </a:solidFill>
                <a:latin typeface="Consolas"/>
              </a:rPr>
              <a:t>}</a:t>
            </a:r>
            <a:endParaRPr/>
          </a:p>
          <a:p>
            <a:pPr>
              <a:defRPr/>
            </a:pPr>
            <a:br>
              <a:rPr lang="en-US" b="0">
                <a:solidFill>
                  <a:srgbClr val="000000"/>
                </a:solidFill>
                <a:latin typeface="Consolas"/>
              </a:rPr>
            </a:br>
            <a:r>
              <a:rPr lang="en-US" b="0">
                <a:solidFill>
                  <a:srgbClr val="0000FF"/>
                </a:solidFill>
                <a:latin typeface="Consolas"/>
              </a:rPr>
              <a:t>void</a:t>
            </a:r>
            <a:r>
              <a:rPr lang="en-US" b="0">
                <a:solidFill>
                  <a:srgbClr val="000000"/>
                </a:solidFill>
                <a:latin typeface="Consolas"/>
              </a:rPr>
              <a:t> bar(){</a:t>
            </a:r>
            <a:endParaRPr/>
          </a:p>
          <a:p>
            <a:pPr>
              <a:defRPr/>
            </a:pPr>
            <a:r>
              <a:rPr lang="en-US" b="0">
                <a:solidFill>
                  <a:srgbClr val="000000"/>
                </a:solidFill>
                <a:latin typeface="Consolas"/>
              </a:rPr>
              <a:t>    S a{</a:t>
            </a:r>
            <a:r>
              <a:rPr lang="en-US" b="0">
                <a:solidFill>
                  <a:srgbClr val="A31515"/>
                </a:solidFill>
                <a:latin typeface="Consolas"/>
              </a:rPr>
              <a:t>"A"</a:t>
            </a:r>
            <a:r>
              <a:rPr lang="en-US" b="0">
                <a:solidFill>
                  <a:srgbClr val="000000"/>
                </a:solidFill>
                <a:latin typeface="Consolas"/>
              </a:rPr>
              <a:t>};</a:t>
            </a:r>
            <a:endParaRPr/>
          </a:p>
          <a:p>
            <a:pPr>
              <a:defRPr/>
            </a:pPr>
            <a:r>
              <a:rPr lang="en-US" b="0">
                <a:solidFill>
                  <a:srgbClr val="000000"/>
                </a:solidFill>
                <a:latin typeface="Consolas"/>
              </a:rPr>
              <a:t>    </a:t>
            </a:r>
            <a:r>
              <a:rPr lang="en-US" b="0">
                <a:solidFill>
                  <a:srgbClr val="0000FF"/>
                </a:solidFill>
                <a:latin typeface="Consolas"/>
              </a:rPr>
              <a:t>try</a:t>
            </a:r>
            <a:r>
              <a:rPr lang="en-US" b="0">
                <a:solidFill>
                  <a:srgbClr val="000000"/>
                </a:solidFill>
                <a:latin typeface="Consolas"/>
              </a:rPr>
              <a:t>{</a:t>
            </a:r>
            <a:endParaRPr/>
          </a:p>
          <a:p>
            <a:pPr>
              <a:defRPr/>
            </a:pPr>
            <a:r>
              <a:rPr lang="en-US" b="0">
                <a:solidFill>
                  <a:srgbClr val="000000"/>
                </a:solidFill>
                <a:latin typeface="Consolas"/>
              </a:rPr>
              <a:t>        S b{</a:t>
            </a:r>
            <a:r>
              <a:rPr lang="en-US" b="0">
                <a:solidFill>
                  <a:srgbClr val="A31515"/>
                </a:solidFill>
                <a:latin typeface="Consolas"/>
              </a:rPr>
              <a:t>“B"</a:t>
            </a:r>
            <a:r>
              <a:rPr lang="en-US" b="0">
                <a:solidFill>
                  <a:srgbClr val="000000"/>
                </a:solidFill>
                <a:latin typeface="Consolas"/>
              </a:rPr>
              <a:t>};</a:t>
            </a:r>
            <a:endParaRPr/>
          </a:p>
          <a:p>
            <a:pPr>
              <a:defRPr/>
            </a:pPr>
            <a:r>
              <a:rPr lang="en-US" b="0">
                <a:solidFill>
                  <a:srgbClr val="000000"/>
                </a:solidFill>
                <a:latin typeface="Consolas"/>
              </a:rPr>
              <a:t>        foo();</a:t>
            </a:r>
            <a:endParaRPr/>
          </a:p>
          <a:p>
            <a:pPr>
              <a:defRPr/>
            </a:pPr>
            <a:r>
              <a:rPr lang="en-US" b="0">
                <a:solidFill>
                  <a:srgbClr val="000000"/>
                </a:solidFill>
                <a:latin typeface="Consolas"/>
              </a:rPr>
              <a:t>    }</a:t>
            </a:r>
            <a:r>
              <a:rPr lang="en-US" b="0">
                <a:solidFill>
                  <a:srgbClr val="0000FF"/>
                </a:solidFill>
                <a:latin typeface="Consolas"/>
              </a:rPr>
              <a:t>catch</a:t>
            </a:r>
            <a:r>
              <a:rPr lang="en-US" b="0">
                <a:solidFill>
                  <a:srgbClr val="000000"/>
                </a:solidFill>
                <a:latin typeface="Consolas"/>
              </a:rPr>
              <a:t>(std::logic_error&amp; e){</a:t>
            </a:r>
            <a:endParaRPr/>
          </a:p>
          <a:p>
            <a:pPr>
              <a:defRPr/>
            </a:pPr>
            <a:r>
              <a:rPr lang="en-US" b="0">
                <a:solidFill>
                  <a:srgbClr val="000000"/>
                </a:solidFill>
                <a:latin typeface="Consolas"/>
              </a:rPr>
              <a:t>        printf(</a:t>
            </a:r>
            <a:r>
              <a:rPr lang="en-US" b="0">
                <a:solidFill>
                  <a:srgbClr val="A31515"/>
                </a:solidFill>
                <a:latin typeface="Consolas"/>
              </a:rPr>
              <a:t>"Caught!\n"</a:t>
            </a:r>
            <a:r>
              <a:rPr lang="en-US" b="0">
                <a:solidFill>
                  <a:srgbClr val="000000"/>
                </a:solidFill>
                <a:latin typeface="Consolas"/>
              </a:rPr>
              <a:t>);</a:t>
            </a:r>
            <a:endParaRPr/>
          </a:p>
          <a:p>
            <a:pPr>
              <a:defRPr/>
            </a:pPr>
            <a:r>
              <a:rPr lang="en-US" b="0">
                <a:solidFill>
                  <a:srgbClr val="000000"/>
                </a:solidFill>
                <a:latin typeface="Consolas"/>
              </a:rPr>
              <a:t>    }</a:t>
            </a:r>
            <a:endParaRPr/>
          </a:p>
          <a:p>
            <a:pPr>
              <a:defRPr/>
            </a:pPr>
            <a:r>
              <a:rPr lang="en-US" b="0">
                <a:solidFill>
                  <a:srgbClr val="000000"/>
                </a:solidFill>
                <a:latin typeface="Consolas"/>
              </a:rPr>
              <a:t>}</a:t>
            </a:r>
            <a:endParaRPr/>
          </a:p>
          <a:p>
            <a:pPr>
              <a:defRPr/>
            </a:pPr>
            <a:endParaRPr lang="en-US">
              <a:solidFill>
                <a:srgbClr val="000000"/>
              </a:solidFill>
              <a:latin typeface="Consolas, "/>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903511951" name="Заголовок 1"/>
          <p:cNvSpPr>
            <a:spLocks noGrp="1"/>
          </p:cNvSpPr>
          <p:nvPr>
            <p:ph type="title"/>
          </p:nvPr>
        </p:nvSpPr>
        <p:spPr bwMode="auto">
          <a:xfrm>
            <a:off x="838200" y="365125"/>
            <a:ext cx="5313883" cy="1325563"/>
          </a:xfrm>
        </p:spPr>
        <p:txBody>
          <a:bodyPr/>
          <a:lstStyle/>
          <a:p>
            <a:pPr>
              <a:defRPr/>
            </a:pPr>
            <a:r>
              <a:rPr lang="ru-RU"/>
              <a:t>Раскрутка стека</a:t>
            </a:r>
            <a:endParaRPr lang="en-US"/>
          </a:p>
        </p:txBody>
      </p:sp>
      <p:sp>
        <p:nvSpPr>
          <p:cNvPr id="1531450103" name="Объект 2"/>
          <p:cNvSpPr>
            <a:spLocks noGrp="1"/>
          </p:cNvSpPr>
          <p:nvPr>
            <p:ph idx="1"/>
          </p:nvPr>
        </p:nvSpPr>
        <p:spPr bwMode="auto">
          <a:xfrm>
            <a:off x="838200" y="1825625"/>
            <a:ext cx="5799925" cy="4351338"/>
          </a:xfrm>
        </p:spPr>
        <p:txBody>
          <a:bodyPr>
            <a:normAutofit/>
          </a:bodyPr>
          <a:lstStyle/>
          <a:p>
            <a:pPr marL="0" indent="0">
              <a:buNone/>
              <a:defRPr/>
            </a:pPr>
            <a:r>
              <a:rPr lang="ru-RU" sz="2000" dirty="0"/>
              <a:t>В ходе раскрутки стека (</a:t>
            </a:r>
            <a:r>
              <a:rPr lang="en-US" sz="2000" b="1" dirty="0"/>
              <a:t>stack unwinding</a:t>
            </a:r>
            <a:r>
              <a:rPr lang="ru-RU" sz="2000" dirty="0"/>
              <a:t>) сначала уничтожаются все объекты в текущем кадре стека в порядке их создания.</a:t>
            </a:r>
            <a:endParaRPr dirty="0"/>
          </a:p>
          <a:p>
            <a:pPr marL="0" indent="0">
              <a:buNone/>
              <a:defRPr/>
            </a:pPr>
            <a:r>
              <a:rPr lang="ru-RU" sz="2000" dirty="0"/>
              <a:t>Затем из стека достается адрес возврата, проверяется наличие обработчика в вызывающей функции.</a:t>
            </a:r>
            <a:endParaRPr dirty="0"/>
          </a:p>
          <a:p>
            <a:pPr marL="0" indent="0">
              <a:buNone/>
              <a:defRPr/>
            </a:pPr>
            <a:r>
              <a:rPr lang="ru-RU" sz="2000" dirty="0"/>
              <a:t>Если обработчик есть – уничтожаются локальные переменные в текущем блоке кода и происходит прыжок на обработчик.</a:t>
            </a:r>
            <a:endParaRPr dirty="0"/>
          </a:p>
          <a:p>
            <a:pPr marL="0" indent="0">
              <a:buNone/>
              <a:defRPr/>
            </a:pPr>
            <a:r>
              <a:rPr lang="ru-RU" sz="2000" dirty="0"/>
              <a:t>Если обработчика нет – раскрутка продолжается.</a:t>
            </a:r>
            <a:endParaRPr lang="en-US" sz="2000" dirty="0"/>
          </a:p>
        </p:txBody>
      </p:sp>
      <p:sp>
        <p:nvSpPr>
          <p:cNvPr id="812549477" name="Номер слайда 4"/>
          <p:cNvSpPr>
            <a:spLocks noGrp="1"/>
          </p:cNvSpPr>
          <p:nvPr>
            <p:ph type="sldNum" sz="quarter" idx="12"/>
          </p:nvPr>
        </p:nvSpPr>
        <p:spPr bwMode="auto"/>
        <p:txBody>
          <a:bodyPr/>
          <a:lstStyle/>
          <a:p>
            <a:pPr>
              <a:defRPr/>
            </a:pPr>
            <a:fld id="{B67FBA2B-964F-4C4D-AAF7-5A8399264638}" type="slidenum">
              <a:rPr lang="en-US"/>
              <a:t>37</a:t>
            </a:fld>
            <a:endParaRPr lang="en-US"/>
          </a:p>
        </p:txBody>
      </p:sp>
      <p:sp>
        <p:nvSpPr>
          <p:cNvPr id="1309841629" name="TextBox 17"/>
          <p:cNvSpPr txBox="1"/>
          <p:nvPr/>
        </p:nvSpPr>
        <p:spPr bwMode="auto">
          <a:xfrm>
            <a:off x="6933591" y="1552338"/>
            <a:ext cx="4602479" cy="4247317"/>
          </a:xfrm>
          <a:prstGeom prst="rect">
            <a:avLst/>
          </a:prstGeom>
          <a:noFill/>
        </p:spPr>
        <p:txBody>
          <a:bodyPr wrap="square">
            <a:spAutoFit/>
          </a:bodyPr>
          <a:lstStyle/>
          <a:p>
            <a:pPr>
              <a:defRPr/>
            </a:pPr>
            <a:r>
              <a:rPr lang="en-US" b="0" dirty="0">
                <a:solidFill>
                  <a:srgbClr val="0000FF"/>
                </a:solidFill>
                <a:latin typeface="Consolas"/>
              </a:rPr>
              <a:t>void</a:t>
            </a:r>
            <a:r>
              <a:rPr lang="en-US" b="0" dirty="0">
                <a:solidFill>
                  <a:srgbClr val="000000"/>
                </a:solidFill>
                <a:latin typeface="Consolas"/>
              </a:rPr>
              <a:t> foo(){</a:t>
            </a:r>
            <a:endParaRPr dirty="0"/>
          </a:p>
          <a:p>
            <a:pPr>
              <a:defRPr/>
            </a:pPr>
            <a:r>
              <a:rPr lang="en-US" b="0" dirty="0">
                <a:solidFill>
                  <a:srgbClr val="000000"/>
                </a:solidFill>
                <a:latin typeface="Consolas"/>
              </a:rPr>
              <a:t>    S c{</a:t>
            </a:r>
            <a:r>
              <a:rPr lang="en-US" b="0" dirty="0">
                <a:solidFill>
                  <a:srgbClr val="A31515"/>
                </a:solidFill>
                <a:latin typeface="Consolas"/>
              </a:rPr>
              <a:t>"C"</a:t>
            </a:r>
            <a:r>
              <a:rPr lang="en-US" b="0" dirty="0">
                <a:solidFill>
                  <a:srgbClr val="000000"/>
                </a:solidFill>
                <a:latin typeface="Consolas"/>
              </a:rPr>
              <a:t>};</a:t>
            </a:r>
            <a:endParaRPr dirty="0"/>
          </a:p>
          <a:p>
            <a:pPr>
              <a:defRPr/>
            </a:pPr>
            <a:r>
              <a:rPr lang="en-US" b="0" dirty="0">
                <a:solidFill>
                  <a:srgbClr val="000000"/>
                </a:solidFill>
                <a:latin typeface="Consolas"/>
              </a:rPr>
              <a:t>    </a:t>
            </a:r>
            <a:r>
              <a:rPr lang="en-US" b="0" dirty="0">
                <a:solidFill>
                  <a:srgbClr val="0000FF"/>
                </a:solidFill>
                <a:latin typeface="Consolas"/>
              </a:rPr>
              <a:t>if</a:t>
            </a:r>
            <a:r>
              <a:rPr lang="en-US" b="0" dirty="0">
                <a:solidFill>
                  <a:srgbClr val="000000"/>
                </a:solidFill>
                <a:latin typeface="Consolas"/>
              </a:rPr>
              <a:t>(rand())</a:t>
            </a:r>
            <a:endParaRPr dirty="0"/>
          </a:p>
          <a:p>
            <a:pPr>
              <a:defRPr/>
            </a:pPr>
            <a:r>
              <a:rPr lang="en-US" b="0" dirty="0">
                <a:solidFill>
                  <a:srgbClr val="000000"/>
                </a:solidFill>
                <a:latin typeface="Consolas"/>
              </a:rPr>
              <a:t>        </a:t>
            </a:r>
            <a:r>
              <a:rPr lang="en-US" b="0" dirty="0">
                <a:solidFill>
                  <a:srgbClr val="0000FF"/>
                </a:solidFill>
                <a:latin typeface="Consolas"/>
              </a:rPr>
              <a:t>throw</a:t>
            </a:r>
            <a:r>
              <a:rPr lang="en-US" b="0" dirty="0">
                <a:solidFill>
                  <a:srgbClr val="000000"/>
                </a:solidFill>
                <a:latin typeface="Consolas"/>
              </a:rPr>
              <a:t> std::</a:t>
            </a:r>
            <a:r>
              <a:rPr lang="en-US" b="0" dirty="0" err="1">
                <a:solidFill>
                  <a:srgbClr val="000000"/>
                </a:solidFill>
                <a:latin typeface="Consolas"/>
              </a:rPr>
              <a:t>logic_error</a:t>
            </a:r>
            <a:r>
              <a:rPr lang="en-US" b="0" dirty="0">
                <a:solidFill>
                  <a:srgbClr val="000000"/>
                </a:solidFill>
                <a:latin typeface="Consolas"/>
              </a:rPr>
              <a:t>(</a:t>
            </a:r>
            <a:r>
              <a:rPr lang="en-US" b="0" dirty="0">
                <a:solidFill>
                  <a:srgbClr val="A31515"/>
                </a:solidFill>
                <a:latin typeface="Consolas"/>
              </a:rPr>
              <a:t>""</a:t>
            </a:r>
            <a:r>
              <a:rPr lang="en-US" b="0" dirty="0">
                <a:solidFill>
                  <a:srgbClr val="000000"/>
                </a:solidFill>
                <a:latin typeface="Consolas"/>
              </a:rPr>
              <a:t>);</a:t>
            </a:r>
            <a:endParaRPr dirty="0"/>
          </a:p>
          <a:p>
            <a:pPr>
              <a:defRPr/>
            </a:pPr>
            <a:r>
              <a:rPr lang="en-US" b="0" dirty="0">
                <a:solidFill>
                  <a:srgbClr val="000000"/>
                </a:solidFill>
                <a:latin typeface="Consolas"/>
              </a:rPr>
              <a:t>}</a:t>
            </a:r>
            <a:endParaRPr dirty="0"/>
          </a:p>
          <a:p>
            <a:pPr>
              <a:defRPr/>
            </a:pPr>
            <a:br>
              <a:rPr lang="en-US" b="0" dirty="0">
                <a:solidFill>
                  <a:srgbClr val="000000"/>
                </a:solidFill>
                <a:latin typeface="Consolas"/>
              </a:rPr>
            </a:br>
            <a:r>
              <a:rPr lang="en-US" b="0" dirty="0">
                <a:solidFill>
                  <a:srgbClr val="0000FF"/>
                </a:solidFill>
                <a:latin typeface="Consolas"/>
              </a:rPr>
              <a:t>void</a:t>
            </a:r>
            <a:r>
              <a:rPr lang="en-US" b="0" dirty="0">
                <a:solidFill>
                  <a:srgbClr val="000000"/>
                </a:solidFill>
                <a:latin typeface="Consolas"/>
              </a:rPr>
              <a:t> bar(){</a:t>
            </a:r>
            <a:endParaRPr dirty="0"/>
          </a:p>
          <a:p>
            <a:pPr>
              <a:defRPr/>
            </a:pPr>
            <a:r>
              <a:rPr lang="en-US" b="0" dirty="0">
                <a:solidFill>
                  <a:srgbClr val="000000"/>
                </a:solidFill>
                <a:latin typeface="Consolas"/>
              </a:rPr>
              <a:t>    S a{</a:t>
            </a:r>
            <a:r>
              <a:rPr lang="en-US" b="0" dirty="0">
                <a:solidFill>
                  <a:srgbClr val="A31515"/>
                </a:solidFill>
                <a:latin typeface="Consolas"/>
              </a:rPr>
              <a:t>"A"</a:t>
            </a:r>
            <a:r>
              <a:rPr lang="en-US" b="0" dirty="0">
                <a:solidFill>
                  <a:srgbClr val="000000"/>
                </a:solidFill>
                <a:latin typeface="Consolas"/>
              </a:rPr>
              <a:t>};</a:t>
            </a:r>
            <a:endParaRPr dirty="0"/>
          </a:p>
          <a:p>
            <a:pPr>
              <a:defRPr/>
            </a:pPr>
            <a:r>
              <a:rPr lang="en-US" b="0" dirty="0">
                <a:solidFill>
                  <a:srgbClr val="000000"/>
                </a:solidFill>
                <a:latin typeface="Consolas"/>
              </a:rPr>
              <a:t>    </a:t>
            </a:r>
            <a:r>
              <a:rPr lang="en-US" b="0" dirty="0">
                <a:solidFill>
                  <a:srgbClr val="0000FF"/>
                </a:solidFill>
                <a:latin typeface="Consolas"/>
              </a:rPr>
              <a:t>try</a:t>
            </a:r>
            <a:r>
              <a:rPr lang="en-US" b="0" dirty="0">
                <a:solidFill>
                  <a:srgbClr val="000000"/>
                </a:solidFill>
                <a:latin typeface="Consolas"/>
              </a:rPr>
              <a:t>{</a:t>
            </a:r>
            <a:endParaRPr dirty="0"/>
          </a:p>
          <a:p>
            <a:pPr>
              <a:defRPr/>
            </a:pPr>
            <a:r>
              <a:rPr lang="en-US" b="0" dirty="0">
                <a:solidFill>
                  <a:srgbClr val="000000"/>
                </a:solidFill>
                <a:latin typeface="Consolas"/>
              </a:rPr>
              <a:t>        S b{</a:t>
            </a:r>
            <a:r>
              <a:rPr lang="en-US" b="0" dirty="0">
                <a:solidFill>
                  <a:srgbClr val="A31515"/>
                </a:solidFill>
                <a:latin typeface="Consolas"/>
              </a:rPr>
              <a:t>«</a:t>
            </a:r>
            <a:r>
              <a:rPr lang="en-US" dirty="0">
                <a:solidFill>
                  <a:srgbClr val="A31515"/>
                </a:solidFill>
                <a:latin typeface="Consolas"/>
              </a:rPr>
              <a:t>B</a:t>
            </a:r>
            <a:r>
              <a:rPr lang="en-US" b="0" dirty="0">
                <a:solidFill>
                  <a:srgbClr val="A31515"/>
                </a:solidFill>
                <a:latin typeface="Consolas"/>
              </a:rPr>
              <a:t>"</a:t>
            </a:r>
            <a:r>
              <a:rPr lang="en-US" b="0" dirty="0">
                <a:solidFill>
                  <a:srgbClr val="000000"/>
                </a:solidFill>
                <a:latin typeface="Consolas"/>
              </a:rPr>
              <a:t>};</a:t>
            </a:r>
            <a:endParaRPr dirty="0"/>
          </a:p>
          <a:p>
            <a:pPr>
              <a:defRPr/>
            </a:pPr>
            <a:r>
              <a:rPr lang="en-US" b="0" dirty="0">
                <a:solidFill>
                  <a:srgbClr val="000000"/>
                </a:solidFill>
                <a:latin typeface="Consolas"/>
              </a:rPr>
              <a:t>        foo();</a:t>
            </a:r>
            <a:endParaRPr dirty="0"/>
          </a:p>
          <a:p>
            <a:pPr>
              <a:defRPr/>
            </a:pPr>
            <a:r>
              <a:rPr lang="en-US" b="0" dirty="0">
                <a:solidFill>
                  <a:srgbClr val="000000"/>
                </a:solidFill>
                <a:latin typeface="Consolas"/>
              </a:rPr>
              <a:t>    }</a:t>
            </a:r>
            <a:r>
              <a:rPr lang="en-US" b="0" dirty="0">
                <a:solidFill>
                  <a:srgbClr val="0000FF"/>
                </a:solidFill>
                <a:latin typeface="Consolas"/>
              </a:rPr>
              <a:t>catch</a:t>
            </a:r>
            <a:r>
              <a:rPr lang="en-US" b="0" dirty="0">
                <a:solidFill>
                  <a:srgbClr val="000000"/>
                </a:solidFill>
                <a:latin typeface="Consolas"/>
              </a:rPr>
              <a:t>(std::</a:t>
            </a:r>
            <a:r>
              <a:rPr lang="en-US" b="0" dirty="0" err="1">
                <a:solidFill>
                  <a:srgbClr val="000000"/>
                </a:solidFill>
                <a:latin typeface="Consolas"/>
              </a:rPr>
              <a:t>logic_error</a:t>
            </a:r>
            <a:r>
              <a:rPr lang="en-US" b="0" dirty="0">
                <a:solidFill>
                  <a:srgbClr val="000000"/>
                </a:solidFill>
                <a:latin typeface="Consolas"/>
              </a:rPr>
              <a:t>&amp; e){</a:t>
            </a:r>
            <a:endParaRPr dirty="0"/>
          </a:p>
          <a:p>
            <a:pPr>
              <a:defRPr/>
            </a:pPr>
            <a:r>
              <a:rPr lang="en-US" b="0" dirty="0">
                <a:solidFill>
                  <a:srgbClr val="000000"/>
                </a:solidFill>
                <a:latin typeface="Consolas"/>
              </a:rPr>
              <a:t>        </a:t>
            </a:r>
            <a:r>
              <a:rPr lang="en-US" b="0" dirty="0" err="1">
                <a:solidFill>
                  <a:srgbClr val="000000"/>
                </a:solidFill>
                <a:latin typeface="Consolas"/>
              </a:rPr>
              <a:t>printf</a:t>
            </a:r>
            <a:r>
              <a:rPr lang="en-US" b="0" dirty="0">
                <a:solidFill>
                  <a:srgbClr val="000000"/>
                </a:solidFill>
                <a:latin typeface="Consolas"/>
              </a:rPr>
              <a:t>(</a:t>
            </a:r>
            <a:r>
              <a:rPr lang="en-US" b="0" dirty="0">
                <a:solidFill>
                  <a:srgbClr val="A31515"/>
                </a:solidFill>
                <a:latin typeface="Consolas"/>
              </a:rPr>
              <a:t>"Caught!\n"</a:t>
            </a:r>
            <a:r>
              <a:rPr lang="en-US" b="0" dirty="0">
                <a:solidFill>
                  <a:srgbClr val="000000"/>
                </a:solidFill>
                <a:latin typeface="Consolas"/>
              </a:rPr>
              <a:t>);</a:t>
            </a:r>
            <a:endParaRPr dirty="0"/>
          </a:p>
          <a:p>
            <a:pPr>
              <a:defRPr/>
            </a:pPr>
            <a:r>
              <a:rPr lang="en-US" b="0" dirty="0">
                <a:solidFill>
                  <a:srgbClr val="000000"/>
                </a:solidFill>
                <a:latin typeface="Consolas"/>
              </a:rPr>
              <a:t>    }</a:t>
            </a:r>
            <a:endParaRPr dirty="0"/>
          </a:p>
          <a:p>
            <a:pPr>
              <a:defRPr/>
            </a:pPr>
            <a:r>
              <a:rPr lang="en-US" b="0" dirty="0">
                <a:solidFill>
                  <a:srgbClr val="000000"/>
                </a:solidFill>
                <a:latin typeface="Consolas"/>
              </a:rPr>
              <a:t>}</a:t>
            </a:r>
            <a:endParaRPr dirty="0"/>
          </a:p>
        </p:txBody>
      </p:sp>
      <p:sp>
        <p:nvSpPr>
          <p:cNvPr id="889344823" name="Знак умножения 6"/>
          <p:cNvSpPr/>
          <p:nvPr/>
        </p:nvSpPr>
        <p:spPr bwMode="auto">
          <a:xfrm>
            <a:off x="8605551" y="1848160"/>
            <a:ext cx="335048" cy="324262"/>
          </a:xfrm>
          <a:prstGeom prst="mathMultiply">
            <a:avLst>
              <a:gd name="adj1" fmla="val 23520"/>
            </a:avLst>
          </a:prstGeom>
          <a:solidFill>
            <a:srgbClr val="FF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944100290" name="TextBox 7"/>
          <p:cNvSpPr txBox="1"/>
          <p:nvPr/>
        </p:nvSpPr>
        <p:spPr bwMode="auto">
          <a:xfrm>
            <a:off x="8849857" y="1825625"/>
            <a:ext cx="301686" cy="369332"/>
          </a:xfrm>
          <a:prstGeom prst="rect">
            <a:avLst/>
          </a:prstGeom>
          <a:noFill/>
        </p:spPr>
        <p:txBody>
          <a:bodyPr wrap="none" rtlCol="0">
            <a:spAutoFit/>
          </a:bodyPr>
          <a:lstStyle/>
          <a:p>
            <a:pPr>
              <a:defRPr/>
            </a:pPr>
            <a:r>
              <a:rPr lang="en-US" b="1"/>
              <a:t>1</a:t>
            </a:r>
            <a:endParaRPr/>
          </a:p>
        </p:txBody>
      </p:sp>
      <p:sp>
        <p:nvSpPr>
          <p:cNvPr id="1183636724" name="Полилиния: фигура 11"/>
          <p:cNvSpPr/>
          <p:nvPr/>
        </p:nvSpPr>
        <p:spPr bwMode="auto">
          <a:xfrm>
            <a:off x="9176222" y="1921670"/>
            <a:ext cx="2600427" cy="2643754"/>
          </a:xfrm>
          <a:custGeom>
            <a:avLst/>
            <a:gdLst>
              <a:gd name="connsiteX0" fmla="*/ 0 w 2081049"/>
              <a:gd name="connsiteY0" fmla="*/ 0 h 3329532"/>
              <a:gd name="connsiteX1" fmla="*/ 2080085 w 2081049"/>
              <a:gd name="connsiteY1" fmla="*/ 1172665 h 3329532"/>
              <a:gd name="connsiteX2" fmla="*/ 272226 w 2081049"/>
              <a:gd name="connsiteY2" fmla="*/ 3329532 h 3329532"/>
            </a:gdLst>
            <a:ahLst/>
            <a:cxnLst>
              <a:cxn ang="0">
                <a:pos x="connsiteX0" y="connsiteY0"/>
              </a:cxn>
              <a:cxn ang="0">
                <a:pos x="connsiteX1" y="connsiteY1"/>
              </a:cxn>
              <a:cxn ang="0">
                <a:pos x="connsiteX2" y="connsiteY2"/>
              </a:cxn>
            </a:cxnLst>
            <a:rect l="l" t="t" r="r" b="b"/>
            <a:pathLst>
              <a:path w="2081049" h="3329532" extrusionOk="0">
                <a:moveTo>
                  <a:pt x="0" y="0"/>
                </a:moveTo>
                <a:cubicBezTo>
                  <a:pt x="1017357" y="308871"/>
                  <a:pt x="2034714" y="617743"/>
                  <a:pt x="2080085" y="1172665"/>
                </a:cubicBezTo>
                <a:cubicBezTo>
                  <a:pt x="2125456" y="1727587"/>
                  <a:pt x="556085" y="2995648"/>
                  <a:pt x="272226" y="3329532"/>
                </a:cubicBezTo>
              </a:path>
            </a:pathLst>
          </a:custGeom>
          <a:noFill/>
          <a:ln>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673634876" name="TextBox 12"/>
          <p:cNvSpPr txBox="1"/>
          <p:nvPr/>
        </p:nvSpPr>
        <p:spPr bwMode="auto">
          <a:xfrm>
            <a:off x="11776648" y="2290056"/>
            <a:ext cx="301686" cy="369332"/>
          </a:xfrm>
          <a:prstGeom prst="rect">
            <a:avLst/>
          </a:prstGeom>
          <a:noFill/>
        </p:spPr>
        <p:txBody>
          <a:bodyPr wrap="none" rtlCol="0">
            <a:spAutoFit/>
          </a:bodyPr>
          <a:lstStyle/>
          <a:p>
            <a:pPr>
              <a:defRPr/>
            </a:pPr>
            <a:r>
              <a:rPr lang="en-US" b="1"/>
              <a:t>2</a:t>
            </a:r>
            <a:endParaRPr/>
          </a:p>
        </p:txBody>
      </p:sp>
      <p:sp>
        <p:nvSpPr>
          <p:cNvPr id="1671536937" name="Знак умножения 13"/>
          <p:cNvSpPr/>
          <p:nvPr/>
        </p:nvSpPr>
        <p:spPr bwMode="auto">
          <a:xfrm>
            <a:off x="9113401" y="4072709"/>
            <a:ext cx="335048" cy="324262"/>
          </a:xfrm>
          <a:prstGeom prst="mathMultiply">
            <a:avLst>
              <a:gd name="adj1" fmla="val 23520"/>
            </a:avLst>
          </a:prstGeom>
          <a:solidFill>
            <a:srgbClr val="FF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852326417" name="TextBox 14"/>
          <p:cNvSpPr txBox="1"/>
          <p:nvPr/>
        </p:nvSpPr>
        <p:spPr bwMode="auto">
          <a:xfrm>
            <a:off x="9357707" y="4050174"/>
            <a:ext cx="301686" cy="369332"/>
          </a:xfrm>
          <a:prstGeom prst="rect">
            <a:avLst/>
          </a:prstGeom>
          <a:noFill/>
        </p:spPr>
        <p:txBody>
          <a:bodyPr wrap="none" rtlCol="0">
            <a:spAutoFit/>
          </a:bodyPr>
          <a:lstStyle/>
          <a:p>
            <a:pPr>
              <a:defRPr/>
            </a:pPr>
            <a:r>
              <a:rPr lang="en-US" b="1"/>
              <a:t>3</a:t>
            </a:r>
            <a:endParaRPr/>
          </a:p>
        </p:txBody>
      </p:sp>
      <p:sp>
        <p:nvSpPr>
          <p:cNvPr id="1500145923" name="Полилиния: фигура 15"/>
          <p:cNvSpPr/>
          <p:nvPr/>
        </p:nvSpPr>
        <p:spPr bwMode="auto">
          <a:xfrm flipH="1">
            <a:off x="7298399" y="4117795"/>
            <a:ext cx="158504" cy="907745"/>
          </a:xfrm>
          <a:custGeom>
            <a:avLst/>
            <a:gdLst>
              <a:gd name="connsiteX0" fmla="*/ 0 w 2081049"/>
              <a:gd name="connsiteY0" fmla="*/ 0 h 3329532"/>
              <a:gd name="connsiteX1" fmla="*/ 2080085 w 2081049"/>
              <a:gd name="connsiteY1" fmla="*/ 1172665 h 3329532"/>
              <a:gd name="connsiteX2" fmla="*/ 272226 w 2081049"/>
              <a:gd name="connsiteY2" fmla="*/ 3329532 h 3329532"/>
            </a:gdLst>
            <a:ahLst/>
            <a:cxnLst>
              <a:cxn ang="0">
                <a:pos x="connsiteX0" y="connsiteY0"/>
              </a:cxn>
              <a:cxn ang="0">
                <a:pos x="connsiteX1" y="connsiteY1"/>
              </a:cxn>
              <a:cxn ang="0">
                <a:pos x="connsiteX2" y="connsiteY2"/>
              </a:cxn>
            </a:cxnLst>
            <a:rect l="l" t="t" r="r" b="b"/>
            <a:pathLst>
              <a:path w="2081049" h="3329532" extrusionOk="0">
                <a:moveTo>
                  <a:pt x="0" y="0"/>
                </a:moveTo>
                <a:cubicBezTo>
                  <a:pt x="1017357" y="308871"/>
                  <a:pt x="2034714" y="617743"/>
                  <a:pt x="2080085" y="1172665"/>
                </a:cubicBezTo>
                <a:cubicBezTo>
                  <a:pt x="2125456" y="1727587"/>
                  <a:pt x="556085" y="2995648"/>
                  <a:pt x="272226" y="3329532"/>
                </a:cubicBezTo>
              </a:path>
            </a:pathLst>
          </a:custGeom>
          <a:noFill/>
          <a:ln>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38351480" name="TextBox 16"/>
          <p:cNvSpPr txBox="1"/>
          <p:nvPr/>
        </p:nvSpPr>
        <p:spPr bwMode="auto">
          <a:xfrm>
            <a:off x="6919932" y="4196092"/>
            <a:ext cx="216055" cy="369332"/>
          </a:xfrm>
          <a:prstGeom prst="rect">
            <a:avLst/>
          </a:prstGeom>
          <a:noFill/>
        </p:spPr>
        <p:txBody>
          <a:bodyPr wrap="square" rtlCol="0">
            <a:spAutoFit/>
          </a:bodyPr>
          <a:lstStyle/>
          <a:p>
            <a:pPr>
              <a:defRPr/>
            </a:pPr>
            <a:r>
              <a:rPr lang="en-US" b="1"/>
              <a:t>4</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95471057" name="Заголовок 1"/>
          <p:cNvSpPr>
            <a:spLocks noGrp="1"/>
          </p:cNvSpPr>
          <p:nvPr>
            <p:ph type="title"/>
          </p:nvPr>
        </p:nvSpPr>
        <p:spPr bwMode="auto"/>
        <p:txBody>
          <a:bodyPr/>
          <a:lstStyle/>
          <a:p>
            <a:pPr>
              <a:defRPr/>
            </a:pPr>
            <a:r>
              <a:rPr lang="ru-RU"/>
              <a:t>Идентификация обработчика</a:t>
            </a:r>
            <a:endParaRPr lang="en-US"/>
          </a:p>
        </p:txBody>
      </p:sp>
      <p:sp>
        <p:nvSpPr>
          <p:cNvPr id="1784505541" name="Объект 2"/>
          <p:cNvSpPr>
            <a:spLocks noGrp="1"/>
          </p:cNvSpPr>
          <p:nvPr>
            <p:ph idx="1"/>
          </p:nvPr>
        </p:nvSpPr>
        <p:spPr bwMode="auto">
          <a:xfrm>
            <a:off x="838200" y="1825625"/>
            <a:ext cx="10467479" cy="4351338"/>
          </a:xfrm>
        </p:spPr>
        <p:txBody>
          <a:bodyPr>
            <a:normAutofit/>
          </a:bodyPr>
          <a:lstStyle/>
          <a:p>
            <a:pPr marL="0" indent="0">
              <a:buNone/>
              <a:defRPr/>
            </a:pPr>
            <a:r>
              <a:rPr lang="ru-RU" sz="2000"/>
              <a:t>В приближенном виде процесс поиска обработчика описывается следующим образом.</a:t>
            </a:r>
            <a:endParaRPr/>
          </a:p>
          <a:p>
            <a:pPr marL="0" indent="0">
              <a:buNone/>
              <a:defRPr/>
            </a:pPr>
            <a:r>
              <a:rPr lang="ru-RU" sz="2000"/>
              <a:t>Существует глобальная таблица, в которой хранится информация обо всех функциях, </a:t>
            </a:r>
            <a:r>
              <a:rPr lang="ru-RU" sz="2000" i="1"/>
              <a:t>не помеченных как </a:t>
            </a:r>
            <a:r>
              <a:rPr lang="en-US" sz="2000" i="1"/>
              <a:t>noexcept</a:t>
            </a:r>
            <a:r>
              <a:rPr lang="en-US" sz="2000"/>
              <a:t>.</a:t>
            </a:r>
            <a:endParaRPr lang="ru-RU" sz="2000"/>
          </a:p>
          <a:p>
            <a:pPr marL="0" indent="0">
              <a:buNone/>
              <a:defRPr/>
            </a:pPr>
            <a:r>
              <a:rPr lang="ru-RU" sz="2000"/>
              <a:t>В этой структуре для каждой функции есть информация о коде раскрутки стека и обработки исключений: адрес</a:t>
            </a:r>
            <a:r>
              <a:rPr lang="en-US" sz="2000"/>
              <a:t> </a:t>
            </a:r>
            <a:r>
              <a:rPr lang="ru-RU" sz="2000"/>
              <a:t>начала/конца покрываемого кода и адрес кода раскрутки.</a:t>
            </a:r>
            <a:endParaRPr/>
          </a:p>
          <a:p>
            <a:pPr marL="0" indent="0">
              <a:buNone/>
              <a:defRPr/>
            </a:pPr>
            <a:endParaRPr lang="en-US" sz="2000"/>
          </a:p>
        </p:txBody>
      </p:sp>
      <p:sp>
        <p:nvSpPr>
          <p:cNvPr id="1057297200" name="Номер слайда 4"/>
          <p:cNvSpPr>
            <a:spLocks noGrp="1"/>
          </p:cNvSpPr>
          <p:nvPr>
            <p:ph type="sldNum" sz="quarter" idx="12"/>
          </p:nvPr>
        </p:nvSpPr>
        <p:spPr bwMode="auto"/>
        <p:txBody>
          <a:bodyPr/>
          <a:lstStyle/>
          <a:p>
            <a:pPr>
              <a:defRPr/>
            </a:pPr>
            <a:fld id="{B67FBA2B-964F-4C4D-AAF7-5A8399264638}" type="slidenum">
              <a:rPr lang="en-US"/>
              <a:t>38</a:t>
            </a:fld>
            <a:endParaRPr lang="en-US"/>
          </a:p>
        </p:txBody>
      </p:sp>
      <p:graphicFrame>
        <p:nvGraphicFramePr>
          <p:cNvPr id="1836484427" name="Таблица 11"/>
          <p:cNvGraphicFramePr>
            <a:graphicFrameLocks noGrp="1"/>
          </p:cNvGraphicFramePr>
          <p:nvPr/>
        </p:nvGraphicFramePr>
        <p:xfrm>
          <a:off x="838200" y="4340073"/>
          <a:ext cx="5030955" cy="1478280"/>
        </p:xfrm>
        <a:graphic>
          <a:graphicData uri="http://schemas.openxmlformats.org/drawingml/2006/table">
            <a:tbl>
              <a:tblPr>
                <a:tableStyleId>{5940675A-B579-460E-94D1-54222C63F5DA}</a:tableStyleId>
              </a:tblPr>
              <a:tblGrid>
                <a:gridCol w="1676985">
                  <a:extLst>
                    <a:ext uri="{9D8B030D-6E8A-4147-A177-3AD203B41FA5}">
                      <a16:colId xmlns:a16="http://schemas.microsoft.com/office/drawing/2014/main" val="20000"/>
                    </a:ext>
                  </a:extLst>
                </a:gridCol>
                <a:gridCol w="1532788">
                  <a:extLst>
                    <a:ext uri="{9D8B030D-6E8A-4147-A177-3AD203B41FA5}">
                      <a16:colId xmlns:a16="http://schemas.microsoft.com/office/drawing/2014/main" val="20001"/>
                    </a:ext>
                  </a:extLst>
                </a:gridCol>
                <a:gridCol w="1821182">
                  <a:extLst>
                    <a:ext uri="{9D8B030D-6E8A-4147-A177-3AD203B41FA5}">
                      <a16:colId xmlns:a16="http://schemas.microsoft.com/office/drawing/2014/main" val="20002"/>
                    </a:ext>
                  </a:extLst>
                </a:gridCol>
              </a:tblGrid>
              <a:tr h="360045">
                <a:tc>
                  <a:txBody>
                    <a:bodyPr/>
                    <a:lstStyle/>
                    <a:p>
                      <a:pPr algn="ctr">
                        <a:defRPr/>
                      </a:pPr>
                      <a:r>
                        <a:rPr lang="en-US" b="1"/>
                        <a:t>StartAddress</a:t>
                      </a:r>
                    </a:p>
                  </a:txBody>
                  <a:tcPr>
                    <a:noFill/>
                  </a:tcPr>
                </a:tc>
                <a:tc>
                  <a:txBody>
                    <a:bodyPr/>
                    <a:lstStyle/>
                    <a:p>
                      <a:pPr algn="ctr">
                        <a:defRPr/>
                      </a:pPr>
                      <a:r>
                        <a:rPr lang="en-US" b="1"/>
                        <a:t>EndAddress</a:t>
                      </a:r>
                    </a:p>
                  </a:txBody>
                  <a:tcPr>
                    <a:noFill/>
                  </a:tcPr>
                </a:tc>
                <a:tc>
                  <a:txBody>
                    <a:bodyPr/>
                    <a:lstStyle/>
                    <a:p>
                      <a:pPr algn="ctr">
                        <a:defRPr/>
                      </a:pPr>
                      <a:r>
                        <a:rPr lang="en-US" b="1"/>
                        <a:t>TargetAddress</a:t>
                      </a:r>
                    </a:p>
                  </a:txBody>
                  <a:tcPr>
                    <a:noFill/>
                  </a:tcPr>
                </a:tc>
                <a:extLst>
                  <a:ext uri="{0D108BD9-81ED-4DB2-BD59-A6C34878D82A}">
                    <a16:rowId xmlns:a16="http://schemas.microsoft.com/office/drawing/2014/main" val="10000"/>
                  </a:ext>
                </a:extLst>
              </a:tr>
              <a:tr h="370840">
                <a:tc>
                  <a:txBody>
                    <a:bodyPr/>
                    <a:lstStyle/>
                    <a:p>
                      <a:pPr algn="ctr">
                        <a:defRPr/>
                      </a:pPr>
                      <a:r>
                        <a:rPr lang="en-US"/>
                        <a:t>…</a:t>
                      </a:r>
                      <a:endParaRPr/>
                    </a:p>
                  </a:txBody>
                  <a:tcPr>
                    <a:noFill/>
                  </a:tcPr>
                </a:tc>
                <a:tc>
                  <a:txBody>
                    <a:bodyPr/>
                    <a:lstStyle/>
                    <a:p>
                      <a:pPr algn="ctr">
                        <a:defRPr/>
                      </a:pPr>
                      <a:r>
                        <a:rPr lang="en-US"/>
                        <a:t>…</a:t>
                      </a:r>
                      <a:endParaRPr/>
                    </a:p>
                  </a:txBody>
                  <a:tcPr>
                    <a:noFill/>
                  </a:tcPr>
                </a:tc>
                <a:tc>
                  <a:txBody>
                    <a:bodyPr/>
                    <a:lstStyle/>
                    <a:p>
                      <a:pPr algn="ctr">
                        <a:defRPr/>
                      </a:pPr>
                      <a:r>
                        <a:rPr lang="en-US"/>
                        <a:t>…</a:t>
                      </a:r>
                      <a:endParaRPr/>
                    </a:p>
                  </a:txBody>
                  <a:tcPr>
                    <a:noFill/>
                  </a:tcPr>
                </a:tc>
                <a:extLst>
                  <a:ext uri="{0D108BD9-81ED-4DB2-BD59-A6C34878D82A}">
                    <a16:rowId xmlns:a16="http://schemas.microsoft.com/office/drawing/2014/main" val="10001"/>
                  </a:ext>
                </a:extLst>
              </a:tr>
              <a:tr h="370840">
                <a:tc>
                  <a:txBody>
                    <a:bodyPr/>
                    <a:lstStyle/>
                    <a:p>
                      <a:pPr algn="ctr">
                        <a:defRPr/>
                      </a:pPr>
                      <a:r>
                        <a:rPr lang="en-US"/>
                        <a:t>0x</a:t>
                      </a:r>
                      <a:r>
                        <a:rPr lang="ru-RU"/>
                        <a:t>00000</a:t>
                      </a:r>
                      <a:r>
                        <a:rPr lang="en-US"/>
                        <a:t>FF1</a:t>
                      </a:r>
                      <a:endParaRPr/>
                    </a:p>
                  </a:txBody>
                  <a:tcPr>
                    <a:solidFill>
                      <a:schemeClr val="accent4">
                        <a:lumMod val="20000"/>
                        <a:lumOff val="80000"/>
                      </a:schemeClr>
                    </a:solidFill>
                  </a:tcPr>
                </a:tc>
                <a:tc>
                  <a:txBody>
                    <a:bodyPr/>
                    <a:lstStyle/>
                    <a:p>
                      <a:pPr algn="ctr">
                        <a:defRPr/>
                      </a:pPr>
                      <a:r>
                        <a:rPr lang="en-US"/>
                        <a:t>0x</a:t>
                      </a:r>
                      <a:r>
                        <a:rPr lang="ru-RU"/>
                        <a:t>00000</a:t>
                      </a:r>
                      <a:r>
                        <a:rPr lang="en-US"/>
                        <a:t>FF9</a:t>
                      </a:r>
                      <a:endParaRPr/>
                    </a:p>
                  </a:txBody>
                  <a:tcPr>
                    <a:solidFill>
                      <a:schemeClr val="accent4">
                        <a:lumMod val="20000"/>
                        <a:lumOff val="80000"/>
                      </a:schemeClr>
                    </a:solidFill>
                  </a:tcPr>
                </a:tc>
                <a:tc>
                  <a:txBody>
                    <a:bodyPr/>
                    <a:lstStyle/>
                    <a:p>
                      <a:pPr algn="ctr">
                        <a:defRPr/>
                      </a:pPr>
                      <a:r>
                        <a:rPr lang="en-US"/>
                        <a:t>0x</a:t>
                      </a:r>
                      <a:r>
                        <a:rPr lang="ru-RU"/>
                        <a:t>00000</a:t>
                      </a:r>
                      <a:r>
                        <a:rPr lang="en-US"/>
                        <a:t>FFA</a:t>
                      </a:r>
                      <a:endParaRPr/>
                    </a:p>
                  </a:txBody>
                  <a:tcPr>
                    <a:solidFill>
                      <a:schemeClr val="accent2">
                        <a:lumMod val="40000"/>
                        <a:lumOff val="60000"/>
                      </a:schemeClr>
                    </a:solidFill>
                  </a:tcPr>
                </a:tc>
                <a:extLst>
                  <a:ext uri="{0D108BD9-81ED-4DB2-BD59-A6C34878D82A}">
                    <a16:rowId xmlns:a16="http://schemas.microsoft.com/office/drawing/2014/main" val="10002"/>
                  </a:ext>
                </a:extLst>
              </a:tr>
              <a:tr h="370840">
                <a:tc>
                  <a:txBody>
                    <a:bodyPr/>
                    <a:lstStyle/>
                    <a:p>
                      <a:pPr algn="ctr">
                        <a:defRPr/>
                      </a:pPr>
                      <a:r>
                        <a:rPr lang="en-US"/>
                        <a:t>…</a:t>
                      </a:r>
                      <a:endParaRPr/>
                    </a:p>
                  </a:txBody>
                  <a:tcPr>
                    <a:noFill/>
                  </a:tcPr>
                </a:tc>
                <a:tc>
                  <a:txBody>
                    <a:bodyPr/>
                    <a:lstStyle/>
                    <a:p>
                      <a:pPr algn="ctr">
                        <a:defRPr/>
                      </a:pPr>
                      <a:r>
                        <a:rPr lang="en-US"/>
                        <a:t>…</a:t>
                      </a:r>
                      <a:endParaRPr/>
                    </a:p>
                  </a:txBody>
                  <a:tcPr>
                    <a:noFill/>
                  </a:tcPr>
                </a:tc>
                <a:tc>
                  <a:txBody>
                    <a:bodyPr/>
                    <a:lstStyle/>
                    <a:p>
                      <a:pPr algn="ctr">
                        <a:defRPr/>
                      </a:pPr>
                      <a:r>
                        <a:rPr lang="en-US"/>
                        <a:t>…</a:t>
                      </a:r>
                      <a:endParaRPr/>
                    </a:p>
                  </a:txBody>
                  <a:tcPr>
                    <a:noFill/>
                  </a:tcPr>
                </a:tc>
                <a:extLst>
                  <a:ext uri="{0D108BD9-81ED-4DB2-BD59-A6C34878D82A}">
                    <a16:rowId xmlns:a16="http://schemas.microsoft.com/office/drawing/2014/main" val="10003"/>
                  </a:ext>
                </a:extLst>
              </a:tr>
            </a:tbl>
          </a:graphicData>
        </a:graphic>
      </p:graphicFrame>
      <p:sp>
        <p:nvSpPr>
          <p:cNvPr id="759032105" name="TextBox 12"/>
          <p:cNvSpPr txBox="1"/>
          <p:nvPr/>
        </p:nvSpPr>
        <p:spPr bwMode="auto">
          <a:xfrm>
            <a:off x="8153399" y="4048026"/>
            <a:ext cx="4002529" cy="2308324"/>
          </a:xfrm>
          <a:prstGeom prst="rect">
            <a:avLst/>
          </a:prstGeom>
          <a:noFill/>
        </p:spPr>
        <p:txBody>
          <a:bodyPr wrap="square">
            <a:spAutoFit/>
          </a:bodyPr>
          <a:lstStyle/>
          <a:p>
            <a:pPr>
              <a:defRPr/>
            </a:pPr>
            <a:r>
              <a:rPr lang="en-US" b="0">
                <a:solidFill>
                  <a:srgbClr val="0000FF"/>
                </a:solidFill>
                <a:latin typeface="Consolas"/>
              </a:rPr>
              <a:t>void</a:t>
            </a:r>
            <a:r>
              <a:rPr lang="en-US" b="0">
                <a:solidFill>
                  <a:srgbClr val="000000"/>
                </a:solidFill>
                <a:latin typeface="Consolas"/>
              </a:rPr>
              <a:t> bar(){</a:t>
            </a:r>
            <a:br>
              <a:rPr lang="en-US" b="0">
                <a:solidFill>
                  <a:srgbClr val="000000"/>
                </a:solidFill>
                <a:latin typeface="Consolas"/>
              </a:rPr>
            </a:br>
            <a:r>
              <a:rPr lang="en-US" b="0">
                <a:solidFill>
                  <a:srgbClr val="000000"/>
                </a:solidFill>
                <a:latin typeface="Consolas"/>
              </a:rPr>
              <a:t>    </a:t>
            </a:r>
            <a:r>
              <a:rPr lang="en-US" b="0">
                <a:solidFill>
                  <a:srgbClr val="0000FF"/>
                </a:solidFill>
                <a:latin typeface="Consolas"/>
              </a:rPr>
              <a:t>try</a:t>
            </a:r>
            <a:r>
              <a:rPr lang="en-US" b="0">
                <a:solidFill>
                  <a:srgbClr val="000000"/>
                </a:solidFill>
                <a:latin typeface="Consolas"/>
              </a:rPr>
              <a:t>{</a:t>
            </a:r>
            <a:endParaRPr/>
          </a:p>
          <a:p>
            <a:pPr>
              <a:defRPr/>
            </a:pPr>
            <a:r>
              <a:rPr lang="en-US" b="0">
                <a:solidFill>
                  <a:srgbClr val="000000"/>
                </a:solidFill>
                <a:latin typeface="Consolas"/>
              </a:rPr>
              <a:t>        S b{</a:t>
            </a:r>
            <a:r>
              <a:rPr lang="en-US" b="0">
                <a:solidFill>
                  <a:srgbClr val="A31515"/>
                </a:solidFill>
                <a:latin typeface="Consolas"/>
              </a:rPr>
              <a:t>"b"</a:t>
            </a:r>
            <a:r>
              <a:rPr lang="en-US" b="0">
                <a:solidFill>
                  <a:srgbClr val="000000"/>
                </a:solidFill>
                <a:latin typeface="Consolas"/>
              </a:rPr>
              <a:t>};</a:t>
            </a:r>
            <a:endParaRPr/>
          </a:p>
          <a:p>
            <a:pPr>
              <a:defRPr/>
            </a:pPr>
            <a:r>
              <a:rPr lang="en-US" b="0">
                <a:solidFill>
                  <a:srgbClr val="000000"/>
                </a:solidFill>
                <a:latin typeface="Consolas"/>
              </a:rPr>
              <a:t>        foo();</a:t>
            </a:r>
            <a:endParaRPr/>
          </a:p>
          <a:p>
            <a:pPr>
              <a:defRPr/>
            </a:pPr>
            <a:r>
              <a:rPr lang="en-US" b="0">
                <a:solidFill>
                  <a:srgbClr val="000000"/>
                </a:solidFill>
                <a:latin typeface="Consolas"/>
              </a:rPr>
              <a:t>    }</a:t>
            </a:r>
            <a:r>
              <a:rPr lang="en-US" b="0">
                <a:solidFill>
                  <a:srgbClr val="0000FF"/>
                </a:solidFill>
                <a:latin typeface="Consolas"/>
              </a:rPr>
              <a:t>catch</a:t>
            </a:r>
            <a:r>
              <a:rPr lang="en-US" b="0">
                <a:solidFill>
                  <a:srgbClr val="000000"/>
                </a:solidFill>
                <a:latin typeface="Consolas"/>
              </a:rPr>
              <a:t>(std::exception&amp; e){</a:t>
            </a:r>
            <a:endParaRPr/>
          </a:p>
          <a:p>
            <a:pPr>
              <a:defRPr/>
            </a:pPr>
            <a:r>
              <a:rPr lang="en-US" b="0">
                <a:solidFill>
                  <a:srgbClr val="000000"/>
                </a:solidFill>
                <a:latin typeface="Consolas"/>
              </a:rPr>
              <a:t>        printf(</a:t>
            </a:r>
            <a:r>
              <a:rPr lang="en-US" b="0">
                <a:solidFill>
                  <a:srgbClr val="A31515"/>
                </a:solidFill>
                <a:latin typeface="Consolas"/>
              </a:rPr>
              <a:t>"Caught!\n"</a:t>
            </a:r>
            <a:r>
              <a:rPr lang="en-US" b="0">
                <a:solidFill>
                  <a:srgbClr val="000000"/>
                </a:solidFill>
                <a:latin typeface="Consolas"/>
              </a:rPr>
              <a:t>);</a:t>
            </a:r>
            <a:endParaRPr/>
          </a:p>
          <a:p>
            <a:pPr>
              <a:defRPr/>
            </a:pPr>
            <a:r>
              <a:rPr lang="en-US" b="0">
                <a:solidFill>
                  <a:srgbClr val="000000"/>
                </a:solidFill>
                <a:latin typeface="Consolas"/>
              </a:rPr>
              <a:t>    }</a:t>
            </a:r>
            <a:endParaRPr/>
          </a:p>
          <a:p>
            <a:pPr>
              <a:defRPr/>
            </a:pPr>
            <a:r>
              <a:rPr lang="en-US" b="0">
                <a:solidFill>
                  <a:srgbClr val="000000"/>
                </a:solidFill>
                <a:latin typeface="Consolas"/>
              </a:rPr>
              <a:t>}</a:t>
            </a:r>
            <a:endParaRPr/>
          </a:p>
        </p:txBody>
      </p:sp>
      <p:sp>
        <p:nvSpPr>
          <p:cNvPr id="1188994518" name="Прямоугольник 57"/>
          <p:cNvSpPr/>
          <p:nvPr/>
        </p:nvSpPr>
        <p:spPr bwMode="auto">
          <a:xfrm>
            <a:off x="8294829" y="4482386"/>
            <a:ext cx="168583" cy="754803"/>
          </a:xfrm>
          <a:prstGeom prst="rect">
            <a:avLst/>
          </a:prstGeom>
          <a:solidFill>
            <a:schemeClr val="accent4">
              <a:lumMod val="40000"/>
              <a:lumOff val="6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defRPr/>
            </a:pPr>
            <a:endParaRPr lang="ru-RU"/>
          </a:p>
        </p:txBody>
      </p:sp>
      <p:sp>
        <p:nvSpPr>
          <p:cNvPr id="947895524" name="Прямоугольник 59"/>
          <p:cNvSpPr/>
          <p:nvPr/>
        </p:nvSpPr>
        <p:spPr bwMode="auto">
          <a:xfrm>
            <a:off x="8283855" y="5553106"/>
            <a:ext cx="178125" cy="175239"/>
          </a:xfrm>
          <a:prstGeom prst="rect">
            <a:avLst/>
          </a:prstGeom>
          <a:solidFill>
            <a:schemeClr val="accent2">
              <a:lumMod val="60000"/>
              <a:lumOff val="4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defRPr/>
            </a:pPr>
            <a:endParaRPr lang="ru-RU"/>
          </a:p>
        </p:txBody>
      </p:sp>
      <p:cxnSp>
        <p:nvCxnSpPr>
          <p:cNvPr id="639289551" name="Соединитель: уступ 73"/>
          <p:cNvCxnSpPr>
            <a:stCxn id="1188994518" idx="1"/>
            <a:endCxn id="947895524" idx="1"/>
          </p:cNvCxnSpPr>
          <p:nvPr/>
        </p:nvCxnSpPr>
        <p:spPr bwMode="auto">
          <a:xfrm rot="10800000" flipV="1">
            <a:off x="8283855" y="4859788"/>
            <a:ext cx="10974" cy="780938"/>
          </a:xfrm>
          <a:prstGeom prst="bentConnector3">
            <a:avLst>
              <a:gd name="adj1" fmla="val 2183106"/>
            </a:avLst>
          </a:prstGeom>
          <a:ln>
            <a:tailEnd type="triangle"/>
          </a:ln>
        </p:spPr>
        <p:style>
          <a:lnRef idx="1">
            <a:schemeClr val="dk1"/>
          </a:lnRef>
          <a:fillRef idx="0">
            <a:schemeClr val="dk1"/>
          </a:fillRef>
          <a:effectRef idx="0">
            <a:schemeClr val="dk1"/>
          </a:effectRef>
          <a:fontRef idx="minor">
            <a:schemeClr val="tx1"/>
          </a:fontRef>
        </p:style>
      </p:cxnSp>
      <p:cxnSp>
        <p:nvCxnSpPr>
          <p:cNvPr id="1348971506" name="Прямая со стрелкой 6"/>
          <p:cNvCxnSpPr/>
          <p:nvPr/>
        </p:nvCxnSpPr>
        <p:spPr bwMode="auto">
          <a:xfrm>
            <a:off x="8688931" y="5079213"/>
            <a:ext cx="45803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477679771" name="Заголовок 1"/>
          <p:cNvSpPr>
            <a:spLocks noGrp="1"/>
          </p:cNvSpPr>
          <p:nvPr>
            <p:ph type="title"/>
          </p:nvPr>
        </p:nvSpPr>
        <p:spPr bwMode="auto"/>
        <p:txBody>
          <a:bodyPr/>
          <a:lstStyle/>
          <a:p>
            <a:pPr>
              <a:defRPr/>
            </a:pPr>
            <a:r>
              <a:rPr lang="ru-RU"/>
              <a:t>Идентификация обработчика</a:t>
            </a:r>
            <a:endParaRPr lang="en-US"/>
          </a:p>
        </p:txBody>
      </p:sp>
      <p:sp>
        <p:nvSpPr>
          <p:cNvPr id="927045540" name="Объект 2"/>
          <p:cNvSpPr>
            <a:spLocks noGrp="1"/>
          </p:cNvSpPr>
          <p:nvPr>
            <p:ph idx="1"/>
          </p:nvPr>
        </p:nvSpPr>
        <p:spPr bwMode="auto">
          <a:xfrm>
            <a:off x="838200" y="1825625"/>
            <a:ext cx="10595290" cy="4351338"/>
          </a:xfrm>
        </p:spPr>
        <p:txBody>
          <a:bodyPr>
            <a:normAutofit/>
          </a:bodyPr>
          <a:lstStyle/>
          <a:p>
            <a:pPr marL="0" indent="0">
              <a:buNone/>
              <a:defRPr/>
            </a:pPr>
            <a:r>
              <a:rPr lang="ru-RU" sz="2000" dirty="0"/>
              <a:t>Когда возникает исключение, в таблице производится поиск записи о текущей функции. </a:t>
            </a:r>
            <a:endParaRPr dirty="0"/>
          </a:p>
          <a:p>
            <a:pPr marL="0" indent="0">
              <a:buNone/>
              <a:defRPr/>
            </a:pPr>
            <a:r>
              <a:rPr lang="ru-RU" sz="2000" dirty="0"/>
              <a:t>Если соответствующая запись найдена, то управление передается по соответствующему адресу.</a:t>
            </a:r>
            <a:r>
              <a:rPr lang="en-US" sz="2000" dirty="0"/>
              <a:t> </a:t>
            </a:r>
            <a:r>
              <a:rPr lang="ru-RU" sz="2000" dirty="0"/>
              <a:t>Код по адресу производит очистку стека (этот код есть, даже если в функции нет блока </a:t>
            </a:r>
            <a:r>
              <a:rPr lang="en-US" sz="2000" dirty="0"/>
              <a:t>catch</a:t>
            </a:r>
            <a:r>
              <a:rPr lang="ru-RU" sz="2000" dirty="0"/>
              <a:t>), проверку типа исключения и, если тип подходит, обработку исключения.</a:t>
            </a:r>
            <a:endParaRPr dirty="0"/>
          </a:p>
          <a:p>
            <a:pPr marL="0" indent="0">
              <a:buNone/>
              <a:defRPr/>
            </a:pPr>
            <a:r>
              <a:rPr lang="ru-RU" sz="2000" dirty="0"/>
              <a:t>Если запись не найдена, вызывается </a:t>
            </a:r>
            <a:r>
              <a:rPr lang="en-US" sz="2000" dirty="0"/>
              <a:t>std::terminate.</a:t>
            </a:r>
            <a:endParaRPr lang="ru-RU" sz="2000" dirty="0"/>
          </a:p>
          <a:p>
            <a:pPr marL="0" indent="0">
              <a:buNone/>
              <a:defRPr/>
            </a:pPr>
            <a:endParaRPr lang="en-US" sz="2000" dirty="0"/>
          </a:p>
        </p:txBody>
      </p:sp>
      <p:sp>
        <p:nvSpPr>
          <p:cNvPr id="1561334971" name="Номер слайда 4"/>
          <p:cNvSpPr>
            <a:spLocks noGrp="1"/>
          </p:cNvSpPr>
          <p:nvPr>
            <p:ph type="sldNum" sz="quarter" idx="12"/>
          </p:nvPr>
        </p:nvSpPr>
        <p:spPr bwMode="auto"/>
        <p:txBody>
          <a:bodyPr/>
          <a:lstStyle/>
          <a:p>
            <a:pPr>
              <a:defRPr/>
            </a:pPr>
            <a:fld id="{B67FBA2B-964F-4C4D-AAF7-5A8399264638}" type="slidenum">
              <a:rPr lang="en-US"/>
              <a:t>39</a:t>
            </a:fld>
            <a:endParaRPr lang="en-US"/>
          </a:p>
        </p:txBody>
      </p:sp>
      <p:sp>
        <p:nvSpPr>
          <p:cNvPr id="1018369202" name="TextBox 3"/>
          <p:cNvSpPr txBox="1"/>
          <p:nvPr/>
        </p:nvSpPr>
        <p:spPr bwMode="auto">
          <a:xfrm>
            <a:off x="3899819" y="4146976"/>
            <a:ext cx="4891126" cy="461665"/>
          </a:xfrm>
          <a:prstGeom prst="rect">
            <a:avLst/>
          </a:prstGeom>
          <a:noFill/>
        </p:spPr>
        <p:txBody>
          <a:bodyPr wrap="square">
            <a:spAutoFit/>
          </a:bodyPr>
          <a:lstStyle/>
          <a:p>
            <a:pPr algn="ctr">
              <a:defRPr/>
            </a:pPr>
            <a:r>
              <a:rPr lang="en-US" sz="2400" u="sng" dirty="0">
                <a:hlinkClick r:id="rId3"/>
              </a:rPr>
              <a:t>https://godbolt.org/z/6Kn56GWxc</a:t>
            </a:r>
            <a:endParaRPr lang="ru-RU" sz="2400" dirty="0"/>
          </a:p>
        </p:txBody>
      </p:sp>
      <p:sp>
        <p:nvSpPr>
          <p:cNvPr id="261780156" name="TextBox 5"/>
          <p:cNvSpPr txBox="1"/>
          <p:nvPr/>
        </p:nvSpPr>
        <p:spPr bwMode="auto">
          <a:xfrm>
            <a:off x="3899819" y="5850235"/>
            <a:ext cx="4891126" cy="461665"/>
          </a:xfrm>
          <a:prstGeom prst="rect">
            <a:avLst/>
          </a:prstGeom>
          <a:noFill/>
        </p:spPr>
        <p:txBody>
          <a:bodyPr wrap="square">
            <a:spAutoFit/>
          </a:bodyPr>
          <a:lstStyle/>
          <a:p>
            <a:pPr algn="ctr">
              <a:defRPr/>
            </a:pPr>
            <a:r>
              <a:rPr lang="ru-RU" sz="2400" u="sng">
                <a:hlinkClick r:id="rId4"/>
              </a:rPr>
              <a:t>https://habr.com/ru/post/279111/</a:t>
            </a:r>
            <a:endParaRPr lang="ru-RU" sz="2400"/>
          </a:p>
        </p:txBody>
      </p:sp>
    </p:spTree>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a:ea typeface="Arial"/>
        <a:cs typeface="Arial"/>
      </a:majorFont>
      <a:minorFont>
        <a:latin typeface="Calibri"/>
        <a:ea typeface="Arial"/>
        <a:cs typeface="Arial"/>
      </a:minorFont>
    </a:fontScheme>
    <a:fmtScheme name="Стандартная">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bwMode="auto"/>
      <a:bodyPr/>
      <a:lstStyle/>
      <a:style>
        <a:lnRef idx="1">
          <a:schemeClr val="dk1"/>
        </a:lnRef>
        <a:fillRef idx="0">
          <a:schemeClr val="dk1"/>
        </a:fillRef>
        <a:effectRef idx="0">
          <a:schemeClr val="dk1"/>
        </a:effectRef>
        <a:fontRef idx="minor">
          <a:schemeClr val="tx1"/>
        </a:fontRef>
      </a:style>
    </a:lnDef>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a:ea typeface="Arial"/>
        <a:cs typeface="Arial"/>
      </a:majorFont>
      <a:minorFont>
        <a:latin typeface="Calibri"/>
        <a:ea typeface="Arial"/>
        <a:cs typeface="Arial"/>
      </a:minorFont>
    </a:fontScheme>
    <a:fmtScheme name="Стандартная">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388</TotalTime>
  <Words>4976</Words>
  <Application>Microsoft Office PowerPoint</Application>
  <PresentationFormat>Widescreen</PresentationFormat>
  <Paragraphs>775</Paragraphs>
  <Slides>39</Slides>
  <Notes>39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39</vt:i4>
      </vt:variant>
    </vt:vector>
  </HeadingPairs>
  <TitlesOfParts>
    <vt:vector size="46" baseType="lpstr">
      <vt:lpstr>Arial</vt:lpstr>
      <vt:lpstr>Calibri</vt:lpstr>
      <vt:lpstr>Calibri Light</vt:lpstr>
      <vt:lpstr>Consolas</vt:lpstr>
      <vt:lpstr>Consolas, </vt:lpstr>
      <vt:lpstr>Courier New</vt:lpstr>
      <vt:lpstr>Тема Office</vt:lpstr>
      <vt:lpstr>Низкоуровневое программирование</vt:lpstr>
      <vt:lpstr>Compiler Explorer</vt:lpstr>
      <vt:lpstr>Правило as-if</vt:lpstr>
      <vt:lpstr>Границы оптимизаций</vt:lpstr>
      <vt:lpstr>О volatile</vt:lpstr>
      <vt:lpstr>Замечания о локальных переменных</vt:lpstr>
      <vt:lpstr>Переупорядочивание кода и встраивание функций</vt:lpstr>
      <vt:lpstr>Простые оптимизации: хвостовой вызов</vt:lpstr>
      <vt:lpstr>Простые оптимизации: хвостовая рекурсия</vt:lpstr>
      <vt:lpstr>Простые оптимизации: таблица переходов</vt:lpstr>
      <vt:lpstr>Простые оптимизации: развертка циклов</vt:lpstr>
      <vt:lpstr>Простые оптимизации: развертка циклов</vt:lpstr>
      <vt:lpstr>Duff’s Device</vt:lpstr>
      <vt:lpstr>Эквивалентные замены</vt:lpstr>
      <vt:lpstr>Неопределенное поведение</vt:lpstr>
      <vt:lpstr>Примеры неопределенного поведения</vt:lpstr>
      <vt:lpstr>О расположении локальных переменных и полей структур</vt:lpstr>
      <vt:lpstr>Выравнивание</vt:lpstr>
      <vt:lpstr>Аппаратные особенности ОЗУ</vt:lpstr>
      <vt:lpstr>Выравнивание переменных компилятором</vt:lpstr>
      <vt:lpstr>Выравнивание</vt:lpstr>
      <vt:lpstr>Переупорядочивание переменных</vt:lpstr>
      <vt:lpstr>Выравнивание полей</vt:lpstr>
      <vt:lpstr>Классы и объекты С++</vt:lpstr>
      <vt:lpstr>Конструкторы и деструкторы</vt:lpstr>
      <vt:lpstr>Конструкторы и деструкторы</vt:lpstr>
      <vt:lpstr>Конструкторы и деструкторы</vt:lpstr>
      <vt:lpstr>Операторы new[] и delete[]</vt:lpstr>
      <vt:lpstr>Операторы new[] и delete[]</vt:lpstr>
      <vt:lpstr>Наследование</vt:lpstr>
      <vt:lpstr>Наследование</vt:lpstr>
      <vt:lpstr>Виртуальные методы</vt:lpstr>
      <vt:lpstr>Виртуальные методы</vt:lpstr>
      <vt:lpstr>Виртуальные методы</vt:lpstr>
      <vt:lpstr>Виртуальные методы</vt:lpstr>
      <vt:lpstr>Исключения в С++</vt:lpstr>
      <vt:lpstr>Раскрутка стека</vt:lpstr>
      <vt:lpstr>Идентификация обработчика</vt:lpstr>
      <vt:lpstr>Идентификация обработчика</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Низкоуровневое программирование</dc:title>
  <dc:creator>Алексей Борисов</dc:creator>
  <cp:lastModifiedBy>Alexey</cp:lastModifiedBy>
  <cp:revision>290</cp:revision>
  <dcterms:created xsi:type="dcterms:W3CDTF">2021-02-27T16:04:41Z</dcterms:created>
  <dcterms:modified xsi:type="dcterms:W3CDTF">2026-10-19T06:33:18Z</dcterms:modified>
</cp:coreProperties>
</file>