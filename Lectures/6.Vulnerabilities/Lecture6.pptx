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2" r:id="rId27"/>
    <p:sldId id="281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940675A-B579-460E-94D1-54222C63F5DA}" styleName="Нет стиля, сетка таблицы">
    <a:wholeTbl>
      <a:tcTxStyle>
        <a:fontRef idx="minor">
          <a:srgbClr val="000000"/>
        </a:fontRef>
        <a:schemeClr val="tx1"/>
      </a:tcTxStyle>
      <a:tcStyle>
        <a:tcBdr>
          <a:left>
            <a:ln w="12700">
              <a:solidFill>
                <a:schemeClr val="tx1"/>
              </a:solidFill>
            </a:ln>
          </a:left>
          <a:right>
            <a:ln w="12700">
              <a:solidFill>
                <a:schemeClr val="tx1"/>
              </a:solidFill>
            </a:ln>
          </a:right>
          <a:top>
            <a:ln w="12700">
              <a:solidFill>
                <a:schemeClr val="tx1"/>
              </a:solidFill>
            </a:ln>
          </a:top>
          <a:bottom>
            <a:ln w="12700">
              <a:solidFill>
                <a:schemeClr val="tx1"/>
              </a:solidFill>
            </a:ln>
          </a:bottom>
          <a:insideH>
            <a:ln w="12700">
              <a:solidFill>
                <a:schemeClr val="tx1"/>
              </a:solidFill>
            </a:ln>
          </a:insideH>
          <a:insideV>
            <a:ln w="12700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Style>
        <a:tcBdr/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2" d="100"/>
          <a:sy n="112" d="100"/>
        </p:scale>
        <p:origin x="758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1994703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07429127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8A70136C-4900-4139-A65E-0FFE21BA8660}" type="datetimeFigureOut">
              <a:rPr lang="en-US"/>
              <a:t>12/4/2025</a:t>
            </a:fld>
            <a:endParaRPr lang="en-US"/>
          </a:p>
        </p:txBody>
      </p:sp>
      <p:sp>
        <p:nvSpPr>
          <p:cNvPr id="737700392" name="Образ слайда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r>
              <a:rPr lang="ru-RU"/>
              <a:t>вр</a:t>
            </a:r>
            <a:endParaRPr lang="en-US"/>
          </a:p>
        </p:txBody>
      </p:sp>
      <p:sp>
        <p:nvSpPr>
          <p:cNvPr id="871865289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962200391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90846013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A8B5C656-B1C2-48D6-B4C0-50C1DF62A042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B301310-890E-4DC9-EA3E-21F74F343828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65F4814-19AB-3D06-59A2-B9F01B95F126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601D3A4-70C1-92CC-9F96-81196373E84D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59EEBC1-AC48-63C2-7128-4C8AF514A7FF}" type="slidenum">
              <a:rPr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8DAB51C-E70E-9043-5086-4AC99141D6BC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C9E7E89-A9E0-744F-406E-6435469E997C}" type="slidenum">
              <a:rPr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D1643E-1348-6F67-6E99-4CD2BCAB4F77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7FEC399-D773-1B33-91F4-0A4AA6FDA008}" type="slidenum">
              <a:rPr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A5285D2-2CBF-7F34-8591-8A33971659C9}" type="slidenum">
              <a:rPr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EC376ED-1070-D48F-AE1F-BDA55F654D97}" type="slidenum">
              <a:rPr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6816317-2FB4-E61F-5A3E-3F2BBB18841B}" type="slidenum">
              <a:rPr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1699665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530511626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213163630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A8B5C656-B1C2-48D6-B4C0-50C1DF62A042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D5F86F9-2EA9-D101-9A7B-6125C74100A7}" type="slidenum">
              <a:rPr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D3B1180-9429-E1E6-3146-2AE66F413051}" type="slidenum">
              <a:rPr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F57F79-762D-1639-72C1-C20FA74E55AB}" type="slidenum">
              <a:rPr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7BB984B-FC6B-F460-2A02-E5560252B49B}" type="slidenum">
              <a:rPr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ADC3CE3-1187-33B8-2B01-5F3A5E2E4C19}" type="slidenum">
              <a:rPr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4132636-A26F-6DD0-E8CD-CABA906740CC}" type="slidenum">
              <a:rPr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E5B9A0A-59E7-E470-83A5-CCEDFBE702CB}" type="slidenum">
              <a:rPr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D74234A-93A9-2172-59B8-BC3B711F3D05}" type="slidenum">
              <a:rPr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8FF6DFB-234D-3D99-53E8-4929C81B3F38}" type="slidenum">
              <a:rPr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2487868-7FF3-2202-B294-C9BA9DCA8D8C}" type="slidenum">
              <a:rPr/>
              <a:t>22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B185F3D-25CB-3311-38CF-185E045F92DA}" type="slidenum">
              <a:rPr/>
              <a:t>23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2C07744-6324-7535-B7CE-2EB6CB072FB1}" type="slidenum">
              <a:rPr/>
              <a:t>24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3306083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7180115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02647165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A8B5C656-B1C2-48D6-B4C0-50C1DF62A042}" type="slidenum">
              <a:rPr lang="en-US"/>
              <a:t>25</a:t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20400D9-2BFA-4D13-AFCB-773F987CCFAB}" type="slidenum">
              <a:rPr/>
              <a:t>26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67DD341-033F-620A-1AC2-3B084B54DC65}" type="slidenum">
              <a:rPr/>
              <a:t>27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AA955DD-D2EC-D2EC-C979-555C0C213E7B}" type="slidenum">
              <a:rPr/>
              <a:t>28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3045A38-EDA8-EC60-CECB-E56FD1F4BA8A}" type="slidenum">
              <a:rPr/>
              <a:t>29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78E2EEF-0001-16C6-FA9B-423E36176970}" type="slidenum">
              <a:rPr/>
              <a:t>30</a:t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2ABD30-0702-7E35-19FC-B021E94BCBEA}" type="slidenum">
              <a:rPr/>
              <a:t>31</a:t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042090-0699-3F7E-B4F7-7861DB955550}" type="slidenum">
              <a:rPr/>
              <a:t>32</a:t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0204A00-D6CC-C202-519F-B4D6BAFEED64}" type="slidenum">
              <a:rPr/>
              <a:t>33</a:t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19298E-D6C5-3A76-846E-6000D6EF0888}" type="slidenum">
              <a:rPr/>
              <a:t>34</a:t>
            </a:fld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0FDB90-55B7-E8D9-D3D5-CA00FC3B3306}" type="slidenum">
              <a:rPr/>
              <a:t>35</a:t>
            </a:fld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529CC1D-E8F9-0BD9-CA9F-0D8CF7F91E99}" type="slidenum">
              <a:rPr/>
              <a:t>36</a:t>
            </a:fld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680EB11-864A-8009-DF39-679C398B3A5A}" type="slidenum">
              <a:rPr/>
              <a:t>37</a:t>
            </a:fld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D978B9-B3DA-F366-A4F7-A56ED653FCAA}" type="slidenum">
              <a:rPr/>
              <a:t>38</a:t>
            </a:fld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687B05-EFD0-982D-A19F-A416946422D3}" type="slidenum">
              <a:rPr/>
              <a:t>39</a:t>
            </a:fld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2C5E9D-CF74-0703-4E8D-FC21663AD523}" type="slidenum">
              <a:rPr/>
              <a:t>40</a:t>
            </a:fld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50C5F84-A575-D651-BEF0-E07709212CE0}" type="slidenum">
              <a:rPr/>
              <a:t>41</a:t>
            </a:fld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8C2D2D-D13C-5D92-8BCC-E5543679C4E0}" type="slidenum">
              <a:rPr/>
              <a:t>42</a:t>
            </a:fld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FC6F35-C039-031F-99E0-D71379029436}" type="slidenum">
              <a:rPr/>
              <a:t>43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4732518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2035404052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696927327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21851333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Переполнение на стеке</a:t>
            </a:r>
            <a:endParaRPr lang="en-US"/>
          </a:p>
        </p:txBody>
      </p:sp>
      <p:sp>
        <p:nvSpPr>
          <p:cNvPr id="415521470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7FBA2B-964F-4C4D-AAF7-5A8399264638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8648201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650320806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597027994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 algn="l">
              <a:defRPr sz="1800"/>
            </a:lvl1pPr>
          </a:lstStyle>
          <a:p>
            <a:pPr>
              <a:defRPr/>
            </a:pPr>
            <a:r>
              <a:rPr lang="ru-RU"/>
              <a:t>Переполнение на стеке</a:t>
            </a:r>
            <a:endParaRPr lang="en-US"/>
          </a:p>
        </p:txBody>
      </p:sp>
      <p:sp>
        <p:nvSpPr>
          <p:cNvPr id="798527022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 sz="1800"/>
            </a:lvl1pPr>
          </a:lstStyle>
          <a:p>
            <a:pPr>
              <a:defRPr/>
            </a:pPr>
            <a:fld id="{B67FBA2B-964F-4C4D-AAF7-5A8399264638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4481950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2004372158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6504003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80709454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Переполнение на стеке</a:t>
            </a:r>
            <a:endParaRPr lang="en-US"/>
          </a:p>
        </p:txBody>
      </p:sp>
      <p:sp>
        <p:nvSpPr>
          <p:cNvPr id="2005860308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7FBA2B-964F-4C4D-AAF7-5A8399264638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0343929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509852000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563536602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897123556" name="Дата 4"/>
          <p:cNvSpPr>
            <a:spLocks noGrp="1"/>
          </p:cNvSpPr>
          <p:nvPr>
            <p:ph type="dt" sz="half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06759533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Переполнение на стеке</a:t>
            </a:r>
            <a:endParaRPr lang="en-US"/>
          </a:p>
        </p:txBody>
      </p:sp>
      <p:sp>
        <p:nvSpPr>
          <p:cNvPr id="179453902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7FBA2B-964F-4C4D-AAF7-5A8399264638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1564608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534316265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38096585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637405424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85603501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296004703" name="Дата 6"/>
          <p:cNvSpPr>
            <a:spLocks noGrp="1"/>
          </p:cNvSpPr>
          <p:nvPr>
            <p:ph type="dt" sz="half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76304041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Переполнение на стеке</a:t>
            </a:r>
            <a:endParaRPr lang="en-US"/>
          </a:p>
        </p:txBody>
      </p:sp>
      <p:sp>
        <p:nvSpPr>
          <p:cNvPr id="926937633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7FBA2B-964F-4C4D-AAF7-5A8399264638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1531938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288122868" name="Дата 2"/>
          <p:cNvSpPr>
            <a:spLocks noGrp="1"/>
          </p:cNvSpPr>
          <p:nvPr>
            <p:ph type="dt" sz="half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81482420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Переполнение на стеке</a:t>
            </a:r>
            <a:endParaRPr lang="en-US"/>
          </a:p>
        </p:txBody>
      </p:sp>
      <p:sp>
        <p:nvSpPr>
          <p:cNvPr id="749096791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7FBA2B-964F-4C4D-AAF7-5A8399264638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2825692" name="Дата 1"/>
          <p:cNvSpPr>
            <a:spLocks noGrp="1"/>
          </p:cNvSpPr>
          <p:nvPr>
            <p:ph type="dt" sz="half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19041393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Переполнение на стеке</a:t>
            </a:r>
            <a:endParaRPr lang="en-US"/>
          </a:p>
        </p:txBody>
      </p:sp>
      <p:sp>
        <p:nvSpPr>
          <p:cNvPr id="1690007402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7FBA2B-964F-4C4D-AAF7-5A8399264638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0171667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798938150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727163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69960726" name="Дата 4"/>
          <p:cNvSpPr>
            <a:spLocks noGrp="1"/>
          </p:cNvSpPr>
          <p:nvPr>
            <p:ph type="dt" sz="half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55302365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Переполнение на стеке</a:t>
            </a:r>
            <a:endParaRPr lang="en-US"/>
          </a:p>
        </p:txBody>
      </p:sp>
      <p:sp>
        <p:nvSpPr>
          <p:cNvPr id="214406075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7FBA2B-964F-4C4D-AAF7-5A8399264638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8825001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918329168" name="Рисунок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983704435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12435014" name="Дата 4"/>
          <p:cNvSpPr>
            <a:spLocks noGrp="1"/>
          </p:cNvSpPr>
          <p:nvPr>
            <p:ph type="dt" sz="half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3900959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Переполнение на стеке</a:t>
            </a:r>
            <a:endParaRPr lang="en-US"/>
          </a:p>
        </p:txBody>
      </p:sp>
      <p:sp>
        <p:nvSpPr>
          <p:cNvPr id="1082990101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7FBA2B-964F-4C4D-AAF7-5A8399264638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095860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796209999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2104240618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84125362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Переполнение на стеке</a:t>
            </a:r>
            <a:endParaRPr lang="en-US"/>
          </a:p>
        </p:txBody>
      </p:sp>
      <p:sp>
        <p:nvSpPr>
          <p:cNvPr id="207301758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7FBA2B-964F-4C4D-AAF7-5A8399264638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282200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856048588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377561629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65707061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Переполнение на стеке</a:t>
            </a:r>
            <a:endParaRPr lang="en-US"/>
          </a:p>
        </p:txBody>
      </p:sp>
      <p:sp>
        <p:nvSpPr>
          <p:cNvPr id="933286503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7FBA2B-964F-4C4D-AAF7-5A8399264638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0818906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037998991" name="Текст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96888607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838200" y="6356350"/>
            <a:ext cx="7315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Переполнение на стеке</a:t>
            </a:r>
            <a:endParaRPr lang="en-US"/>
          </a:p>
        </p:txBody>
      </p:sp>
      <p:sp>
        <p:nvSpPr>
          <p:cNvPr id="60666221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67FBA2B-964F-4C4D-AAF7-5A8399264638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6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4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nu.org/software/libc/manual/html_node/Source-Fortification.html" TargetMode="Externa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exploit.education/protostar/" TargetMode="External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irman604.medium.com/protostar-heap-3-walkthrough-56d9334bcd13" TargetMode="External"/><Relationship Id="rId5" Type="http://schemas.openxmlformats.org/officeDocument/2006/relationships/hyperlink" Target="https://code.woboq.org/userspace/glibc/malloc/malloc.c.html" TargetMode="External"/><Relationship Id="rId4" Type="http://schemas.openxmlformats.org/officeDocument/2006/relationships/hyperlink" Target="https://www.youtube.com/channel/UClcE-kVhqyiHCcjYwcpfj9w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3924175" name="Заголовок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Низкоуровневое программирование</a:t>
            </a:r>
            <a:endParaRPr lang="en-US"/>
          </a:p>
        </p:txBody>
      </p:sp>
      <p:sp>
        <p:nvSpPr>
          <p:cNvPr id="1261537036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2684462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/>
              <a:t>Лекция </a:t>
            </a:r>
            <a:r>
              <a:rPr lang="en-US"/>
              <a:t>6</a:t>
            </a:r>
            <a:endParaRPr lang="ru-RU"/>
          </a:p>
          <a:p>
            <a:pPr>
              <a:defRPr/>
            </a:pPr>
            <a:r>
              <a:rPr lang="ru-RU"/>
              <a:t>Уязвимости форматной строки</a:t>
            </a:r>
            <a:br>
              <a:rPr lang="ru-RU"/>
            </a:br>
            <a:r>
              <a:rPr lang="ru-RU"/>
              <a:t>Переполнение на стеке</a:t>
            </a:r>
            <a:br>
              <a:rPr lang="ru-RU"/>
            </a:br>
            <a:r>
              <a:rPr lang="ru-RU"/>
              <a:t>Переполнение в куче</a:t>
            </a:r>
            <a:br>
              <a:rPr lang="ru-RU"/>
            </a:br>
            <a:r>
              <a:rPr lang="ru-RU"/>
              <a:t>ASLR</a:t>
            </a:r>
            <a:endParaRPr/>
          </a:p>
          <a:p>
            <a:pPr>
              <a:defRPr/>
            </a:pPr>
            <a:endParaRPr lang="ru-RU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4765584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Уязвимости форматной строки</a:t>
            </a:r>
            <a:endParaRPr lang="en-US"/>
          </a:p>
        </p:txBody>
      </p:sp>
      <p:sp>
        <p:nvSpPr>
          <p:cNvPr id="710644553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7FBA2B-964F-4C4D-AAF7-5A8399264638}" type="slidenum">
              <a:rPr lang="en-US"/>
              <a:t>2</a:t>
            </a:fld>
            <a:endParaRPr lang="en-US"/>
          </a:p>
        </p:txBody>
      </p:sp>
      <p:sp>
        <p:nvSpPr>
          <p:cNvPr id="1435899110" name="TextBox 7"/>
          <p:cNvSpPr txBox="1"/>
          <p:nvPr/>
        </p:nvSpPr>
        <p:spPr bwMode="auto">
          <a:xfrm>
            <a:off x="1148225" y="2429496"/>
            <a:ext cx="5200095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void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echo() {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800">
                <a:solidFill>
                  <a:srgbClr val="0000FF"/>
                </a:solidFill>
                <a:latin typeface="Consolas"/>
              </a:rPr>
              <a:t>char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buffer[100] ; 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    scanf(</a:t>
            </a:r>
            <a:r>
              <a:rPr lang="en-US" sz="1800">
                <a:solidFill>
                  <a:srgbClr val="A31515"/>
                </a:solidFill>
                <a:latin typeface="Consolas"/>
              </a:rPr>
              <a:t>"%s"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, buffer);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    printf(buffer);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}</a:t>
            </a:r>
            <a:endParaRPr/>
          </a:p>
          <a:p>
            <a:pPr>
              <a:defRPr/>
            </a:pPr>
            <a:endParaRPr lang="en-US" sz="1800">
              <a:solidFill>
                <a:srgbClr val="000000"/>
              </a:solidFill>
              <a:latin typeface="Consolas"/>
            </a:endParaRPr>
          </a:p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int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main() {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    echo();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}</a:t>
            </a:r>
            <a:endParaRPr lang="en-US" sz="1800">
              <a:latin typeface="Calibri"/>
              <a:ea typeface="Calibri"/>
              <a:cs typeface="Times New Roman"/>
            </a:endParaRPr>
          </a:p>
        </p:txBody>
      </p:sp>
      <p:sp>
        <p:nvSpPr>
          <p:cNvPr id="1400357572" name="Прямоугольник 8"/>
          <p:cNvSpPr/>
          <p:nvPr/>
        </p:nvSpPr>
        <p:spPr bwMode="auto">
          <a:xfrm>
            <a:off x="8933992" y="1690688"/>
            <a:ext cx="2396971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US"/>
          </a:p>
        </p:txBody>
      </p:sp>
      <p:cxnSp>
        <p:nvCxnSpPr>
          <p:cNvPr id="2116977047" name="Прямая со стрелкой 9"/>
          <p:cNvCxnSpPr/>
          <p:nvPr/>
        </p:nvCxnSpPr>
        <p:spPr bwMode="auto">
          <a:xfrm>
            <a:off x="8041419" y="4051622"/>
            <a:ext cx="8955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1529043" name="TextBox 10"/>
          <p:cNvSpPr txBox="1"/>
          <p:nvPr/>
        </p:nvSpPr>
        <p:spPr bwMode="auto">
          <a:xfrm>
            <a:off x="7949403" y="3663714"/>
            <a:ext cx="6641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2400" b="1"/>
              <a:t>RSP</a:t>
            </a:r>
            <a:endParaRPr/>
          </a:p>
        </p:txBody>
      </p:sp>
      <p:sp>
        <p:nvSpPr>
          <p:cNvPr id="750625115" name="Прямоугольник 11"/>
          <p:cNvSpPr/>
          <p:nvPr/>
        </p:nvSpPr>
        <p:spPr bwMode="auto">
          <a:xfrm>
            <a:off x="8933992" y="1684917"/>
            <a:ext cx="2396971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return address</a:t>
            </a:r>
            <a:endParaRPr/>
          </a:p>
        </p:txBody>
      </p:sp>
      <p:sp>
        <p:nvSpPr>
          <p:cNvPr id="593239607" name="Прямоугольник 12"/>
          <p:cNvSpPr/>
          <p:nvPr/>
        </p:nvSpPr>
        <p:spPr bwMode="auto">
          <a:xfrm>
            <a:off x="8933992" y="2434646"/>
            <a:ext cx="2396971" cy="161630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buffer</a:t>
            </a:r>
            <a:endParaRPr/>
          </a:p>
        </p:txBody>
      </p:sp>
      <p:sp>
        <p:nvSpPr>
          <p:cNvPr id="2045860859" name="Прямоугольник 13"/>
          <p:cNvSpPr/>
          <p:nvPr/>
        </p:nvSpPr>
        <p:spPr bwMode="auto">
          <a:xfrm>
            <a:off x="8933992" y="2061077"/>
            <a:ext cx="2396971" cy="368419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Prev. RBP</a:t>
            </a:r>
            <a:endParaRPr/>
          </a:p>
        </p:txBody>
      </p:sp>
      <p:sp>
        <p:nvSpPr>
          <p:cNvPr id="1814252613" name="TextBox 14"/>
          <p:cNvSpPr txBox="1"/>
          <p:nvPr/>
        </p:nvSpPr>
        <p:spPr bwMode="auto">
          <a:xfrm>
            <a:off x="1838739" y="5287617"/>
            <a:ext cx="53799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ru-RU"/>
              <a:t>Что будет, если ввести  </a:t>
            </a:r>
            <a:r>
              <a:rPr lang="en-US">
                <a:solidFill>
                  <a:srgbClr val="A31515"/>
                </a:solidFill>
                <a:latin typeface="Consolas"/>
              </a:rPr>
              <a:t>“</a:t>
            </a:r>
            <a:r>
              <a:rPr lang="en-US" sz="1800">
                <a:solidFill>
                  <a:srgbClr val="A31515"/>
                </a:solidFill>
                <a:latin typeface="Consolas"/>
              </a:rPr>
              <a:t>%d %d %d %d %d %d %d</a:t>
            </a:r>
            <a:r>
              <a:rPr lang="en-US">
                <a:solidFill>
                  <a:srgbClr val="A31515"/>
                </a:solidFill>
                <a:latin typeface="Consolas"/>
              </a:rPr>
              <a:t>”</a:t>
            </a:r>
            <a:r>
              <a:rPr lang="ru-RU"/>
              <a:t>?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741816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Уязвимости форматной строки</a:t>
            </a:r>
            <a:endParaRPr lang="en-US"/>
          </a:p>
        </p:txBody>
      </p:sp>
      <p:sp>
        <p:nvSpPr>
          <p:cNvPr id="1511372771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7FBA2B-964F-4C4D-AAF7-5A8399264638}" type="slidenum">
              <a:rPr lang="en-US"/>
              <a:t>3</a:t>
            </a:fld>
            <a:endParaRPr lang="en-US"/>
          </a:p>
        </p:txBody>
      </p:sp>
      <p:sp>
        <p:nvSpPr>
          <p:cNvPr id="2073504593" name="TextBox 7"/>
          <p:cNvSpPr txBox="1"/>
          <p:nvPr/>
        </p:nvSpPr>
        <p:spPr bwMode="auto">
          <a:xfrm>
            <a:off x="6323155" y="1824387"/>
            <a:ext cx="5200095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void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echo() {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800">
                <a:solidFill>
                  <a:srgbClr val="0000FF"/>
                </a:solidFill>
                <a:latin typeface="Consolas"/>
              </a:rPr>
              <a:t>char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buffer[100] ; 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    scanf(</a:t>
            </a:r>
            <a:r>
              <a:rPr lang="en-US" sz="1800">
                <a:solidFill>
                  <a:srgbClr val="A31515"/>
                </a:solidFill>
                <a:latin typeface="Consolas"/>
              </a:rPr>
              <a:t>"%s"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, buffer);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    printf(buffer);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}</a:t>
            </a:r>
            <a:endParaRPr/>
          </a:p>
          <a:p>
            <a:pPr>
              <a:defRPr/>
            </a:pPr>
            <a:endParaRPr lang="en-US" sz="1800">
              <a:solidFill>
                <a:srgbClr val="000000"/>
              </a:solidFill>
              <a:latin typeface="Consolas"/>
            </a:endParaRPr>
          </a:p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int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main() {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    echo();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}</a:t>
            </a:r>
            <a:endParaRPr lang="en-US" sz="1800">
              <a:latin typeface="Calibri"/>
              <a:ea typeface="Calibri"/>
              <a:cs typeface="Times New Roman"/>
            </a:endParaRPr>
          </a:p>
        </p:txBody>
      </p:sp>
      <p:sp>
        <p:nvSpPr>
          <p:cNvPr id="995511837" name="TextBox 5"/>
          <p:cNvSpPr txBox="1"/>
          <p:nvPr/>
        </p:nvSpPr>
        <p:spPr bwMode="auto">
          <a:xfrm>
            <a:off x="838200" y="1981094"/>
            <a:ext cx="42627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2400">
                <a:solidFill>
                  <a:srgbClr val="A31515"/>
                </a:solidFill>
                <a:latin typeface="Consolas"/>
              </a:rPr>
              <a:t>"%d %d %d %d %d %d %d …"</a:t>
            </a:r>
            <a:endParaRPr lang="en-US" sz="2400"/>
          </a:p>
        </p:txBody>
      </p:sp>
      <p:sp>
        <p:nvSpPr>
          <p:cNvPr id="253305995" name="TextBox 19"/>
          <p:cNvSpPr txBox="1"/>
          <p:nvPr/>
        </p:nvSpPr>
        <p:spPr bwMode="auto">
          <a:xfrm>
            <a:off x="917923" y="3578089"/>
            <a:ext cx="569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/>
              <a:t>RDX</a:t>
            </a:r>
            <a:endParaRPr/>
          </a:p>
        </p:txBody>
      </p:sp>
      <p:cxnSp>
        <p:nvCxnSpPr>
          <p:cNvPr id="1750167886" name="Прямая со стрелкой 20"/>
          <p:cNvCxnSpPr/>
          <p:nvPr/>
        </p:nvCxnSpPr>
        <p:spPr bwMode="auto">
          <a:xfrm flipV="1">
            <a:off x="1127009" y="2442759"/>
            <a:ext cx="0" cy="11353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5123600" name="Прямая со стрелкой 26"/>
          <p:cNvCxnSpPr/>
          <p:nvPr/>
        </p:nvCxnSpPr>
        <p:spPr bwMode="auto">
          <a:xfrm flipV="1">
            <a:off x="1763456" y="2442752"/>
            <a:ext cx="0" cy="6736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6683959" name="TextBox 27"/>
          <p:cNvSpPr txBox="1"/>
          <p:nvPr/>
        </p:nvSpPr>
        <p:spPr bwMode="auto">
          <a:xfrm>
            <a:off x="1462538" y="3208747"/>
            <a:ext cx="4267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/>
              <a:t>R8</a:t>
            </a:r>
            <a:endParaRPr/>
          </a:p>
        </p:txBody>
      </p:sp>
      <p:sp>
        <p:nvSpPr>
          <p:cNvPr id="1308484944" name="TextBox 28"/>
          <p:cNvSpPr txBox="1"/>
          <p:nvPr/>
        </p:nvSpPr>
        <p:spPr bwMode="auto">
          <a:xfrm>
            <a:off x="2045203" y="3578085"/>
            <a:ext cx="4267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/>
              <a:t>R9</a:t>
            </a:r>
            <a:endParaRPr/>
          </a:p>
        </p:txBody>
      </p:sp>
      <p:cxnSp>
        <p:nvCxnSpPr>
          <p:cNvPr id="42372089" name="Прямая со стрелкой 29"/>
          <p:cNvCxnSpPr/>
          <p:nvPr/>
        </p:nvCxnSpPr>
        <p:spPr bwMode="auto">
          <a:xfrm flipV="1">
            <a:off x="2254289" y="2442755"/>
            <a:ext cx="0" cy="11353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5200550" name="Прямая со стрелкой 30"/>
          <p:cNvCxnSpPr/>
          <p:nvPr/>
        </p:nvCxnSpPr>
        <p:spPr bwMode="auto">
          <a:xfrm flipH="1" flipV="1">
            <a:off x="2758863" y="2456418"/>
            <a:ext cx="570857" cy="11216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0209380" name="Прямая со стрелкой 33"/>
          <p:cNvCxnSpPr/>
          <p:nvPr/>
        </p:nvCxnSpPr>
        <p:spPr bwMode="auto">
          <a:xfrm flipH="1" flipV="1">
            <a:off x="3273077" y="2456418"/>
            <a:ext cx="197487" cy="10996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5901460" name="Прямая со стрелкой 34"/>
          <p:cNvCxnSpPr>
            <a:stCxn id="1383367987" idx="0"/>
          </p:cNvCxnSpPr>
          <p:nvPr/>
        </p:nvCxnSpPr>
        <p:spPr bwMode="auto">
          <a:xfrm flipV="1">
            <a:off x="3639036" y="2456418"/>
            <a:ext cx="135774" cy="10996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3272620" name="Прямая со стрелкой 35"/>
          <p:cNvCxnSpPr/>
          <p:nvPr/>
        </p:nvCxnSpPr>
        <p:spPr bwMode="auto">
          <a:xfrm flipV="1">
            <a:off x="3774810" y="2442751"/>
            <a:ext cx="450980" cy="11133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3367987" name="TextBox 37"/>
          <p:cNvSpPr txBox="1"/>
          <p:nvPr/>
        </p:nvSpPr>
        <p:spPr bwMode="auto">
          <a:xfrm>
            <a:off x="3329720" y="3556116"/>
            <a:ext cx="6186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ru-RU"/>
              <a:t>Стек</a:t>
            </a:r>
            <a:endParaRPr lang="en-US"/>
          </a:p>
        </p:txBody>
      </p:sp>
      <p:sp>
        <p:nvSpPr>
          <p:cNvPr id="122447579" name="TextBox 38"/>
          <p:cNvSpPr txBox="1"/>
          <p:nvPr/>
        </p:nvSpPr>
        <p:spPr bwMode="auto">
          <a:xfrm>
            <a:off x="92645" y="1739732"/>
            <a:ext cx="15915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/>
              <a:t>Microsoft x64: </a:t>
            </a:r>
            <a:endParaRPr/>
          </a:p>
        </p:txBody>
      </p:sp>
      <p:cxnSp>
        <p:nvCxnSpPr>
          <p:cNvPr id="892893066" name="Прямая со стрелкой 39"/>
          <p:cNvCxnSpPr/>
          <p:nvPr/>
        </p:nvCxnSpPr>
        <p:spPr bwMode="auto">
          <a:xfrm flipH="1" flipV="1">
            <a:off x="1223879" y="4739941"/>
            <a:ext cx="1084336" cy="11489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5971734" name="Прямая со стрелкой 42"/>
          <p:cNvCxnSpPr/>
          <p:nvPr/>
        </p:nvCxnSpPr>
        <p:spPr bwMode="auto">
          <a:xfrm flipH="1" flipV="1">
            <a:off x="1756275" y="4739943"/>
            <a:ext cx="670143" cy="11133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0656864" name="Прямая со стрелкой 43"/>
          <p:cNvCxnSpPr/>
          <p:nvPr/>
        </p:nvCxnSpPr>
        <p:spPr bwMode="auto">
          <a:xfrm flipH="1" flipV="1">
            <a:off x="2226467" y="4739937"/>
            <a:ext cx="366313" cy="11133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6624659" name="Прямая со стрелкой 46"/>
          <p:cNvCxnSpPr/>
          <p:nvPr/>
        </p:nvCxnSpPr>
        <p:spPr bwMode="auto">
          <a:xfrm flipV="1">
            <a:off x="2758863" y="4739939"/>
            <a:ext cx="0" cy="11353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0672947" name="Прямая со стрелкой 47"/>
          <p:cNvCxnSpPr/>
          <p:nvPr/>
        </p:nvCxnSpPr>
        <p:spPr bwMode="auto">
          <a:xfrm flipV="1">
            <a:off x="2901819" y="4753600"/>
            <a:ext cx="340594" cy="10997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0349648" name="Прямая со стрелкой 50"/>
          <p:cNvCxnSpPr/>
          <p:nvPr/>
        </p:nvCxnSpPr>
        <p:spPr bwMode="auto">
          <a:xfrm flipV="1">
            <a:off x="2969550" y="4753602"/>
            <a:ext cx="805259" cy="10997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8253104" name="Прямая со стрелкой 51"/>
          <p:cNvCxnSpPr/>
          <p:nvPr/>
        </p:nvCxnSpPr>
        <p:spPr bwMode="auto">
          <a:xfrm flipV="1">
            <a:off x="3072117" y="4739935"/>
            <a:ext cx="1153673" cy="11489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23834" name="Прямая со стрелкой 52"/>
          <p:cNvCxnSpPr/>
          <p:nvPr/>
        </p:nvCxnSpPr>
        <p:spPr bwMode="auto">
          <a:xfrm flipV="1">
            <a:off x="3175624" y="4739935"/>
            <a:ext cx="1482485" cy="11489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8509103" name="TextBox 53"/>
          <p:cNvSpPr txBox="1"/>
          <p:nvPr/>
        </p:nvSpPr>
        <p:spPr bwMode="auto">
          <a:xfrm>
            <a:off x="2426418" y="5853318"/>
            <a:ext cx="6186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ru-RU"/>
              <a:t>Стек</a:t>
            </a:r>
            <a:endParaRPr lang="en-US"/>
          </a:p>
        </p:txBody>
      </p:sp>
      <p:sp>
        <p:nvSpPr>
          <p:cNvPr id="1671284398" name="TextBox 54"/>
          <p:cNvSpPr txBox="1"/>
          <p:nvPr/>
        </p:nvSpPr>
        <p:spPr bwMode="auto">
          <a:xfrm>
            <a:off x="231152" y="4075357"/>
            <a:ext cx="7857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/>
              <a:t>cdecl: </a:t>
            </a:r>
            <a:endParaRPr/>
          </a:p>
        </p:txBody>
      </p:sp>
      <p:sp>
        <p:nvSpPr>
          <p:cNvPr id="971128553" name="TextBox 55"/>
          <p:cNvSpPr txBox="1"/>
          <p:nvPr/>
        </p:nvSpPr>
        <p:spPr bwMode="auto">
          <a:xfrm>
            <a:off x="838198" y="4348661"/>
            <a:ext cx="42627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2400">
                <a:solidFill>
                  <a:srgbClr val="A31515"/>
                </a:solidFill>
                <a:latin typeface="Consolas"/>
              </a:rPr>
              <a:t>"%d %d %d %d %d %d %d …"</a:t>
            </a:r>
            <a:endParaRPr lang="en-US" sz="2400"/>
          </a:p>
        </p:txBody>
      </p:sp>
      <p:sp>
        <p:nvSpPr>
          <p:cNvPr id="893829229" name="TextBox 10"/>
          <p:cNvSpPr txBox="1"/>
          <p:nvPr/>
        </p:nvSpPr>
        <p:spPr bwMode="auto">
          <a:xfrm>
            <a:off x="6243827" y="4965600"/>
            <a:ext cx="48432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ru-RU" b="1"/>
              <a:t>Уязвимость форматной строки дает возможность читать стек, предоставляя информацию атакующему</a:t>
            </a:r>
            <a:endParaRPr/>
          </a:p>
        </p:txBody>
      </p:sp>
      <p:cxnSp>
        <p:nvCxnSpPr>
          <p:cNvPr id="1084160521" name="Прямая со стрелкой 32"/>
          <p:cNvCxnSpPr/>
          <p:nvPr/>
        </p:nvCxnSpPr>
        <p:spPr bwMode="auto">
          <a:xfrm flipV="1">
            <a:off x="3948351" y="2456418"/>
            <a:ext cx="709758" cy="10996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132478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Уязвимости форматной строки</a:t>
            </a:r>
            <a:endParaRPr lang="en-US"/>
          </a:p>
        </p:txBody>
      </p:sp>
      <p:sp>
        <p:nvSpPr>
          <p:cNvPr id="1290602493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7FBA2B-964F-4C4D-AAF7-5A8399264638}" type="slidenum">
              <a:rPr lang="en-US"/>
              <a:t>4</a:t>
            </a:fld>
            <a:endParaRPr lang="en-US"/>
          </a:p>
        </p:txBody>
      </p:sp>
      <p:sp>
        <p:nvSpPr>
          <p:cNvPr id="847174171" name="TextBox 7"/>
          <p:cNvSpPr txBox="1"/>
          <p:nvPr/>
        </p:nvSpPr>
        <p:spPr bwMode="auto">
          <a:xfrm>
            <a:off x="973632" y="1684917"/>
            <a:ext cx="5200095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void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echo() {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800">
                <a:solidFill>
                  <a:srgbClr val="0000FF"/>
                </a:solidFill>
                <a:latin typeface="Consolas"/>
              </a:rPr>
              <a:t>char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buffer[100]{} ; </a:t>
            </a:r>
            <a:r>
              <a:rPr lang="en-US" sz="1800">
                <a:solidFill>
                  <a:schemeClr val="accent6"/>
                </a:solidFill>
                <a:latin typeface="Consolas"/>
              </a:rPr>
              <a:t>//zeros</a:t>
            </a:r>
            <a:endParaRPr lang="en-US" sz="1800">
              <a:solidFill>
                <a:srgbClr val="000000"/>
              </a:solidFill>
              <a:latin typeface="Consolas"/>
            </a:endParaRPr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    scanf(</a:t>
            </a:r>
            <a:r>
              <a:rPr lang="en-US" sz="1800">
                <a:solidFill>
                  <a:srgbClr val="A31515"/>
                </a:solidFill>
                <a:latin typeface="Consolas"/>
              </a:rPr>
              <a:t>"%s"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, buffer);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    printf(buffer);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}</a:t>
            </a:r>
            <a:endParaRPr/>
          </a:p>
          <a:p>
            <a:pPr>
              <a:defRPr/>
            </a:pPr>
            <a:endParaRPr lang="en-US" sz="1800">
              <a:solidFill>
                <a:srgbClr val="000000"/>
              </a:solidFill>
              <a:latin typeface="Consolas"/>
            </a:endParaRPr>
          </a:p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int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global_variable = 0;</a:t>
            </a:r>
            <a:endParaRPr/>
          </a:p>
          <a:p>
            <a:pPr>
              <a:defRPr/>
            </a:pPr>
            <a:endParaRPr lang="en-US" sz="1800">
              <a:solidFill>
                <a:srgbClr val="000000"/>
              </a:solidFill>
              <a:latin typeface="Consolas"/>
            </a:endParaRPr>
          </a:p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int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main() {</a:t>
            </a:r>
            <a:endParaRPr/>
          </a:p>
          <a:p>
            <a:pPr>
              <a:defRPr/>
            </a:pPr>
            <a:r>
              <a:rPr lang="en-US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echo();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    if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(global_variable)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        printf(</a:t>
            </a:r>
            <a:r>
              <a:rPr lang="en-US" sz="1800">
                <a:solidFill>
                  <a:srgbClr val="A31515"/>
                </a:solidFill>
                <a:latin typeface="Consolas"/>
              </a:rPr>
              <a:t>"Access granted"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);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}</a:t>
            </a:r>
            <a:endParaRPr lang="en-US" sz="1800">
              <a:latin typeface="Calibri"/>
              <a:ea typeface="Calibri"/>
              <a:cs typeface="Times New Roman"/>
            </a:endParaRPr>
          </a:p>
        </p:txBody>
      </p:sp>
      <p:sp>
        <p:nvSpPr>
          <p:cNvPr id="1708654994" name="Прямоугольник 8"/>
          <p:cNvSpPr/>
          <p:nvPr/>
        </p:nvSpPr>
        <p:spPr bwMode="auto">
          <a:xfrm>
            <a:off x="8933992" y="1690688"/>
            <a:ext cx="2396971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US"/>
          </a:p>
        </p:txBody>
      </p:sp>
      <p:cxnSp>
        <p:nvCxnSpPr>
          <p:cNvPr id="418625117" name="Прямая со стрелкой 9"/>
          <p:cNvCxnSpPr/>
          <p:nvPr/>
        </p:nvCxnSpPr>
        <p:spPr bwMode="auto">
          <a:xfrm>
            <a:off x="8041419" y="4054506"/>
            <a:ext cx="8955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4647959" name="TextBox 10"/>
          <p:cNvSpPr txBox="1"/>
          <p:nvPr/>
        </p:nvSpPr>
        <p:spPr bwMode="auto">
          <a:xfrm>
            <a:off x="7949403" y="3666598"/>
            <a:ext cx="6641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2400" b="1"/>
              <a:t>RSP</a:t>
            </a:r>
            <a:endParaRPr/>
          </a:p>
        </p:txBody>
      </p:sp>
      <p:sp>
        <p:nvSpPr>
          <p:cNvPr id="1238745848" name="Прямоугольник 11"/>
          <p:cNvSpPr/>
          <p:nvPr/>
        </p:nvSpPr>
        <p:spPr bwMode="auto">
          <a:xfrm>
            <a:off x="8933992" y="1687801"/>
            <a:ext cx="2396971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return address</a:t>
            </a:r>
            <a:endParaRPr/>
          </a:p>
        </p:txBody>
      </p:sp>
      <p:sp>
        <p:nvSpPr>
          <p:cNvPr id="2002532813" name="Прямоугольник 12"/>
          <p:cNvSpPr/>
          <p:nvPr/>
        </p:nvSpPr>
        <p:spPr bwMode="auto">
          <a:xfrm>
            <a:off x="8933992" y="2437531"/>
            <a:ext cx="2396971" cy="161630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buffer</a:t>
            </a:r>
            <a:endParaRPr/>
          </a:p>
        </p:txBody>
      </p:sp>
      <p:sp>
        <p:nvSpPr>
          <p:cNvPr id="525575084" name="Прямоугольник 13"/>
          <p:cNvSpPr/>
          <p:nvPr/>
        </p:nvSpPr>
        <p:spPr bwMode="auto">
          <a:xfrm>
            <a:off x="8933992" y="2063961"/>
            <a:ext cx="2396971" cy="368419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Prev. RBP</a:t>
            </a:r>
            <a:endParaRPr/>
          </a:p>
        </p:txBody>
      </p:sp>
      <p:sp>
        <p:nvSpPr>
          <p:cNvPr id="797284089" name="TextBox 16"/>
          <p:cNvSpPr txBox="1"/>
          <p:nvPr/>
        </p:nvSpPr>
        <p:spPr bwMode="auto">
          <a:xfrm>
            <a:off x="2715817" y="5607506"/>
            <a:ext cx="3949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ru-RU"/>
              <a:t>Как можно поменять </a:t>
            </a:r>
            <a:r>
              <a:rPr lang="en-US"/>
              <a:t>global_variable</a:t>
            </a:r>
            <a:r>
              <a:rPr lang="ru-RU"/>
              <a:t>?</a:t>
            </a: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2213109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Уязвимости форматной строки</a:t>
            </a:r>
            <a:endParaRPr lang="en-US"/>
          </a:p>
        </p:txBody>
      </p:sp>
      <p:sp>
        <p:nvSpPr>
          <p:cNvPr id="2010682957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7FBA2B-964F-4C4D-AAF7-5A8399264638}" type="slidenum">
              <a:rPr lang="en-US"/>
              <a:t>5</a:t>
            </a:fld>
            <a:endParaRPr lang="en-US"/>
          </a:p>
        </p:txBody>
      </p:sp>
      <p:sp>
        <p:nvSpPr>
          <p:cNvPr id="1461486063" name="TextBox 14"/>
          <p:cNvSpPr txBox="1"/>
          <p:nvPr/>
        </p:nvSpPr>
        <p:spPr bwMode="auto">
          <a:xfrm>
            <a:off x="890441" y="1692025"/>
            <a:ext cx="5245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2400">
                <a:solidFill>
                  <a:srgbClr val="A31515"/>
                </a:solidFill>
                <a:latin typeface="Consolas"/>
              </a:rPr>
              <a:t>%x</a:t>
            </a:r>
            <a:endParaRPr/>
          </a:p>
        </p:txBody>
      </p:sp>
      <p:sp>
        <p:nvSpPr>
          <p:cNvPr id="133603731" name="TextBox 6"/>
          <p:cNvSpPr txBox="1"/>
          <p:nvPr/>
        </p:nvSpPr>
        <p:spPr bwMode="auto">
          <a:xfrm>
            <a:off x="2040673" y="1730583"/>
            <a:ext cx="1551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ru-RU"/>
              <a:t>Чтение 4 байт</a:t>
            </a:r>
            <a:endParaRPr lang="en-US"/>
          </a:p>
        </p:txBody>
      </p:sp>
      <p:sp>
        <p:nvSpPr>
          <p:cNvPr id="846554145" name="TextBox 23"/>
          <p:cNvSpPr txBox="1"/>
          <p:nvPr/>
        </p:nvSpPr>
        <p:spPr bwMode="auto">
          <a:xfrm>
            <a:off x="2040673" y="4036715"/>
            <a:ext cx="40159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ru-RU" b="1"/>
              <a:t>Запись числа напечатанных символов</a:t>
            </a:r>
            <a:br>
              <a:rPr lang="en-US" b="1"/>
            </a:br>
            <a:r>
              <a:rPr lang="ru-RU" b="1"/>
              <a:t> по указателю </a:t>
            </a:r>
            <a:r>
              <a:rPr lang="en-US" b="1"/>
              <a:t>int*</a:t>
            </a:r>
            <a:endParaRPr/>
          </a:p>
        </p:txBody>
      </p:sp>
      <p:sp>
        <p:nvSpPr>
          <p:cNvPr id="846561723" name="TextBox 24"/>
          <p:cNvSpPr txBox="1"/>
          <p:nvPr/>
        </p:nvSpPr>
        <p:spPr bwMode="auto">
          <a:xfrm>
            <a:off x="890441" y="2470163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2400">
                <a:solidFill>
                  <a:srgbClr val="A31515"/>
                </a:solidFill>
                <a:latin typeface="Consolas"/>
              </a:rPr>
              <a:t>%llx</a:t>
            </a:r>
          </a:p>
        </p:txBody>
      </p:sp>
      <p:sp>
        <p:nvSpPr>
          <p:cNvPr id="1546858176" name="TextBox 25"/>
          <p:cNvSpPr txBox="1"/>
          <p:nvPr/>
        </p:nvSpPr>
        <p:spPr bwMode="auto">
          <a:xfrm>
            <a:off x="890440" y="3990549"/>
            <a:ext cx="5245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2400">
                <a:solidFill>
                  <a:srgbClr val="A31515"/>
                </a:solidFill>
                <a:latin typeface="Consolas"/>
              </a:rPr>
              <a:t>%n</a:t>
            </a:r>
            <a:endParaRPr/>
          </a:p>
        </p:txBody>
      </p:sp>
      <p:sp>
        <p:nvSpPr>
          <p:cNvPr id="1202371876" name="TextBox 26"/>
          <p:cNvSpPr txBox="1"/>
          <p:nvPr/>
        </p:nvSpPr>
        <p:spPr bwMode="auto">
          <a:xfrm>
            <a:off x="838200" y="4951451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2400">
                <a:solidFill>
                  <a:srgbClr val="A31515"/>
                </a:solidFill>
                <a:latin typeface="Consolas"/>
              </a:rPr>
              <a:t>%lln</a:t>
            </a:r>
          </a:p>
        </p:txBody>
      </p:sp>
      <p:sp>
        <p:nvSpPr>
          <p:cNvPr id="915954765" name="TextBox 27"/>
          <p:cNvSpPr txBox="1"/>
          <p:nvPr/>
        </p:nvSpPr>
        <p:spPr bwMode="auto">
          <a:xfrm>
            <a:off x="2040673" y="2562496"/>
            <a:ext cx="1551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ru-RU"/>
              <a:t>Чтение </a:t>
            </a:r>
            <a:r>
              <a:rPr lang="en-US"/>
              <a:t>8</a:t>
            </a:r>
            <a:r>
              <a:rPr lang="ru-RU"/>
              <a:t> байт</a:t>
            </a:r>
            <a:endParaRPr lang="en-US"/>
          </a:p>
        </p:txBody>
      </p:sp>
      <p:sp>
        <p:nvSpPr>
          <p:cNvPr id="1795506142" name="TextBox 28"/>
          <p:cNvSpPr txBox="1"/>
          <p:nvPr/>
        </p:nvSpPr>
        <p:spPr bwMode="auto">
          <a:xfrm>
            <a:off x="2040673" y="5026747"/>
            <a:ext cx="40159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ru-RU" b="1"/>
              <a:t>Запись числа напечатанных символов</a:t>
            </a:r>
            <a:br>
              <a:rPr lang="en-US" b="1"/>
            </a:br>
            <a:r>
              <a:rPr lang="ru-RU" b="1"/>
              <a:t> по указателю </a:t>
            </a:r>
            <a:r>
              <a:rPr lang="en-US" b="1"/>
              <a:t>long long*</a:t>
            </a:r>
            <a:endParaRPr/>
          </a:p>
        </p:txBody>
      </p:sp>
      <p:sp>
        <p:nvSpPr>
          <p:cNvPr id="1793022763" name="TextBox 13"/>
          <p:cNvSpPr txBox="1"/>
          <p:nvPr/>
        </p:nvSpPr>
        <p:spPr bwMode="auto">
          <a:xfrm>
            <a:off x="890441" y="3215233"/>
            <a:ext cx="5245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2400">
                <a:solidFill>
                  <a:srgbClr val="A31515"/>
                </a:solidFill>
                <a:latin typeface="Consolas"/>
              </a:rPr>
              <a:t>%p</a:t>
            </a:r>
            <a:endParaRPr/>
          </a:p>
        </p:txBody>
      </p:sp>
      <p:sp>
        <p:nvSpPr>
          <p:cNvPr id="1526518448" name="TextBox 15"/>
          <p:cNvSpPr txBox="1"/>
          <p:nvPr/>
        </p:nvSpPr>
        <p:spPr bwMode="auto">
          <a:xfrm>
            <a:off x="2040673" y="3307566"/>
            <a:ext cx="36751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ru-RU"/>
              <a:t>Чтение указателя (8 байт на х86-64)</a:t>
            </a:r>
            <a:endParaRPr lang="en-US"/>
          </a:p>
        </p:txBody>
      </p:sp>
      <p:sp>
        <p:nvSpPr>
          <p:cNvPr id="2135299340" name="TextBox 16"/>
          <p:cNvSpPr txBox="1"/>
          <p:nvPr/>
        </p:nvSpPr>
        <p:spPr bwMode="auto">
          <a:xfrm>
            <a:off x="6782151" y="1826379"/>
            <a:ext cx="5200095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void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echo() {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800">
                <a:solidFill>
                  <a:srgbClr val="0000FF"/>
                </a:solidFill>
                <a:latin typeface="Consolas"/>
              </a:rPr>
              <a:t>char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buffer[100]{} ; </a:t>
            </a:r>
            <a:r>
              <a:rPr lang="en-US" sz="1800">
                <a:solidFill>
                  <a:schemeClr val="accent6"/>
                </a:solidFill>
                <a:latin typeface="Consolas"/>
              </a:rPr>
              <a:t>//zeros</a:t>
            </a:r>
            <a:endParaRPr lang="en-US" sz="1800">
              <a:solidFill>
                <a:srgbClr val="000000"/>
              </a:solidFill>
              <a:latin typeface="Consolas"/>
            </a:endParaRPr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    scanf(</a:t>
            </a:r>
            <a:r>
              <a:rPr lang="en-US" sz="1800">
                <a:solidFill>
                  <a:srgbClr val="A31515"/>
                </a:solidFill>
                <a:latin typeface="Consolas"/>
              </a:rPr>
              <a:t>"%s"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, buffer);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    printf(buffer);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}</a:t>
            </a:r>
            <a:endParaRPr/>
          </a:p>
          <a:p>
            <a:pPr>
              <a:defRPr/>
            </a:pPr>
            <a:endParaRPr lang="en-US" sz="1800">
              <a:solidFill>
                <a:srgbClr val="000000"/>
              </a:solidFill>
              <a:latin typeface="Consolas"/>
            </a:endParaRPr>
          </a:p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int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global_variable = 0;</a:t>
            </a:r>
            <a:endParaRPr/>
          </a:p>
          <a:p>
            <a:pPr>
              <a:defRPr/>
            </a:pPr>
            <a:endParaRPr lang="en-US" sz="1800">
              <a:solidFill>
                <a:srgbClr val="000000"/>
              </a:solidFill>
              <a:latin typeface="Consolas"/>
            </a:endParaRPr>
          </a:p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int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main() {</a:t>
            </a:r>
            <a:endParaRPr/>
          </a:p>
          <a:p>
            <a:pPr>
              <a:defRPr/>
            </a:pPr>
            <a:r>
              <a:rPr lang="en-US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echo();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    if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(global_variable)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        printf(</a:t>
            </a:r>
            <a:r>
              <a:rPr lang="en-US" sz="1800">
                <a:solidFill>
                  <a:srgbClr val="A31515"/>
                </a:solidFill>
                <a:latin typeface="Consolas"/>
              </a:rPr>
              <a:t>"Access granted"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);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}</a:t>
            </a:r>
            <a:endParaRPr lang="en-US" sz="1800">
              <a:latin typeface="Calibri"/>
              <a:ea typeface="Calibri"/>
              <a:cs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9986674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Уязвимости форматной строки</a:t>
            </a:r>
            <a:endParaRPr lang="en-US"/>
          </a:p>
        </p:txBody>
      </p:sp>
      <p:sp>
        <p:nvSpPr>
          <p:cNvPr id="118853087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7FBA2B-964F-4C4D-AAF7-5A8399264638}" type="slidenum">
              <a:rPr lang="en-US"/>
              <a:t>6</a:t>
            </a:fld>
            <a:endParaRPr lang="en-US"/>
          </a:p>
        </p:txBody>
      </p:sp>
      <p:sp>
        <p:nvSpPr>
          <p:cNvPr id="662794334" name="Прямоугольник 8"/>
          <p:cNvSpPr/>
          <p:nvPr/>
        </p:nvSpPr>
        <p:spPr bwMode="auto">
          <a:xfrm>
            <a:off x="8933992" y="1690688"/>
            <a:ext cx="2396971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512158555" name="Прямоугольник 11"/>
          <p:cNvSpPr/>
          <p:nvPr/>
        </p:nvSpPr>
        <p:spPr bwMode="auto">
          <a:xfrm>
            <a:off x="8933992" y="1687801"/>
            <a:ext cx="2396971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return address</a:t>
            </a:r>
            <a:endParaRPr/>
          </a:p>
        </p:txBody>
      </p:sp>
      <p:sp>
        <p:nvSpPr>
          <p:cNvPr id="1783953072" name="Прямоугольник 12"/>
          <p:cNvSpPr/>
          <p:nvPr/>
        </p:nvSpPr>
        <p:spPr bwMode="auto">
          <a:xfrm>
            <a:off x="8933991" y="2440121"/>
            <a:ext cx="2396971" cy="161630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>
              <a:defRPr/>
            </a:pPr>
            <a:br>
              <a:rPr lang="en-US"/>
            </a:br>
            <a:r>
              <a:rPr lang="ru-RU" b="1">
                <a:solidFill>
                  <a:schemeClr val="bg1"/>
                </a:solidFill>
              </a:rPr>
              <a:t>ЭМ»Є</a:t>
            </a:r>
            <a:r>
              <a:rPr lang="en-US">
                <a:solidFill>
                  <a:schemeClr val="tx1"/>
                </a:solidFill>
              </a:rPr>
              <a:t>000</a:t>
            </a:r>
            <a:r>
              <a:rPr lang="en-US">
                <a:solidFill>
                  <a:schemeClr val="bg2">
                    <a:lumMod val="25000"/>
                  </a:schemeClr>
                </a:solidFill>
              </a:rPr>
              <a:t>0</a:t>
            </a:r>
            <a:br>
              <a:rPr lang="en-US"/>
            </a:br>
            <a:r>
              <a:rPr lang="en-US"/>
              <a:t>%p%pAA%n</a:t>
            </a:r>
            <a:br>
              <a:rPr lang="en-US"/>
            </a:br>
            <a:r>
              <a:rPr lang="en-US"/>
              <a:t>%p%p%p%p</a:t>
            </a:r>
          </a:p>
        </p:txBody>
      </p:sp>
      <p:sp>
        <p:nvSpPr>
          <p:cNvPr id="906732702" name="Прямоугольник 13"/>
          <p:cNvSpPr/>
          <p:nvPr/>
        </p:nvSpPr>
        <p:spPr bwMode="auto">
          <a:xfrm>
            <a:off x="8933992" y="2063961"/>
            <a:ext cx="2396971" cy="368419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Prev. RBP</a:t>
            </a:r>
            <a:endParaRPr/>
          </a:p>
        </p:txBody>
      </p:sp>
      <p:sp>
        <p:nvSpPr>
          <p:cNvPr id="1251260181" name="TextBox 17"/>
          <p:cNvSpPr txBox="1"/>
          <p:nvPr/>
        </p:nvSpPr>
        <p:spPr bwMode="auto">
          <a:xfrm>
            <a:off x="8535164" y="3715532"/>
            <a:ext cx="457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800">
                <a:solidFill>
                  <a:srgbClr val="A31515"/>
                </a:solidFill>
                <a:latin typeface="Consolas"/>
              </a:rPr>
              <a:t>%p</a:t>
            </a:r>
            <a:endParaRPr/>
          </a:p>
        </p:txBody>
      </p:sp>
      <p:sp>
        <p:nvSpPr>
          <p:cNvPr id="501723274" name="TextBox 24"/>
          <p:cNvSpPr txBox="1"/>
          <p:nvPr/>
        </p:nvSpPr>
        <p:spPr bwMode="auto">
          <a:xfrm>
            <a:off x="8546583" y="3122763"/>
            <a:ext cx="457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800">
                <a:solidFill>
                  <a:srgbClr val="A31515"/>
                </a:solidFill>
                <a:latin typeface="Consolas"/>
              </a:rPr>
              <a:t>%</a:t>
            </a:r>
            <a:r>
              <a:rPr lang="en-US">
                <a:solidFill>
                  <a:srgbClr val="A31515"/>
                </a:solidFill>
                <a:latin typeface="Consolas"/>
              </a:rPr>
              <a:t>n</a:t>
            </a:r>
            <a:endParaRPr lang="en-US" sz="1800">
              <a:solidFill>
                <a:srgbClr val="A31515"/>
              </a:solidFill>
              <a:latin typeface="Consolas"/>
            </a:endParaRPr>
          </a:p>
        </p:txBody>
      </p:sp>
      <p:sp>
        <p:nvSpPr>
          <p:cNvPr id="548722757" name="TextBox 30"/>
          <p:cNvSpPr txBox="1"/>
          <p:nvPr/>
        </p:nvSpPr>
        <p:spPr bwMode="auto">
          <a:xfrm>
            <a:off x="8546583" y="3432723"/>
            <a:ext cx="457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800">
                <a:solidFill>
                  <a:srgbClr val="A31515"/>
                </a:solidFill>
                <a:latin typeface="Consolas"/>
              </a:rPr>
              <a:t>%p</a:t>
            </a:r>
            <a:endParaRPr/>
          </a:p>
        </p:txBody>
      </p:sp>
      <p:sp>
        <p:nvSpPr>
          <p:cNvPr id="1808476952" name="TextBox 31"/>
          <p:cNvSpPr txBox="1"/>
          <p:nvPr/>
        </p:nvSpPr>
        <p:spPr bwMode="auto">
          <a:xfrm>
            <a:off x="973632" y="1684917"/>
            <a:ext cx="6485947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void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echo() {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800">
                <a:solidFill>
                  <a:srgbClr val="0000FF"/>
                </a:solidFill>
                <a:latin typeface="Consolas"/>
              </a:rPr>
              <a:t>char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buffer[100]</a:t>
            </a:r>
            <a:r>
              <a:rPr lang="en-US" sz="1800" b="1">
                <a:solidFill>
                  <a:srgbClr val="000000"/>
                </a:solidFill>
                <a:latin typeface="Consolas"/>
              </a:rPr>
              <a:t>{}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; </a:t>
            </a:r>
            <a:r>
              <a:rPr lang="en-US" sz="1800">
                <a:solidFill>
                  <a:schemeClr val="accent6"/>
                </a:solidFill>
                <a:latin typeface="Consolas"/>
              </a:rPr>
              <a:t>//zeros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    scanf(</a:t>
            </a:r>
            <a:r>
              <a:rPr lang="en-US" sz="1800">
                <a:solidFill>
                  <a:srgbClr val="A31515"/>
                </a:solidFill>
                <a:latin typeface="Consolas"/>
              </a:rPr>
              <a:t>"%s"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, buffer);</a:t>
            </a:r>
            <a:r>
              <a:rPr lang="ru-RU" sz="1800">
                <a:solidFill>
                  <a:srgbClr val="000000"/>
                </a:solidFill>
                <a:latin typeface="Consolas"/>
              </a:rPr>
              <a:t> </a:t>
            </a:r>
            <a:r>
              <a:rPr lang="ru-RU" sz="1800">
                <a:solidFill>
                  <a:schemeClr val="accent6"/>
                </a:solidFill>
                <a:latin typeface="Consolas"/>
              </a:rPr>
              <a:t>//</a:t>
            </a:r>
            <a:r>
              <a:rPr lang="en-US">
                <a:solidFill>
                  <a:schemeClr val="accent6"/>
                </a:solidFill>
              </a:rPr>
              <a:t>%p%p%p%p%p%pAA%n</a:t>
            </a:r>
            <a:r>
              <a:rPr lang="ru-RU">
                <a:solidFill>
                  <a:schemeClr val="accent6"/>
                </a:solidFill>
              </a:rPr>
              <a:t>ЭМ»Є</a:t>
            </a:r>
            <a:br>
              <a:rPr lang="en-US">
                <a:solidFill>
                  <a:schemeClr val="accent6"/>
                </a:solidFill>
              </a:rPr>
            </a:br>
            <a:r>
              <a:rPr lang="en-US">
                <a:solidFill>
                  <a:schemeClr val="accent6"/>
                </a:solidFill>
                <a:latin typeface="Consolas"/>
              </a:rPr>
              <a:t>    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printf(buffer);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}</a:t>
            </a:r>
            <a:endParaRPr/>
          </a:p>
          <a:p>
            <a:pPr>
              <a:defRPr/>
            </a:pPr>
            <a:endParaRPr lang="en-US" sz="1800">
              <a:solidFill>
                <a:srgbClr val="000000"/>
              </a:solidFill>
              <a:latin typeface="Consolas"/>
            </a:endParaRPr>
          </a:p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int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global_variable = 0;</a:t>
            </a:r>
            <a:endParaRPr lang="en-US">
              <a:solidFill>
                <a:srgbClr val="000000"/>
              </a:solidFill>
              <a:latin typeface="Consolas"/>
            </a:endParaRPr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    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int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main() {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    echo();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    if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(global_variable)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        printf(</a:t>
            </a:r>
            <a:r>
              <a:rPr lang="en-US" sz="1800">
                <a:solidFill>
                  <a:srgbClr val="A31515"/>
                </a:solidFill>
                <a:latin typeface="Consolas"/>
              </a:rPr>
              <a:t>"Access granted"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);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}</a:t>
            </a:r>
            <a:endParaRPr lang="en-US" sz="1800">
              <a:latin typeface="Calibri"/>
              <a:ea typeface="Calibri"/>
              <a:cs typeface="Times New Roman"/>
            </a:endParaRPr>
          </a:p>
        </p:txBody>
      </p:sp>
      <p:cxnSp>
        <p:nvCxnSpPr>
          <p:cNvPr id="771213413" name="Соединитель: уступ 5"/>
          <p:cNvCxnSpPr/>
          <p:nvPr/>
        </p:nvCxnSpPr>
        <p:spPr bwMode="auto">
          <a:xfrm rot="10800000" flipV="1">
            <a:off x="4042610" y="3307428"/>
            <a:ext cx="4503972" cy="2510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43239254" name="TextBox 3"/>
          <p:cNvSpPr txBox="1"/>
          <p:nvPr/>
        </p:nvSpPr>
        <p:spPr bwMode="auto">
          <a:xfrm>
            <a:off x="5969162" y="2979495"/>
            <a:ext cx="37784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800">
                <a:latin typeface="Consolas"/>
              </a:rPr>
              <a:t>0x00000000AABBCCDD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8196830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Защита от уязвимостей форматной строки</a:t>
            </a:r>
            <a:endParaRPr lang="en-US"/>
          </a:p>
        </p:txBody>
      </p:sp>
      <p:sp>
        <p:nvSpPr>
          <p:cNvPr id="1734897294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7FBA2B-964F-4C4D-AAF7-5A8399264638}" type="slidenum">
              <a:rPr lang="en-US"/>
              <a:t>7</a:t>
            </a:fld>
            <a:endParaRPr lang="en-US"/>
          </a:p>
        </p:txBody>
      </p:sp>
      <p:sp>
        <p:nvSpPr>
          <p:cNvPr id="575437364" name="TextBox 7"/>
          <p:cNvSpPr txBox="1"/>
          <p:nvPr/>
        </p:nvSpPr>
        <p:spPr bwMode="auto">
          <a:xfrm>
            <a:off x="895905" y="2136338"/>
            <a:ext cx="5200095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void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echo() {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800">
                <a:solidFill>
                  <a:srgbClr val="0000FF"/>
                </a:solidFill>
                <a:latin typeface="Consolas"/>
              </a:rPr>
              <a:t>char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buffer[100] ; </a:t>
            </a:r>
            <a:endParaRPr/>
          </a:p>
          <a:p>
            <a:pPr>
              <a:defRPr/>
            </a:pPr>
            <a:r>
              <a:rPr lang="en-US" sz="1800" b="1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scanf(</a:t>
            </a:r>
            <a:r>
              <a:rPr lang="en-US" sz="1800">
                <a:solidFill>
                  <a:srgbClr val="A31515"/>
                </a:solidFill>
                <a:latin typeface="Consolas"/>
              </a:rPr>
              <a:t>"%s"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, buffer);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800" b="1">
                <a:solidFill>
                  <a:srgbClr val="000000"/>
                </a:solidFill>
                <a:latin typeface="Consolas"/>
              </a:rPr>
              <a:t>printf(buffer);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}</a:t>
            </a:r>
            <a:endParaRPr/>
          </a:p>
          <a:p>
            <a:pPr>
              <a:defRPr/>
            </a:pPr>
            <a:endParaRPr lang="en-US" sz="1800">
              <a:solidFill>
                <a:srgbClr val="000000"/>
              </a:solidFill>
              <a:latin typeface="Consolas"/>
            </a:endParaRPr>
          </a:p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int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main() {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    echo();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}</a:t>
            </a:r>
            <a:endParaRPr lang="en-US" sz="1800">
              <a:latin typeface="Calibri"/>
              <a:ea typeface="Calibri"/>
              <a:cs typeface="Times New Roman"/>
            </a:endParaRPr>
          </a:p>
        </p:txBody>
      </p:sp>
      <p:sp>
        <p:nvSpPr>
          <p:cNvPr id="2098686615" name="TextBox 15"/>
          <p:cNvSpPr txBox="1"/>
          <p:nvPr/>
        </p:nvSpPr>
        <p:spPr bwMode="auto">
          <a:xfrm>
            <a:off x="6693325" y="2136338"/>
            <a:ext cx="5200095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void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echo() {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800">
                <a:solidFill>
                  <a:srgbClr val="0000FF"/>
                </a:solidFill>
                <a:latin typeface="Consolas"/>
              </a:rPr>
              <a:t>char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buffer[100] ; 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    scanf(</a:t>
            </a:r>
            <a:r>
              <a:rPr lang="en-US" sz="1800">
                <a:solidFill>
                  <a:srgbClr val="A31515"/>
                </a:solidFill>
                <a:latin typeface="Consolas"/>
              </a:rPr>
              <a:t>"%s"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, buffer);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b="1">
                <a:solidFill>
                  <a:srgbClr val="000000"/>
                </a:solidFill>
                <a:latin typeface="Consolas"/>
              </a:rPr>
              <a:t>puts</a:t>
            </a:r>
            <a:r>
              <a:rPr lang="en-US" sz="1800" b="1">
                <a:solidFill>
                  <a:srgbClr val="000000"/>
                </a:solidFill>
                <a:latin typeface="Consolas"/>
              </a:rPr>
              <a:t>(buffer);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}</a:t>
            </a:r>
            <a:endParaRPr/>
          </a:p>
          <a:p>
            <a:pPr>
              <a:defRPr/>
            </a:pPr>
            <a:endParaRPr lang="en-US" sz="1800">
              <a:solidFill>
                <a:srgbClr val="000000"/>
              </a:solidFill>
              <a:latin typeface="Consolas"/>
            </a:endParaRPr>
          </a:p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int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main() {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    echo();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}</a:t>
            </a:r>
            <a:endParaRPr lang="en-US" sz="1800">
              <a:latin typeface="Calibri"/>
              <a:ea typeface="Calibri"/>
              <a:cs typeface="Times New Roman"/>
            </a:endParaRPr>
          </a:p>
        </p:txBody>
      </p:sp>
      <p:sp>
        <p:nvSpPr>
          <p:cNvPr id="1145137996" name="TextBox 2"/>
          <p:cNvSpPr txBox="1"/>
          <p:nvPr/>
        </p:nvSpPr>
        <p:spPr bwMode="auto">
          <a:xfrm>
            <a:off x="1818302" y="5169673"/>
            <a:ext cx="18140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ru-RU">
                <a:solidFill>
                  <a:srgbClr val="FF0000"/>
                </a:solidFill>
              </a:rPr>
              <a:t>Есть уязвимость </a:t>
            </a:r>
            <a:endParaRPr lang="en-US">
              <a:solidFill>
                <a:srgbClr val="FF0000"/>
              </a:solidFill>
            </a:endParaRPr>
          </a:p>
        </p:txBody>
      </p:sp>
      <p:sp>
        <p:nvSpPr>
          <p:cNvPr id="1525839406" name="TextBox 16"/>
          <p:cNvSpPr txBox="1"/>
          <p:nvPr/>
        </p:nvSpPr>
        <p:spPr bwMode="auto">
          <a:xfrm>
            <a:off x="7744804" y="5069632"/>
            <a:ext cx="17218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ru-RU">
                <a:solidFill>
                  <a:schemeClr val="accent6">
                    <a:lumMod val="50000"/>
                  </a:schemeClr>
                </a:solidFill>
              </a:rPr>
              <a:t>Нет уязвимости</a:t>
            </a:r>
            <a:endParaRPr lang="en-US">
              <a:solidFill>
                <a:schemeClr val="accent6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7638879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Буферы</a:t>
            </a:r>
            <a:endParaRPr/>
          </a:p>
        </p:txBody>
      </p:sp>
      <p:sp>
        <p:nvSpPr>
          <p:cNvPr id="1052521789" name="Объект 2"/>
          <p:cNvSpPr>
            <a:spLocks noGrp="1"/>
          </p:cNvSpPr>
          <p:nvPr>
            <p:ph idx="1"/>
          </p:nvPr>
        </p:nvSpPr>
        <p:spPr bwMode="auto"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2000"/>
              <a:t>Для реализации ввода</a:t>
            </a:r>
            <a:r>
              <a:rPr lang="en-US" sz="2000"/>
              <a:t>/</a:t>
            </a:r>
            <a:r>
              <a:rPr lang="ru-RU" sz="2000"/>
              <a:t>вывода используются буферы – массивы, используемые для хранения временных данных.</a:t>
            </a:r>
            <a:endParaRPr/>
          </a:p>
          <a:p>
            <a:pPr marL="0" indent="0">
              <a:buNone/>
              <a:defRPr/>
            </a:pPr>
            <a:r>
              <a:rPr lang="ru-RU" sz="2000"/>
              <a:t>Буферы малого размера часто располагаются </a:t>
            </a:r>
            <a:r>
              <a:rPr lang="ru-RU" sz="2000" i="1"/>
              <a:t>на стеке</a:t>
            </a:r>
            <a:r>
              <a:rPr lang="ru-RU" sz="2000"/>
              <a:t>, рядом с локальными переменными и адресами возврата.</a:t>
            </a:r>
            <a:endParaRPr/>
          </a:p>
          <a:p>
            <a:pPr marL="0" indent="0">
              <a:buNone/>
              <a:defRPr/>
            </a:pPr>
            <a:r>
              <a:rPr lang="ru-RU" sz="2000"/>
              <a:t>В языке С++ работа с вводом/выводом во многом автоматизирована внутри классов стандартной библиотеки.</a:t>
            </a:r>
            <a:endParaRPr/>
          </a:p>
          <a:p>
            <a:pPr marL="0" indent="0">
              <a:buNone/>
              <a:defRPr/>
            </a:pPr>
            <a:r>
              <a:rPr lang="ru-RU" sz="2000"/>
              <a:t>В языке С программист сам должен следить за соответствием вводимых данных и размера буфера. </a:t>
            </a:r>
            <a:endParaRPr lang="en-US" sz="2000"/>
          </a:p>
          <a:p>
            <a:pPr marL="0" indent="0">
              <a:buNone/>
              <a:defRPr/>
            </a:pPr>
            <a:r>
              <a:rPr lang="ru-RU" sz="2000" b="1" i="1"/>
              <a:t>Многие стандартные функции по умолчанию не производят проверку границ буфера.</a:t>
            </a:r>
            <a:r>
              <a:rPr lang="ru-RU" sz="2000"/>
              <a:t> </a:t>
            </a:r>
            <a:endParaRPr/>
          </a:p>
        </p:txBody>
      </p:sp>
      <p:sp>
        <p:nvSpPr>
          <p:cNvPr id="2031808177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7FBA2B-964F-4C4D-AAF7-5A8399264638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3269397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Переполнение буфера</a:t>
            </a:r>
            <a:endParaRPr lang="en-US"/>
          </a:p>
        </p:txBody>
      </p:sp>
      <p:sp>
        <p:nvSpPr>
          <p:cNvPr id="1001826763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7FBA2B-964F-4C4D-AAF7-5A8399264638}" type="slidenum">
              <a:rPr lang="en-US"/>
              <a:t>9</a:t>
            </a:fld>
            <a:endParaRPr lang="en-US"/>
          </a:p>
        </p:txBody>
      </p:sp>
      <p:sp>
        <p:nvSpPr>
          <p:cNvPr id="354617389" name="TextBox 9"/>
          <p:cNvSpPr txBox="1"/>
          <p:nvPr/>
        </p:nvSpPr>
        <p:spPr bwMode="auto">
          <a:xfrm>
            <a:off x="838635" y="1791091"/>
            <a:ext cx="5200095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800">
                <a:solidFill>
                  <a:srgbClr val="808080"/>
                </a:solidFill>
                <a:latin typeface="Consolas"/>
              </a:rPr>
              <a:t>#include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</a:t>
            </a:r>
            <a:r>
              <a:rPr lang="en-US" sz="1800">
                <a:solidFill>
                  <a:srgbClr val="A31515"/>
                </a:solidFill>
                <a:latin typeface="Consolas"/>
              </a:rPr>
              <a:t>&lt;stdio.h&gt;</a:t>
            </a:r>
            <a:endParaRPr/>
          </a:p>
          <a:p>
            <a:pPr>
              <a:defRPr/>
            </a:pPr>
            <a:endParaRPr lang="en-US" sz="1800">
              <a:solidFill>
                <a:srgbClr val="000000"/>
              </a:solidFill>
              <a:latin typeface="Consolas"/>
            </a:endParaRPr>
          </a:p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int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main()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{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800">
                <a:solidFill>
                  <a:srgbClr val="0000FF"/>
                </a:solidFill>
                <a:latin typeface="Consolas"/>
              </a:rPr>
              <a:t>int 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var = 0;</a:t>
            </a:r>
            <a:br>
              <a:rPr lang="en-US" sz="1800">
                <a:solidFill>
                  <a:srgbClr val="000000"/>
                </a:solidFill>
                <a:latin typeface="Consolas"/>
              </a:rPr>
            </a:br>
            <a:r>
              <a:rPr lang="en-US" sz="180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800">
                <a:solidFill>
                  <a:srgbClr val="0000FF"/>
                </a:solidFill>
                <a:latin typeface="Consolas"/>
              </a:rPr>
              <a:t>char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buffer[16];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    scanf(</a:t>
            </a:r>
            <a:r>
              <a:rPr lang="en-US" sz="1800">
                <a:solidFill>
                  <a:srgbClr val="A31515"/>
                </a:solidFill>
                <a:latin typeface="Consolas"/>
              </a:rPr>
              <a:t>"%s"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, buffer);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}</a:t>
            </a:r>
            <a:endParaRPr lang="en-US" sz="1800">
              <a:latin typeface="Calibri"/>
              <a:ea typeface="Calibri"/>
              <a:cs typeface="Times New Roman"/>
            </a:endParaRPr>
          </a:p>
        </p:txBody>
      </p:sp>
      <p:sp>
        <p:nvSpPr>
          <p:cNvPr id="671016654" name="TextBox 2"/>
          <p:cNvSpPr txBox="1"/>
          <p:nvPr/>
        </p:nvSpPr>
        <p:spPr bwMode="auto">
          <a:xfrm>
            <a:off x="760645" y="5488085"/>
            <a:ext cx="55967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ru-RU" sz="2000"/>
              <a:t>Что будет, если ввести строку длиной больше 15?</a:t>
            </a:r>
            <a:endParaRPr lang="en-US" sz="2000"/>
          </a:p>
        </p:txBody>
      </p:sp>
      <p:sp>
        <p:nvSpPr>
          <p:cNvPr id="870082457" name="Прямоугольник 29"/>
          <p:cNvSpPr/>
          <p:nvPr/>
        </p:nvSpPr>
        <p:spPr bwMode="auto">
          <a:xfrm>
            <a:off x="9251354" y="1386601"/>
            <a:ext cx="2396971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US"/>
          </a:p>
        </p:txBody>
      </p:sp>
      <p:cxnSp>
        <p:nvCxnSpPr>
          <p:cNvPr id="1936307692" name="Прямая со стрелкой 30"/>
          <p:cNvCxnSpPr/>
          <p:nvPr/>
        </p:nvCxnSpPr>
        <p:spPr bwMode="auto">
          <a:xfrm>
            <a:off x="8355822" y="4459636"/>
            <a:ext cx="8955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3166542" name="TextBox 31"/>
          <p:cNvSpPr txBox="1"/>
          <p:nvPr/>
        </p:nvSpPr>
        <p:spPr bwMode="auto">
          <a:xfrm>
            <a:off x="8245178" y="4105874"/>
            <a:ext cx="6641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2400" b="1"/>
              <a:t>RSP</a:t>
            </a:r>
            <a:endParaRPr/>
          </a:p>
        </p:txBody>
      </p:sp>
      <p:sp>
        <p:nvSpPr>
          <p:cNvPr id="886633785" name="Прямоугольник 32"/>
          <p:cNvSpPr/>
          <p:nvPr/>
        </p:nvSpPr>
        <p:spPr bwMode="auto">
          <a:xfrm>
            <a:off x="9251354" y="1386601"/>
            <a:ext cx="2396971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return address</a:t>
            </a:r>
            <a:endParaRPr/>
          </a:p>
        </p:txBody>
      </p:sp>
      <p:sp>
        <p:nvSpPr>
          <p:cNvPr id="512088199" name="Прямоугольник 33"/>
          <p:cNvSpPr/>
          <p:nvPr/>
        </p:nvSpPr>
        <p:spPr bwMode="auto">
          <a:xfrm>
            <a:off x="9251352" y="2486737"/>
            <a:ext cx="2396971" cy="36841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var</a:t>
            </a:r>
            <a:endParaRPr/>
          </a:p>
        </p:txBody>
      </p:sp>
      <p:sp>
        <p:nvSpPr>
          <p:cNvPr id="130939494" name="Прямоугольник 34"/>
          <p:cNvSpPr/>
          <p:nvPr/>
        </p:nvSpPr>
        <p:spPr bwMode="auto">
          <a:xfrm>
            <a:off x="9251352" y="2843328"/>
            <a:ext cx="2396971" cy="161630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buffer</a:t>
            </a:r>
            <a:endParaRPr/>
          </a:p>
        </p:txBody>
      </p:sp>
      <p:sp>
        <p:nvSpPr>
          <p:cNvPr id="1373709301" name="Прямоугольник 35"/>
          <p:cNvSpPr/>
          <p:nvPr/>
        </p:nvSpPr>
        <p:spPr bwMode="auto">
          <a:xfrm>
            <a:off x="9251353" y="2118318"/>
            <a:ext cx="2396971" cy="368419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Prev. RBP</a:t>
            </a:r>
            <a:endParaRPr/>
          </a:p>
        </p:txBody>
      </p:sp>
      <p:sp>
        <p:nvSpPr>
          <p:cNvPr id="128148660" name="TextBox 36"/>
          <p:cNvSpPr txBox="1"/>
          <p:nvPr/>
        </p:nvSpPr>
        <p:spPr bwMode="auto">
          <a:xfrm>
            <a:off x="8003896" y="1087826"/>
            <a:ext cx="12474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ru-RU"/>
              <a:t>0</a:t>
            </a:r>
            <a:r>
              <a:rPr lang="en-US"/>
              <a:t>xFFFFFFFF</a:t>
            </a:r>
          </a:p>
        </p:txBody>
      </p:sp>
      <p:sp>
        <p:nvSpPr>
          <p:cNvPr id="2087992538" name="TextBox 37"/>
          <p:cNvSpPr txBox="1"/>
          <p:nvPr/>
        </p:nvSpPr>
        <p:spPr bwMode="auto">
          <a:xfrm>
            <a:off x="8031146" y="5630409"/>
            <a:ext cx="1220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ru-RU"/>
              <a:t>0</a:t>
            </a:r>
            <a:r>
              <a:rPr lang="en-US"/>
              <a:t>x0000000</a:t>
            </a:r>
            <a:endParaRPr/>
          </a:p>
        </p:txBody>
      </p:sp>
      <p:cxnSp>
        <p:nvCxnSpPr>
          <p:cNvPr id="263732213" name="Прямая соединительная линия 38"/>
          <p:cNvCxnSpPr/>
          <p:nvPr/>
        </p:nvCxnSpPr>
        <p:spPr bwMode="auto">
          <a:xfrm>
            <a:off x="9246408" y="878289"/>
            <a:ext cx="0" cy="519807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19703013" name="Прямая соединительная линия 39"/>
          <p:cNvCxnSpPr/>
          <p:nvPr/>
        </p:nvCxnSpPr>
        <p:spPr bwMode="auto">
          <a:xfrm>
            <a:off x="11645795" y="878289"/>
            <a:ext cx="0" cy="519807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50447682" name="Прямоугольник 40"/>
          <p:cNvSpPr/>
          <p:nvPr/>
        </p:nvSpPr>
        <p:spPr bwMode="auto">
          <a:xfrm>
            <a:off x="9251219" y="1749474"/>
            <a:ext cx="2396971" cy="368419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Prev. RBX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0620460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Переполнение буфера</a:t>
            </a:r>
            <a:endParaRPr lang="en-US"/>
          </a:p>
        </p:txBody>
      </p:sp>
      <p:sp>
        <p:nvSpPr>
          <p:cNvPr id="710294408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7FBA2B-964F-4C4D-AAF7-5A8399264638}" type="slidenum">
              <a:rPr lang="en-US"/>
              <a:t>10</a:t>
            </a:fld>
            <a:endParaRPr lang="en-US"/>
          </a:p>
        </p:txBody>
      </p:sp>
      <p:sp>
        <p:nvSpPr>
          <p:cNvPr id="878043611" name="TextBox 9"/>
          <p:cNvSpPr txBox="1"/>
          <p:nvPr/>
        </p:nvSpPr>
        <p:spPr bwMode="auto">
          <a:xfrm>
            <a:off x="838635" y="1791091"/>
            <a:ext cx="5200095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800">
                <a:solidFill>
                  <a:srgbClr val="808080"/>
                </a:solidFill>
                <a:latin typeface="Consolas"/>
              </a:rPr>
              <a:t>#include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</a:t>
            </a:r>
            <a:r>
              <a:rPr lang="en-US" sz="1800">
                <a:solidFill>
                  <a:srgbClr val="A31515"/>
                </a:solidFill>
                <a:latin typeface="Consolas"/>
              </a:rPr>
              <a:t>&lt;stdio.h&gt;</a:t>
            </a:r>
            <a:endParaRPr/>
          </a:p>
          <a:p>
            <a:pPr>
              <a:defRPr/>
            </a:pPr>
            <a:endParaRPr lang="en-US" sz="1800">
              <a:solidFill>
                <a:srgbClr val="000000"/>
              </a:solidFill>
              <a:latin typeface="Consolas"/>
            </a:endParaRPr>
          </a:p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int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main()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{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800">
                <a:solidFill>
                  <a:srgbClr val="0000FF"/>
                </a:solidFill>
                <a:latin typeface="Consolas"/>
              </a:rPr>
              <a:t>int 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var = 0;</a:t>
            </a:r>
            <a:br>
              <a:rPr lang="en-US" sz="1800">
                <a:solidFill>
                  <a:srgbClr val="000000"/>
                </a:solidFill>
                <a:latin typeface="Consolas"/>
              </a:rPr>
            </a:br>
            <a:r>
              <a:rPr lang="en-US" sz="180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800">
                <a:solidFill>
                  <a:srgbClr val="0000FF"/>
                </a:solidFill>
                <a:latin typeface="Consolas"/>
              </a:rPr>
              <a:t>char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buffer[16];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    scanf(</a:t>
            </a:r>
            <a:r>
              <a:rPr lang="en-US" sz="1800">
                <a:solidFill>
                  <a:srgbClr val="A31515"/>
                </a:solidFill>
                <a:latin typeface="Consolas"/>
              </a:rPr>
              <a:t>"%s"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, buffer);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}</a:t>
            </a:r>
            <a:endParaRPr lang="en-US" sz="1800">
              <a:latin typeface="Calibri"/>
              <a:ea typeface="Calibri"/>
              <a:cs typeface="Times New Roman"/>
            </a:endParaRPr>
          </a:p>
        </p:txBody>
      </p:sp>
      <p:sp>
        <p:nvSpPr>
          <p:cNvPr id="1606141595" name="TextBox 5"/>
          <p:cNvSpPr txBox="1"/>
          <p:nvPr/>
        </p:nvSpPr>
        <p:spPr bwMode="auto">
          <a:xfrm>
            <a:off x="1036194" y="4199818"/>
            <a:ext cx="30027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ru-RU"/>
              <a:t>Ввод:</a:t>
            </a:r>
            <a:r>
              <a:rPr lang="en-US"/>
              <a:t> 1111111111111111111</a:t>
            </a:r>
            <a:endParaRPr lang="ru-RU"/>
          </a:p>
        </p:txBody>
      </p:sp>
      <p:sp>
        <p:nvSpPr>
          <p:cNvPr id="290883170" name="TextBox 2"/>
          <p:cNvSpPr txBox="1"/>
          <p:nvPr/>
        </p:nvSpPr>
        <p:spPr bwMode="auto">
          <a:xfrm>
            <a:off x="838200" y="4614745"/>
            <a:ext cx="589379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ru-RU" sz="2000" b="1"/>
              <a:t>Аналогичные атаки возможны с любой функцией, </a:t>
            </a:r>
            <a:endParaRPr/>
          </a:p>
          <a:p>
            <a:pPr>
              <a:defRPr/>
            </a:pPr>
            <a:r>
              <a:rPr lang="ru-RU" sz="2000" b="1"/>
              <a:t>которая не проверяет размер буфера записи: </a:t>
            </a:r>
            <a:endParaRPr lang="en-US" sz="2000" b="1"/>
          </a:p>
          <a:p>
            <a:pPr>
              <a:defRPr/>
            </a:pPr>
            <a:r>
              <a:rPr lang="en-US" sz="2000" b="1"/>
              <a:t>gets, strcpy, memcpy, memmove,…</a:t>
            </a:r>
            <a:endParaRPr/>
          </a:p>
        </p:txBody>
      </p:sp>
      <p:sp>
        <p:nvSpPr>
          <p:cNvPr id="783145473" name="Прямоугольник 7"/>
          <p:cNvSpPr/>
          <p:nvPr/>
        </p:nvSpPr>
        <p:spPr bwMode="auto">
          <a:xfrm>
            <a:off x="9251354" y="1386601"/>
            <a:ext cx="2396971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US"/>
          </a:p>
        </p:txBody>
      </p:sp>
      <p:cxnSp>
        <p:nvCxnSpPr>
          <p:cNvPr id="738509316" name="Прямая со стрелкой 8"/>
          <p:cNvCxnSpPr/>
          <p:nvPr/>
        </p:nvCxnSpPr>
        <p:spPr bwMode="auto">
          <a:xfrm>
            <a:off x="8355822" y="4459636"/>
            <a:ext cx="8955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6085542" name="TextBox 10"/>
          <p:cNvSpPr txBox="1"/>
          <p:nvPr/>
        </p:nvSpPr>
        <p:spPr bwMode="auto">
          <a:xfrm>
            <a:off x="8245178" y="4105874"/>
            <a:ext cx="6641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2400" b="1"/>
              <a:t>RSP</a:t>
            </a:r>
            <a:endParaRPr/>
          </a:p>
        </p:txBody>
      </p:sp>
      <p:sp>
        <p:nvSpPr>
          <p:cNvPr id="1155437128" name="Прямоугольник 11"/>
          <p:cNvSpPr/>
          <p:nvPr/>
        </p:nvSpPr>
        <p:spPr bwMode="auto">
          <a:xfrm>
            <a:off x="9251354" y="1386601"/>
            <a:ext cx="2396971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return address</a:t>
            </a:r>
            <a:endParaRPr/>
          </a:p>
        </p:txBody>
      </p:sp>
      <p:sp>
        <p:nvSpPr>
          <p:cNvPr id="689578903" name="Прямоугольник 13"/>
          <p:cNvSpPr/>
          <p:nvPr/>
        </p:nvSpPr>
        <p:spPr bwMode="auto">
          <a:xfrm>
            <a:off x="9251352" y="2486737"/>
            <a:ext cx="2396971" cy="36841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0x31 0x31 0x31 0x00</a:t>
            </a:r>
            <a:endParaRPr/>
          </a:p>
        </p:txBody>
      </p:sp>
      <p:sp>
        <p:nvSpPr>
          <p:cNvPr id="613245100" name="Прямоугольник 22"/>
          <p:cNvSpPr/>
          <p:nvPr/>
        </p:nvSpPr>
        <p:spPr bwMode="auto">
          <a:xfrm>
            <a:off x="9251352" y="2843328"/>
            <a:ext cx="2396971" cy="161630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0x31 0x31 0x31 0x31</a:t>
            </a:r>
            <a:br>
              <a:rPr lang="en-US"/>
            </a:br>
            <a:r>
              <a:rPr lang="en-US"/>
              <a:t>0x31 0x31 0x31 0x31</a:t>
            </a:r>
          </a:p>
          <a:p>
            <a:pPr algn="ctr">
              <a:defRPr/>
            </a:pPr>
            <a:r>
              <a:rPr lang="en-US"/>
              <a:t>0x31 0x31 0x31 0x31</a:t>
            </a:r>
          </a:p>
          <a:p>
            <a:pPr algn="ctr">
              <a:defRPr/>
            </a:pPr>
            <a:r>
              <a:rPr lang="en-US"/>
              <a:t>0x31 0x31 0x31 0x31</a:t>
            </a:r>
          </a:p>
        </p:txBody>
      </p:sp>
      <p:sp>
        <p:nvSpPr>
          <p:cNvPr id="1871292685" name="Прямоугольник 24"/>
          <p:cNvSpPr/>
          <p:nvPr/>
        </p:nvSpPr>
        <p:spPr bwMode="auto">
          <a:xfrm>
            <a:off x="9251353" y="2118318"/>
            <a:ext cx="2396971" cy="368419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Prev. RBP</a:t>
            </a:r>
            <a:endParaRPr/>
          </a:p>
        </p:txBody>
      </p:sp>
      <p:sp>
        <p:nvSpPr>
          <p:cNvPr id="733699909" name="TextBox 25"/>
          <p:cNvSpPr txBox="1"/>
          <p:nvPr/>
        </p:nvSpPr>
        <p:spPr bwMode="auto">
          <a:xfrm>
            <a:off x="8003896" y="1087826"/>
            <a:ext cx="12474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ru-RU"/>
              <a:t>0</a:t>
            </a:r>
            <a:r>
              <a:rPr lang="en-US"/>
              <a:t>xFFFFFFFF</a:t>
            </a:r>
          </a:p>
        </p:txBody>
      </p:sp>
      <p:sp>
        <p:nvSpPr>
          <p:cNvPr id="226172446" name="TextBox 26"/>
          <p:cNvSpPr txBox="1"/>
          <p:nvPr/>
        </p:nvSpPr>
        <p:spPr bwMode="auto">
          <a:xfrm>
            <a:off x="8031146" y="5630409"/>
            <a:ext cx="1220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ru-RU"/>
              <a:t>0</a:t>
            </a:r>
            <a:r>
              <a:rPr lang="en-US"/>
              <a:t>x0000000</a:t>
            </a:r>
            <a:endParaRPr/>
          </a:p>
        </p:txBody>
      </p:sp>
      <p:cxnSp>
        <p:nvCxnSpPr>
          <p:cNvPr id="1743547520" name="Прямая соединительная линия 27"/>
          <p:cNvCxnSpPr/>
          <p:nvPr/>
        </p:nvCxnSpPr>
        <p:spPr bwMode="auto">
          <a:xfrm>
            <a:off x="9246408" y="878289"/>
            <a:ext cx="0" cy="519807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37231449" name="Прямая соединительная линия 28"/>
          <p:cNvCxnSpPr/>
          <p:nvPr/>
        </p:nvCxnSpPr>
        <p:spPr bwMode="auto">
          <a:xfrm>
            <a:off x="11645795" y="878289"/>
            <a:ext cx="0" cy="519807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6844940" name="Прямоугольник 29"/>
          <p:cNvSpPr/>
          <p:nvPr/>
        </p:nvSpPr>
        <p:spPr bwMode="auto">
          <a:xfrm>
            <a:off x="9256299" y="1749474"/>
            <a:ext cx="2396971" cy="368419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Prev. RBX</a:t>
            </a:r>
            <a:endParaRPr/>
          </a:p>
        </p:txBody>
      </p:sp>
      <p:sp>
        <p:nvSpPr>
          <p:cNvPr id="1850503461" name="TextBox 6"/>
          <p:cNvSpPr txBox="1"/>
          <p:nvPr/>
        </p:nvSpPr>
        <p:spPr bwMode="auto">
          <a:xfrm>
            <a:off x="838200" y="5831026"/>
            <a:ext cx="6153444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ru-RU" sz="2000" b="1"/>
              <a:t>Мера защиты: функции с проверкой границ буфера - </a:t>
            </a:r>
            <a:r>
              <a:rPr lang="en-US" sz="2000" b="1"/>
              <a:t>fgets, scanf_s </a:t>
            </a:r>
            <a:r>
              <a:rPr lang="ru-RU" sz="2000" b="1"/>
              <a:t>и пр.</a:t>
            </a:r>
            <a:endParaRPr lang="en-US" sz="2000" b="1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839417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Возможные цели переполнения буфера на стеке</a:t>
            </a:r>
            <a:endParaRPr/>
          </a:p>
        </p:txBody>
      </p:sp>
      <p:sp>
        <p:nvSpPr>
          <p:cNvPr id="1033626414" name="Объект 2"/>
          <p:cNvSpPr>
            <a:spLocks noGrp="1"/>
          </p:cNvSpPr>
          <p:nvPr>
            <p:ph idx="1"/>
          </p:nvPr>
        </p:nvSpPr>
        <p:spPr bwMode="auto">
          <a:xfrm>
            <a:off x="838200" y="1807337"/>
            <a:ext cx="5860473" cy="4351338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2000" b="1"/>
              <a:t>Локальные переменные</a:t>
            </a:r>
            <a:r>
              <a:rPr lang="ru-RU" sz="2000"/>
              <a:t>:  перезапись позволяет изменить ход работы текущей функции;</a:t>
            </a:r>
            <a:endParaRPr/>
          </a:p>
          <a:p>
            <a:pPr>
              <a:defRPr/>
            </a:pPr>
            <a:r>
              <a:rPr lang="ru-RU" sz="2000" b="1"/>
              <a:t>Копии регистров на стеке</a:t>
            </a:r>
            <a:r>
              <a:rPr lang="ru-RU" sz="2000"/>
              <a:t>: чаще всего хранят некоторые переменные из вызывающей функции </a:t>
            </a:r>
            <a:r>
              <a:rPr lang="en-US" sz="2000"/>
              <a:t>=&gt; </a:t>
            </a:r>
            <a:r>
              <a:rPr lang="ru-RU" sz="2000"/>
              <a:t>перезапись может изменить ход работы вызывающей функции;</a:t>
            </a:r>
            <a:endParaRPr/>
          </a:p>
          <a:p>
            <a:pPr>
              <a:defRPr/>
            </a:pPr>
            <a:r>
              <a:rPr lang="ru-RU" sz="2000" b="1"/>
              <a:t>Адрес возврата.</a:t>
            </a:r>
            <a:endParaRPr/>
          </a:p>
        </p:txBody>
      </p:sp>
      <p:sp>
        <p:nvSpPr>
          <p:cNvPr id="1280516707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7FBA2B-964F-4C4D-AAF7-5A8399264638}" type="slidenum">
              <a:rPr lang="en-US"/>
              <a:t>11</a:t>
            </a:fld>
            <a:endParaRPr lang="en-US"/>
          </a:p>
        </p:txBody>
      </p:sp>
      <p:sp>
        <p:nvSpPr>
          <p:cNvPr id="1827530213" name="Прямоугольник 28"/>
          <p:cNvSpPr/>
          <p:nvPr/>
        </p:nvSpPr>
        <p:spPr bwMode="auto">
          <a:xfrm>
            <a:off x="9251354" y="1386601"/>
            <a:ext cx="2396971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US"/>
          </a:p>
        </p:txBody>
      </p:sp>
      <p:cxnSp>
        <p:nvCxnSpPr>
          <p:cNvPr id="499468631" name="Прямая со стрелкой 29"/>
          <p:cNvCxnSpPr/>
          <p:nvPr/>
        </p:nvCxnSpPr>
        <p:spPr bwMode="auto">
          <a:xfrm>
            <a:off x="8355822" y="4459636"/>
            <a:ext cx="8955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6960869" name="TextBox 30"/>
          <p:cNvSpPr txBox="1"/>
          <p:nvPr/>
        </p:nvSpPr>
        <p:spPr bwMode="auto">
          <a:xfrm>
            <a:off x="8245178" y="4105874"/>
            <a:ext cx="6641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2400" b="1"/>
              <a:t>RSP</a:t>
            </a:r>
            <a:endParaRPr/>
          </a:p>
        </p:txBody>
      </p:sp>
      <p:sp>
        <p:nvSpPr>
          <p:cNvPr id="1593555410" name="Прямоугольник 31"/>
          <p:cNvSpPr/>
          <p:nvPr/>
        </p:nvSpPr>
        <p:spPr bwMode="auto">
          <a:xfrm>
            <a:off x="9251354" y="1386601"/>
            <a:ext cx="2396971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return address</a:t>
            </a:r>
            <a:endParaRPr/>
          </a:p>
        </p:txBody>
      </p:sp>
      <p:sp>
        <p:nvSpPr>
          <p:cNvPr id="984921900" name="Прямоугольник 32"/>
          <p:cNvSpPr/>
          <p:nvPr/>
        </p:nvSpPr>
        <p:spPr bwMode="auto">
          <a:xfrm>
            <a:off x="9251352" y="2486737"/>
            <a:ext cx="2396971" cy="36841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var</a:t>
            </a:r>
            <a:endParaRPr/>
          </a:p>
        </p:txBody>
      </p:sp>
      <p:sp>
        <p:nvSpPr>
          <p:cNvPr id="679887809" name="Прямоугольник 33"/>
          <p:cNvSpPr/>
          <p:nvPr/>
        </p:nvSpPr>
        <p:spPr bwMode="auto">
          <a:xfrm>
            <a:off x="9251352" y="2843328"/>
            <a:ext cx="2396971" cy="161630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buffer</a:t>
            </a:r>
            <a:endParaRPr/>
          </a:p>
        </p:txBody>
      </p:sp>
      <p:sp>
        <p:nvSpPr>
          <p:cNvPr id="916252118" name="Прямоугольник 34"/>
          <p:cNvSpPr/>
          <p:nvPr/>
        </p:nvSpPr>
        <p:spPr bwMode="auto">
          <a:xfrm>
            <a:off x="9251353" y="2118318"/>
            <a:ext cx="2396971" cy="368419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Prev. RBP</a:t>
            </a:r>
            <a:endParaRPr/>
          </a:p>
        </p:txBody>
      </p:sp>
      <p:sp>
        <p:nvSpPr>
          <p:cNvPr id="1528884065" name="TextBox 35"/>
          <p:cNvSpPr txBox="1"/>
          <p:nvPr/>
        </p:nvSpPr>
        <p:spPr bwMode="auto">
          <a:xfrm>
            <a:off x="8003896" y="1087826"/>
            <a:ext cx="12474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ru-RU"/>
              <a:t>0</a:t>
            </a:r>
            <a:r>
              <a:rPr lang="en-US"/>
              <a:t>xFFFFFFFF</a:t>
            </a:r>
          </a:p>
        </p:txBody>
      </p:sp>
      <p:sp>
        <p:nvSpPr>
          <p:cNvPr id="2110549883" name="TextBox 36"/>
          <p:cNvSpPr txBox="1"/>
          <p:nvPr/>
        </p:nvSpPr>
        <p:spPr bwMode="auto">
          <a:xfrm>
            <a:off x="8031146" y="5630409"/>
            <a:ext cx="1220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ru-RU"/>
              <a:t>0</a:t>
            </a:r>
            <a:r>
              <a:rPr lang="en-US"/>
              <a:t>x0000000</a:t>
            </a:r>
            <a:endParaRPr/>
          </a:p>
        </p:txBody>
      </p:sp>
      <p:cxnSp>
        <p:nvCxnSpPr>
          <p:cNvPr id="483424689" name="Прямая соединительная линия 37"/>
          <p:cNvCxnSpPr/>
          <p:nvPr/>
        </p:nvCxnSpPr>
        <p:spPr bwMode="auto">
          <a:xfrm>
            <a:off x="9246408" y="878289"/>
            <a:ext cx="0" cy="519807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64538796" name="Прямая соединительная линия 38"/>
          <p:cNvCxnSpPr/>
          <p:nvPr/>
        </p:nvCxnSpPr>
        <p:spPr bwMode="auto">
          <a:xfrm>
            <a:off x="11645795" y="878289"/>
            <a:ext cx="0" cy="519807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87901434" name="Прямоугольник 39"/>
          <p:cNvSpPr/>
          <p:nvPr/>
        </p:nvSpPr>
        <p:spPr bwMode="auto">
          <a:xfrm>
            <a:off x="9251219" y="1749474"/>
            <a:ext cx="2396971" cy="368419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Prev. RBX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2729865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Изменение адреса возврата</a:t>
            </a:r>
            <a:endParaRPr lang="en-US"/>
          </a:p>
        </p:txBody>
      </p:sp>
      <p:sp>
        <p:nvSpPr>
          <p:cNvPr id="1409226698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7FBA2B-964F-4C4D-AAF7-5A8399264638}" type="slidenum">
              <a:rPr lang="en-US"/>
              <a:t>12</a:t>
            </a:fld>
            <a:endParaRPr lang="en-US"/>
          </a:p>
        </p:txBody>
      </p:sp>
      <p:sp>
        <p:nvSpPr>
          <p:cNvPr id="572452542" name="TextBox 9"/>
          <p:cNvSpPr txBox="1"/>
          <p:nvPr/>
        </p:nvSpPr>
        <p:spPr bwMode="auto">
          <a:xfrm>
            <a:off x="1450759" y="1690688"/>
            <a:ext cx="5200095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bool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pass_check() {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    char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buffer[</a:t>
            </a:r>
            <a:r>
              <a:rPr lang="en-US">
                <a:solidFill>
                  <a:srgbClr val="000000"/>
                </a:solidFill>
                <a:latin typeface="Consolas"/>
              </a:rPr>
              <a:t>64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];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    scanf(</a:t>
            </a:r>
            <a:r>
              <a:rPr lang="en-US" sz="1800">
                <a:solidFill>
                  <a:srgbClr val="A31515"/>
                </a:solidFill>
                <a:latin typeface="Consolas"/>
              </a:rPr>
              <a:t>"%s"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, buffer);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    return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!strcmp(buffer, </a:t>
            </a:r>
            <a:r>
              <a:rPr lang="en-US" sz="1800">
                <a:solidFill>
                  <a:srgbClr val="A31515"/>
                </a:solidFill>
                <a:latin typeface="Consolas"/>
              </a:rPr>
              <a:t>"PASSWORD"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);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}</a:t>
            </a:r>
            <a:endParaRPr/>
          </a:p>
          <a:p>
            <a:pPr>
              <a:defRPr/>
            </a:pPr>
            <a:endParaRPr lang="en-US" sz="1800">
              <a:solidFill>
                <a:srgbClr val="000000"/>
              </a:solidFill>
              <a:latin typeface="Consolas"/>
            </a:endParaRPr>
          </a:p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int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main() {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    bool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ok = pass_check();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    if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(!ok)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        return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-1;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8000"/>
                </a:solidFill>
                <a:latin typeface="Consolas"/>
              </a:rPr>
              <a:t>   /*ACCESS DATA*/</a:t>
            </a:r>
            <a:endParaRPr lang="en-US" sz="1800">
              <a:solidFill>
                <a:srgbClr val="000000"/>
              </a:solidFill>
              <a:latin typeface="Consolas"/>
            </a:endParaRPr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}</a:t>
            </a:r>
            <a:endParaRPr lang="en-US" sz="1800">
              <a:latin typeface="Calibri"/>
              <a:ea typeface="Calibri"/>
              <a:cs typeface="Times New Roman"/>
            </a:endParaRPr>
          </a:p>
        </p:txBody>
      </p:sp>
      <p:sp>
        <p:nvSpPr>
          <p:cNvPr id="1281864570" name="Прямоугольник 33"/>
          <p:cNvSpPr/>
          <p:nvPr/>
        </p:nvSpPr>
        <p:spPr bwMode="auto">
          <a:xfrm>
            <a:off x="8933992" y="1690688"/>
            <a:ext cx="2396971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935712254" name="Прямоугольник 36"/>
          <p:cNvSpPr/>
          <p:nvPr/>
        </p:nvSpPr>
        <p:spPr bwMode="auto">
          <a:xfrm>
            <a:off x="8933992" y="1690688"/>
            <a:ext cx="2396971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0xAA 0xAA 0xFF 0xFF</a:t>
            </a:r>
          </a:p>
        </p:txBody>
      </p:sp>
      <p:sp>
        <p:nvSpPr>
          <p:cNvPr id="2009142081" name="Прямоугольник 38"/>
          <p:cNvSpPr/>
          <p:nvPr/>
        </p:nvSpPr>
        <p:spPr bwMode="auto">
          <a:xfrm>
            <a:off x="8933990" y="2434166"/>
            <a:ext cx="2396971" cy="161630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buffer</a:t>
            </a:r>
            <a:endParaRPr/>
          </a:p>
        </p:txBody>
      </p:sp>
      <p:sp>
        <p:nvSpPr>
          <p:cNvPr id="1530483048" name="Прямоугольник 39"/>
          <p:cNvSpPr/>
          <p:nvPr/>
        </p:nvSpPr>
        <p:spPr bwMode="auto">
          <a:xfrm>
            <a:off x="8933991" y="2062184"/>
            <a:ext cx="2396971" cy="368419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Prev. RBP</a:t>
            </a:r>
            <a:endParaRPr/>
          </a:p>
        </p:txBody>
      </p:sp>
      <p:cxnSp>
        <p:nvCxnSpPr>
          <p:cNvPr id="2041746969" name="Соединитель: уступ 5"/>
          <p:cNvCxnSpPr>
            <a:stCxn id="1935712254" idx="1"/>
          </p:cNvCxnSpPr>
          <p:nvPr/>
        </p:nvCxnSpPr>
        <p:spPr bwMode="auto">
          <a:xfrm rot="10800000" flipV="1">
            <a:off x="3220278" y="1874898"/>
            <a:ext cx="5713714" cy="2194720"/>
          </a:xfrm>
          <a:prstGeom prst="bentConnector3">
            <a:avLst>
              <a:gd name="adj1" fmla="val 3451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8726489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Изменение адреса возврата</a:t>
            </a:r>
            <a:endParaRPr lang="en-US"/>
          </a:p>
        </p:txBody>
      </p:sp>
      <p:sp>
        <p:nvSpPr>
          <p:cNvPr id="1302045133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7FBA2B-964F-4C4D-AAF7-5A8399264638}" type="slidenum">
              <a:rPr lang="en-US"/>
              <a:t>13</a:t>
            </a:fld>
            <a:endParaRPr lang="en-US"/>
          </a:p>
        </p:txBody>
      </p:sp>
      <p:sp>
        <p:nvSpPr>
          <p:cNvPr id="1836552575" name="TextBox 9"/>
          <p:cNvSpPr txBox="1"/>
          <p:nvPr/>
        </p:nvSpPr>
        <p:spPr bwMode="auto">
          <a:xfrm>
            <a:off x="1450759" y="1690688"/>
            <a:ext cx="5200095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bool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pass_check() {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    char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buffer[</a:t>
            </a:r>
            <a:r>
              <a:rPr lang="en-US">
                <a:solidFill>
                  <a:srgbClr val="000000"/>
                </a:solidFill>
                <a:latin typeface="Consolas"/>
              </a:rPr>
              <a:t>64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];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    scanf(</a:t>
            </a:r>
            <a:r>
              <a:rPr lang="en-US" sz="1800">
                <a:solidFill>
                  <a:srgbClr val="A31515"/>
                </a:solidFill>
                <a:latin typeface="Consolas"/>
              </a:rPr>
              <a:t>"%s"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, buffer);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    return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!strcmp(buffer, </a:t>
            </a:r>
            <a:r>
              <a:rPr lang="en-US" sz="1800">
                <a:solidFill>
                  <a:srgbClr val="A31515"/>
                </a:solidFill>
                <a:latin typeface="Consolas"/>
              </a:rPr>
              <a:t>"PASSWORD"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);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}</a:t>
            </a:r>
            <a:endParaRPr/>
          </a:p>
          <a:p>
            <a:pPr>
              <a:defRPr/>
            </a:pPr>
            <a:endParaRPr lang="en-US" sz="1800">
              <a:solidFill>
                <a:srgbClr val="000000"/>
              </a:solidFill>
              <a:latin typeface="Consolas"/>
            </a:endParaRPr>
          </a:p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int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main() {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    bool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ok = pass_check();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    if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(!ok)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        return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-1;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8000"/>
                </a:solidFill>
                <a:latin typeface="Consolas"/>
              </a:rPr>
              <a:t>   /*ACCESS DATA*/</a:t>
            </a:r>
            <a:endParaRPr lang="en-US" sz="1800">
              <a:solidFill>
                <a:srgbClr val="000000"/>
              </a:solidFill>
              <a:latin typeface="Consolas"/>
            </a:endParaRPr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}</a:t>
            </a:r>
            <a:endParaRPr lang="en-US" sz="1800">
              <a:latin typeface="Calibri"/>
              <a:ea typeface="Calibri"/>
              <a:cs typeface="Times New Roman"/>
            </a:endParaRPr>
          </a:p>
        </p:txBody>
      </p:sp>
      <p:sp>
        <p:nvSpPr>
          <p:cNvPr id="11244601" name="Прямоугольник 33"/>
          <p:cNvSpPr/>
          <p:nvPr/>
        </p:nvSpPr>
        <p:spPr bwMode="auto">
          <a:xfrm>
            <a:off x="8933992" y="1690688"/>
            <a:ext cx="2396971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948597150" name="Прямоугольник 36"/>
          <p:cNvSpPr/>
          <p:nvPr/>
        </p:nvSpPr>
        <p:spPr bwMode="auto">
          <a:xfrm>
            <a:off x="8933992" y="1690688"/>
            <a:ext cx="2396971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0xBB 0xAA 0xFF 0xFF</a:t>
            </a:r>
          </a:p>
        </p:txBody>
      </p:sp>
      <p:sp>
        <p:nvSpPr>
          <p:cNvPr id="2142699370" name="Прямоугольник 38"/>
          <p:cNvSpPr/>
          <p:nvPr/>
        </p:nvSpPr>
        <p:spPr bwMode="auto">
          <a:xfrm>
            <a:off x="8933990" y="2424834"/>
            <a:ext cx="2396971" cy="161630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>
                <a:solidFill>
                  <a:schemeClr val="bg1"/>
                </a:solidFill>
              </a:rPr>
              <a:t>0x31 0x31 0x31 0x31</a:t>
            </a:r>
            <a:br>
              <a:rPr lang="en-US">
                <a:solidFill>
                  <a:schemeClr val="bg1"/>
                </a:solidFill>
              </a:rPr>
            </a:br>
            <a:r>
              <a:rPr lang="en-US">
                <a:solidFill>
                  <a:schemeClr val="bg1"/>
                </a:solidFill>
              </a:rPr>
              <a:t>0x31 0x31 0x31 0x31</a:t>
            </a:r>
          </a:p>
          <a:p>
            <a:pPr algn="ctr">
              <a:defRPr/>
            </a:pPr>
            <a:r>
              <a:rPr lang="en-US">
                <a:solidFill>
                  <a:schemeClr val="bg1"/>
                </a:solidFill>
              </a:rPr>
              <a:t>0x31 0x31 0x31 0x31</a:t>
            </a:r>
          </a:p>
          <a:p>
            <a:pPr algn="ctr">
              <a:defRPr/>
            </a:pPr>
            <a:r>
              <a:rPr lang="en-US">
                <a:solidFill>
                  <a:schemeClr val="bg1"/>
                </a:solidFill>
              </a:rPr>
              <a:t>0x31 0x31 0x31 0x31</a:t>
            </a:r>
          </a:p>
        </p:txBody>
      </p:sp>
      <p:sp>
        <p:nvSpPr>
          <p:cNvPr id="135287474" name="Прямоугольник 39"/>
          <p:cNvSpPr/>
          <p:nvPr/>
        </p:nvSpPr>
        <p:spPr bwMode="auto">
          <a:xfrm>
            <a:off x="8933991" y="2062184"/>
            <a:ext cx="2396971" cy="368419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>
                <a:solidFill>
                  <a:schemeClr val="bg1"/>
                </a:solidFill>
              </a:rPr>
              <a:t>0x31 0x31 0x31 0x31</a:t>
            </a:r>
          </a:p>
        </p:txBody>
      </p:sp>
      <p:cxnSp>
        <p:nvCxnSpPr>
          <p:cNvPr id="527324649" name="Соединитель: уступ 5"/>
          <p:cNvCxnSpPr>
            <a:stCxn id="1948597150" idx="1"/>
          </p:cNvCxnSpPr>
          <p:nvPr/>
        </p:nvCxnSpPr>
        <p:spPr bwMode="auto">
          <a:xfrm rot="10800000" flipV="1">
            <a:off x="3916018" y="1874897"/>
            <a:ext cx="5017975" cy="2756737"/>
          </a:xfrm>
          <a:prstGeom prst="bentConnector3">
            <a:avLst>
              <a:gd name="adj1" fmla="val 36136"/>
            </a:avLst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31894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Исполнение произвольного кода</a:t>
            </a:r>
            <a:endParaRPr lang="en-US"/>
          </a:p>
        </p:txBody>
      </p:sp>
      <p:sp>
        <p:nvSpPr>
          <p:cNvPr id="962922646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7FBA2B-964F-4C4D-AAF7-5A8399264638}" type="slidenum">
              <a:rPr lang="en-US"/>
              <a:t>14</a:t>
            </a:fld>
            <a:endParaRPr lang="en-US"/>
          </a:p>
        </p:txBody>
      </p:sp>
      <p:sp>
        <p:nvSpPr>
          <p:cNvPr id="723576418" name="TextBox 9"/>
          <p:cNvSpPr txBox="1"/>
          <p:nvPr/>
        </p:nvSpPr>
        <p:spPr bwMode="auto">
          <a:xfrm>
            <a:off x="1450759" y="1690688"/>
            <a:ext cx="5200095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bool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pass_check() {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    char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buffer[</a:t>
            </a:r>
            <a:r>
              <a:rPr lang="en-US">
                <a:solidFill>
                  <a:srgbClr val="000000"/>
                </a:solidFill>
                <a:latin typeface="Consolas"/>
              </a:rPr>
              <a:t>64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];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    scanf(</a:t>
            </a:r>
            <a:r>
              <a:rPr lang="en-US" sz="1800">
                <a:solidFill>
                  <a:srgbClr val="A31515"/>
                </a:solidFill>
                <a:latin typeface="Consolas"/>
              </a:rPr>
              <a:t>"%s"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, buffer);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    return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!strcmp(buffer, </a:t>
            </a:r>
            <a:r>
              <a:rPr lang="en-US" sz="1800">
                <a:solidFill>
                  <a:srgbClr val="A31515"/>
                </a:solidFill>
                <a:latin typeface="Consolas"/>
              </a:rPr>
              <a:t>"PASSWORD"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);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}</a:t>
            </a:r>
            <a:endParaRPr/>
          </a:p>
          <a:p>
            <a:pPr>
              <a:defRPr/>
            </a:pPr>
            <a:endParaRPr lang="en-US" sz="1800">
              <a:solidFill>
                <a:srgbClr val="000000"/>
              </a:solidFill>
              <a:latin typeface="Consolas"/>
            </a:endParaRPr>
          </a:p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int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main() {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    bool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ok = pass_check();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    if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(!ok)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        return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-1;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8000"/>
                </a:solidFill>
                <a:latin typeface="Consolas"/>
              </a:rPr>
              <a:t>   /*ACCESS DATA*/</a:t>
            </a:r>
            <a:endParaRPr lang="en-US" sz="1800">
              <a:solidFill>
                <a:srgbClr val="000000"/>
              </a:solidFill>
              <a:latin typeface="Consolas"/>
            </a:endParaRPr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}</a:t>
            </a:r>
            <a:endParaRPr lang="en-US" sz="1800">
              <a:latin typeface="Calibri"/>
              <a:ea typeface="Calibri"/>
              <a:cs typeface="Times New Roman"/>
            </a:endParaRPr>
          </a:p>
        </p:txBody>
      </p:sp>
      <p:sp>
        <p:nvSpPr>
          <p:cNvPr id="975637619" name="Прямоугольник 33"/>
          <p:cNvSpPr/>
          <p:nvPr/>
        </p:nvSpPr>
        <p:spPr bwMode="auto">
          <a:xfrm>
            <a:off x="8933992" y="1690688"/>
            <a:ext cx="2396971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253416819" name="Прямоугольник 36"/>
          <p:cNvSpPr/>
          <p:nvPr/>
        </p:nvSpPr>
        <p:spPr bwMode="auto">
          <a:xfrm>
            <a:off x="8933992" y="1690688"/>
            <a:ext cx="2396971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0xAA 0xAA 0xFF 0xFF</a:t>
            </a:r>
          </a:p>
        </p:txBody>
      </p:sp>
      <p:sp>
        <p:nvSpPr>
          <p:cNvPr id="621830317" name="Прямоугольник 38"/>
          <p:cNvSpPr/>
          <p:nvPr/>
        </p:nvSpPr>
        <p:spPr bwMode="auto">
          <a:xfrm>
            <a:off x="8933990" y="2434166"/>
            <a:ext cx="2396971" cy="161630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buffer</a:t>
            </a:r>
            <a:endParaRPr/>
          </a:p>
        </p:txBody>
      </p:sp>
      <p:sp>
        <p:nvSpPr>
          <p:cNvPr id="780764981" name="Прямоугольник 39"/>
          <p:cNvSpPr/>
          <p:nvPr/>
        </p:nvSpPr>
        <p:spPr bwMode="auto">
          <a:xfrm>
            <a:off x="8933991" y="2062184"/>
            <a:ext cx="2396971" cy="368419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Prev. RBP</a:t>
            </a:r>
            <a:endParaRPr/>
          </a:p>
        </p:txBody>
      </p:sp>
      <p:cxnSp>
        <p:nvCxnSpPr>
          <p:cNvPr id="322020366" name="Соединитель: уступ 5"/>
          <p:cNvCxnSpPr>
            <a:stCxn id="1253416819" idx="1"/>
          </p:cNvCxnSpPr>
          <p:nvPr/>
        </p:nvCxnSpPr>
        <p:spPr bwMode="auto">
          <a:xfrm rot="10800000" flipV="1">
            <a:off x="3220278" y="1874898"/>
            <a:ext cx="5713714" cy="2194720"/>
          </a:xfrm>
          <a:prstGeom prst="bentConnector3">
            <a:avLst>
              <a:gd name="adj1" fmla="val 4360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8634186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Исполнение произвольного кода</a:t>
            </a:r>
            <a:endParaRPr lang="en-US"/>
          </a:p>
        </p:txBody>
      </p:sp>
      <p:sp>
        <p:nvSpPr>
          <p:cNvPr id="1743624868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7FBA2B-964F-4C4D-AAF7-5A8399264638}" type="slidenum">
              <a:rPr lang="en-US"/>
              <a:t>15</a:t>
            </a:fld>
            <a:endParaRPr lang="en-US"/>
          </a:p>
        </p:txBody>
      </p:sp>
      <p:sp>
        <p:nvSpPr>
          <p:cNvPr id="1388354736" name="TextBox 6"/>
          <p:cNvSpPr txBox="1"/>
          <p:nvPr/>
        </p:nvSpPr>
        <p:spPr bwMode="auto">
          <a:xfrm>
            <a:off x="5402885" y="1997839"/>
            <a:ext cx="431170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>
                <a:latin typeface="Courier New"/>
                <a:cs typeface="Courier New"/>
              </a:rPr>
              <a:t>31 c0</a:t>
            </a:r>
            <a:br>
              <a:rPr lang="ru-RU">
                <a:latin typeface="Courier New"/>
                <a:cs typeface="Courier New"/>
              </a:rPr>
            </a:br>
            <a:r>
              <a:rPr lang="en-US">
                <a:latin typeface="Courier New"/>
                <a:cs typeface="Courier New"/>
              </a:rPr>
              <a:t>48 bb 2f 2f 62 69 6e 2f 73 68</a:t>
            </a:r>
            <a:endParaRPr/>
          </a:p>
          <a:p>
            <a:pPr>
              <a:defRPr/>
            </a:pPr>
            <a:r>
              <a:rPr lang="en-US">
                <a:latin typeface="Courier New"/>
                <a:cs typeface="Courier New"/>
              </a:rPr>
              <a:t>48 c1 eb 08</a:t>
            </a:r>
            <a:endParaRPr/>
          </a:p>
          <a:p>
            <a:pPr>
              <a:defRPr/>
            </a:pPr>
            <a:r>
              <a:rPr lang="en-US">
                <a:latin typeface="Courier New"/>
                <a:cs typeface="Courier New"/>
              </a:rPr>
              <a:t>53                                       </a:t>
            </a:r>
            <a:endParaRPr/>
          </a:p>
          <a:p>
            <a:pPr>
              <a:defRPr/>
            </a:pPr>
            <a:r>
              <a:rPr lang="en-US">
                <a:latin typeface="Courier New"/>
                <a:cs typeface="Courier New"/>
              </a:rPr>
              <a:t>48 89 e7 </a:t>
            </a:r>
            <a:br>
              <a:rPr lang="ru-RU">
                <a:latin typeface="Courier New"/>
                <a:cs typeface="Courier New"/>
              </a:rPr>
            </a:br>
            <a:r>
              <a:rPr lang="en-US">
                <a:latin typeface="Courier New"/>
                <a:cs typeface="Courier New"/>
              </a:rPr>
              <a:t>50                                        </a:t>
            </a:r>
            <a:endParaRPr/>
          </a:p>
          <a:p>
            <a:pPr>
              <a:defRPr/>
            </a:pPr>
            <a:r>
              <a:rPr lang="en-US">
                <a:latin typeface="Courier New"/>
                <a:cs typeface="Courier New"/>
              </a:rPr>
              <a:t>57</a:t>
            </a:r>
            <a:br>
              <a:rPr lang="en-US">
                <a:latin typeface="Courier New"/>
                <a:cs typeface="Courier New"/>
              </a:rPr>
            </a:br>
            <a:r>
              <a:rPr lang="en-US">
                <a:latin typeface="Courier New"/>
                <a:cs typeface="Courier New"/>
              </a:rPr>
              <a:t>48 89 e6</a:t>
            </a:r>
            <a:endParaRPr/>
          </a:p>
          <a:p>
            <a:pPr>
              <a:defRPr/>
            </a:pPr>
            <a:r>
              <a:rPr lang="en-US">
                <a:latin typeface="Courier New"/>
                <a:cs typeface="Courier New"/>
              </a:rPr>
              <a:t>b0 3b</a:t>
            </a:r>
            <a:br>
              <a:rPr lang="ru-RU">
                <a:latin typeface="Courier New"/>
                <a:cs typeface="Courier New"/>
              </a:rPr>
            </a:br>
            <a:r>
              <a:rPr lang="en-US">
                <a:latin typeface="Courier New"/>
                <a:cs typeface="Courier New"/>
              </a:rPr>
              <a:t>0f 05                                     </a:t>
            </a:r>
            <a:endParaRPr/>
          </a:p>
        </p:txBody>
      </p:sp>
      <p:sp>
        <p:nvSpPr>
          <p:cNvPr id="1424143304" name="TextBox 24"/>
          <p:cNvSpPr txBox="1"/>
          <p:nvPr/>
        </p:nvSpPr>
        <p:spPr bwMode="auto">
          <a:xfrm>
            <a:off x="838200" y="1997839"/>
            <a:ext cx="4508121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>
                <a:latin typeface="Courier New"/>
                <a:cs typeface="Courier New"/>
              </a:rPr>
              <a:t>xor     eax, eax</a:t>
            </a:r>
          </a:p>
          <a:p>
            <a:pPr>
              <a:defRPr/>
            </a:pPr>
            <a:r>
              <a:rPr lang="en-US">
                <a:latin typeface="Courier New"/>
                <a:cs typeface="Courier New"/>
              </a:rPr>
              <a:t>mov     rbx, '//bin/sh'</a:t>
            </a:r>
            <a:endParaRPr/>
          </a:p>
          <a:p>
            <a:pPr>
              <a:defRPr/>
            </a:pPr>
            <a:r>
              <a:rPr lang="en-US">
                <a:latin typeface="Courier New"/>
                <a:cs typeface="Courier New"/>
              </a:rPr>
              <a:t>shr     rbx, 8</a:t>
            </a:r>
            <a:endParaRPr/>
          </a:p>
          <a:p>
            <a:pPr>
              <a:defRPr/>
            </a:pPr>
            <a:r>
              <a:rPr lang="en-US">
                <a:latin typeface="Courier New"/>
                <a:cs typeface="Courier New"/>
              </a:rPr>
              <a:t>push    rbx</a:t>
            </a:r>
          </a:p>
          <a:p>
            <a:pPr>
              <a:defRPr/>
            </a:pPr>
            <a:r>
              <a:rPr lang="en-US">
                <a:latin typeface="Courier New"/>
                <a:cs typeface="Courier New"/>
              </a:rPr>
              <a:t>mov     rdi, rsp</a:t>
            </a:r>
          </a:p>
          <a:p>
            <a:pPr>
              <a:defRPr/>
            </a:pPr>
            <a:r>
              <a:rPr lang="en-US">
                <a:latin typeface="Courier New"/>
                <a:cs typeface="Courier New"/>
              </a:rPr>
              <a:t>push    rax</a:t>
            </a:r>
          </a:p>
          <a:p>
            <a:pPr>
              <a:defRPr/>
            </a:pPr>
            <a:r>
              <a:rPr lang="en-US">
                <a:latin typeface="Courier New"/>
                <a:cs typeface="Courier New"/>
              </a:rPr>
              <a:t>push    rdi</a:t>
            </a:r>
          </a:p>
          <a:p>
            <a:pPr>
              <a:defRPr/>
            </a:pPr>
            <a:r>
              <a:rPr lang="en-US">
                <a:latin typeface="Courier New"/>
                <a:cs typeface="Courier New"/>
              </a:rPr>
              <a:t>mov     rsi, rsp</a:t>
            </a:r>
          </a:p>
          <a:p>
            <a:pPr>
              <a:defRPr/>
            </a:pPr>
            <a:r>
              <a:rPr lang="en-US">
                <a:latin typeface="Courier New"/>
                <a:cs typeface="Courier New"/>
              </a:rPr>
              <a:t>mov     al, 0x3b</a:t>
            </a:r>
            <a:endParaRPr/>
          </a:p>
          <a:p>
            <a:pPr>
              <a:defRPr/>
            </a:pPr>
            <a:r>
              <a:rPr lang="en-US">
                <a:latin typeface="Courier New"/>
                <a:cs typeface="Courier New"/>
              </a:rPr>
              <a:t>syscall</a:t>
            </a:r>
          </a:p>
        </p:txBody>
      </p:sp>
      <p:sp>
        <p:nvSpPr>
          <p:cNvPr id="824923126" name="TextBox 7"/>
          <p:cNvSpPr txBox="1"/>
          <p:nvPr/>
        </p:nvSpPr>
        <p:spPr bwMode="auto">
          <a:xfrm>
            <a:off x="5561991" y="5423589"/>
            <a:ext cx="60972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/>
              <a:t>1ÀH»//bin/shHÁëSHçPWHæ°;</a:t>
            </a:r>
            <a:endParaRPr lang="ru-RU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8438008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Исполнение произвольного кода</a:t>
            </a:r>
            <a:endParaRPr lang="en-US"/>
          </a:p>
        </p:txBody>
      </p:sp>
      <p:sp>
        <p:nvSpPr>
          <p:cNvPr id="1347661363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7FBA2B-964F-4C4D-AAF7-5A8399264638}" type="slidenum">
              <a:rPr lang="en-US"/>
              <a:t>16</a:t>
            </a:fld>
            <a:endParaRPr lang="en-US"/>
          </a:p>
        </p:txBody>
      </p:sp>
      <p:sp>
        <p:nvSpPr>
          <p:cNvPr id="810109328" name="TextBox 9"/>
          <p:cNvSpPr txBox="1"/>
          <p:nvPr/>
        </p:nvSpPr>
        <p:spPr bwMode="auto">
          <a:xfrm>
            <a:off x="1450759" y="1690688"/>
            <a:ext cx="5200095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bool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pass_check() {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    char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buffer[</a:t>
            </a:r>
            <a:r>
              <a:rPr lang="en-US">
                <a:solidFill>
                  <a:srgbClr val="000000"/>
                </a:solidFill>
                <a:latin typeface="Consolas"/>
              </a:rPr>
              <a:t>64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];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    scanf(</a:t>
            </a:r>
            <a:r>
              <a:rPr lang="en-US" sz="1800">
                <a:solidFill>
                  <a:srgbClr val="A31515"/>
                </a:solidFill>
                <a:latin typeface="Consolas"/>
              </a:rPr>
              <a:t>"%s"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, buffer);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    return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!strcmp(buffer, </a:t>
            </a:r>
            <a:r>
              <a:rPr lang="en-US" sz="1800">
                <a:solidFill>
                  <a:srgbClr val="A31515"/>
                </a:solidFill>
                <a:latin typeface="Consolas"/>
              </a:rPr>
              <a:t>"PASSWORD"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);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}</a:t>
            </a:r>
            <a:endParaRPr/>
          </a:p>
          <a:p>
            <a:pPr>
              <a:defRPr/>
            </a:pPr>
            <a:endParaRPr lang="en-US" sz="1800">
              <a:solidFill>
                <a:srgbClr val="000000"/>
              </a:solidFill>
              <a:latin typeface="Consolas"/>
            </a:endParaRPr>
          </a:p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int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main() {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    bool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ok = pass_check();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    if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(!ok)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        return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-1;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8000"/>
                </a:solidFill>
                <a:latin typeface="Consolas"/>
              </a:rPr>
              <a:t>   /*ACCESS DATA*/</a:t>
            </a:r>
            <a:endParaRPr lang="en-US" sz="1800">
              <a:solidFill>
                <a:srgbClr val="000000"/>
              </a:solidFill>
              <a:latin typeface="Consolas"/>
            </a:endParaRPr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}</a:t>
            </a:r>
            <a:endParaRPr lang="en-US" sz="1800">
              <a:latin typeface="Calibri"/>
              <a:ea typeface="Calibri"/>
              <a:cs typeface="Times New Roman"/>
            </a:endParaRPr>
          </a:p>
        </p:txBody>
      </p:sp>
      <p:sp>
        <p:nvSpPr>
          <p:cNvPr id="1200674332" name="Прямоугольник 13"/>
          <p:cNvSpPr/>
          <p:nvPr/>
        </p:nvSpPr>
        <p:spPr bwMode="auto">
          <a:xfrm>
            <a:off x="8933992" y="1690688"/>
            <a:ext cx="2396971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609997799" name="Прямоугольник 16"/>
          <p:cNvSpPr/>
          <p:nvPr/>
        </p:nvSpPr>
        <p:spPr bwMode="auto">
          <a:xfrm>
            <a:off x="8933992" y="1684917"/>
            <a:ext cx="2396971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0xAA 0xAA 0xAA 0xFF</a:t>
            </a:r>
            <a:endParaRPr/>
          </a:p>
        </p:txBody>
      </p:sp>
      <p:sp>
        <p:nvSpPr>
          <p:cNvPr id="2076603304" name="Прямоугольник 17"/>
          <p:cNvSpPr/>
          <p:nvPr/>
        </p:nvSpPr>
        <p:spPr bwMode="auto">
          <a:xfrm>
            <a:off x="8933992" y="2434646"/>
            <a:ext cx="2396971" cy="161630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1ÀH»//bin/shHÁëSHçPWHæ°;</a:t>
            </a:r>
            <a:endParaRPr/>
          </a:p>
        </p:txBody>
      </p:sp>
      <p:sp>
        <p:nvSpPr>
          <p:cNvPr id="810549018" name="Прямоугольник 24"/>
          <p:cNvSpPr/>
          <p:nvPr/>
        </p:nvSpPr>
        <p:spPr bwMode="auto">
          <a:xfrm>
            <a:off x="8933992" y="2061077"/>
            <a:ext cx="2396971" cy="368419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0x31 0x31 0x31 0x31</a:t>
            </a:r>
          </a:p>
        </p:txBody>
      </p:sp>
      <p:cxnSp>
        <p:nvCxnSpPr>
          <p:cNvPr id="2031790690" name="Соединитель: уступ 5"/>
          <p:cNvCxnSpPr>
            <a:stCxn id="1609997799" idx="1"/>
          </p:cNvCxnSpPr>
          <p:nvPr/>
        </p:nvCxnSpPr>
        <p:spPr bwMode="auto">
          <a:xfrm rot="10800000" flipH="1" flipV="1">
            <a:off x="8933992" y="1869127"/>
            <a:ext cx="12700" cy="2181828"/>
          </a:xfrm>
          <a:prstGeom prst="bentConnector4">
            <a:avLst>
              <a:gd name="adj1" fmla="val -1800000"/>
              <a:gd name="adj2" fmla="val 99980"/>
            </a:avLst>
          </a:prstGeom>
          <a:ln w="1905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2185137" name="Прямая со стрелкой 10"/>
          <p:cNvCxnSpPr/>
          <p:nvPr/>
        </p:nvCxnSpPr>
        <p:spPr bwMode="auto">
          <a:xfrm>
            <a:off x="8031834" y="4069618"/>
            <a:ext cx="8955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4734670" name="TextBox 11"/>
          <p:cNvSpPr txBox="1"/>
          <p:nvPr/>
        </p:nvSpPr>
        <p:spPr bwMode="auto">
          <a:xfrm>
            <a:off x="6912189" y="3700426"/>
            <a:ext cx="18616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2400" b="1"/>
              <a:t>0xFFAAAAAA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1888868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 аргументах и переменных среды </a:t>
            </a:r>
            <a:r>
              <a:rPr lang="ru-RU" sz="2000"/>
              <a:t>(</a:t>
            </a:r>
            <a:r>
              <a:rPr lang="en-US" sz="2000"/>
              <a:t>Linux</a:t>
            </a:r>
            <a:r>
              <a:rPr lang="ru-RU" sz="2000"/>
              <a:t>)</a:t>
            </a:r>
            <a:endParaRPr lang="ru-RU"/>
          </a:p>
        </p:txBody>
      </p:sp>
      <p:sp>
        <p:nvSpPr>
          <p:cNvPr id="521940310" name="Объект 2"/>
          <p:cNvSpPr>
            <a:spLocks noGrp="1"/>
          </p:cNvSpPr>
          <p:nvPr>
            <p:ph idx="1"/>
          </p:nvPr>
        </p:nvSpPr>
        <p:spPr bwMode="auto">
          <a:xfrm>
            <a:off x="453189" y="1551585"/>
            <a:ext cx="7728285" cy="4943868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2000"/>
              <a:t>В ОС на ядре </a:t>
            </a:r>
            <a:r>
              <a:rPr lang="en-US" sz="2000"/>
              <a:t>Linux </a:t>
            </a:r>
            <a:r>
              <a:rPr lang="ru-RU" sz="2000"/>
              <a:t>аргументы и переменные среды располагаются в начальной области стека – </a:t>
            </a:r>
            <a:r>
              <a:rPr lang="ru-RU" sz="2000" i="1"/>
              <a:t>даже если программа их не использует</a:t>
            </a:r>
            <a:r>
              <a:rPr lang="ru-RU" sz="2000"/>
              <a:t>.</a:t>
            </a:r>
            <a:endParaRPr/>
          </a:p>
          <a:p>
            <a:pPr marL="0" indent="0">
              <a:buNone/>
              <a:defRPr/>
            </a:pPr>
            <a:r>
              <a:rPr lang="ru-RU" sz="2000"/>
              <a:t>Как следствие, аргументы программы и переменные среды могут использоваться, как вспомогательный канал ввода информации, которая используется при успешной эксплуатации других уязвимостей. Например, если буфер слишком мал для шелл-кода, его можно ввести с помощью аргументов программы.</a:t>
            </a:r>
            <a:endParaRPr/>
          </a:p>
          <a:p>
            <a:pPr marL="0" indent="0">
              <a:buNone/>
              <a:defRPr/>
            </a:pPr>
            <a:r>
              <a:rPr lang="ru-RU" sz="2000"/>
              <a:t>Аргументы удобны тем, что позволяют передавать в программу нулевые байты (пустая строка в качестве аргумента = байт 0). При обычном текстовом вводе-выводе передать в программу последовательность нулевых байтов не всегда возможно, что порождает проблему (например, если вводимый адрес содержит 0, что почти всегда верно для х86-64).</a:t>
            </a:r>
            <a:endParaRPr/>
          </a:p>
          <a:p>
            <a:pPr marL="0" indent="0">
              <a:buNone/>
              <a:defRPr/>
            </a:pPr>
            <a:r>
              <a:rPr lang="ru-RU" sz="2000"/>
              <a:t>Обратной стороной такого подхода является смещение адресов элементов стека при изменении аргументов/переменных среды, что неудобно для атакующего.</a:t>
            </a:r>
            <a:endParaRPr/>
          </a:p>
        </p:txBody>
      </p:sp>
      <p:sp>
        <p:nvSpPr>
          <p:cNvPr id="1553695273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7FBA2B-964F-4C4D-AAF7-5A8399264638}" type="slidenum">
              <a:rPr lang="en-US"/>
              <a:t>17</a:t>
            </a:fld>
            <a:endParaRPr lang="en-US"/>
          </a:p>
        </p:txBody>
      </p:sp>
      <p:sp>
        <p:nvSpPr>
          <p:cNvPr id="1692970082" name="Прямоугольник 5"/>
          <p:cNvSpPr/>
          <p:nvPr/>
        </p:nvSpPr>
        <p:spPr bwMode="auto">
          <a:xfrm>
            <a:off x="9727767" y="3062810"/>
            <a:ext cx="1879782" cy="288131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134257183" name="Прямоугольник 6"/>
          <p:cNvSpPr/>
          <p:nvPr/>
        </p:nvSpPr>
        <p:spPr bwMode="auto">
          <a:xfrm>
            <a:off x="9727766" y="3060581"/>
            <a:ext cx="1879782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/bin/sh</a:t>
            </a:r>
            <a:r>
              <a:rPr lang="en-US">
                <a:solidFill>
                  <a:srgbClr val="0000FF"/>
                </a:solidFill>
              </a:rPr>
              <a:t>\0</a:t>
            </a:r>
            <a:endParaRPr/>
          </a:p>
        </p:txBody>
      </p:sp>
      <p:sp>
        <p:nvSpPr>
          <p:cNvPr id="169751379" name="Прямоугольник 7"/>
          <p:cNvSpPr/>
          <p:nvPr/>
        </p:nvSpPr>
        <p:spPr bwMode="auto">
          <a:xfrm>
            <a:off x="9727766" y="3436741"/>
            <a:ext cx="1879782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arg1</a:t>
            </a:r>
            <a:r>
              <a:rPr lang="en-US">
                <a:solidFill>
                  <a:srgbClr val="0000FF"/>
                </a:solidFill>
              </a:rPr>
              <a:t>\0</a:t>
            </a:r>
            <a:r>
              <a:rPr lang="en-US">
                <a:solidFill>
                  <a:schemeClr val="tx1"/>
                </a:solidFill>
              </a:rPr>
              <a:t>arg2</a:t>
            </a:r>
            <a:r>
              <a:rPr lang="en-US">
                <a:solidFill>
                  <a:srgbClr val="0000FF"/>
                </a:solidFill>
              </a:rPr>
              <a:t>\0</a:t>
            </a:r>
            <a:endParaRPr/>
          </a:p>
        </p:txBody>
      </p:sp>
      <p:sp>
        <p:nvSpPr>
          <p:cNvPr id="652001461" name="Прямоугольник 8"/>
          <p:cNvSpPr/>
          <p:nvPr/>
        </p:nvSpPr>
        <p:spPr bwMode="auto">
          <a:xfrm>
            <a:off x="9727765" y="3812901"/>
            <a:ext cx="1879782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ENV=foo</a:t>
            </a:r>
            <a:r>
              <a:rPr lang="en-US">
                <a:solidFill>
                  <a:srgbClr val="0000FF"/>
                </a:solidFill>
              </a:rPr>
              <a:t>\0</a:t>
            </a:r>
            <a:endParaRPr/>
          </a:p>
        </p:txBody>
      </p:sp>
      <p:sp>
        <p:nvSpPr>
          <p:cNvPr id="192935418" name="Прямоугольник 10"/>
          <p:cNvSpPr/>
          <p:nvPr/>
        </p:nvSpPr>
        <p:spPr bwMode="auto">
          <a:xfrm>
            <a:off x="9727766" y="4732024"/>
            <a:ext cx="1879781" cy="107361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…</a:t>
            </a:r>
            <a:endParaRPr/>
          </a:p>
        </p:txBody>
      </p:sp>
      <p:sp>
        <p:nvSpPr>
          <p:cNvPr id="582345554" name="TextBox 12"/>
          <p:cNvSpPr txBox="1"/>
          <p:nvPr/>
        </p:nvSpPr>
        <p:spPr bwMode="auto">
          <a:xfrm>
            <a:off x="9099301" y="1991954"/>
            <a:ext cx="28204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i="1"/>
              <a:t>ENV=foo  /bin/sh arg1 arg2</a:t>
            </a:r>
            <a:endParaRPr lang="ru-RU" i="1"/>
          </a:p>
        </p:txBody>
      </p:sp>
      <p:cxnSp>
        <p:nvCxnSpPr>
          <p:cNvPr id="335806887" name="Прямая со стрелкой 29"/>
          <p:cNvCxnSpPr/>
          <p:nvPr/>
        </p:nvCxnSpPr>
        <p:spPr bwMode="auto">
          <a:xfrm>
            <a:off x="8837481" y="5805644"/>
            <a:ext cx="8955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7903037" name="TextBox 14"/>
          <p:cNvSpPr txBox="1"/>
          <p:nvPr/>
        </p:nvSpPr>
        <p:spPr bwMode="auto">
          <a:xfrm>
            <a:off x="8731531" y="5438071"/>
            <a:ext cx="6641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2400" b="1"/>
              <a:t>RSP</a:t>
            </a:r>
            <a:endParaRPr/>
          </a:p>
        </p:txBody>
      </p:sp>
      <p:sp>
        <p:nvSpPr>
          <p:cNvPr id="281173763" name="Прямоугольник 8"/>
          <p:cNvSpPr/>
          <p:nvPr/>
        </p:nvSpPr>
        <p:spPr bwMode="auto">
          <a:xfrm>
            <a:off x="9727765" y="4189061"/>
            <a:ext cx="1879782" cy="54296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>
                <a:solidFill>
                  <a:schemeClr val="tx1"/>
                </a:solidFill>
              </a:rPr>
              <a:t>др. переменные</a:t>
            </a:r>
            <a:endParaRPr lang="en-US">
              <a:solidFill>
                <a:srgbClr val="0000FF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2095864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Защита от выполнения</a:t>
            </a:r>
            <a:endParaRPr lang="en-US"/>
          </a:p>
        </p:txBody>
      </p:sp>
      <p:sp>
        <p:nvSpPr>
          <p:cNvPr id="480213602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7FBA2B-964F-4C4D-AAF7-5A8399264638}" type="slidenum">
              <a:rPr lang="en-US"/>
              <a:t>18</a:t>
            </a:fld>
            <a:endParaRPr lang="en-US"/>
          </a:p>
        </p:txBody>
      </p:sp>
      <p:sp>
        <p:nvSpPr>
          <p:cNvPr id="106814605" name="Объект 2"/>
          <p:cNvSpPr>
            <a:spLocks noGrp="1"/>
          </p:cNvSpPr>
          <p:nvPr>
            <p:ph idx="1"/>
          </p:nvPr>
        </p:nvSpPr>
        <p:spPr bwMode="auto">
          <a:xfrm>
            <a:off x="838200" y="1825624"/>
            <a:ext cx="6314440" cy="4530725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2000"/>
              <a:t>В современных процессорах возможно запрещать исполнение кода в определённых сегментах памяти.</a:t>
            </a:r>
            <a:endParaRPr/>
          </a:p>
          <a:p>
            <a:pPr marL="0" indent="0">
              <a:buNone/>
              <a:defRPr/>
            </a:pPr>
            <a:r>
              <a:rPr lang="ru-RU" sz="2000"/>
              <a:t>При попытке исполнения кода внутри сегментов </a:t>
            </a:r>
            <a:r>
              <a:rPr lang="en-US" sz="2000"/>
              <a:t>.data, .rodata</a:t>
            </a:r>
            <a:r>
              <a:rPr lang="ru-RU" sz="2000"/>
              <a:t>, </a:t>
            </a:r>
            <a:r>
              <a:rPr lang="en-US" sz="2000"/>
              <a:t>.bss, </a:t>
            </a:r>
            <a:r>
              <a:rPr lang="ru-RU" sz="2000"/>
              <a:t>стека или кучи</a:t>
            </a:r>
            <a:r>
              <a:rPr lang="en-US" sz="2000"/>
              <a:t> </a:t>
            </a:r>
            <a:r>
              <a:rPr lang="ru-RU" sz="2000"/>
              <a:t>будет сгенерировано аппаратное исключение и </a:t>
            </a:r>
            <a:r>
              <a:rPr lang="ru-RU" sz="2000" i="1"/>
              <a:t>программа завершится</a:t>
            </a:r>
            <a:r>
              <a:rPr lang="ru-RU" sz="2000"/>
              <a:t>.</a:t>
            </a:r>
            <a:endParaRPr/>
          </a:p>
          <a:p>
            <a:pPr marL="0" indent="0">
              <a:buNone/>
              <a:defRPr/>
            </a:pPr>
            <a:endParaRPr lang="ru-RU" sz="2000"/>
          </a:p>
          <a:p>
            <a:pPr marL="0" indent="0">
              <a:buNone/>
              <a:defRPr/>
            </a:pPr>
            <a:endParaRPr lang="ru-RU" sz="2000"/>
          </a:p>
          <a:p>
            <a:pPr marL="0" indent="0">
              <a:buNone/>
              <a:defRPr/>
            </a:pPr>
            <a:r>
              <a:rPr lang="ru-RU" sz="2000"/>
              <a:t>Примечание: можно сделать стек исполняемым – но пользователь должен явно запросить это при сборке программы.</a:t>
            </a:r>
            <a:br>
              <a:rPr lang="ru-RU" sz="2000"/>
            </a:br>
            <a:endParaRPr lang="en-US" sz="2000"/>
          </a:p>
        </p:txBody>
      </p:sp>
      <p:sp>
        <p:nvSpPr>
          <p:cNvPr id="1189489096" name="Прямоугольник 5"/>
          <p:cNvSpPr/>
          <p:nvPr/>
        </p:nvSpPr>
        <p:spPr bwMode="auto">
          <a:xfrm>
            <a:off x="8933992" y="1690688"/>
            <a:ext cx="2396971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018958396" name="Прямоугольник 6"/>
          <p:cNvSpPr/>
          <p:nvPr/>
        </p:nvSpPr>
        <p:spPr bwMode="auto">
          <a:xfrm>
            <a:off x="8933992" y="1684917"/>
            <a:ext cx="2396971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new return address</a:t>
            </a:r>
            <a:endParaRPr/>
          </a:p>
        </p:txBody>
      </p:sp>
      <p:sp>
        <p:nvSpPr>
          <p:cNvPr id="577400902" name="Прямоугольник 7"/>
          <p:cNvSpPr/>
          <p:nvPr/>
        </p:nvSpPr>
        <p:spPr bwMode="auto">
          <a:xfrm>
            <a:off x="8933992" y="2434646"/>
            <a:ext cx="2396971" cy="161630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Your code</a:t>
            </a:r>
            <a:endParaRPr/>
          </a:p>
        </p:txBody>
      </p:sp>
      <p:sp>
        <p:nvSpPr>
          <p:cNvPr id="61284158" name="Прямоугольник 8"/>
          <p:cNvSpPr/>
          <p:nvPr/>
        </p:nvSpPr>
        <p:spPr bwMode="auto">
          <a:xfrm>
            <a:off x="8933992" y="2061077"/>
            <a:ext cx="2396971" cy="368419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0x31 0x31 0x31 0x31</a:t>
            </a:r>
          </a:p>
        </p:txBody>
      </p:sp>
      <p:cxnSp>
        <p:nvCxnSpPr>
          <p:cNvPr id="1922991726" name="Соединитель: уступ 9"/>
          <p:cNvCxnSpPr>
            <a:stCxn id="1018958396" idx="1"/>
          </p:cNvCxnSpPr>
          <p:nvPr/>
        </p:nvCxnSpPr>
        <p:spPr bwMode="auto">
          <a:xfrm rot="10800000" flipH="1" flipV="1">
            <a:off x="8933992" y="1869127"/>
            <a:ext cx="12700" cy="2181828"/>
          </a:xfrm>
          <a:prstGeom prst="bentConnector4">
            <a:avLst>
              <a:gd name="adj1" fmla="val -1800000"/>
              <a:gd name="adj2" fmla="val 99980"/>
            </a:avLst>
          </a:prstGeom>
          <a:ln w="1905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7951658" name="Знак умножения 10"/>
          <p:cNvSpPr/>
          <p:nvPr/>
        </p:nvSpPr>
        <p:spPr bwMode="auto">
          <a:xfrm>
            <a:off x="8375670" y="2617514"/>
            <a:ext cx="656363" cy="405326"/>
          </a:xfrm>
          <a:prstGeom prst="mathMultiply">
            <a:avLst>
              <a:gd name="adj1" fmla="val 23520"/>
            </a:avLst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5297175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Return Oriented Programming</a:t>
            </a:r>
            <a:endParaRPr/>
          </a:p>
        </p:txBody>
      </p:sp>
      <p:sp>
        <p:nvSpPr>
          <p:cNvPr id="290383557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7FBA2B-964F-4C4D-AAF7-5A8399264638}" type="slidenum">
              <a:rPr lang="en-US"/>
              <a:t>19</a:t>
            </a:fld>
            <a:endParaRPr lang="en-US"/>
          </a:p>
        </p:txBody>
      </p:sp>
      <p:sp>
        <p:nvSpPr>
          <p:cNvPr id="1835991314" name="Объект 2"/>
          <p:cNvSpPr>
            <a:spLocks noGrp="1"/>
          </p:cNvSpPr>
          <p:nvPr>
            <p:ph idx="1"/>
          </p:nvPr>
        </p:nvSpPr>
        <p:spPr bwMode="auto">
          <a:xfrm>
            <a:off x="838200" y="1547328"/>
            <a:ext cx="7530389" cy="5226266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2000"/>
              <a:t>При включенном запрете исполнения нельзя просто передать управление на записанный код, но адрес возврата изменять все еще можно. Тогда в исполняемых файлах и загружаемых библиотеках можно найти конструкции следующего вида:</a:t>
            </a:r>
            <a:br>
              <a:rPr lang="ru-RU" sz="2000"/>
            </a:br>
            <a:br>
              <a:rPr lang="ru-RU" sz="2000">
                <a:latin typeface="Courier New"/>
                <a:cs typeface="Courier New"/>
              </a:rPr>
            </a:br>
            <a:r>
              <a:rPr lang="en-US" sz="2000">
                <a:latin typeface="Courier New"/>
                <a:cs typeface="Courier New"/>
              </a:rPr>
              <a:t>&lt;</a:t>
            </a:r>
            <a:r>
              <a:rPr lang="ru-RU" sz="2000">
                <a:latin typeface="Courier New"/>
                <a:cs typeface="Courier New"/>
              </a:rPr>
              <a:t>часть нужных инструкций</a:t>
            </a:r>
            <a:r>
              <a:rPr lang="en-US" sz="2000">
                <a:latin typeface="Courier New"/>
                <a:cs typeface="Courier New"/>
              </a:rPr>
              <a:t>&gt;</a:t>
            </a:r>
            <a:br>
              <a:rPr lang="en-US" sz="2000">
                <a:latin typeface="Courier New"/>
                <a:cs typeface="Courier New"/>
              </a:rPr>
            </a:br>
            <a:r>
              <a:rPr lang="en-US" sz="2000">
                <a:latin typeface="Courier New"/>
                <a:cs typeface="Courier New"/>
              </a:rPr>
              <a:t>ret</a:t>
            </a:r>
            <a:endParaRPr/>
          </a:p>
          <a:p>
            <a:pPr marL="0" indent="0">
              <a:buNone/>
              <a:defRPr/>
            </a:pPr>
            <a:endParaRPr lang="en-US" sz="2000"/>
          </a:p>
          <a:p>
            <a:pPr marL="0" indent="0">
              <a:buNone/>
              <a:defRPr/>
            </a:pPr>
            <a:r>
              <a:rPr lang="ru-RU" sz="2000"/>
              <a:t>Таки конструкции называются </a:t>
            </a:r>
            <a:r>
              <a:rPr lang="ru-RU" sz="2000" b="1"/>
              <a:t>гаджетами</a:t>
            </a:r>
            <a:r>
              <a:rPr lang="ru-RU" sz="2000"/>
              <a:t> (</a:t>
            </a:r>
            <a:r>
              <a:rPr lang="en-US" sz="2000"/>
              <a:t>gadgets</a:t>
            </a:r>
            <a:r>
              <a:rPr lang="ru-RU" sz="2000"/>
              <a:t>)</a:t>
            </a:r>
            <a:r>
              <a:rPr lang="en-US" sz="2000"/>
              <a:t>. </a:t>
            </a:r>
            <a:r>
              <a:rPr lang="ru-RU" sz="2000"/>
              <a:t>Если гаджетов достаточно для составления требуемого кода, они могут быть объединены в </a:t>
            </a:r>
            <a:r>
              <a:rPr lang="en-US" sz="2000" b="1"/>
              <a:t>ROP-</a:t>
            </a:r>
            <a:r>
              <a:rPr lang="ru-RU" sz="2000" b="1"/>
              <a:t>цепочку</a:t>
            </a:r>
            <a:r>
              <a:rPr lang="ru-RU" sz="2000"/>
              <a:t>.</a:t>
            </a:r>
            <a:endParaRPr/>
          </a:p>
          <a:p>
            <a:pPr marL="0" indent="0">
              <a:buNone/>
              <a:defRPr/>
            </a:pPr>
            <a:r>
              <a:rPr lang="ru-RU" sz="2000" i="1"/>
              <a:t>Примечание: помимо </a:t>
            </a:r>
            <a:r>
              <a:rPr lang="en-US" sz="2000" i="1">
                <a:latin typeface="Courier New"/>
                <a:cs typeface="Courier New"/>
              </a:rPr>
              <a:t>ret</a:t>
            </a:r>
            <a:r>
              <a:rPr lang="en-US" sz="2000" i="1"/>
              <a:t> </a:t>
            </a:r>
            <a:r>
              <a:rPr lang="ru-RU" sz="2000" i="1"/>
              <a:t>могут использоваться инструкции перехода по вычисляемому аргументу, например </a:t>
            </a:r>
            <a:r>
              <a:rPr lang="en-US" sz="2000" i="1">
                <a:latin typeface="Courier New"/>
                <a:cs typeface="Courier New"/>
              </a:rPr>
              <a:t>jmp [eax] </a:t>
            </a:r>
            <a:r>
              <a:rPr lang="ru-RU" sz="2000" i="1"/>
              <a:t>(</a:t>
            </a:r>
            <a:r>
              <a:rPr lang="en-US" sz="2000" i="1"/>
              <a:t>Jump Oriented Programming</a:t>
            </a:r>
            <a:r>
              <a:rPr lang="ru-RU" sz="2000" i="1"/>
              <a:t>)</a:t>
            </a:r>
            <a:r>
              <a:rPr lang="en-US" sz="2000" i="1"/>
              <a:t> </a:t>
            </a:r>
            <a:r>
              <a:rPr lang="ru-RU" sz="2000" i="1"/>
              <a:t>или</a:t>
            </a:r>
            <a:r>
              <a:rPr lang="en-US" sz="2000" i="1">
                <a:latin typeface="Courier New"/>
                <a:cs typeface="Courier New"/>
              </a:rPr>
              <a:t> call [eax]</a:t>
            </a:r>
            <a:r>
              <a:rPr lang="ru-RU" sz="2000" i="1"/>
              <a:t> </a:t>
            </a:r>
            <a:r>
              <a:rPr lang="en-US" sz="2000" i="1"/>
              <a:t>(Call Oriented Programming) - </a:t>
            </a:r>
            <a:r>
              <a:rPr lang="ru-RU" sz="2000" i="1"/>
              <a:t>в этом случае аргумент должен содержать целевой адрес.</a:t>
            </a:r>
            <a:r>
              <a:rPr lang="en-US" sz="2000" i="1"/>
              <a:t> </a:t>
            </a:r>
            <a:endParaRPr/>
          </a:p>
        </p:txBody>
      </p:sp>
      <p:sp>
        <p:nvSpPr>
          <p:cNvPr id="558759467" name="Прямоугольник 5"/>
          <p:cNvSpPr/>
          <p:nvPr/>
        </p:nvSpPr>
        <p:spPr bwMode="auto">
          <a:xfrm>
            <a:off x="9950090" y="1684474"/>
            <a:ext cx="1879782" cy="288131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167173341" name="Прямоугольник 6"/>
          <p:cNvSpPr/>
          <p:nvPr/>
        </p:nvSpPr>
        <p:spPr bwMode="auto">
          <a:xfrm>
            <a:off x="9950090" y="2066333"/>
            <a:ext cx="1879782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gadget1 address</a:t>
            </a:r>
            <a:endParaRPr/>
          </a:p>
        </p:txBody>
      </p:sp>
      <p:sp>
        <p:nvSpPr>
          <p:cNvPr id="1550297877" name="Прямоугольник 7"/>
          <p:cNvSpPr/>
          <p:nvPr/>
        </p:nvSpPr>
        <p:spPr bwMode="auto">
          <a:xfrm>
            <a:off x="9950090" y="2442493"/>
            <a:ext cx="1879782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gadget0 address</a:t>
            </a:r>
            <a:endParaRPr/>
          </a:p>
        </p:txBody>
      </p:sp>
      <p:sp>
        <p:nvSpPr>
          <p:cNvPr id="1696124003" name="Прямоугольник 8"/>
          <p:cNvSpPr/>
          <p:nvPr/>
        </p:nvSpPr>
        <p:spPr bwMode="auto">
          <a:xfrm>
            <a:off x="9950089" y="1690688"/>
            <a:ext cx="1879782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gadget2 address</a:t>
            </a:r>
            <a:endParaRPr/>
          </a:p>
        </p:txBody>
      </p:sp>
      <p:sp>
        <p:nvSpPr>
          <p:cNvPr id="615983033" name="TextBox 9"/>
          <p:cNvSpPr txBox="1"/>
          <p:nvPr/>
        </p:nvSpPr>
        <p:spPr bwMode="auto">
          <a:xfrm>
            <a:off x="10531837" y="1339029"/>
            <a:ext cx="7162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/>
              <a:t>.stack</a:t>
            </a:r>
            <a:endParaRPr/>
          </a:p>
        </p:txBody>
      </p:sp>
      <p:sp>
        <p:nvSpPr>
          <p:cNvPr id="871960287" name="Прямоугольник 10"/>
          <p:cNvSpPr/>
          <p:nvPr/>
        </p:nvSpPr>
        <p:spPr bwMode="auto">
          <a:xfrm>
            <a:off x="9950089" y="2811000"/>
            <a:ext cx="1879781" cy="161630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0xFF 0xFF </a:t>
            </a:r>
            <a:endParaRPr/>
          </a:p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0xFF 0xFF </a:t>
            </a:r>
            <a:endParaRPr/>
          </a:p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0xFF 0xFF </a:t>
            </a:r>
            <a:endParaRPr/>
          </a:p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0xFF 0xFF </a:t>
            </a:r>
            <a:endParaRPr/>
          </a:p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0xFF 0xFF 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2484068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Return Oriented Programming</a:t>
            </a:r>
            <a:endParaRPr/>
          </a:p>
        </p:txBody>
      </p:sp>
      <p:sp>
        <p:nvSpPr>
          <p:cNvPr id="1799592244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7FBA2B-964F-4C4D-AAF7-5A8399264638}" type="slidenum">
              <a:rPr lang="en-US"/>
              <a:t>20</a:t>
            </a:fld>
            <a:endParaRPr lang="en-US"/>
          </a:p>
        </p:txBody>
      </p:sp>
      <p:sp>
        <p:nvSpPr>
          <p:cNvPr id="1273177569" name="Объект 2"/>
          <p:cNvSpPr>
            <a:spLocks noGrp="1"/>
          </p:cNvSpPr>
          <p:nvPr>
            <p:ph idx="1"/>
          </p:nvPr>
        </p:nvSpPr>
        <p:spPr bwMode="auto">
          <a:xfrm>
            <a:off x="838201" y="1547328"/>
            <a:ext cx="4081669" cy="4530725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2000"/>
              <a:t>При эксплуатации </a:t>
            </a:r>
            <a:r>
              <a:rPr lang="en-US" sz="2000"/>
              <a:t>ROP-</a:t>
            </a:r>
            <a:r>
              <a:rPr lang="ru-RU" sz="2000"/>
              <a:t>цепочки нарушитель должен сформировать на стеке адреса возврата, первый из которых указывает на начальный гаджет.</a:t>
            </a:r>
            <a:endParaRPr/>
          </a:p>
          <a:p>
            <a:pPr marL="0" indent="0">
              <a:buNone/>
              <a:defRPr/>
            </a:pPr>
            <a:r>
              <a:rPr lang="ru-RU" sz="2000"/>
              <a:t>Переход от гаджета к гаджету осуществляется инструкцией </a:t>
            </a:r>
            <a:r>
              <a:rPr lang="en-US" sz="2000"/>
              <a:t>ret, </a:t>
            </a:r>
            <a:r>
              <a:rPr lang="ru-RU" sz="2000"/>
              <a:t>которая достает адрес следующего гаджета со стека.</a:t>
            </a:r>
            <a:br>
              <a:rPr lang="ru-RU" sz="2000"/>
            </a:br>
            <a:endParaRPr lang="en-US" sz="2000"/>
          </a:p>
        </p:txBody>
      </p:sp>
      <p:sp>
        <p:nvSpPr>
          <p:cNvPr id="1962571370" name="Прямоугольник 12"/>
          <p:cNvSpPr/>
          <p:nvPr/>
        </p:nvSpPr>
        <p:spPr bwMode="auto">
          <a:xfrm>
            <a:off x="6021828" y="2310153"/>
            <a:ext cx="1879782" cy="288131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765502729" name="Прямоугольник 14"/>
          <p:cNvSpPr/>
          <p:nvPr/>
        </p:nvSpPr>
        <p:spPr bwMode="auto">
          <a:xfrm>
            <a:off x="6021828" y="2692012"/>
            <a:ext cx="1879782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gadget1 address</a:t>
            </a:r>
            <a:endParaRPr/>
          </a:p>
        </p:txBody>
      </p:sp>
      <p:sp>
        <p:nvSpPr>
          <p:cNvPr id="1178598732" name="Прямоугольник 18"/>
          <p:cNvSpPr/>
          <p:nvPr/>
        </p:nvSpPr>
        <p:spPr bwMode="auto">
          <a:xfrm>
            <a:off x="6021828" y="3068172"/>
            <a:ext cx="1879782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gadget0 address</a:t>
            </a:r>
            <a:endParaRPr/>
          </a:p>
        </p:txBody>
      </p:sp>
      <p:sp>
        <p:nvSpPr>
          <p:cNvPr id="1836867140" name="Прямоугольник 22"/>
          <p:cNvSpPr/>
          <p:nvPr/>
        </p:nvSpPr>
        <p:spPr bwMode="auto">
          <a:xfrm>
            <a:off x="6021827" y="2316367"/>
            <a:ext cx="1879782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gadget2 address</a:t>
            </a:r>
            <a:endParaRPr/>
          </a:p>
        </p:txBody>
      </p:sp>
      <p:sp>
        <p:nvSpPr>
          <p:cNvPr id="1074388573" name="TextBox 2"/>
          <p:cNvSpPr txBox="1"/>
          <p:nvPr/>
        </p:nvSpPr>
        <p:spPr bwMode="auto">
          <a:xfrm>
            <a:off x="6603575" y="1964708"/>
            <a:ext cx="7162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/>
              <a:t>.stack</a:t>
            </a:r>
            <a:endParaRPr/>
          </a:p>
        </p:txBody>
      </p:sp>
      <p:sp>
        <p:nvSpPr>
          <p:cNvPr id="626349598" name="TextBox 23"/>
          <p:cNvSpPr txBox="1"/>
          <p:nvPr/>
        </p:nvSpPr>
        <p:spPr bwMode="auto">
          <a:xfrm>
            <a:off x="10452496" y="410293"/>
            <a:ext cx="6008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/>
              <a:t>.text</a:t>
            </a:r>
            <a:endParaRPr/>
          </a:p>
        </p:txBody>
      </p:sp>
      <p:sp>
        <p:nvSpPr>
          <p:cNvPr id="1160925669" name="Прямоугольник 25"/>
          <p:cNvSpPr/>
          <p:nvPr/>
        </p:nvSpPr>
        <p:spPr bwMode="auto">
          <a:xfrm>
            <a:off x="9818773" y="1162877"/>
            <a:ext cx="1879782" cy="453072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/>
              <a:t>PROGRAM CODE</a:t>
            </a:r>
            <a:endParaRPr/>
          </a:p>
        </p:txBody>
      </p:sp>
      <p:sp>
        <p:nvSpPr>
          <p:cNvPr id="1333951653" name="Прямоугольник 30"/>
          <p:cNvSpPr/>
          <p:nvPr/>
        </p:nvSpPr>
        <p:spPr bwMode="auto">
          <a:xfrm>
            <a:off x="9818773" y="1831512"/>
            <a:ext cx="1879782" cy="484855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mov rax, 0x3b</a:t>
            </a:r>
            <a:endParaRPr/>
          </a:p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ret</a:t>
            </a:r>
            <a:endParaRPr/>
          </a:p>
        </p:txBody>
      </p:sp>
      <p:sp>
        <p:nvSpPr>
          <p:cNvPr id="734056620" name="Прямоугольник 31"/>
          <p:cNvSpPr/>
          <p:nvPr/>
        </p:nvSpPr>
        <p:spPr bwMode="auto">
          <a:xfrm>
            <a:off x="9818773" y="3091141"/>
            <a:ext cx="1879782" cy="484855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mov rdi, rsp</a:t>
            </a:r>
          </a:p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ret</a:t>
            </a:r>
            <a:endParaRPr/>
          </a:p>
        </p:txBody>
      </p:sp>
      <p:sp>
        <p:nvSpPr>
          <p:cNvPr id="319357172" name="Прямоугольник 32"/>
          <p:cNvSpPr/>
          <p:nvPr/>
        </p:nvSpPr>
        <p:spPr bwMode="auto">
          <a:xfrm>
            <a:off x="9818773" y="4325372"/>
            <a:ext cx="1879782" cy="484855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syscall</a:t>
            </a:r>
          </a:p>
        </p:txBody>
      </p:sp>
      <p:cxnSp>
        <p:nvCxnSpPr>
          <p:cNvPr id="1366340302" name="Соединитель: уступ 8"/>
          <p:cNvCxnSpPr>
            <a:stCxn id="1178598732" idx="3"/>
            <a:endCxn id="734056620" idx="1"/>
          </p:cNvCxnSpPr>
          <p:nvPr/>
        </p:nvCxnSpPr>
        <p:spPr bwMode="auto">
          <a:xfrm>
            <a:off x="7901610" y="3252382"/>
            <a:ext cx="1917163" cy="81187"/>
          </a:xfrm>
          <a:prstGeom prst="bentConnector3">
            <a:avLst>
              <a:gd name="adj1" fmla="val 2615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2679862" name="Соединитель: уступ 34"/>
          <p:cNvCxnSpPr>
            <a:stCxn id="765502729" idx="3"/>
            <a:endCxn id="1333951653" idx="1"/>
          </p:cNvCxnSpPr>
          <p:nvPr/>
        </p:nvCxnSpPr>
        <p:spPr bwMode="auto">
          <a:xfrm flipV="1">
            <a:off x="7901610" y="2073940"/>
            <a:ext cx="1917163" cy="80228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0927509" name="Соединитель: уступ 36"/>
          <p:cNvCxnSpPr>
            <a:stCxn id="1836867140" idx="3"/>
            <a:endCxn id="319357172" idx="1"/>
          </p:cNvCxnSpPr>
          <p:nvPr/>
        </p:nvCxnSpPr>
        <p:spPr bwMode="auto">
          <a:xfrm>
            <a:off x="7901609" y="2500577"/>
            <a:ext cx="1917164" cy="2067223"/>
          </a:xfrm>
          <a:prstGeom prst="bentConnector3">
            <a:avLst>
              <a:gd name="adj1" fmla="val 7384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2375252" name="Прямоугольник 19"/>
          <p:cNvSpPr/>
          <p:nvPr/>
        </p:nvSpPr>
        <p:spPr bwMode="auto">
          <a:xfrm>
            <a:off x="6021827" y="3436679"/>
            <a:ext cx="1879781" cy="161630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0xFF 0xFF </a:t>
            </a:r>
            <a:endParaRPr/>
          </a:p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0xFF 0xFF </a:t>
            </a:r>
            <a:endParaRPr/>
          </a:p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0xFF 0xFF </a:t>
            </a:r>
            <a:endParaRPr/>
          </a:p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0xFF 0xFF </a:t>
            </a:r>
            <a:endParaRPr/>
          </a:p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0xFF 0xFF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2135737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Поиск гаджетов</a:t>
            </a:r>
            <a:endParaRPr lang="en-US"/>
          </a:p>
        </p:txBody>
      </p:sp>
      <p:sp>
        <p:nvSpPr>
          <p:cNvPr id="170390625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7FBA2B-964F-4C4D-AAF7-5A8399264638}" type="slidenum">
              <a:rPr lang="en-US"/>
              <a:t>21</a:t>
            </a:fld>
            <a:endParaRPr lang="en-US"/>
          </a:p>
        </p:txBody>
      </p:sp>
      <p:sp>
        <p:nvSpPr>
          <p:cNvPr id="577928847" name="Объект 2"/>
          <p:cNvSpPr>
            <a:spLocks noGrp="1"/>
          </p:cNvSpPr>
          <p:nvPr>
            <p:ph idx="1"/>
          </p:nvPr>
        </p:nvSpPr>
        <p:spPr bwMode="auto">
          <a:xfrm>
            <a:off x="838201" y="1547328"/>
            <a:ext cx="4601877" cy="4530725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2000"/>
              <a:t>Гаджеты обычно ищутся специально написанным ПО.</a:t>
            </a:r>
            <a:endParaRPr/>
          </a:p>
          <a:p>
            <a:pPr marL="0" indent="0">
              <a:buNone/>
              <a:defRPr/>
            </a:pPr>
            <a:r>
              <a:rPr lang="ru-RU" sz="2000"/>
              <a:t>В самом простом случае маркером гаджета является инструкция </a:t>
            </a:r>
            <a:r>
              <a:rPr lang="en-US" sz="2000"/>
              <a:t>ret, </a:t>
            </a:r>
            <a:r>
              <a:rPr lang="ru-RU" sz="2000"/>
              <a:t>имеющая код </a:t>
            </a:r>
            <a:r>
              <a:rPr lang="en-US" sz="2000"/>
              <a:t>0xC3. </a:t>
            </a:r>
            <a:r>
              <a:rPr lang="ru-RU" sz="2000"/>
              <a:t>Если байт с данным значением найден, просматриваются байты «выше» него. Если они представляют собой нужные инструкции, гаджет запоминается, иначе – поиск идет дальше.</a:t>
            </a:r>
            <a:br>
              <a:rPr lang="ru-RU" sz="2000"/>
            </a:br>
            <a:endParaRPr lang="en-US" sz="2000"/>
          </a:p>
        </p:txBody>
      </p:sp>
      <p:sp>
        <p:nvSpPr>
          <p:cNvPr id="113797015" name="Прямоугольник 12"/>
          <p:cNvSpPr/>
          <p:nvPr/>
        </p:nvSpPr>
        <p:spPr bwMode="auto">
          <a:xfrm>
            <a:off x="6021828" y="2310153"/>
            <a:ext cx="1879782" cy="288131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492656756" name="Прямоугольник 14"/>
          <p:cNvSpPr/>
          <p:nvPr/>
        </p:nvSpPr>
        <p:spPr bwMode="auto">
          <a:xfrm>
            <a:off x="6021828" y="2692012"/>
            <a:ext cx="1879782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gadget1 address</a:t>
            </a:r>
            <a:endParaRPr/>
          </a:p>
        </p:txBody>
      </p:sp>
      <p:sp>
        <p:nvSpPr>
          <p:cNvPr id="1701529843" name="Прямоугольник 18"/>
          <p:cNvSpPr/>
          <p:nvPr/>
        </p:nvSpPr>
        <p:spPr bwMode="auto">
          <a:xfrm>
            <a:off x="6021828" y="3068172"/>
            <a:ext cx="1879782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gadget0 address</a:t>
            </a:r>
            <a:endParaRPr/>
          </a:p>
        </p:txBody>
      </p:sp>
      <p:sp>
        <p:nvSpPr>
          <p:cNvPr id="1651978831" name="Прямоугольник 22"/>
          <p:cNvSpPr/>
          <p:nvPr/>
        </p:nvSpPr>
        <p:spPr bwMode="auto">
          <a:xfrm>
            <a:off x="6021827" y="2316367"/>
            <a:ext cx="1879782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gadget2 address</a:t>
            </a:r>
            <a:endParaRPr/>
          </a:p>
        </p:txBody>
      </p:sp>
      <p:sp>
        <p:nvSpPr>
          <p:cNvPr id="113721138" name="TextBox 2"/>
          <p:cNvSpPr txBox="1"/>
          <p:nvPr/>
        </p:nvSpPr>
        <p:spPr bwMode="auto">
          <a:xfrm>
            <a:off x="6603575" y="1964708"/>
            <a:ext cx="7162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/>
              <a:t>.stack</a:t>
            </a:r>
            <a:endParaRPr/>
          </a:p>
        </p:txBody>
      </p:sp>
      <p:sp>
        <p:nvSpPr>
          <p:cNvPr id="1860623891" name="TextBox 23"/>
          <p:cNvSpPr txBox="1"/>
          <p:nvPr/>
        </p:nvSpPr>
        <p:spPr bwMode="auto">
          <a:xfrm>
            <a:off x="10452496" y="410293"/>
            <a:ext cx="6008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/>
              <a:t>.text</a:t>
            </a:r>
            <a:endParaRPr/>
          </a:p>
        </p:txBody>
      </p:sp>
      <p:sp>
        <p:nvSpPr>
          <p:cNvPr id="1856549601" name="Прямоугольник 25"/>
          <p:cNvSpPr/>
          <p:nvPr/>
        </p:nvSpPr>
        <p:spPr bwMode="auto">
          <a:xfrm>
            <a:off x="9818773" y="1162877"/>
            <a:ext cx="1879782" cy="453072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/>
              <a:t>PROGRAM CODE</a:t>
            </a:r>
            <a:endParaRPr/>
          </a:p>
        </p:txBody>
      </p:sp>
      <p:sp>
        <p:nvSpPr>
          <p:cNvPr id="1765404628" name="Прямоугольник 30"/>
          <p:cNvSpPr/>
          <p:nvPr/>
        </p:nvSpPr>
        <p:spPr bwMode="auto">
          <a:xfrm>
            <a:off x="9818773" y="1831512"/>
            <a:ext cx="1879782" cy="484855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mov rax, 0x3b</a:t>
            </a:r>
            <a:endParaRPr/>
          </a:p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ret (0xC3)</a:t>
            </a:r>
            <a:endParaRPr/>
          </a:p>
        </p:txBody>
      </p:sp>
      <p:sp>
        <p:nvSpPr>
          <p:cNvPr id="377803680" name="Прямоугольник 31"/>
          <p:cNvSpPr/>
          <p:nvPr/>
        </p:nvSpPr>
        <p:spPr bwMode="auto">
          <a:xfrm>
            <a:off x="9818773" y="3091141"/>
            <a:ext cx="1879782" cy="484855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mov rdi, rsp</a:t>
            </a:r>
          </a:p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ret (0xC3)</a:t>
            </a:r>
            <a:endParaRPr/>
          </a:p>
        </p:txBody>
      </p:sp>
      <p:sp>
        <p:nvSpPr>
          <p:cNvPr id="716535387" name="Прямоугольник 32"/>
          <p:cNvSpPr/>
          <p:nvPr/>
        </p:nvSpPr>
        <p:spPr bwMode="auto">
          <a:xfrm>
            <a:off x="9818773" y="4325372"/>
            <a:ext cx="1879782" cy="484855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syscall</a:t>
            </a:r>
          </a:p>
        </p:txBody>
      </p:sp>
      <p:cxnSp>
        <p:nvCxnSpPr>
          <p:cNvPr id="1588501560" name="Соединитель: уступ 8"/>
          <p:cNvCxnSpPr>
            <a:stCxn id="1701529843" idx="3"/>
          </p:cNvCxnSpPr>
          <p:nvPr/>
        </p:nvCxnSpPr>
        <p:spPr bwMode="auto">
          <a:xfrm flipV="1">
            <a:off x="7901610" y="3091141"/>
            <a:ext cx="1917163" cy="161241"/>
          </a:xfrm>
          <a:prstGeom prst="bentConnector3">
            <a:avLst>
              <a:gd name="adj1" fmla="val 3278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7782143" name="Соединитель: уступ 34"/>
          <p:cNvCxnSpPr>
            <a:stCxn id="1492656756" idx="3"/>
          </p:cNvCxnSpPr>
          <p:nvPr/>
        </p:nvCxnSpPr>
        <p:spPr bwMode="auto">
          <a:xfrm flipV="1">
            <a:off x="7901610" y="1831512"/>
            <a:ext cx="1917163" cy="104471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5305463" name="Соединитель: уступ 36"/>
          <p:cNvCxnSpPr/>
          <p:nvPr/>
        </p:nvCxnSpPr>
        <p:spPr bwMode="auto">
          <a:xfrm>
            <a:off x="7901608" y="2518337"/>
            <a:ext cx="1917163" cy="1807035"/>
          </a:xfrm>
          <a:prstGeom prst="bentConnector3">
            <a:avLst>
              <a:gd name="adj1" fmla="val 6757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2084833" name="Прямоугольник 19"/>
          <p:cNvSpPr/>
          <p:nvPr/>
        </p:nvSpPr>
        <p:spPr bwMode="auto">
          <a:xfrm>
            <a:off x="6021827" y="3436679"/>
            <a:ext cx="1879781" cy="161630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0xFF 0xFF </a:t>
            </a:r>
            <a:endParaRPr/>
          </a:p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0xFF 0xFF </a:t>
            </a:r>
            <a:endParaRPr/>
          </a:p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0xFF 0xFF </a:t>
            </a:r>
            <a:endParaRPr/>
          </a:p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0xFF 0xFF </a:t>
            </a:r>
            <a:endParaRPr/>
          </a:p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0xFF 0xFF 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9024356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Защита от изменения адреса возврата</a:t>
            </a:r>
            <a:endParaRPr lang="en-US"/>
          </a:p>
        </p:txBody>
      </p:sp>
      <p:sp>
        <p:nvSpPr>
          <p:cNvPr id="1891787809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7FBA2B-964F-4C4D-AAF7-5A8399264638}" type="slidenum">
              <a:rPr lang="en-US"/>
              <a:t>22</a:t>
            </a:fld>
            <a:endParaRPr lang="en-US"/>
          </a:p>
        </p:txBody>
      </p:sp>
      <p:sp>
        <p:nvSpPr>
          <p:cNvPr id="982833120" name="Объект 2"/>
          <p:cNvSpPr>
            <a:spLocks noGrp="1"/>
          </p:cNvSpPr>
          <p:nvPr>
            <p:ph idx="1"/>
          </p:nvPr>
        </p:nvSpPr>
        <p:spPr bwMode="auto">
          <a:xfrm>
            <a:off x="838200" y="1825625"/>
            <a:ext cx="7913914" cy="4351338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2000"/>
              <a:t>Для защиты стека от переполнения буфера и изменения адреса возврата используются т.н. «</a:t>
            </a:r>
            <a:r>
              <a:rPr lang="ru-RU" sz="2000" b="1"/>
              <a:t>канарейки</a:t>
            </a:r>
            <a:r>
              <a:rPr lang="ru-RU" sz="2000"/>
              <a:t>» (</a:t>
            </a:r>
            <a:r>
              <a:rPr lang="en-US" sz="2000"/>
              <a:t>canary, stack protector</a:t>
            </a:r>
            <a:r>
              <a:rPr lang="ru-RU" sz="2000"/>
              <a:t>).</a:t>
            </a:r>
            <a:endParaRPr/>
          </a:p>
          <a:p>
            <a:pPr marL="0" indent="0">
              <a:buNone/>
              <a:defRPr/>
            </a:pPr>
            <a:r>
              <a:rPr lang="ru-RU" sz="2000"/>
              <a:t>«Канарейка» - это копия значения специальной глобальной переменной, которая записывается на стек при входе в функцию. При выходе из функции значение канарейки сверяется с исходным. Если значения не совпали – возникает исключение. </a:t>
            </a:r>
            <a:endParaRPr/>
          </a:p>
          <a:p>
            <a:pPr marL="0" indent="0">
              <a:buNone/>
              <a:defRPr/>
            </a:pPr>
            <a:r>
              <a:rPr lang="ru-RU" sz="2000"/>
              <a:t>Поскольку исходная глобальная переменная находится не на стеке, атакующий не может на нее повлиять с помощью переполнения буфера на стеке. Значение глобальной переменной выбирается случайным образом при запуске программы, т.е. атакующий не может его предсказать. </a:t>
            </a:r>
            <a:endParaRPr/>
          </a:p>
          <a:p>
            <a:pPr marL="0" indent="0">
              <a:buNone/>
              <a:defRPr/>
            </a:pPr>
            <a:r>
              <a:rPr lang="ru-RU" sz="2000"/>
              <a:t>Канарейки могут быть </a:t>
            </a:r>
            <a:r>
              <a:rPr lang="ru-RU" sz="2000" i="1"/>
              <a:t>отключены</a:t>
            </a:r>
            <a:r>
              <a:rPr lang="ru-RU" sz="2000"/>
              <a:t> специальными ключами компиляции (</a:t>
            </a:r>
            <a:r>
              <a:rPr lang="en-US" sz="2000"/>
              <a:t>-fno-stack-protector</a:t>
            </a:r>
            <a:r>
              <a:rPr lang="ru-RU" sz="2000"/>
              <a:t> для </a:t>
            </a:r>
            <a:r>
              <a:rPr lang="en-US" sz="2000"/>
              <a:t>GCC</a:t>
            </a:r>
            <a:r>
              <a:rPr lang="ru-RU" sz="2000"/>
              <a:t>)</a:t>
            </a:r>
            <a:br>
              <a:rPr lang="ru-RU" sz="2000"/>
            </a:br>
            <a:endParaRPr lang="en-US" sz="2000"/>
          </a:p>
        </p:txBody>
      </p:sp>
      <p:sp>
        <p:nvSpPr>
          <p:cNvPr id="320544164" name="Прямоугольник 5"/>
          <p:cNvSpPr/>
          <p:nvPr/>
        </p:nvSpPr>
        <p:spPr bwMode="auto">
          <a:xfrm>
            <a:off x="9536045" y="1506478"/>
            <a:ext cx="2396971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US"/>
          </a:p>
        </p:txBody>
      </p:sp>
      <p:cxnSp>
        <p:nvCxnSpPr>
          <p:cNvPr id="236386749" name="Прямая со стрелкой 6"/>
          <p:cNvCxnSpPr/>
          <p:nvPr/>
        </p:nvCxnSpPr>
        <p:spPr bwMode="auto">
          <a:xfrm>
            <a:off x="8631183" y="4245482"/>
            <a:ext cx="8955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4538312" name="TextBox 7"/>
          <p:cNvSpPr txBox="1"/>
          <p:nvPr/>
        </p:nvSpPr>
        <p:spPr bwMode="auto">
          <a:xfrm>
            <a:off x="8537104" y="3893566"/>
            <a:ext cx="6641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2400" b="1"/>
              <a:t>RSP</a:t>
            </a:r>
            <a:endParaRPr/>
          </a:p>
        </p:txBody>
      </p:sp>
      <p:sp>
        <p:nvSpPr>
          <p:cNvPr id="611808132" name="Прямоугольник 8"/>
          <p:cNvSpPr/>
          <p:nvPr/>
        </p:nvSpPr>
        <p:spPr bwMode="auto">
          <a:xfrm>
            <a:off x="9536045" y="1506478"/>
            <a:ext cx="2396971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return address</a:t>
            </a:r>
            <a:endParaRPr/>
          </a:p>
        </p:txBody>
      </p:sp>
      <p:sp>
        <p:nvSpPr>
          <p:cNvPr id="566291177" name="Прямоугольник 9"/>
          <p:cNvSpPr/>
          <p:nvPr/>
        </p:nvSpPr>
        <p:spPr bwMode="auto">
          <a:xfrm>
            <a:off x="9535879" y="2610030"/>
            <a:ext cx="2396971" cy="161630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buffer</a:t>
            </a:r>
            <a:endParaRPr/>
          </a:p>
        </p:txBody>
      </p:sp>
      <p:sp>
        <p:nvSpPr>
          <p:cNvPr id="1545297785" name="Прямоугольник 10"/>
          <p:cNvSpPr/>
          <p:nvPr/>
        </p:nvSpPr>
        <p:spPr bwMode="auto">
          <a:xfrm>
            <a:off x="9536044" y="1877974"/>
            <a:ext cx="2396971" cy="368419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Prev. RBP</a:t>
            </a:r>
            <a:endParaRPr/>
          </a:p>
        </p:txBody>
      </p:sp>
      <p:sp>
        <p:nvSpPr>
          <p:cNvPr id="1163127302" name="Прямоугольник 11"/>
          <p:cNvSpPr/>
          <p:nvPr/>
        </p:nvSpPr>
        <p:spPr bwMode="auto">
          <a:xfrm>
            <a:off x="9535880" y="2246393"/>
            <a:ext cx="2396971" cy="368419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canary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0569267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Защита от изменения адреса возврата</a:t>
            </a:r>
            <a:endParaRPr lang="en-US"/>
          </a:p>
        </p:txBody>
      </p:sp>
      <p:sp>
        <p:nvSpPr>
          <p:cNvPr id="1215287509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7FBA2B-964F-4C4D-AAF7-5A8399264638}" type="slidenum">
              <a:rPr lang="en-US"/>
              <a:t>23</a:t>
            </a:fld>
            <a:endParaRPr lang="en-US"/>
          </a:p>
        </p:txBody>
      </p:sp>
      <p:sp>
        <p:nvSpPr>
          <p:cNvPr id="2138432394" name="Прямоугольник 24"/>
          <p:cNvSpPr/>
          <p:nvPr/>
        </p:nvSpPr>
        <p:spPr bwMode="auto">
          <a:xfrm>
            <a:off x="2785119" y="1765333"/>
            <a:ext cx="2396971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US"/>
          </a:p>
        </p:txBody>
      </p:sp>
      <p:cxnSp>
        <p:nvCxnSpPr>
          <p:cNvPr id="705513920" name="Прямая со стрелкой 25"/>
          <p:cNvCxnSpPr/>
          <p:nvPr/>
        </p:nvCxnSpPr>
        <p:spPr bwMode="auto">
          <a:xfrm>
            <a:off x="1882961" y="4144263"/>
            <a:ext cx="8955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728079" name="TextBox 26"/>
          <p:cNvSpPr txBox="1"/>
          <p:nvPr/>
        </p:nvSpPr>
        <p:spPr bwMode="auto">
          <a:xfrm>
            <a:off x="1788882" y="3792346"/>
            <a:ext cx="6641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2400" b="1"/>
              <a:t>RSP</a:t>
            </a:r>
            <a:endParaRPr/>
          </a:p>
        </p:txBody>
      </p:sp>
      <p:sp>
        <p:nvSpPr>
          <p:cNvPr id="1515966452" name="Прямоугольник 27"/>
          <p:cNvSpPr/>
          <p:nvPr/>
        </p:nvSpPr>
        <p:spPr bwMode="auto">
          <a:xfrm>
            <a:off x="2785119" y="1765333"/>
            <a:ext cx="2396971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return address</a:t>
            </a:r>
            <a:endParaRPr/>
          </a:p>
        </p:txBody>
      </p:sp>
      <p:sp>
        <p:nvSpPr>
          <p:cNvPr id="1722230169" name="Прямоугольник 28"/>
          <p:cNvSpPr/>
          <p:nvPr/>
        </p:nvSpPr>
        <p:spPr bwMode="auto">
          <a:xfrm>
            <a:off x="2785117" y="2508811"/>
            <a:ext cx="2396971" cy="161630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buffer</a:t>
            </a:r>
            <a:endParaRPr/>
          </a:p>
        </p:txBody>
      </p:sp>
      <p:sp>
        <p:nvSpPr>
          <p:cNvPr id="288305438" name="Прямоугольник 29"/>
          <p:cNvSpPr/>
          <p:nvPr/>
        </p:nvSpPr>
        <p:spPr bwMode="auto">
          <a:xfrm>
            <a:off x="2785118" y="2136829"/>
            <a:ext cx="2396971" cy="368419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Prev. RBP</a:t>
            </a:r>
            <a:endParaRPr/>
          </a:p>
        </p:txBody>
      </p:sp>
      <p:sp>
        <p:nvSpPr>
          <p:cNvPr id="2030116459" name="Прямоугольник 31"/>
          <p:cNvSpPr/>
          <p:nvPr/>
        </p:nvSpPr>
        <p:spPr bwMode="auto">
          <a:xfrm>
            <a:off x="7912070" y="1761770"/>
            <a:ext cx="2396971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US"/>
          </a:p>
        </p:txBody>
      </p:sp>
      <p:cxnSp>
        <p:nvCxnSpPr>
          <p:cNvPr id="1131242090" name="Прямая со стрелкой 32"/>
          <p:cNvCxnSpPr/>
          <p:nvPr/>
        </p:nvCxnSpPr>
        <p:spPr bwMode="auto">
          <a:xfrm>
            <a:off x="7007208" y="4500774"/>
            <a:ext cx="8955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4896415" name="TextBox 33"/>
          <p:cNvSpPr txBox="1"/>
          <p:nvPr/>
        </p:nvSpPr>
        <p:spPr bwMode="auto">
          <a:xfrm>
            <a:off x="6913129" y="4148858"/>
            <a:ext cx="6641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2400" b="1"/>
              <a:t>RSP</a:t>
            </a:r>
            <a:endParaRPr/>
          </a:p>
        </p:txBody>
      </p:sp>
      <p:sp>
        <p:nvSpPr>
          <p:cNvPr id="2006370804" name="Прямоугольник 34"/>
          <p:cNvSpPr/>
          <p:nvPr/>
        </p:nvSpPr>
        <p:spPr bwMode="auto">
          <a:xfrm>
            <a:off x="7912070" y="1761770"/>
            <a:ext cx="2396971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return address</a:t>
            </a:r>
            <a:endParaRPr/>
          </a:p>
        </p:txBody>
      </p:sp>
      <p:sp>
        <p:nvSpPr>
          <p:cNvPr id="1070010939" name="Прямоугольник 35"/>
          <p:cNvSpPr/>
          <p:nvPr/>
        </p:nvSpPr>
        <p:spPr bwMode="auto">
          <a:xfrm>
            <a:off x="7909364" y="2865322"/>
            <a:ext cx="2396971" cy="161630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buffer</a:t>
            </a:r>
            <a:endParaRPr/>
          </a:p>
        </p:txBody>
      </p:sp>
      <p:sp>
        <p:nvSpPr>
          <p:cNvPr id="1049810782" name="Прямоугольник 36"/>
          <p:cNvSpPr/>
          <p:nvPr/>
        </p:nvSpPr>
        <p:spPr bwMode="auto">
          <a:xfrm>
            <a:off x="7912068" y="2133266"/>
            <a:ext cx="2396971" cy="368419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Prev. RBP</a:t>
            </a:r>
            <a:endParaRPr/>
          </a:p>
        </p:txBody>
      </p:sp>
      <p:sp>
        <p:nvSpPr>
          <p:cNvPr id="1432016737" name="Прямоугольник 37"/>
          <p:cNvSpPr/>
          <p:nvPr/>
        </p:nvSpPr>
        <p:spPr bwMode="auto">
          <a:xfrm>
            <a:off x="7909365" y="2501685"/>
            <a:ext cx="2396971" cy="368419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canary</a:t>
            </a:r>
            <a:endParaRPr/>
          </a:p>
        </p:txBody>
      </p:sp>
      <p:cxnSp>
        <p:nvCxnSpPr>
          <p:cNvPr id="262385075" name="Прямая со стрелкой 5"/>
          <p:cNvCxnSpPr/>
          <p:nvPr/>
        </p:nvCxnSpPr>
        <p:spPr bwMode="auto">
          <a:xfrm>
            <a:off x="5427878" y="3211372"/>
            <a:ext cx="201899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069427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Защита от изменения адреса возврата</a:t>
            </a:r>
            <a:endParaRPr lang="en-US"/>
          </a:p>
        </p:txBody>
      </p:sp>
      <p:sp>
        <p:nvSpPr>
          <p:cNvPr id="779596473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7FBA2B-964F-4C4D-AAF7-5A8399264638}" type="slidenum">
              <a:rPr lang="en-US"/>
              <a:t>24</a:t>
            </a:fld>
            <a:endParaRPr lang="en-US"/>
          </a:p>
        </p:txBody>
      </p:sp>
      <p:sp>
        <p:nvSpPr>
          <p:cNvPr id="909977742" name="TextBox 9"/>
          <p:cNvSpPr txBox="1"/>
          <p:nvPr/>
        </p:nvSpPr>
        <p:spPr bwMode="auto">
          <a:xfrm>
            <a:off x="130629" y="1690688"/>
            <a:ext cx="674455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>
                <a:solidFill>
                  <a:srgbClr val="0000FF"/>
                </a:solidFill>
                <a:latin typeface="Consolas"/>
              </a:rPr>
              <a:t>long long int </a:t>
            </a:r>
            <a:r>
              <a:rPr lang="en-US">
                <a:solidFill>
                  <a:srgbClr val="000000"/>
                </a:solidFill>
                <a:latin typeface="Consolas"/>
              </a:rPr>
              <a:t>canary_global = rand();</a:t>
            </a:r>
            <a:endParaRPr lang="en-US" sz="1800">
              <a:solidFill>
                <a:srgbClr val="0000FF"/>
              </a:solidFill>
              <a:latin typeface="Consolas"/>
            </a:endParaRPr>
          </a:p>
          <a:p>
            <a:pPr>
              <a:defRPr/>
            </a:pPr>
            <a:endParaRPr lang="en-US">
              <a:solidFill>
                <a:srgbClr val="0000FF"/>
              </a:solidFill>
              <a:latin typeface="Consolas"/>
            </a:endParaRPr>
          </a:p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bool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pass_check() {</a:t>
            </a:r>
            <a:endParaRPr/>
          </a:p>
          <a:p>
            <a:pPr>
              <a:defRPr/>
            </a:pPr>
            <a:r>
              <a:rPr lang="en-US">
                <a:solidFill>
                  <a:srgbClr val="000000"/>
                </a:solidFill>
                <a:latin typeface="Consolas"/>
              </a:rPr>
              <a:t>    </a:t>
            </a:r>
            <a:r>
              <a:rPr lang="en-US">
                <a:solidFill>
                  <a:srgbClr val="0000FF"/>
                </a:solidFill>
                <a:latin typeface="Consolas"/>
              </a:rPr>
              <a:t>volatile long long int </a:t>
            </a:r>
            <a:r>
              <a:rPr lang="en-US">
                <a:solidFill>
                  <a:srgbClr val="000000"/>
                </a:solidFill>
                <a:latin typeface="Consolas"/>
              </a:rPr>
              <a:t>canary = canary_global;</a:t>
            </a:r>
            <a:endParaRPr lang="en-US" sz="1800">
              <a:solidFill>
                <a:srgbClr val="000000"/>
              </a:solidFill>
              <a:latin typeface="Consolas"/>
            </a:endParaRPr>
          </a:p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    char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buffer[</a:t>
            </a:r>
            <a:r>
              <a:rPr lang="en-US">
                <a:solidFill>
                  <a:srgbClr val="000000"/>
                </a:solidFill>
                <a:latin typeface="Consolas"/>
              </a:rPr>
              <a:t>64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];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    scanf(</a:t>
            </a:r>
            <a:r>
              <a:rPr lang="en-US" sz="1800">
                <a:solidFill>
                  <a:srgbClr val="A31515"/>
                </a:solidFill>
                <a:latin typeface="Consolas"/>
              </a:rPr>
              <a:t>"%s"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, buffer);</a:t>
            </a:r>
            <a:endParaRPr lang="en-US">
              <a:solidFill>
                <a:srgbClr val="000000"/>
              </a:solidFill>
              <a:latin typeface="Consolas"/>
            </a:endParaRPr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800" b="1">
                <a:solidFill>
                  <a:srgbClr val="0000FF"/>
                </a:solidFill>
                <a:latin typeface="Consolas"/>
              </a:rPr>
              <a:t>if</a:t>
            </a:r>
            <a:r>
              <a:rPr lang="en-US" sz="1800" b="1">
                <a:solidFill>
                  <a:srgbClr val="000000"/>
                </a:solidFill>
                <a:latin typeface="Consolas"/>
              </a:rPr>
              <a:t>(canary != canary_global) fail</a:t>
            </a:r>
            <a:r>
              <a:rPr lang="en-US" b="1">
                <a:solidFill>
                  <a:srgbClr val="000000"/>
                </a:solidFill>
                <a:latin typeface="Consolas"/>
              </a:rPr>
              <a:t>();</a:t>
            </a:r>
            <a:endParaRPr lang="en-US" sz="1800" b="1">
              <a:solidFill>
                <a:srgbClr val="000000"/>
              </a:solidFill>
              <a:latin typeface="Consolas"/>
            </a:endParaRPr>
          </a:p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    return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!strcmp(buffer, </a:t>
            </a:r>
            <a:r>
              <a:rPr lang="en-US" sz="1800">
                <a:solidFill>
                  <a:srgbClr val="A31515"/>
                </a:solidFill>
                <a:latin typeface="Consolas"/>
              </a:rPr>
              <a:t>"PASSWORD"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);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}</a:t>
            </a:r>
            <a:endParaRPr/>
          </a:p>
          <a:p>
            <a:pPr>
              <a:defRPr/>
            </a:pPr>
            <a:endParaRPr lang="en-US" sz="1800">
              <a:solidFill>
                <a:srgbClr val="000000"/>
              </a:solidFill>
              <a:latin typeface="Consolas"/>
            </a:endParaRPr>
          </a:p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int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main() {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    bool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ok = pass_check();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    if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(!ok)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        return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-1;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8000"/>
                </a:solidFill>
                <a:latin typeface="Consolas"/>
              </a:rPr>
              <a:t>   /*ACCESS DATA*/</a:t>
            </a:r>
            <a:endParaRPr lang="en-US" sz="1800">
              <a:solidFill>
                <a:srgbClr val="000000"/>
              </a:solidFill>
              <a:latin typeface="Consolas"/>
            </a:endParaRPr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}</a:t>
            </a:r>
            <a:endParaRPr lang="en-US" sz="1800">
              <a:latin typeface="Calibri"/>
              <a:ea typeface="Calibri"/>
              <a:cs typeface="Times New Roman"/>
            </a:endParaRPr>
          </a:p>
        </p:txBody>
      </p:sp>
      <p:sp>
        <p:nvSpPr>
          <p:cNvPr id="599048889" name="Прямоугольник 33"/>
          <p:cNvSpPr/>
          <p:nvPr/>
        </p:nvSpPr>
        <p:spPr bwMode="auto">
          <a:xfrm>
            <a:off x="8933992" y="1690688"/>
            <a:ext cx="2396971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US"/>
          </a:p>
        </p:txBody>
      </p:sp>
      <p:cxnSp>
        <p:nvCxnSpPr>
          <p:cNvPr id="1730379749" name="Прямая со стрелкой 34"/>
          <p:cNvCxnSpPr/>
          <p:nvPr/>
        </p:nvCxnSpPr>
        <p:spPr bwMode="auto">
          <a:xfrm>
            <a:off x="8031835" y="4439246"/>
            <a:ext cx="8955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3766034" name="TextBox 35"/>
          <p:cNvSpPr txBox="1"/>
          <p:nvPr/>
        </p:nvSpPr>
        <p:spPr bwMode="auto">
          <a:xfrm>
            <a:off x="7937756" y="4096661"/>
            <a:ext cx="6641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2400" b="1"/>
              <a:t>RSP</a:t>
            </a:r>
            <a:endParaRPr/>
          </a:p>
        </p:txBody>
      </p:sp>
      <p:sp>
        <p:nvSpPr>
          <p:cNvPr id="276249373" name="Прямоугольник 36"/>
          <p:cNvSpPr/>
          <p:nvPr/>
        </p:nvSpPr>
        <p:spPr bwMode="auto">
          <a:xfrm>
            <a:off x="8933992" y="1690688"/>
            <a:ext cx="2396971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>
                <a:solidFill>
                  <a:sysClr val="windowText" lastClr="000000"/>
                </a:solidFill>
              </a:rPr>
              <a:t>new return address</a:t>
            </a:r>
            <a:endParaRPr/>
          </a:p>
        </p:txBody>
      </p:sp>
      <p:sp>
        <p:nvSpPr>
          <p:cNvPr id="2138770041" name="Прямоугольник 38"/>
          <p:cNvSpPr/>
          <p:nvPr/>
        </p:nvSpPr>
        <p:spPr bwMode="auto">
          <a:xfrm>
            <a:off x="8933991" y="2801831"/>
            <a:ext cx="2396971" cy="161630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0x31 0x31 0x31 0x31</a:t>
            </a:r>
            <a:br>
              <a:rPr lang="en-US">
                <a:solidFill>
                  <a:schemeClr val="tx1"/>
                </a:solidFill>
              </a:rPr>
            </a:br>
            <a:r>
              <a:rPr lang="en-US">
                <a:solidFill>
                  <a:schemeClr val="tx1"/>
                </a:solidFill>
              </a:rPr>
              <a:t>0x31 0x31 0x31 0x31</a:t>
            </a:r>
          </a:p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0x31 0x31 0x31 0x31</a:t>
            </a:r>
          </a:p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0x31 0x31 0x31 0x31</a:t>
            </a:r>
          </a:p>
        </p:txBody>
      </p:sp>
      <p:sp>
        <p:nvSpPr>
          <p:cNvPr id="1982026982" name="Прямоугольник 39"/>
          <p:cNvSpPr/>
          <p:nvPr/>
        </p:nvSpPr>
        <p:spPr bwMode="auto">
          <a:xfrm>
            <a:off x="8933991" y="2062184"/>
            <a:ext cx="2396971" cy="368419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>
                <a:solidFill>
                  <a:sysClr val="windowText" lastClr="000000"/>
                </a:solidFill>
              </a:rPr>
              <a:t>0x31 0x31 0x31 0x31</a:t>
            </a:r>
          </a:p>
        </p:txBody>
      </p:sp>
      <p:cxnSp>
        <p:nvCxnSpPr>
          <p:cNvPr id="1762741578" name="Соединитель: уступ 5"/>
          <p:cNvCxnSpPr>
            <a:stCxn id="276249373" idx="1"/>
          </p:cNvCxnSpPr>
          <p:nvPr/>
        </p:nvCxnSpPr>
        <p:spPr bwMode="auto">
          <a:xfrm rot="10800000" flipV="1">
            <a:off x="3258010" y="1874898"/>
            <a:ext cx="5675983" cy="3798114"/>
          </a:xfrm>
          <a:prstGeom prst="bentConnector3">
            <a:avLst>
              <a:gd name="adj1" fmla="val 29893"/>
            </a:avLst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58706000" name="Прямоугольник 14"/>
          <p:cNvSpPr/>
          <p:nvPr/>
        </p:nvSpPr>
        <p:spPr bwMode="auto">
          <a:xfrm>
            <a:off x="8933992" y="2439075"/>
            <a:ext cx="2397660" cy="368419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0x31 0x31 0x31 0x31</a:t>
            </a:r>
            <a:endParaRPr lang="en-US"/>
          </a:p>
        </p:txBody>
      </p:sp>
      <p:sp>
        <p:nvSpPr>
          <p:cNvPr id="2014240719" name="Знак умножения 6"/>
          <p:cNvSpPr/>
          <p:nvPr/>
        </p:nvSpPr>
        <p:spPr bwMode="auto">
          <a:xfrm>
            <a:off x="6920045" y="4327493"/>
            <a:ext cx="656363" cy="405326"/>
          </a:xfrm>
          <a:prstGeom prst="mathMultiply">
            <a:avLst>
              <a:gd name="adj1" fmla="val 23520"/>
            </a:avLst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US"/>
          </a:p>
        </p:txBody>
      </p:sp>
      <p:cxnSp>
        <p:nvCxnSpPr>
          <p:cNvPr id="1223840646" name="Прямая со стрелкой 7"/>
          <p:cNvCxnSpPr>
            <a:endCxn id="58706000" idx="1"/>
          </p:cNvCxnSpPr>
          <p:nvPr/>
        </p:nvCxnSpPr>
        <p:spPr bwMode="auto">
          <a:xfrm flipV="1">
            <a:off x="5632704" y="2623285"/>
            <a:ext cx="3301288" cy="895326"/>
          </a:xfrm>
          <a:prstGeom prst="straightConnector1">
            <a:avLst/>
          </a:prstGeom>
          <a:ln w="6350">
            <a:prstDash val="lg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9116310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Обход «канареек» </a:t>
            </a:r>
            <a:r>
              <a:rPr lang="en-US"/>
              <a:t>1 </a:t>
            </a:r>
            <a:r>
              <a:rPr lang="ru-RU" sz="2400" b="0" i="0" u="none" strike="noStrike" cap="none" spc="0">
                <a:ln>
                  <a:noFill/>
                </a:ln>
                <a:solidFill>
                  <a:prstClr val="black"/>
                </a:solidFill>
                <a:latin typeface="Calibri Light"/>
                <a:ea typeface="+mj-ea"/>
                <a:cs typeface="+mj-cs"/>
              </a:rPr>
              <a:t>(</a:t>
            </a:r>
            <a:r>
              <a:rPr lang="en-US" sz="2400" b="0" i="0" u="none" strike="noStrike" cap="none" spc="0">
                <a:ln>
                  <a:noFill/>
                </a:ln>
                <a:solidFill>
                  <a:prstClr val="black"/>
                </a:solidFill>
                <a:latin typeface="Calibri Light"/>
                <a:ea typeface="+mj-ea"/>
                <a:cs typeface="+mj-cs"/>
              </a:rPr>
              <a:t>Linux</a:t>
            </a:r>
            <a:r>
              <a:rPr lang="ru-RU" sz="2400" b="0" i="0" u="none" strike="noStrike" cap="none" spc="0">
                <a:ln>
                  <a:noFill/>
                </a:ln>
                <a:solidFill>
                  <a:prstClr val="black"/>
                </a:solidFill>
                <a:latin typeface="Calibri Light"/>
                <a:ea typeface="+mj-ea"/>
                <a:cs typeface="+mj-cs"/>
              </a:rPr>
              <a:t>)</a:t>
            </a:r>
            <a:endParaRPr lang="en-US"/>
          </a:p>
        </p:txBody>
      </p:sp>
      <p:sp>
        <p:nvSpPr>
          <p:cNvPr id="1898320239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7FBA2B-964F-4C4D-AAF7-5A8399264638}" type="slidenum">
              <a:rPr lang="en-US"/>
              <a:t>25</a:t>
            </a:fld>
            <a:endParaRPr lang="en-US"/>
          </a:p>
        </p:txBody>
      </p:sp>
      <p:sp>
        <p:nvSpPr>
          <p:cNvPr id="501558804" name="Объект 2"/>
          <p:cNvSpPr>
            <a:spLocks noGrp="1"/>
          </p:cNvSpPr>
          <p:nvPr>
            <p:ph idx="1"/>
          </p:nvPr>
        </p:nvSpPr>
        <p:spPr bwMode="auto">
          <a:xfrm>
            <a:off x="838200" y="1365481"/>
            <a:ext cx="10869166" cy="2658093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2000"/>
              <a:t>При наличии уязвимости, обеспечивающей возможность записи по произвольным адресам, можно обойти «канарейку» и изменить значение на стеке, не затрагивая «канарейку».</a:t>
            </a:r>
            <a:endParaRPr/>
          </a:p>
          <a:p>
            <a:pPr marL="0" indent="0">
              <a:buNone/>
              <a:defRPr/>
            </a:pPr>
            <a:r>
              <a:rPr lang="ru-RU" sz="2000"/>
              <a:t>К уязвимостям подобного типа относятся в т.ч. уязвимости форматной строки и переполнения в куче (см. далее).</a:t>
            </a:r>
            <a:endParaRPr/>
          </a:p>
          <a:p>
            <a:pPr marL="0" indent="0">
              <a:buNone/>
              <a:defRPr/>
            </a:pPr>
            <a:r>
              <a:rPr lang="ru-RU" sz="2000" i="1"/>
              <a:t>Стоит отметить, что во многих случаях не требуется полной перезаписи переменной или адреса возврата.</a:t>
            </a:r>
            <a:br>
              <a:rPr lang="ru-RU" sz="2000"/>
            </a:br>
            <a:endParaRPr lang="en-US" sz="2000"/>
          </a:p>
        </p:txBody>
      </p:sp>
      <p:sp>
        <p:nvSpPr>
          <p:cNvPr id="835565822" name="Прямоугольник 25"/>
          <p:cNvSpPr/>
          <p:nvPr/>
        </p:nvSpPr>
        <p:spPr bwMode="auto">
          <a:xfrm>
            <a:off x="838200" y="4661283"/>
            <a:ext cx="2160000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02123824" name="Прямоугольник 28"/>
          <p:cNvSpPr/>
          <p:nvPr/>
        </p:nvSpPr>
        <p:spPr bwMode="auto">
          <a:xfrm>
            <a:off x="838200" y="4655511"/>
            <a:ext cx="2160000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return address</a:t>
            </a:r>
            <a:endParaRPr/>
          </a:p>
        </p:txBody>
      </p:sp>
      <p:sp>
        <p:nvSpPr>
          <p:cNvPr id="322862978" name="Прямоугольник 29"/>
          <p:cNvSpPr/>
          <p:nvPr/>
        </p:nvSpPr>
        <p:spPr bwMode="auto">
          <a:xfrm>
            <a:off x="838200" y="5758400"/>
            <a:ext cx="2160000" cy="44655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locals</a:t>
            </a:r>
            <a:endParaRPr/>
          </a:p>
        </p:txBody>
      </p:sp>
      <p:sp>
        <p:nvSpPr>
          <p:cNvPr id="2022977479" name="Прямоугольник 30"/>
          <p:cNvSpPr/>
          <p:nvPr/>
        </p:nvSpPr>
        <p:spPr bwMode="auto">
          <a:xfrm>
            <a:off x="838200" y="5017817"/>
            <a:ext cx="2160000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Prev. RBP</a:t>
            </a:r>
            <a:endParaRPr/>
          </a:p>
        </p:txBody>
      </p:sp>
      <p:sp>
        <p:nvSpPr>
          <p:cNvPr id="1941563297" name="Прямоугольник 33"/>
          <p:cNvSpPr/>
          <p:nvPr/>
        </p:nvSpPr>
        <p:spPr bwMode="auto">
          <a:xfrm>
            <a:off x="838200" y="5390044"/>
            <a:ext cx="2160000" cy="368419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canary</a:t>
            </a:r>
            <a:endParaRPr/>
          </a:p>
        </p:txBody>
      </p:sp>
      <p:sp>
        <p:nvSpPr>
          <p:cNvPr id="1121272810" name="Прямоугольник 48"/>
          <p:cNvSpPr/>
          <p:nvPr/>
        </p:nvSpPr>
        <p:spPr bwMode="auto">
          <a:xfrm>
            <a:off x="8314712" y="4661282"/>
            <a:ext cx="2160000" cy="18011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186254204" name="Прямоугольник 49"/>
          <p:cNvSpPr/>
          <p:nvPr/>
        </p:nvSpPr>
        <p:spPr bwMode="auto">
          <a:xfrm>
            <a:off x="8314712" y="4655511"/>
            <a:ext cx="2160000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return address</a:t>
            </a:r>
            <a:endParaRPr/>
          </a:p>
        </p:txBody>
      </p:sp>
      <p:sp>
        <p:nvSpPr>
          <p:cNvPr id="1161687890" name="Прямоугольник 50"/>
          <p:cNvSpPr/>
          <p:nvPr/>
        </p:nvSpPr>
        <p:spPr bwMode="auto">
          <a:xfrm>
            <a:off x="8314712" y="5758399"/>
            <a:ext cx="2160000" cy="56748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locals</a:t>
            </a:r>
            <a:endParaRPr/>
          </a:p>
        </p:txBody>
      </p:sp>
      <p:sp>
        <p:nvSpPr>
          <p:cNvPr id="1299656587" name="Прямоугольник 51"/>
          <p:cNvSpPr/>
          <p:nvPr/>
        </p:nvSpPr>
        <p:spPr bwMode="auto">
          <a:xfrm>
            <a:off x="8314712" y="5017817"/>
            <a:ext cx="2160000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Prev. RBP</a:t>
            </a:r>
            <a:endParaRPr/>
          </a:p>
        </p:txBody>
      </p:sp>
      <p:sp>
        <p:nvSpPr>
          <p:cNvPr id="813919075" name="Прямоугольник 52"/>
          <p:cNvSpPr/>
          <p:nvPr/>
        </p:nvSpPr>
        <p:spPr bwMode="auto">
          <a:xfrm>
            <a:off x="8314712" y="5390044"/>
            <a:ext cx="2160000" cy="368419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canary</a:t>
            </a:r>
            <a:endParaRPr/>
          </a:p>
        </p:txBody>
      </p:sp>
      <p:sp>
        <p:nvSpPr>
          <p:cNvPr id="1287747112" name="Прямоугольник 53"/>
          <p:cNvSpPr/>
          <p:nvPr/>
        </p:nvSpPr>
        <p:spPr bwMode="auto">
          <a:xfrm>
            <a:off x="9394712" y="4656358"/>
            <a:ext cx="1080000" cy="357652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some</a:t>
            </a:r>
            <a:endParaRPr/>
          </a:p>
        </p:txBody>
      </p:sp>
      <p:sp>
        <p:nvSpPr>
          <p:cNvPr id="68188899" name="Прямоугольник 54"/>
          <p:cNvSpPr/>
          <p:nvPr/>
        </p:nvSpPr>
        <p:spPr bwMode="auto">
          <a:xfrm>
            <a:off x="8314712" y="5017072"/>
            <a:ext cx="1080000" cy="372972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thing</a:t>
            </a:r>
            <a:endParaRPr/>
          </a:p>
        </p:txBody>
      </p:sp>
      <p:sp>
        <p:nvSpPr>
          <p:cNvPr id="1371004093" name="TextBox 3"/>
          <p:cNvSpPr txBox="1"/>
          <p:nvPr/>
        </p:nvSpPr>
        <p:spPr bwMode="auto">
          <a:xfrm>
            <a:off x="3822287" y="4655511"/>
            <a:ext cx="418527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int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main() {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    bool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ok = pass_check();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    if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(!ok)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00FF"/>
                </a:solidFill>
                <a:latin typeface="Consolas"/>
              </a:rPr>
              <a:t>        return</a:t>
            </a:r>
            <a:r>
              <a:rPr lang="en-US" sz="1800">
                <a:solidFill>
                  <a:srgbClr val="000000"/>
                </a:solidFill>
                <a:latin typeface="Consolas"/>
              </a:rPr>
              <a:t> -1;</a:t>
            </a:r>
            <a:endParaRPr/>
          </a:p>
          <a:p>
            <a:pPr>
              <a:defRPr/>
            </a:pPr>
            <a:r>
              <a:rPr lang="en-US" sz="1800">
                <a:solidFill>
                  <a:srgbClr val="008000"/>
                </a:solidFill>
                <a:latin typeface="Consolas"/>
              </a:rPr>
              <a:t>   /*ACCESS DATA*/</a:t>
            </a:r>
            <a:endParaRPr lang="en-US" sz="1800">
              <a:solidFill>
                <a:srgbClr val="000000"/>
              </a:solidFill>
              <a:latin typeface="Consolas"/>
            </a:endParaRPr>
          </a:p>
          <a:p>
            <a:pPr>
              <a:defRPr/>
            </a:pPr>
            <a:r>
              <a:rPr lang="en-US" sz="1800">
                <a:solidFill>
                  <a:srgbClr val="000000"/>
                </a:solidFill>
                <a:latin typeface="Consolas"/>
              </a:rPr>
              <a:t>}</a:t>
            </a:r>
            <a:endParaRPr lang="en-US" sz="1800">
              <a:latin typeface="Calibri"/>
              <a:ea typeface="Calibri"/>
              <a:cs typeface="Times New Roman"/>
            </a:endParaRPr>
          </a:p>
        </p:txBody>
      </p:sp>
      <p:cxnSp>
        <p:nvCxnSpPr>
          <p:cNvPr id="1511614015" name="Connector: Elbow 15"/>
          <p:cNvCxnSpPr>
            <a:stCxn id="102123824" idx="3"/>
          </p:cNvCxnSpPr>
          <p:nvPr/>
        </p:nvCxnSpPr>
        <p:spPr bwMode="auto">
          <a:xfrm>
            <a:off x="2998200" y="4839721"/>
            <a:ext cx="1374420" cy="54651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4758694" name="Connector: Elbow 17"/>
          <p:cNvCxnSpPr>
            <a:stCxn id="1186254204" idx="1"/>
          </p:cNvCxnSpPr>
          <p:nvPr/>
        </p:nvCxnSpPr>
        <p:spPr bwMode="auto">
          <a:xfrm rot="10800000" flipV="1">
            <a:off x="6249546" y="4839720"/>
            <a:ext cx="2065166" cy="1121067"/>
          </a:xfrm>
          <a:prstGeom prst="bentConnector3">
            <a:avLst>
              <a:gd name="adj1" fmla="val 37349"/>
            </a:avLst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337626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Защита на аппаратном уровне:</a:t>
            </a:r>
            <a:br>
              <a:rPr lang="ru-RU"/>
            </a:br>
            <a:r>
              <a:rPr lang="en-US"/>
              <a:t>Shadow Stack</a:t>
            </a:r>
            <a:endParaRPr lang="ru-RU"/>
          </a:p>
        </p:txBody>
      </p:sp>
      <p:sp>
        <p:nvSpPr>
          <p:cNvPr id="2116612521" name="Объект 2"/>
          <p:cNvSpPr>
            <a:spLocks noGrp="1"/>
          </p:cNvSpPr>
          <p:nvPr>
            <p:ph idx="1"/>
          </p:nvPr>
        </p:nvSpPr>
        <p:spPr bwMode="auto"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US" sz="2000" dirty="0"/>
              <a:t>Shadow Stack – </a:t>
            </a:r>
            <a:r>
              <a:rPr lang="ru-RU" sz="2000" dirty="0"/>
              <a:t>техника, позволяющая защититься от перезаписи адреса возврата, поддерживаемая ЦП </a:t>
            </a:r>
            <a:r>
              <a:rPr lang="en-US" sz="2000" dirty="0"/>
              <a:t>Intel </a:t>
            </a:r>
            <a:r>
              <a:rPr lang="ru-RU" sz="2000" dirty="0"/>
              <a:t>и </a:t>
            </a:r>
            <a:r>
              <a:rPr lang="en-US" sz="2000" dirty="0"/>
              <a:t>AMD.</a:t>
            </a:r>
            <a:endParaRPr lang="ru-RU" sz="2000" dirty="0"/>
          </a:p>
          <a:p>
            <a:pPr marL="0" indent="0">
              <a:buNone/>
              <a:defRPr/>
            </a:pPr>
            <a:r>
              <a:rPr lang="ru-RU" sz="2000" dirty="0"/>
              <a:t>При выполнении инструкции </a:t>
            </a:r>
            <a:r>
              <a:rPr lang="en-US" sz="2000" dirty="0">
                <a:latin typeface="Courier New"/>
                <a:cs typeface="Courier New"/>
              </a:rPr>
              <a:t>call</a:t>
            </a:r>
            <a:r>
              <a:rPr lang="en-US" sz="2000" dirty="0"/>
              <a:t> </a:t>
            </a:r>
            <a:r>
              <a:rPr lang="ru-RU" sz="2000" dirty="0"/>
              <a:t>адрес возврата сохраняется в обычный стек, и в специальный теневой стек.</a:t>
            </a:r>
            <a:endParaRPr dirty="0"/>
          </a:p>
          <a:p>
            <a:pPr marL="0" indent="0">
              <a:buNone/>
              <a:defRPr/>
            </a:pPr>
            <a:r>
              <a:rPr lang="ru-RU" sz="2000" dirty="0"/>
              <a:t>При выполнении инструкции </a:t>
            </a:r>
            <a:r>
              <a:rPr lang="en-US" sz="2000" dirty="0">
                <a:latin typeface="Courier New"/>
                <a:cs typeface="Courier New"/>
              </a:rPr>
              <a:t>ret</a:t>
            </a:r>
            <a:r>
              <a:rPr lang="en-US" sz="2000" dirty="0"/>
              <a:t> </a:t>
            </a:r>
            <a:r>
              <a:rPr lang="ru-RU" sz="2000" dirty="0"/>
              <a:t>записи из обычного и из теневого стека сравниваются. Если есть различие – генерируется аппаратное исключение и программа </a:t>
            </a:r>
            <a:r>
              <a:rPr lang="ru-RU" sz="2000" dirty="0" err="1"/>
              <a:t>аварийно</a:t>
            </a:r>
            <a:r>
              <a:rPr lang="ru-RU" sz="2000" dirty="0"/>
              <a:t> завершается.</a:t>
            </a:r>
            <a:endParaRPr lang="en-US" sz="2000" dirty="0"/>
          </a:p>
        </p:txBody>
      </p:sp>
      <p:sp>
        <p:nvSpPr>
          <p:cNvPr id="1326570069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7FBA2B-964F-4C4D-AAF7-5A8399264638}" type="slidenum">
              <a:rPr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5434638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Защита на аппаратном уровне :</a:t>
            </a:r>
            <a:br>
              <a:rPr lang="ru-RU"/>
            </a:br>
            <a:r>
              <a:rPr lang="en-US"/>
              <a:t>Intel Indirect Branch Tracking</a:t>
            </a:r>
            <a:endParaRPr lang="ru-RU"/>
          </a:p>
        </p:txBody>
      </p:sp>
      <p:sp>
        <p:nvSpPr>
          <p:cNvPr id="1759023355" name="Объект 2"/>
          <p:cNvSpPr>
            <a:spLocks noGrp="1"/>
          </p:cNvSpPr>
          <p:nvPr>
            <p:ph idx="1"/>
          </p:nvPr>
        </p:nvSpPr>
        <p:spPr bwMode="auto"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US" sz="2000" dirty="0"/>
              <a:t>Shadow Stack </a:t>
            </a:r>
            <a:r>
              <a:rPr lang="ru-RU" sz="2000" dirty="0"/>
              <a:t>защищает от </a:t>
            </a:r>
            <a:r>
              <a:rPr lang="en-US" sz="2000" dirty="0"/>
              <a:t>ROP</a:t>
            </a:r>
            <a:r>
              <a:rPr lang="ru-RU" sz="2000" dirty="0"/>
              <a:t>, но не защищает от </a:t>
            </a:r>
            <a:r>
              <a:rPr lang="en-US" sz="2000" dirty="0"/>
              <a:t>JOP</a:t>
            </a:r>
            <a:r>
              <a:rPr lang="ru-RU" sz="2000" dirty="0"/>
              <a:t> и </a:t>
            </a:r>
            <a:r>
              <a:rPr lang="en-US" sz="2000" dirty="0"/>
              <a:t>COP</a:t>
            </a:r>
            <a:r>
              <a:rPr lang="ru-RU" sz="2000" dirty="0"/>
              <a:t>, поскольку в этом случае адреса возврата не используются.</a:t>
            </a:r>
          </a:p>
          <a:p>
            <a:pPr marL="0" indent="0">
              <a:buNone/>
              <a:defRPr/>
            </a:pPr>
            <a:r>
              <a:rPr lang="ru-RU" sz="2000" dirty="0"/>
              <a:t>Технология </a:t>
            </a:r>
            <a:r>
              <a:rPr lang="en-US" sz="2000" dirty="0"/>
              <a:t>Intel IBT </a:t>
            </a:r>
            <a:r>
              <a:rPr lang="ru-RU" sz="2000" dirty="0"/>
              <a:t>позволяет усложнить атакующему эксплуатацию </a:t>
            </a:r>
            <a:r>
              <a:rPr lang="en-US" sz="2000" dirty="0"/>
              <a:t>JOP- </a:t>
            </a:r>
            <a:r>
              <a:rPr lang="ru-RU" sz="2000" dirty="0"/>
              <a:t>и </a:t>
            </a:r>
            <a:r>
              <a:rPr lang="en-US" sz="2000" dirty="0"/>
              <a:t>COP-</a:t>
            </a:r>
            <a:r>
              <a:rPr lang="ru-RU" sz="2000" dirty="0"/>
              <a:t>цепочек. </a:t>
            </a:r>
            <a:endParaRPr dirty="0"/>
          </a:p>
          <a:p>
            <a:pPr marL="0" indent="0">
              <a:buNone/>
              <a:defRPr/>
            </a:pPr>
            <a:r>
              <a:rPr lang="en-US" sz="2000" dirty="0"/>
              <a:t>Intel IBT </a:t>
            </a:r>
            <a:r>
              <a:rPr lang="ru-RU" sz="2000" dirty="0"/>
              <a:t>вводит 2 новые инструкции </a:t>
            </a:r>
            <a:r>
              <a:rPr lang="en-US" sz="2000" dirty="0">
                <a:latin typeface="Courier New"/>
                <a:cs typeface="Courier New"/>
              </a:rPr>
              <a:t>endbr32/enbr64 </a:t>
            </a:r>
            <a:r>
              <a:rPr lang="en-US" sz="2000" dirty="0"/>
              <a:t>(END Branch</a:t>
            </a:r>
            <a:r>
              <a:rPr lang="ru-RU" sz="2000" dirty="0"/>
              <a:t>) для 32/64-битных программ. Кодировка инструкций подобрана так, что ЦП без поддержки (или с выключенным) </a:t>
            </a:r>
            <a:r>
              <a:rPr lang="en-US" sz="2000" dirty="0"/>
              <a:t>IBT </a:t>
            </a:r>
            <a:r>
              <a:rPr lang="ru-RU" sz="2000" dirty="0"/>
              <a:t>воспринимает их как </a:t>
            </a:r>
            <a:r>
              <a:rPr lang="en-US" sz="2000" dirty="0" err="1">
                <a:latin typeface="Courier New"/>
                <a:cs typeface="Courier New"/>
              </a:rPr>
              <a:t>nop</a:t>
            </a:r>
            <a:r>
              <a:rPr lang="ru-RU" sz="2000" dirty="0"/>
              <a:t>. Эти инструкции используются для маркировки валидных точек перехода.</a:t>
            </a:r>
            <a:endParaRPr dirty="0"/>
          </a:p>
          <a:p>
            <a:pPr marL="0" indent="0">
              <a:buNone/>
              <a:defRPr/>
            </a:pPr>
            <a:r>
              <a:rPr lang="ru-RU" sz="2000" dirty="0"/>
              <a:t>Если ЦП выполняет переход по нефиксированному адресу (</a:t>
            </a:r>
            <a:r>
              <a:rPr lang="en-US" sz="2000" dirty="0">
                <a:latin typeface="Courier New"/>
                <a:cs typeface="Courier New"/>
              </a:rPr>
              <a:t>call/</a:t>
            </a:r>
            <a:r>
              <a:rPr lang="en-US" sz="2000" dirty="0" err="1">
                <a:latin typeface="Courier New"/>
                <a:cs typeface="Courier New"/>
              </a:rPr>
              <a:t>jmp</a:t>
            </a:r>
            <a:r>
              <a:rPr lang="en-US" sz="2000" dirty="0">
                <a:latin typeface="Courier New"/>
                <a:cs typeface="Courier New"/>
              </a:rPr>
              <a:t>/j*</a:t>
            </a:r>
            <a:r>
              <a:rPr lang="ru-RU" sz="2000" dirty="0">
                <a:latin typeface="Courier New"/>
                <a:cs typeface="Courier New"/>
              </a:rPr>
              <a:t> </a:t>
            </a:r>
            <a:r>
              <a:rPr lang="en-US" sz="2000" dirty="0">
                <a:latin typeface="Courier New"/>
                <a:cs typeface="Courier New"/>
              </a:rPr>
              <a:t>[</a:t>
            </a:r>
            <a:r>
              <a:rPr lang="en-US" sz="2000" dirty="0" err="1">
                <a:latin typeface="Courier New"/>
                <a:cs typeface="Courier New"/>
              </a:rPr>
              <a:t>eax</a:t>
            </a:r>
            <a:r>
              <a:rPr lang="en-US" sz="2000" dirty="0">
                <a:latin typeface="Courier New"/>
                <a:cs typeface="Courier New"/>
              </a:rPr>
              <a:t>]</a:t>
            </a:r>
            <a:r>
              <a:rPr lang="ru-RU" sz="2000" dirty="0"/>
              <a:t>), и он попадает не на </a:t>
            </a:r>
            <a:r>
              <a:rPr lang="en-US" sz="2000" dirty="0" err="1">
                <a:latin typeface="Courier New"/>
                <a:cs typeface="Courier New"/>
              </a:rPr>
              <a:t>endbr</a:t>
            </a:r>
            <a:r>
              <a:rPr lang="ru-RU" sz="2000" dirty="0"/>
              <a:t>, то генерируется аппаратное исключение и программа </a:t>
            </a:r>
            <a:r>
              <a:rPr lang="ru-RU" sz="2000" dirty="0" err="1"/>
              <a:t>аварийно</a:t>
            </a:r>
            <a:r>
              <a:rPr lang="ru-RU" sz="2000" dirty="0"/>
              <a:t> завершается =</a:t>
            </a:r>
            <a:r>
              <a:rPr lang="en-US" sz="2000" dirty="0"/>
              <a:t>&gt; </a:t>
            </a:r>
            <a:r>
              <a:rPr lang="ru-RU" sz="2000" dirty="0"/>
              <a:t>ограничивается выбор</a:t>
            </a:r>
            <a:r>
              <a:rPr lang="en-US" sz="2000" dirty="0"/>
              <a:t> </a:t>
            </a:r>
            <a:r>
              <a:rPr lang="ru-RU" sz="2000" dirty="0"/>
              <a:t>гаджетов для атакующего.</a:t>
            </a:r>
            <a:endParaRPr dirty="0"/>
          </a:p>
        </p:txBody>
      </p:sp>
      <p:sp>
        <p:nvSpPr>
          <p:cNvPr id="1376285640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7FBA2B-964F-4C4D-AAF7-5A8399264638}" type="slidenum">
              <a:rPr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9380449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Перезапись </a:t>
            </a:r>
            <a:r>
              <a:rPr lang="en-US"/>
              <a:t>GOT</a:t>
            </a:r>
            <a:r>
              <a:rPr lang="ru-RU"/>
              <a:t> </a:t>
            </a:r>
            <a:r>
              <a:rPr lang="ru-RU" sz="2400"/>
              <a:t>(</a:t>
            </a:r>
            <a:r>
              <a:rPr lang="en-US" sz="2400"/>
              <a:t>Linux</a:t>
            </a:r>
            <a:r>
              <a:rPr lang="ru-RU" sz="2400"/>
              <a:t>)</a:t>
            </a:r>
            <a:endParaRPr lang="en-US"/>
          </a:p>
        </p:txBody>
      </p:sp>
      <p:sp>
        <p:nvSpPr>
          <p:cNvPr id="1404516593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7FBA2B-964F-4C4D-AAF7-5A8399264638}" type="slidenum">
              <a:rPr lang="en-US"/>
              <a:t>28</a:t>
            </a:fld>
            <a:endParaRPr lang="en-US"/>
          </a:p>
        </p:txBody>
      </p:sp>
      <p:sp>
        <p:nvSpPr>
          <p:cNvPr id="625493081" name="Объект 2"/>
          <p:cNvSpPr>
            <a:spLocks noGrp="1"/>
          </p:cNvSpPr>
          <p:nvPr>
            <p:ph idx="1"/>
          </p:nvPr>
        </p:nvSpPr>
        <p:spPr bwMode="auto">
          <a:xfrm>
            <a:off x="838201" y="1547328"/>
            <a:ext cx="6715538" cy="4530725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2000"/>
              <a:t>Поскольку в </a:t>
            </a:r>
            <a:r>
              <a:rPr lang="en-US" sz="2000"/>
              <a:t>GOT </a:t>
            </a:r>
            <a:r>
              <a:rPr lang="ru-RU" sz="2000"/>
              <a:t>происходит запись, она находится в сегменте с разрешением на запись.</a:t>
            </a:r>
            <a:endParaRPr/>
          </a:p>
          <a:p>
            <a:pPr marL="0" indent="0">
              <a:buNone/>
              <a:defRPr/>
            </a:pPr>
            <a:r>
              <a:rPr lang="ru-RU" sz="2000"/>
              <a:t>Следовательно, если известно расположение самой </a:t>
            </a:r>
            <a:r>
              <a:rPr lang="en-US" sz="2000"/>
              <a:t>GOT</a:t>
            </a:r>
            <a:r>
              <a:rPr lang="ru-RU" sz="2000"/>
              <a:t>, можно </a:t>
            </a:r>
            <a:br>
              <a:rPr lang="ru-RU" sz="2000"/>
            </a:br>
            <a:r>
              <a:rPr lang="ru-RU" sz="2000"/>
              <a:t>1)узнать адреса функций и содержащих их библиотек;</a:t>
            </a:r>
            <a:br>
              <a:rPr lang="ru-RU" sz="2000"/>
            </a:br>
            <a:r>
              <a:rPr lang="ru-RU" sz="2000"/>
              <a:t>2) </a:t>
            </a:r>
            <a:r>
              <a:rPr lang="ru-RU" sz="2000" u="sng"/>
              <a:t>перезаписать адрес функции </a:t>
            </a:r>
            <a:r>
              <a:rPr lang="en-US" sz="2000" u="sng"/>
              <a:t> </a:t>
            </a:r>
            <a:r>
              <a:rPr lang="ru-RU" sz="2000" u="sng"/>
              <a:t>в </a:t>
            </a:r>
            <a:r>
              <a:rPr lang="en-US" sz="2000" u="sng"/>
              <a:t>GOT </a:t>
            </a:r>
            <a:r>
              <a:rPr lang="ru-RU" sz="2000" u="sng"/>
              <a:t>и передать управление в нужное место.</a:t>
            </a:r>
            <a:endParaRPr/>
          </a:p>
          <a:p>
            <a:pPr marL="0" indent="0">
              <a:buNone/>
              <a:defRPr/>
            </a:pPr>
            <a:r>
              <a:rPr lang="ru-RU" sz="2000" i="1"/>
              <a:t>Возможность перезаписи </a:t>
            </a:r>
            <a:r>
              <a:rPr lang="en-US" sz="2000" i="1"/>
              <a:t>GOT </a:t>
            </a:r>
            <a:r>
              <a:rPr lang="ru-RU" sz="2000" i="1"/>
              <a:t>обеспечивается любой уязвимостью, позволяющей выполнять запись по произвольным адресам.</a:t>
            </a:r>
            <a:br>
              <a:rPr lang="ru-RU" sz="2000"/>
            </a:br>
            <a:endParaRPr lang="en-US" sz="2000"/>
          </a:p>
        </p:txBody>
      </p:sp>
      <p:sp>
        <p:nvSpPr>
          <p:cNvPr id="1348073633" name="TextBox 2"/>
          <p:cNvSpPr txBox="1"/>
          <p:nvPr/>
        </p:nvSpPr>
        <p:spPr bwMode="auto">
          <a:xfrm>
            <a:off x="2503832" y="4600725"/>
            <a:ext cx="398393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>
                <a:latin typeface="Courier New"/>
                <a:cs typeface="Courier New"/>
              </a:rPr>
              <a:t>GOT: </a:t>
            </a:r>
            <a:br>
              <a:rPr lang="en-US">
                <a:latin typeface="Courier New"/>
                <a:cs typeface="Courier New"/>
              </a:rPr>
            </a:br>
            <a:r>
              <a:rPr lang="en-US">
                <a:latin typeface="Courier New"/>
                <a:cs typeface="Courier New"/>
              </a:rPr>
              <a:t>    printf:            dq ?</a:t>
            </a:r>
            <a:r>
              <a:rPr lang="en-US">
                <a:solidFill>
                  <a:schemeClr val="tx1"/>
                </a:solidFill>
                <a:latin typeface="Courier New"/>
                <a:cs typeface="Courier New"/>
              </a:rPr>
              <a:t>  </a:t>
            </a:r>
            <a:br>
              <a:rPr lang="en-US">
                <a:solidFill>
                  <a:schemeClr val="tx1"/>
                </a:solidFill>
                <a:latin typeface="Courier New"/>
                <a:cs typeface="Courier New"/>
              </a:rPr>
            </a:br>
            <a:r>
              <a:rPr lang="en-US">
                <a:solidFill>
                  <a:schemeClr val="tx1"/>
                </a:solidFill>
                <a:latin typeface="Courier New"/>
                <a:cs typeface="Courier New"/>
              </a:rPr>
              <a:t>    __stack_chck_fail: dq ?</a:t>
            </a:r>
            <a:endParaRPr/>
          </a:p>
          <a:p>
            <a:pPr>
              <a:defRPr/>
            </a:pPr>
            <a:r>
              <a:rPr lang="en-US">
                <a:latin typeface="Courier New"/>
                <a:cs typeface="Courier New"/>
              </a:rPr>
              <a:t>    </a:t>
            </a:r>
            <a:r>
              <a:rPr lang="en-US">
                <a:solidFill>
                  <a:schemeClr val="tx1"/>
                </a:solidFill>
                <a:latin typeface="Courier New"/>
                <a:cs typeface="Courier New"/>
              </a:rPr>
              <a:t>cudaMalloc:        dq ?</a:t>
            </a:r>
            <a:endParaRPr/>
          </a:p>
          <a:p>
            <a:pPr>
              <a:defRPr/>
            </a:pPr>
            <a:r>
              <a:rPr lang="en-US">
                <a:latin typeface="Courier New"/>
                <a:cs typeface="Courier New"/>
              </a:rPr>
              <a:t>    </a:t>
            </a:r>
            <a:r>
              <a:rPr lang="en-US">
                <a:solidFill>
                  <a:schemeClr val="tx1"/>
                </a:solidFill>
                <a:latin typeface="Courier New"/>
                <a:cs typeface="Courier New"/>
              </a:rPr>
              <a:t>filter2D:          dq ?    </a:t>
            </a:r>
            <a:endParaRPr/>
          </a:p>
        </p:txBody>
      </p:sp>
      <p:sp>
        <p:nvSpPr>
          <p:cNvPr id="457437071" name="Прямоугольник 12"/>
          <p:cNvSpPr/>
          <p:nvPr/>
        </p:nvSpPr>
        <p:spPr bwMode="auto">
          <a:xfrm>
            <a:off x="9219370" y="1619008"/>
            <a:ext cx="1879782" cy="453072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en-US"/>
          </a:p>
        </p:txBody>
      </p:sp>
      <p:sp>
        <p:nvSpPr>
          <p:cNvPr id="582361426" name="Прямоугольник 14"/>
          <p:cNvSpPr/>
          <p:nvPr/>
        </p:nvSpPr>
        <p:spPr bwMode="auto">
          <a:xfrm>
            <a:off x="9219370" y="1927122"/>
            <a:ext cx="1879782" cy="1292087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 b="1">
                <a:solidFill>
                  <a:schemeClr val="tx1"/>
                </a:solidFill>
              </a:rPr>
              <a:t>libc</a:t>
            </a:r>
          </a:p>
          <a:p>
            <a:pPr algn="ctr">
              <a:defRPr/>
            </a:pPr>
            <a:br>
              <a:rPr lang="en-US" b="1">
                <a:solidFill>
                  <a:schemeClr val="tx1"/>
                </a:solidFill>
              </a:rPr>
            </a:br>
            <a:r>
              <a:rPr lang="en-US">
                <a:solidFill>
                  <a:schemeClr val="tx1"/>
                </a:solidFill>
              </a:rPr>
              <a:t>printf</a:t>
            </a:r>
          </a:p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__stack_chck_fail</a:t>
            </a:r>
          </a:p>
        </p:txBody>
      </p:sp>
      <p:sp>
        <p:nvSpPr>
          <p:cNvPr id="756068200" name="Прямоугольник 15"/>
          <p:cNvSpPr/>
          <p:nvPr/>
        </p:nvSpPr>
        <p:spPr bwMode="auto">
          <a:xfrm>
            <a:off x="9219370" y="3547271"/>
            <a:ext cx="1879782" cy="9315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 b="1">
                <a:solidFill>
                  <a:schemeClr val="tx1"/>
                </a:solidFill>
              </a:rPr>
              <a:t>libcuda</a:t>
            </a:r>
          </a:p>
          <a:p>
            <a:pPr algn="ctr">
              <a:defRPr/>
            </a:pPr>
            <a:endParaRPr lang="en-US" b="1">
              <a:solidFill>
                <a:schemeClr val="tx1"/>
              </a:solidFill>
            </a:endParaRPr>
          </a:p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cudaMalloc</a:t>
            </a:r>
          </a:p>
        </p:txBody>
      </p:sp>
      <p:sp>
        <p:nvSpPr>
          <p:cNvPr id="278991301" name="Прямоугольник 16"/>
          <p:cNvSpPr/>
          <p:nvPr/>
        </p:nvSpPr>
        <p:spPr bwMode="auto">
          <a:xfrm>
            <a:off x="9219370" y="4781503"/>
            <a:ext cx="1879782" cy="958587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 b="1">
                <a:solidFill>
                  <a:schemeClr val="tx1"/>
                </a:solidFill>
              </a:rPr>
              <a:t>libopencv</a:t>
            </a:r>
          </a:p>
          <a:p>
            <a:pPr algn="ctr">
              <a:defRPr/>
            </a:pPr>
            <a:endParaRPr lang="en-US">
              <a:solidFill>
                <a:schemeClr val="tx1"/>
              </a:solidFill>
            </a:endParaRPr>
          </a:p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filter2D</a:t>
            </a:r>
            <a:endParaRPr/>
          </a:p>
          <a:p>
            <a:pPr algn="ctr">
              <a:defRPr/>
            </a:pPr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082267786" name="Соединитель: уступ 7"/>
          <p:cNvCxnSpPr>
            <a:endCxn id="582361426" idx="1"/>
          </p:cNvCxnSpPr>
          <p:nvPr/>
        </p:nvCxnSpPr>
        <p:spPr bwMode="auto">
          <a:xfrm flipV="1">
            <a:off x="6331226" y="2713383"/>
            <a:ext cx="2888144" cy="234563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6194017" name="Соединитель: уступ 20"/>
          <p:cNvCxnSpPr/>
          <p:nvPr/>
        </p:nvCxnSpPr>
        <p:spPr bwMode="auto">
          <a:xfrm flipV="1">
            <a:off x="6331226" y="4305731"/>
            <a:ext cx="2888144" cy="1320034"/>
          </a:xfrm>
          <a:prstGeom prst="bentConnector3">
            <a:avLst>
              <a:gd name="adj1" fmla="val 668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7246973" name="Соединитель: уступ 25"/>
          <p:cNvCxnSpPr/>
          <p:nvPr/>
        </p:nvCxnSpPr>
        <p:spPr bwMode="auto">
          <a:xfrm flipV="1">
            <a:off x="6331226" y="5535174"/>
            <a:ext cx="2888144" cy="362139"/>
          </a:xfrm>
          <a:prstGeom prst="bentConnector3">
            <a:avLst>
              <a:gd name="adj1" fmla="val 785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6950603" name="Соединитель: уступ 30"/>
          <p:cNvCxnSpPr/>
          <p:nvPr/>
        </p:nvCxnSpPr>
        <p:spPr bwMode="auto">
          <a:xfrm flipV="1">
            <a:off x="6331226" y="2944571"/>
            <a:ext cx="2888144" cy="2403771"/>
          </a:xfrm>
          <a:prstGeom prst="bentConnector3">
            <a:avLst>
              <a:gd name="adj1" fmla="val 5791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052315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Обход «канареек» </a:t>
            </a:r>
            <a:r>
              <a:rPr lang="en-US"/>
              <a:t>2 </a:t>
            </a:r>
            <a:r>
              <a:rPr lang="ru-RU" sz="2400" b="0" i="0" u="none" strike="noStrike" cap="none" spc="0">
                <a:ln>
                  <a:noFill/>
                </a:ln>
                <a:solidFill>
                  <a:prstClr val="black"/>
                </a:solidFill>
                <a:latin typeface="Calibri Light"/>
                <a:ea typeface="+mj-ea"/>
                <a:cs typeface="+mj-cs"/>
              </a:rPr>
              <a:t>(</a:t>
            </a:r>
            <a:r>
              <a:rPr lang="en-US" sz="2400" b="0" i="0" u="none" strike="noStrike" cap="none" spc="0">
                <a:ln>
                  <a:noFill/>
                </a:ln>
                <a:solidFill>
                  <a:prstClr val="black"/>
                </a:solidFill>
                <a:latin typeface="Calibri Light"/>
                <a:ea typeface="+mj-ea"/>
                <a:cs typeface="+mj-cs"/>
              </a:rPr>
              <a:t>Linux</a:t>
            </a:r>
            <a:r>
              <a:rPr lang="ru-RU" sz="2400" b="0" i="0" u="none" strike="noStrike" cap="none" spc="0">
                <a:ln>
                  <a:noFill/>
                </a:ln>
                <a:solidFill>
                  <a:prstClr val="black"/>
                </a:solidFill>
                <a:latin typeface="Calibri Light"/>
                <a:ea typeface="+mj-ea"/>
                <a:cs typeface="+mj-cs"/>
              </a:rPr>
              <a:t>)</a:t>
            </a:r>
            <a:endParaRPr lang="en-US"/>
          </a:p>
        </p:txBody>
      </p:sp>
      <p:sp>
        <p:nvSpPr>
          <p:cNvPr id="1513323074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7FBA2B-964F-4C4D-AAF7-5A8399264638}" type="slidenum">
              <a:rPr lang="en-US"/>
              <a:t>29</a:t>
            </a:fld>
            <a:endParaRPr lang="en-US"/>
          </a:p>
        </p:txBody>
      </p:sp>
      <p:sp>
        <p:nvSpPr>
          <p:cNvPr id="1873435195" name="Объект 2"/>
          <p:cNvSpPr>
            <a:spLocks noGrp="1"/>
          </p:cNvSpPr>
          <p:nvPr>
            <p:ph idx="1"/>
          </p:nvPr>
        </p:nvSpPr>
        <p:spPr bwMode="auto">
          <a:xfrm>
            <a:off x="838201" y="1547328"/>
            <a:ext cx="6715538" cy="4530725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2000"/>
              <a:t>Функция </a:t>
            </a:r>
            <a:r>
              <a:rPr lang="en-US" sz="2000"/>
              <a:t>__stack_chck_fail </a:t>
            </a:r>
            <a:r>
              <a:rPr lang="ru-RU" sz="2000"/>
              <a:t>или ее аналог (завершение программы при изменении «канарейки») часто является библиотечной функцией, адрес которой хранится в </a:t>
            </a:r>
            <a:r>
              <a:rPr lang="en-US" sz="2000"/>
              <a:t>GOT.</a:t>
            </a:r>
            <a:endParaRPr/>
          </a:p>
          <a:p>
            <a:pPr marL="0" indent="0">
              <a:buNone/>
              <a:defRPr/>
            </a:pPr>
            <a:r>
              <a:rPr lang="ru-RU" sz="2000"/>
              <a:t>Если удастся перезаписать адрес функции на адрес целевого кода, то  код выполнится автоматически, когда проверка «канарейки» провалится.</a:t>
            </a:r>
            <a:endParaRPr/>
          </a:p>
          <a:p>
            <a:pPr marL="0" indent="0">
              <a:buNone/>
              <a:defRPr/>
            </a:pPr>
            <a:r>
              <a:rPr lang="ru-RU" sz="2000"/>
              <a:t>В качестве такого кода может выступать как шелл-код, так и простая инструкция </a:t>
            </a:r>
            <a:r>
              <a:rPr lang="en-US" sz="2000"/>
              <a:t>RET/JMP.</a:t>
            </a:r>
            <a:br>
              <a:rPr lang="ru-RU" sz="2000"/>
            </a:br>
            <a:endParaRPr lang="en-US" sz="2000"/>
          </a:p>
        </p:txBody>
      </p:sp>
      <p:sp>
        <p:nvSpPr>
          <p:cNvPr id="1412435531" name="TextBox 9"/>
          <p:cNvSpPr txBox="1"/>
          <p:nvPr/>
        </p:nvSpPr>
        <p:spPr bwMode="auto">
          <a:xfrm>
            <a:off x="2503832" y="4600725"/>
            <a:ext cx="398393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>
                <a:latin typeface="Courier New"/>
                <a:cs typeface="Courier New"/>
              </a:rPr>
              <a:t>GOT: </a:t>
            </a:r>
            <a:br>
              <a:rPr lang="en-US">
                <a:latin typeface="Courier New"/>
                <a:cs typeface="Courier New"/>
              </a:rPr>
            </a:br>
            <a:r>
              <a:rPr lang="en-US">
                <a:latin typeface="Courier New"/>
                <a:cs typeface="Courier New"/>
              </a:rPr>
              <a:t>    printf:            dq ?</a:t>
            </a:r>
            <a:r>
              <a:rPr lang="en-US">
                <a:solidFill>
                  <a:schemeClr val="tx1"/>
                </a:solidFill>
                <a:latin typeface="Courier New"/>
                <a:cs typeface="Courier New"/>
              </a:rPr>
              <a:t>  </a:t>
            </a:r>
            <a:br>
              <a:rPr lang="en-US">
                <a:solidFill>
                  <a:schemeClr val="tx1"/>
                </a:solidFill>
                <a:latin typeface="Courier New"/>
                <a:cs typeface="Courier New"/>
              </a:rPr>
            </a:br>
            <a:r>
              <a:rPr lang="en-US">
                <a:solidFill>
                  <a:schemeClr val="tx1"/>
                </a:solidFill>
                <a:latin typeface="Courier New"/>
                <a:cs typeface="Courier New"/>
              </a:rPr>
              <a:t>    </a:t>
            </a:r>
            <a:r>
              <a:rPr lang="en-US" b="1">
                <a:solidFill>
                  <a:schemeClr val="tx1"/>
                </a:solidFill>
                <a:latin typeface="Courier New"/>
                <a:cs typeface="Courier New"/>
              </a:rPr>
              <a:t>__stack_chck_fail: dq ?</a:t>
            </a:r>
            <a:endParaRPr/>
          </a:p>
          <a:p>
            <a:pPr>
              <a:defRPr/>
            </a:pPr>
            <a:r>
              <a:rPr lang="en-US">
                <a:latin typeface="Courier New"/>
                <a:cs typeface="Courier New"/>
              </a:rPr>
              <a:t>    </a:t>
            </a:r>
            <a:r>
              <a:rPr lang="en-US">
                <a:solidFill>
                  <a:schemeClr val="tx1"/>
                </a:solidFill>
                <a:latin typeface="Courier New"/>
                <a:cs typeface="Courier New"/>
              </a:rPr>
              <a:t>cudaMalloc:        dq ?</a:t>
            </a:r>
            <a:endParaRPr/>
          </a:p>
          <a:p>
            <a:pPr>
              <a:defRPr/>
            </a:pPr>
            <a:r>
              <a:rPr lang="en-US">
                <a:latin typeface="Courier New"/>
                <a:cs typeface="Courier New"/>
              </a:rPr>
              <a:t>    </a:t>
            </a:r>
            <a:r>
              <a:rPr lang="en-US">
                <a:solidFill>
                  <a:schemeClr val="tx1"/>
                </a:solidFill>
                <a:latin typeface="Courier New"/>
                <a:cs typeface="Courier New"/>
              </a:rPr>
              <a:t>filter2D:          dq ?    </a:t>
            </a:r>
            <a:endParaRPr/>
          </a:p>
        </p:txBody>
      </p:sp>
      <p:sp>
        <p:nvSpPr>
          <p:cNvPr id="98159439" name="Прямоугольник 10"/>
          <p:cNvSpPr/>
          <p:nvPr/>
        </p:nvSpPr>
        <p:spPr bwMode="auto">
          <a:xfrm>
            <a:off x="9219370" y="1619008"/>
            <a:ext cx="1879782" cy="453072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en-US"/>
          </a:p>
        </p:txBody>
      </p:sp>
      <p:sp>
        <p:nvSpPr>
          <p:cNvPr id="289752124" name="Прямоугольник 11"/>
          <p:cNvSpPr/>
          <p:nvPr/>
        </p:nvSpPr>
        <p:spPr bwMode="auto">
          <a:xfrm>
            <a:off x="9219370" y="1927122"/>
            <a:ext cx="1879782" cy="1292087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 b="1">
                <a:solidFill>
                  <a:schemeClr val="tx1"/>
                </a:solidFill>
              </a:rPr>
              <a:t>libc</a:t>
            </a:r>
          </a:p>
          <a:p>
            <a:pPr algn="ctr">
              <a:defRPr/>
            </a:pPr>
            <a:br>
              <a:rPr lang="en-US" b="1">
                <a:solidFill>
                  <a:schemeClr val="tx1"/>
                </a:solidFill>
              </a:rPr>
            </a:br>
            <a:r>
              <a:rPr lang="en-US">
                <a:solidFill>
                  <a:schemeClr val="tx1"/>
                </a:solidFill>
              </a:rPr>
              <a:t>printf</a:t>
            </a:r>
          </a:p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__stack_chck_fail</a:t>
            </a:r>
          </a:p>
        </p:txBody>
      </p:sp>
      <p:sp>
        <p:nvSpPr>
          <p:cNvPr id="490914487" name="Прямоугольник 12"/>
          <p:cNvSpPr/>
          <p:nvPr/>
        </p:nvSpPr>
        <p:spPr bwMode="auto">
          <a:xfrm>
            <a:off x="9219370" y="3547271"/>
            <a:ext cx="1879782" cy="9315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 b="1">
                <a:solidFill>
                  <a:schemeClr val="tx1"/>
                </a:solidFill>
              </a:rPr>
              <a:t>libcuda</a:t>
            </a:r>
          </a:p>
          <a:p>
            <a:pPr algn="ctr">
              <a:defRPr/>
            </a:pPr>
            <a:endParaRPr lang="en-US" b="1">
              <a:solidFill>
                <a:schemeClr val="tx1"/>
              </a:solidFill>
            </a:endParaRPr>
          </a:p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cudaMalloc</a:t>
            </a:r>
          </a:p>
        </p:txBody>
      </p:sp>
      <p:sp>
        <p:nvSpPr>
          <p:cNvPr id="173159246" name="Прямоугольник 14"/>
          <p:cNvSpPr/>
          <p:nvPr/>
        </p:nvSpPr>
        <p:spPr bwMode="auto">
          <a:xfrm>
            <a:off x="9219370" y="4781503"/>
            <a:ext cx="1879782" cy="958587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 b="1">
                <a:solidFill>
                  <a:schemeClr val="tx1"/>
                </a:solidFill>
              </a:rPr>
              <a:t>libopencv</a:t>
            </a:r>
          </a:p>
          <a:p>
            <a:pPr algn="ctr">
              <a:defRPr/>
            </a:pPr>
            <a:endParaRPr lang="en-US">
              <a:solidFill>
                <a:schemeClr val="tx1"/>
              </a:solidFill>
            </a:endParaRPr>
          </a:p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filter2D</a:t>
            </a:r>
            <a:endParaRPr/>
          </a:p>
          <a:p>
            <a:pPr algn="ctr">
              <a:defRPr/>
            </a:pPr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759166444" name="Соединитель: уступ 15"/>
          <p:cNvCxnSpPr>
            <a:endCxn id="289752124" idx="1"/>
          </p:cNvCxnSpPr>
          <p:nvPr/>
        </p:nvCxnSpPr>
        <p:spPr bwMode="auto">
          <a:xfrm flipV="1">
            <a:off x="6331226" y="2713383"/>
            <a:ext cx="2888144" cy="234563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3553131" name="Соединитель: уступ 16"/>
          <p:cNvCxnSpPr/>
          <p:nvPr/>
        </p:nvCxnSpPr>
        <p:spPr bwMode="auto">
          <a:xfrm flipV="1">
            <a:off x="6331226" y="4305731"/>
            <a:ext cx="2888144" cy="1320034"/>
          </a:xfrm>
          <a:prstGeom prst="bentConnector3">
            <a:avLst>
              <a:gd name="adj1" fmla="val 668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1963001" name="Соединитель: уступ 17"/>
          <p:cNvCxnSpPr/>
          <p:nvPr/>
        </p:nvCxnSpPr>
        <p:spPr bwMode="auto">
          <a:xfrm flipV="1">
            <a:off x="6331226" y="5535174"/>
            <a:ext cx="2888144" cy="362139"/>
          </a:xfrm>
          <a:prstGeom prst="bentConnector3">
            <a:avLst>
              <a:gd name="adj1" fmla="val 785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8778826" name="Соединитель: уступ 18"/>
          <p:cNvCxnSpPr/>
          <p:nvPr/>
        </p:nvCxnSpPr>
        <p:spPr bwMode="auto">
          <a:xfrm flipV="1">
            <a:off x="6331226" y="2944571"/>
            <a:ext cx="2888144" cy="2403771"/>
          </a:xfrm>
          <a:prstGeom prst="bentConnector3">
            <a:avLst>
              <a:gd name="adj1" fmla="val 57915"/>
            </a:avLst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3982141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Защита от перезаписи </a:t>
            </a:r>
            <a:r>
              <a:rPr lang="en-US"/>
              <a:t>GOT</a:t>
            </a:r>
            <a:endParaRPr lang="ru-RU"/>
          </a:p>
        </p:txBody>
      </p:sp>
      <p:sp>
        <p:nvSpPr>
          <p:cNvPr id="445494256" name="Объект 2"/>
          <p:cNvSpPr>
            <a:spLocks noGrp="1"/>
          </p:cNvSpPr>
          <p:nvPr>
            <p:ph idx="1"/>
          </p:nvPr>
        </p:nvSpPr>
        <p:spPr bwMode="auto"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2000"/>
              <a:t>Эффективной защитой от перезаписи </a:t>
            </a:r>
            <a:r>
              <a:rPr lang="en-US" sz="2000"/>
              <a:t>GOT </a:t>
            </a:r>
            <a:r>
              <a:rPr lang="ru-RU" sz="2000"/>
              <a:t>является т.н. </a:t>
            </a:r>
            <a:r>
              <a:rPr lang="en-US" sz="2000"/>
              <a:t>RELRO (relocation read-only). </a:t>
            </a:r>
            <a:r>
              <a:rPr lang="ru-RU" sz="2000"/>
              <a:t>Обычно </a:t>
            </a:r>
            <a:r>
              <a:rPr lang="en-US" sz="2000"/>
              <a:t>RELRO </a:t>
            </a:r>
            <a:r>
              <a:rPr lang="ru-RU" sz="2000"/>
              <a:t>включается специальным флагом компоновщика.</a:t>
            </a:r>
            <a:endParaRPr/>
          </a:p>
          <a:p>
            <a:pPr marL="0" indent="0">
              <a:buNone/>
              <a:defRPr/>
            </a:pPr>
            <a:r>
              <a:rPr lang="ru-RU" sz="2000"/>
              <a:t>При включенном </a:t>
            </a:r>
            <a:r>
              <a:rPr lang="en-US" sz="2000"/>
              <a:t>RELRO</a:t>
            </a:r>
            <a:r>
              <a:rPr lang="ru-RU" sz="2000"/>
              <a:t>:</a:t>
            </a:r>
            <a:endParaRPr/>
          </a:p>
          <a:p>
            <a:pPr>
              <a:defRPr/>
            </a:pPr>
            <a:r>
              <a:rPr lang="ru-RU" sz="2000"/>
              <a:t>Таблица </a:t>
            </a:r>
            <a:r>
              <a:rPr lang="en-US" sz="2000"/>
              <a:t>GOT </a:t>
            </a:r>
            <a:r>
              <a:rPr lang="ru-RU" sz="2000"/>
              <a:t>заполняется компоновщиком полностью при старте программы.</a:t>
            </a:r>
            <a:endParaRPr/>
          </a:p>
          <a:p>
            <a:pPr>
              <a:defRPr/>
            </a:pPr>
            <a:r>
              <a:rPr lang="ru-RU" sz="2000"/>
              <a:t>Сразу после заполнения секция </a:t>
            </a:r>
            <a:r>
              <a:rPr lang="en-US" sz="2000"/>
              <a:t>.got </a:t>
            </a:r>
            <a:r>
              <a:rPr lang="ru-RU" sz="2000"/>
              <a:t>помечается, как </a:t>
            </a:r>
            <a:r>
              <a:rPr lang="en-US" sz="2000"/>
              <a:t>read-only. </a:t>
            </a:r>
            <a:r>
              <a:rPr lang="ru-RU" sz="2000"/>
              <a:t>Любая попытка записи приведет к аппаратному исключению.</a:t>
            </a:r>
            <a:endParaRPr/>
          </a:p>
        </p:txBody>
      </p:sp>
      <p:sp>
        <p:nvSpPr>
          <p:cNvPr id="452907112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7FBA2B-964F-4C4D-AAF7-5A8399264638}" type="slidenum">
              <a:rPr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6035358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Структура кучи</a:t>
            </a:r>
            <a:endParaRPr lang="en-US"/>
          </a:p>
        </p:txBody>
      </p:sp>
      <p:sp>
        <p:nvSpPr>
          <p:cNvPr id="975902479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7FBA2B-964F-4C4D-AAF7-5A8399264638}" type="slidenum">
              <a:rPr lang="en-US"/>
              <a:t>31</a:t>
            </a:fld>
            <a:endParaRPr lang="en-US"/>
          </a:p>
        </p:txBody>
      </p:sp>
      <p:sp>
        <p:nvSpPr>
          <p:cNvPr id="1881964217" name="Объект 2"/>
          <p:cNvSpPr>
            <a:spLocks noGrp="1"/>
          </p:cNvSpPr>
          <p:nvPr>
            <p:ph idx="1"/>
          </p:nvPr>
        </p:nvSpPr>
        <p:spPr bwMode="auto">
          <a:xfrm>
            <a:off x="838201" y="1547328"/>
            <a:ext cx="6715538" cy="4530725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2000"/>
              <a:t>Структура кучи, вообще говоря, зависит от ОС и от реализации стандартной библиотеки языка. </a:t>
            </a:r>
            <a:endParaRPr/>
          </a:p>
          <a:p>
            <a:pPr marL="0" indent="0">
              <a:buNone/>
              <a:defRPr/>
            </a:pPr>
            <a:r>
              <a:rPr lang="ru-RU" sz="2000"/>
              <a:t>В языке С за управление кучей отвечают функции </a:t>
            </a:r>
            <a:r>
              <a:rPr lang="en-US" sz="2000"/>
              <a:t>malloc/free. </a:t>
            </a:r>
            <a:r>
              <a:rPr lang="ru-RU" sz="2000"/>
              <a:t>В</a:t>
            </a:r>
            <a:r>
              <a:rPr lang="en-US" sz="2000"/>
              <a:t> libc</a:t>
            </a:r>
            <a:r>
              <a:rPr lang="ru-RU" sz="2000"/>
              <a:t> исходные</a:t>
            </a:r>
            <a:r>
              <a:rPr lang="en-US" sz="2000"/>
              <a:t> </a:t>
            </a:r>
            <a:r>
              <a:rPr lang="ru-RU" sz="2000"/>
              <a:t>реализации этих функций написаны Дугласом Ли. </a:t>
            </a:r>
            <a:endParaRPr/>
          </a:p>
          <a:p>
            <a:pPr marL="0" indent="0">
              <a:buNone/>
              <a:defRPr/>
            </a:pPr>
            <a:r>
              <a:rPr lang="ru-RU" sz="2000"/>
              <a:t>В общих чертах, куча является </a:t>
            </a:r>
            <a:r>
              <a:rPr lang="ru-RU" sz="2000" i="1"/>
              <a:t>двусвязным списком свободных блоков памяти</a:t>
            </a:r>
            <a:r>
              <a:rPr lang="ru-RU" sz="2000"/>
              <a:t>. </a:t>
            </a:r>
            <a:endParaRPr/>
          </a:p>
          <a:p>
            <a:pPr marL="0" indent="0">
              <a:buNone/>
              <a:defRPr/>
            </a:pPr>
            <a:br>
              <a:rPr lang="ru-RU" sz="2000"/>
            </a:br>
            <a:endParaRPr lang="en-US" sz="2000"/>
          </a:p>
        </p:txBody>
      </p:sp>
      <p:sp>
        <p:nvSpPr>
          <p:cNvPr id="782981158" name="Прямоугольник 5"/>
          <p:cNvSpPr/>
          <p:nvPr/>
        </p:nvSpPr>
        <p:spPr bwMode="auto">
          <a:xfrm>
            <a:off x="8491741" y="1546035"/>
            <a:ext cx="3174726" cy="288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 b="1">
                <a:solidFill>
                  <a:schemeClr val="tx1"/>
                </a:solidFill>
              </a:rPr>
              <a:t>chunk_prev_size/[prev data]</a:t>
            </a:r>
            <a:endParaRPr/>
          </a:p>
        </p:txBody>
      </p:sp>
      <p:sp>
        <p:nvSpPr>
          <p:cNvPr id="1046781501" name="Прямоугольник 9"/>
          <p:cNvSpPr/>
          <p:nvPr/>
        </p:nvSpPr>
        <p:spPr bwMode="auto">
          <a:xfrm>
            <a:off x="8492282" y="1835340"/>
            <a:ext cx="2310642" cy="288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 b="1">
                <a:solidFill>
                  <a:schemeClr val="tx1"/>
                </a:solidFill>
              </a:rPr>
              <a:t>chunk_size [/8]</a:t>
            </a:r>
            <a:endParaRPr/>
          </a:p>
        </p:txBody>
      </p:sp>
      <p:sp>
        <p:nvSpPr>
          <p:cNvPr id="541319360" name="Прямоугольник 10"/>
          <p:cNvSpPr/>
          <p:nvPr/>
        </p:nvSpPr>
        <p:spPr bwMode="auto">
          <a:xfrm>
            <a:off x="8491741" y="2118548"/>
            <a:ext cx="3174726" cy="153295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[data]</a:t>
            </a:r>
            <a:endParaRPr/>
          </a:p>
        </p:txBody>
      </p:sp>
      <p:sp>
        <p:nvSpPr>
          <p:cNvPr id="53655789" name="Прямоугольник 11"/>
          <p:cNvSpPr/>
          <p:nvPr/>
        </p:nvSpPr>
        <p:spPr bwMode="auto">
          <a:xfrm>
            <a:off x="8497127" y="3744741"/>
            <a:ext cx="3174726" cy="288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 b="1">
                <a:solidFill>
                  <a:schemeClr val="tx1"/>
                </a:solidFill>
              </a:rPr>
              <a:t>[prev data]</a:t>
            </a:r>
            <a:endParaRPr/>
          </a:p>
        </p:txBody>
      </p:sp>
      <p:sp>
        <p:nvSpPr>
          <p:cNvPr id="234783662" name="Прямоугольник 14"/>
          <p:cNvSpPr/>
          <p:nvPr/>
        </p:nvSpPr>
        <p:spPr bwMode="auto">
          <a:xfrm>
            <a:off x="8497127" y="4890404"/>
            <a:ext cx="3174726" cy="94362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[freed data]</a:t>
            </a:r>
            <a:endParaRPr/>
          </a:p>
        </p:txBody>
      </p:sp>
      <p:sp>
        <p:nvSpPr>
          <p:cNvPr id="328351518" name="Прямоугольник 15"/>
          <p:cNvSpPr/>
          <p:nvPr/>
        </p:nvSpPr>
        <p:spPr bwMode="auto">
          <a:xfrm>
            <a:off x="10801931" y="1835817"/>
            <a:ext cx="288235" cy="288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 b="1">
                <a:solidFill>
                  <a:schemeClr val="tx1"/>
                </a:solidFill>
              </a:rPr>
              <a:t>A</a:t>
            </a:r>
            <a:endParaRPr/>
          </a:p>
        </p:txBody>
      </p:sp>
      <p:sp>
        <p:nvSpPr>
          <p:cNvPr id="2055094506" name="Прямоугольник 16"/>
          <p:cNvSpPr/>
          <p:nvPr/>
        </p:nvSpPr>
        <p:spPr bwMode="auto">
          <a:xfrm>
            <a:off x="11091573" y="1835817"/>
            <a:ext cx="288235" cy="288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 b="1">
                <a:solidFill>
                  <a:schemeClr val="tx1"/>
                </a:solidFill>
              </a:rPr>
              <a:t>M</a:t>
            </a:r>
            <a:endParaRPr/>
          </a:p>
        </p:txBody>
      </p:sp>
      <p:sp>
        <p:nvSpPr>
          <p:cNvPr id="1104179129" name="Прямоугольник 17"/>
          <p:cNvSpPr/>
          <p:nvPr/>
        </p:nvSpPr>
        <p:spPr bwMode="auto">
          <a:xfrm>
            <a:off x="11377903" y="1835817"/>
            <a:ext cx="288235" cy="288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 b="1">
                <a:solidFill>
                  <a:schemeClr val="tx1"/>
                </a:solidFill>
              </a:rPr>
              <a:t>P</a:t>
            </a:r>
            <a:endParaRPr/>
          </a:p>
        </p:txBody>
      </p:sp>
      <p:sp>
        <p:nvSpPr>
          <p:cNvPr id="1948267259" name="Прямоугольник 18"/>
          <p:cNvSpPr/>
          <p:nvPr/>
        </p:nvSpPr>
        <p:spPr bwMode="auto">
          <a:xfrm>
            <a:off x="8497127" y="4318460"/>
            <a:ext cx="3175200" cy="288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 b="1">
                <a:solidFill>
                  <a:schemeClr val="tx1"/>
                </a:solidFill>
              </a:rPr>
              <a:t>forward_block_ptr</a:t>
            </a:r>
          </a:p>
        </p:txBody>
      </p:sp>
      <p:sp>
        <p:nvSpPr>
          <p:cNvPr id="959534484" name="Прямоугольник 19"/>
          <p:cNvSpPr/>
          <p:nvPr/>
        </p:nvSpPr>
        <p:spPr bwMode="auto">
          <a:xfrm>
            <a:off x="8497127" y="4604432"/>
            <a:ext cx="3174726" cy="288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 b="1">
                <a:solidFill>
                  <a:schemeClr val="tx1"/>
                </a:solidFill>
              </a:rPr>
              <a:t>backward_block_ptr</a:t>
            </a:r>
          </a:p>
        </p:txBody>
      </p:sp>
      <p:sp>
        <p:nvSpPr>
          <p:cNvPr id="364361554" name="Прямоугольник 20"/>
          <p:cNvSpPr/>
          <p:nvPr/>
        </p:nvSpPr>
        <p:spPr bwMode="auto">
          <a:xfrm>
            <a:off x="8497127" y="4029154"/>
            <a:ext cx="2305468" cy="288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 b="1">
                <a:solidFill>
                  <a:schemeClr val="tx1"/>
                </a:solidFill>
              </a:rPr>
              <a:t>chunk_size [/8]</a:t>
            </a:r>
            <a:endParaRPr/>
          </a:p>
        </p:txBody>
      </p:sp>
      <p:sp>
        <p:nvSpPr>
          <p:cNvPr id="1508048592" name="Прямоугольник 21"/>
          <p:cNvSpPr/>
          <p:nvPr/>
        </p:nvSpPr>
        <p:spPr bwMode="auto">
          <a:xfrm>
            <a:off x="10811127" y="4029217"/>
            <a:ext cx="288235" cy="288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 b="1">
                <a:solidFill>
                  <a:schemeClr val="tx1"/>
                </a:solidFill>
              </a:rPr>
              <a:t>A</a:t>
            </a:r>
            <a:endParaRPr/>
          </a:p>
        </p:txBody>
      </p:sp>
      <p:sp>
        <p:nvSpPr>
          <p:cNvPr id="1456402961" name="Прямоугольник 22"/>
          <p:cNvSpPr/>
          <p:nvPr/>
        </p:nvSpPr>
        <p:spPr bwMode="auto">
          <a:xfrm>
            <a:off x="11104579" y="4029217"/>
            <a:ext cx="288235" cy="288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 b="1">
                <a:solidFill>
                  <a:schemeClr val="tx1"/>
                </a:solidFill>
              </a:rPr>
              <a:t>M</a:t>
            </a:r>
            <a:endParaRPr/>
          </a:p>
        </p:txBody>
      </p:sp>
      <p:sp>
        <p:nvSpPr>
          <p:cNvPr id="223461002" name="Прямоугольник 23"/>
          <p:cNvSpPr/>
          <p:nvPr/>
        </p:nvSpPr>
        <p:spPr bwMode="auto">
          <a:xfrm>
            <a:off x="11394718" y="4029154"/>
            <a:ext cx="277463" cy="288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 b="1">
                <a:solidFill>
                  <a:schemeClr val="tx1"/>
                </a:solidFill>
              </a:rPr>
              <a:t>1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6073368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Занятые блоки</a:t>
            </a:r>
            <a:endParaRPr lang="en-US"/>
          </a:p>
        </p:txBody>
      </p:sp>
      <p:sp>
        <p:nvSpPr>
          <p:cNvPr id="1867033329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7FBA2B-964F-4C4D-AAF7-5A8399264638}" type="slidenum">
              <a:rPr lang="en-US"/>
              <a:t>32</a:t>
            </a:fld>
            <a:endParaRPr lang="en-US"/>
          </a:p>
        </p:txBody>
      </p:sp>
      <p:sp>
        <p:nvSpPr>
          <p:cNvPr id="1264612859" name="Объект 2"/>
          <p:cNvSpPr>
            <a:spLocks noGrp="1"/>
          </p:cNvSpPr>
          <p:nvPr>
            <p:ph idx="1"/>
          </p:nvPr>
        </p:nvSpPr>
        <p:spPr bwMode="auto">
          <a:xfrm>
            <a:off x="838201" y="1547328"/>
            <a:ext cx="6715538" cy="4530725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2000"/>
              <a:t>Структура занятого блока памяти выглядит следующим образом:</a:t>
            </a:r>
            <a:endParaRPr/>
          </a:p>
          <a:p>
            <a:pPr marL="0" indent="0">
              <a:buNone/>
              <a:defRPr/>
            </a:pPr>
            <a:r>
              <a:rPr lang="ru-RU" sz="2000"/>
              <a:t>Поле </a:t>
            </a:r>
            <a:r>
              <a:rPr lang="en-US" sz="2000" b="1">
                <a:solidFill>
                  <a:schemeClr val="tx1"/>
                </a:solidFill>
              </a:rPr>
              <a:t>chunk_size </a:t>
            </a:r>
            <a:r>
              <a:rPr lang="ru-RU" sz="2000"/>
              <a:t> равно размеру текущего блока. Т.к. размер блока всегда кратен 16</a:t>
            </a:r>
            <a:r>
              <a:rPr lang="en-US" sz="2000"/>
              <a:t> (</a:t>
            </a:r>
            <a:r>
              <a:rPr lang="ru-RU" sz="2000"/>
              <a:t>для </a:t>
            </a:r>
            <a:r>
              <a:rPr lang="en-US" sz="2000"/>
              <a:t>x64)</a:t>
            </a:r>
            <a:r>
              <a:rPr lang="ru-RU" sz="2000"/>
              <a:t>, последние 3 бита всегда равны 0. Эти 3 бита используются как флаги. </a:t>
            </a:r>
            <a:endParaRPr/>
          </a:p>
          <a:p>
            <a:pPr marL="0" indent="0">
              <a:buNone/>
              <a:defRPr/>
            </a:pPr>
            <a:r>
              <a:rPr lang="ru-RU" sz="2000">
                <a:solidFill>
                  <a:schemeClr val="tx1"/>
                </a:solidFill>
              </a:rPr>
              <a:t>Флаг </a:t>
            </a:r>
            <a:r>
              <a:rPr lang="en-US" sz="2000" b="1">
                <a:solidFill>
                  <a:schemeClr val="tx1"/>
                </a:solidFill>
              </a:rPr>
              <a:t>P</a:t>
            </a:r>
            <a:r>
              <a:rPr lang="ru-RU" sz="2000" b="1">
                <a:solidFill>
                  <a:schemeClr val="tx1"/>
                </a:solidFill>
              </a:rPr>
              <a:t> </a:t>
            </a:r>
            <a:r>
              <a:rPr lang="ru-RU" sz="2000">
                <a:solidFill>
                  <a:schemeClr val="tx1"/>
                </a:solidFill>
              </a:rPr>
              <a:t>отвечает за состояние предыдущего блока памяти (0 если свободен, 1 если выделен).</a:t>
            </a:r>
            <a:endParaRPr/>
          </a:p>
          <a:p>
            <a:pPr marL="0" indent="0">
              <a:buNone/>
              <a:defRPr/>
            </a:pPr>
            <a:r>
              <a:rPr lang="ru-RU" sz="2000"/>
              <a:t>Поле </a:t>
            </a:r>
            <a:r>
              <a:rPr lang="en-US" sz="2000" b="1"/>
              <a:t>chunk_prev_size</a:t>
            </a:r>
            <a:r>
              <a:rPr lang="ru-RU" sz="2000" b="1"/>
              <a:t> </a:t>
            </a:r>
            <a:r>
              <a:rPr lang="ru-RU" sz="2000"/>
              <a:t> равно размеру  предыдущего блока памяти, если предыдущий блок свободен. </a:t>
            </a:r>
            <a:r>
              <a:rPr lang="ru-RU" sz="2000" i="1"/>
              <a:t>Если предыдущий блок занят – в этом поле могут храниться данные предыдущего блока.</a:t>
            </a:r>
            <a:endParaRPr lang="ru-RU" sz="2000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en-US" sz="2000"/>
              <a:t>Malloc</a:t>
            </a:r>
            <a:r>
              <a:rPr lang="ru-RU" sz="2000"/>
              <a:t>()</a:t>
            </a:r>
            <a:r>
              <a:rPr lang="en-US" sz="2000"/>
              <a:t> </a:t>
            </a:r>
            <a:r>
              <a:rPr lang="ru-RU" sz="2000"/>
              <a:t>всегда возвращает адрес начала данных.</a:t>
            </a:r>
            <a:endParaRPr lang="en-US" sz="2000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endParaRPr lang="ru-RU" sz="2000"/>
          </a:p>
        </p:txBody>
      </p:sp>
      <p:cxnSp>
        <p:nvCxnSpPr>
          <p:cNvPr id="545369596" name="Прямая со стрелкой 6"/>
          <p:cNvCxnSpPr/>
          <p:nvPr/>
        </p:nvCxnSpPr>
        <p:spPr bwMode="auto">
          <a:xfrm>
            <a:off x="7710221" y="3265815"/>
            <a:ext cx="77634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7072581" name="TextBox 8"/>
          <p:cNvSpPr txBox="1"/>
          <p:nvPr/>
        </p:nvSpPr>
        <p:spPr bwMode="auto">
          <a:xfrm>
            <a:off x="8412933" y="1723751"/>
            <a:ext cx="2970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>
                <a:latin typeface="Consolas"/>
              </a:rPr>
              <a:t>void* ptr = malloc(x);</a:t>
            </a:r>
            <a:endParaRPr lang="ru-RU">
              <a:latin typeface="Consolas"/>
            </a:endParaRPr>
          </a:p>
        </p:txBody>
      </p:sp>
      <p:sp>
        <p:nvSpPr>
          <p:cNvPr id="1287298159" name="TextBox 18"/>
          <p:cNvSpPr txBox="1"/>
          <p:nvPr/>
        </p:nvSpPr>
        <p:spPr bwMode="auto">
          <a:xfrm>
            <a:off x="7669482" y="2938641"/>
            <a:ext cx="596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>
                <a:latin typeface="Consolas"/>
              </a:rPr>
              <a:t>ptr</a:t>
            </a:r>
            <a:endParaRPr lang="ru-RU"/>
          </a:p>
        </p:txBody>
      </p:sp>
      <p:sp>
        <p:nvSpPr>
          <p:cNvPr id="13542377" name="Прямоугольник 2"/>
          <p:cNvSpPr/>
          <p:nvPr/>
        </p:nvSpPr>
        <p:spPr bwMode="auto">
          <a:xfrm>
            <a:off x="8486567" y="2693302"/>
            <a:ext cx="3174726" cy="288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 b="1">
                <a:solidFill>
                  <a:schemeClr val="tx1"/>
                </a:solidFill>
              </a:rPr>
              <a:t>chunk_prev_size</a:t>
            </a:r>
            <a:r>
              <a:rPr lang="ru-RU" b="1">
                <a:solidFill>
                  <a:schemeClr val="tx1"/>
                </a:solidFill>
              </a:rPr>
              <a:t>/</a:t>
            </a:r>
            <a:r>
              <a:rPr lang="en-US" b="1">
                <a:solidFill>
                  <a:schemeClr val="tx1"/>
                </a:solidFill>
              </a:rPr>
              <a:t>[prev data]</a:t>
            </a:r>
            <a:endParaRPr/>
          </a:p>
        </p:txBody>
      </p:sp>
      <p:sp>
        <p:nvSpPr>
          <p:cNvPr id="2949850" name="Прямоугольник 7"/>
          <p:cNvSpPr/>
          <p:nvPr/>
        </p:nvSpPr>
        <p:spPr bwMode="auto">
          <a:xfrm>
            <a:off x="8487108" y="2982607"/>
            <a:ext cx="2310642" cy="288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 b="1">
                <a:solidFill>
                  <a:schemeClr val="tx1"/>
                </a:solidFill>
              </a:rPr>
              <a:t>chunk_size [/8]</a:t>
            </a:r>
            <a:endParaRPr/>
          </a:p>
        </p:txBody>
      </p:sp>
      <p:sp>
        <p:nvSpPr>
          <p:cNvPr id="769172078" name="Прямоугольник 11"/>
          <p:cNvSpPr/>
          <p:nvPr/>
        </p:nvSpPr>
        <p:spPr bwMode="auto">
          <a:xfrm>
            <a:off x="8486567" y="3265815"/>
            <a:ext cx="3174726" cy="153295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[data]</a:t>
            </a:r>
            <a:endParaRPr/>
          </a:p>
        </p:txBody>
      </p:sp>
      <p:sp>
        <p:nvSpPr>
          <p:cNvPr id="2028619793" name="Прямоугольник 12"/>
          <p:cNvSpPr/>
          <p:nvPr/>
        </p:nvSpPr>
        <p:spPr bwMode="auto">
          <a:xfrm>
            <a:off x="10796757" y="2983084"/>
            <a:ext cx="288235" cy="288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 b="1">
                <a:solidFill>
                  <a:schemeClr val="tx1"/>
                </a:solidFill>
              </a:rPr>
              <a:t>A</a:t>
            </a:r>
            <a:endParaRPr/>
          </a:p>
        </p:txBody>
      </p:sp>
      <p:sp>
        <p:nvSpPr>
          <p:cNvPr id="279360397" name="Прямоугольник 14"/>
          <p:cNvSpPr/>
          <p:nvPr/>
        </p:nvSpPr>
        <p:spPr bwMode="auto">
          <a:xfrm>
            <a:off x="11086399" y="2983084"/>
            <a:ext cx="288235" cy="288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 b="1">
                <a:solidFill>
                  <a:schemeClr val="tx1"/>
                </a:solidFill>
              </a:rPr>
              <a:t>M</a:t>
            </a:r>
            <a:endParaRPr/>
          </a:p>
        </p:txBody>
      </p:sp>
      <p:sp>
        <p:nvSpPr>
          <p:cNvPr id="1129789087" name="Прямоугольник 19"/>
          <p:cNvSpPr/>
          <p:nvPr/>
        </p:nvSpPr>
        <p:spPr bwMode="auto">
          <a:xfrm>
            <a:off x="11372729" y="2983084"/>
            <a:ext cx="288235" cy="288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 b="1">
                <a:solidFill>
                  <a:schemeClr val="tx1"/>
                </a:solidFill>
              </a:rPr>
              <a:t>P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6313701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Свободные блоки</a:t>
            </a:r>
            <a:endParaRPr lang="en-US"/>
          </a:p>
        </p:txBody>
      </p:sp>
      <p:sp>
        <p:nvSpPr>
          <p:cNvPr id="156914137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7FBA2B-964F-4C4D-AAF7-5A8399264638}" type="slidenum">
              <a:rPr lang="en-US"/>
              <a:t>33</a:t>
            </a:fld>
            <a:endParaRPr lang="en-US"/>
          </a:p>
        </p:txBody>
      </p:sp>
      <p:sp>
        <p:nvSpPr>
          <p:cNvPr id="1205893720" name="Объект 2"/>
          <p:cNvSpPr>
            <a:spLocks noGrp="1"/>
          </p:cNvSpPr>
          <p:nvPr>
            <p:ph idx="1"/>
          </p:nvPr>
        </p:nvSpPr>
        <p:spPr bwMode="auto">
          <a:xfrm>
            <a:off x="838201" y="1547328"/>
            <a:ext cx="6945172" cy="4530725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2000"/>
              <a:t>Если блок данных свободен, то в части бывших данных располагаются 2 поля: указатель на предыдущий свободный блок (</a:t>
            </a:r>
            <a:r>
              <a:rPr lang="en-US" sz="2000" b="1">
                <a:solidFill>
                  <a:schemeClr val="tx1"/>
                </a:solidFill>
              </a:rPr>
              <a:t>forward_block_ptr</a:t>
            </a:r>
            <a:r>
              <a:rPr lang="ru-RU" sz="2000"/>
              <a:t>) и следующий свободный блок (</a:t>
            </a:r>
            <a:r>
              <a:rPr lang="en-US" sz="2000" b="1">
                <a:solidFill>
                  <a:schemeClr val="tx1"/>
                </a:solidFill>
              </a:rPr>
              <a:t>backward_block_ptr</a:t>
            </a:r>
            <a:r>
              <a:rPr lang="ru-RU" sz="2000"/>
              <a:t>)</a:t>
            </a:r>
            <a:r>
              <a:rPr lang="en-US" sz="2000"/>
              <a:t> </a:t>
            </a:r>
            <a:r>
              <a:rPr lang="ru-RU" sz="2000"/>
              <a:t>.</a:t>
            </a:r>
            <a:endParaRPr/>
          </a:p>
          <a:p>
            <a:pPr marL="0" indent="0">
              <a:buNone/>
              <a:defRPr/>
            </a:pPr>
            <a:r>
              <a:rPr lang="ru-RU" sz="2000"/>
              <a:t>Функция </a:t>
            </a:r>
            <a:r>
              <a:rPr lang="en-US" sz="2000"/>
              <a:t>free</a:t>
            </a:r>
            <a:r>
              <a:rPr lang="ru-RU" sz="2000"/>
              <a:t>()</a:t>
            </a:r>
            <a:r>
              <a:rPr lang="en-US" sz="2000"/>
              <a:t> </a:t>
            </a:r>
            <a:r>
              <a:rPr lang="ru-RU" sz="2000"/>
              <a:t>заполняет эти поля при освобождении блока.</a:t>
            </a:r>
            <a:endParaRPr/>
          </a:p>
          <a:p>
            <a:pPr marL="0" indent="0">
              <a:buNone/>
              <a:defRPr/>
            </a:pPr>
            <a:r>
              <a:rPr lang="ru-RU" sz="2000"/>
              <a:t>Если освобождается блок данных, перед которым уже есть свободный блок, они объединяются в один =</a:t>
            </a:r>
            <a:r>
              <a:rPr lang="en-US" sz="2000"/>
              <a:t>&gt; </a:t>
            </a:r>
            <a:r>
              <a:rPr lang="ru-RU" sz="2000"/>
              <a:t>перед свободным блоком и после свободного блока не может находиться другой свободный блок</a:t>
            </a:r>
            <a:r>
              <a:rPr lang="en-US" sz="2000"/>
              <a:t> </a:t>
            </a:r>
            <a:r>
              <a:rPr lang="ru-RU" sz="2000"/>
              <a:t>=</a:t>
            </a:r>
            <a:r>
              <a:rPr lang="en-US" sz="2000"/>
              <a:t>&gt; </a:t>
            </a:r>
            <a:r>
              <a:rPr lang="ru-RU" sz="2000"/>
              <a:t>флаг </a:t>
            </a:r>
            <a:r>
              <a:rPr lang="en-US" sz="2000"/>
              <a:t>P=1</a:t>
            </a:r>
            <a:r>
              <a:rPr lang="ru-RU" sz="2000"/>
              <a:t>.</a:t>
            </a:r>
            <a:endParaRPr lang="en-US" sz="2000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endParaRPr lang="ru-RU" sz="2000"/>
          </a:p>
        </p:txBody>
      </p:sp>
      <p:sp>
        <p:nvSpPr>
          <p:cNvPr id="153596504" name="Прямоугольник 2"/>
          <p:cNvSpPr/>
          <p:nvPr/>
        </p:nvSpPr>
        <p:spPr bwMode="auto">
          <a:xfrm>
            <a:off x="8722211" y="1803399"/>
            <a:ext cx="3174726" cy="288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 b="1">
                <a:solidFill>
                  <a:schemeClr val="tx1"/>
                </a:solidFill>
              </a:rPr>
              <a:t>[prev data]</a:t>
            </a:r>
            <a:endParaRPr/>
          </a:p>
        </p:txBody>
      </p:sp>
      <p:sp>
        <p:nvSpPr>
          <p:cNvPr id="915777151" name="Прямоугольник 5"/>
          <p:cNvSpPr/>
          <p:nvPr/>
        </p:nvSpPr>
        <p:spPr bwMode="auto">
          <a:xfrm>
            <a:off x="8722211" y="2949062"/>
            <a:ext cx="3174726" cy="94362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[freed data]</a:t>
            </a:r>
            <a:endParaRPr/>
          </a:p>
        </p:txBody>
      </p:sp>
      <p:sp>
        <p:nvSpPr>
          <p:cNvPr id="1037814706" name="Прямоугольник 6"/>
          <p:cNvSpPr/>
          <p:nvPr/>
        </p:nvSpPr>
        <p:spPr bwMode="auto">
          <a:xfrm>
            <a:off x="8722211" y="2377118"/>
            <a:ext cx="3175200" cy="288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 b="1">
                <a:solidFill>
                  <a:schemeClr val="tx1"/>
                </a:solidFill>
              </a:rPr>
              <a:t>forward_block_ptr</a:t>
            </a:r>
          </a:p>
        </p:txBody>
      </p:sp>
      <p:sp>
        <p:nvSpPr>
          <p:cNvPr id="986797792" name="Прямоугольник 7"/>
          <p:cNvSpPr/>
          <p:nvPr/>
        </p:nvSpPr>
        <p:spPr bwMode="auto">
          <a:xfrm>
            <a:off x="8722211" y="2663090"/>
            <a:ext cx="3174726" cy="288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 b="1">
                <a:solidFill>
                  <a:schemeClr val="tx1"/>
                </a:solidFill>
              </a:rPr>
              <a:t>backward_block_ptr</a:t>
            </a:r>
          </a:p>
        </p:txBody>
      </p:sp>
      <p:sp>
        <p:nvSpPr>
          <p:cNvPr id="793750121" name="Прямоугольник 8"/>
          <p:cNvSpPr/>
          <p:nvPr/>
        </p:nvSpPr>
        <p:spPr bwMode="auto">
          <a:xfrm>
            <a:off x="8722211" y="2087812"/>
            <a:ext cx="2305468" cy="288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 b="1">
                <a:solidFill>
                  <a:schemeClr val="tx1"/>
                </a:solidFill>
              </a:rPr>
              <a:t>chunk_size [/8]</a:t>
            </a:r>
            <a:endParaRPr/>
          </a:p>
        </p:txBody>
      </p:sp>
      <p:sp>
        <p:nvSpPr>
          <p:cNvPr id="608208366" name="Прямоугольник 9"/>
          <p:cNvSpPr/>
          <p:nvPr/>
        </p:nvSpPr>
        <p:spPr bwMode="auto">
          <a:xfrm>
            <a:off x="11036211" y="2087875"/>
            <a:ext cx="288235" cy="288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 b="1">
                <a:solidFill>
                  <a:schemeClr val="tx1"/>
                </a:solidFill>
              </a:rPr>
              <a:t>A</a:t>
            </a:r>
            <a:endParaRPr/>
          </a:p>
        </p:txBody>
      </p:sp>
      <p:sp>
        <p:nvSpPr>
          <p:cNvPr id="544758404" name="Прямоугольник 10"/>
          <p:cNvSpPr/>
          <p:nvPr/>
        </p:nvSpPr>
        <p:spPr bwMode="auto">
          <a:xfrm>
            <a:off x="11329663" y="2087875"/>
            <a:ext cx="288235" cy="288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 b="1">
                <a:solidFill>
                  <a:schemeClr val="tx1"/>
                </a:solidFill>
              </a:rPr>
              <a:t>M</a:t>
            </a:r>
            <a:endParaRPr/>
          </a:p>
        </p:txBody>
      </p:sp>
      <p:sp>
        <p:nvSpPr>
          <p:cNvPr id="1704482795" name="Прямоугольник 15"/>
          <p:cNvSpPr/>
          <p:nvPr/>
        </p:nvSpPr>
        <p:spPr bwMode="auto">
          <a:xfrm>
            <a:off x="11619802" y="2087812"/>
            <a:ext cx="277463" cy="288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 b="1">
                <a:solidFill>
                  <a:schemeClr val="tx1"/>
                </a:solidFill>
              </a:rPr>
              <a:t>1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7550401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Структура кучи</a:t>
            </a:r>
            <a:endParaRPr lang="en-US"/>
          </a:p>
        </p:txBody>
      </p:sp>
      <p:sp>
        <p:nvSpPr>
          <p:cNvPr id="139486879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7FBA2B-964F-4C4D-AAF7-5A8399264638}" type="slidenum">
              <a:rPr lang="en-US"/>
              <a:t>34</a:t>
            </a:fld>
            <a:endParaRPr lang="en-US"/>
          </a:p>
        </p:txBody>
      </p:sp>
      <p:graphicFrame>
        <p:nvGraphicFramePr>
          <p:cNvPr id="335527324" name="Table 2"/>
          <p:cNvGraphicFramePr>
            <a:graphicFrameLocks noGrp="1"/>
          </p:cNvGraphicFramePr>
          <p:nvPr/>
        </p:nvGraphicFramePr>
        <p:xfrm>
          <a:off x="5278610" y="573895"/>
          <a:ext cx="3165408" cy="122030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389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11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45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07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5076">
                <a:tc gridSpan="4"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/>
                        <a:t>[data end]</a:t>
                      </a:r>
                      <a:endParaRPr lang="ru-RU"/>
                    </a:p>
                  </a:txBody>
                  <a:tcPr marL="0" marR="0" marT="0" marB="0" anchor="ctr">
                    <a:solidFill>
                      <a:srgbClr val="87B6E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076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/>
                        <a:t>chunk_size=32</a:t>
                      </a:r>
                      <a:endParaRPr lang="ru-RU"/>
                    </a:p>
                  </a:txBody>
                  <a:tcPr marL="0" marR="0" marT="0" marB="0" anchor="ctr">
                    <a:solidFill>
                      <a:srgbClr val="87B6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/>
                        <a:t>A</a:t>
                      </a:r>
                      <a:endParaRPr lang="ru-RU"/>
                    </a:p>
                  </a:txBody>
                  <a:tcPr marL="0" marR="0" marT="0" marB="0" anchor="ctr">
                    <a:solidFill>
                      <a:srgbClr val="87B6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/>
                        <a:t>0</a:t>
                      </a:r>
                      <a:endParaRPr lang="ru-RU"/>
                    </a:p>
                  </a:txBody>
                  <a:tcPr marL="0" marR="0" marT="0" marB="0" anchor="ctr">
                    <a:solidFill>
                      <a:srgbClr val="87B6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/>
                        <a:t>1</a:t>
                      </a:r>
                      <a:endParaRPr lang="ru-RU"/>
                    </a:p>
                  </a:txBody>
                  <a:tcPr marL="0" marR="0" marT="0" marB="0" anchor="ctr">
                    <a:solidFill>
                      <a:srgbClr val="87B6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5076">
                <a:tc gridSpan="4"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/>
                        <a:t>forward_block_ptr</a:t>
                      </a:r>
                      <a:endParaRPr lang="ru-RU"/>
                    </a:p>
                  </a:txBody>
                  <a:tcPr marL="0" marR="0" marT="0" marB="0" anchor="ctr">
                    <a:solidFill>
                      <a:srgbClr val="87B6E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5076">
                <a:tc gridSpan="4"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/>
                        <a:t>backward_block_ptr</a:t>
                      </a:r>
                      <a:endParaRPr lang="ru-RU"/>
                    </a:p>
                  </a:txBody>
                  <a:tcPr marL="0" marR="0" marT="0" marB="0" anchor="ctr">
                    <a:solidFill>
                      <a:srgbClr val="87B6E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556395959" name="Table 3"/>
          <p:cNvGraphicFramePr>
            <a:graphicFrameLocks noGrp="1"/>
          </p:cNvGraphicFramePr>
          <p:nvPr/>
        </p:nvGraphicFramePr>
        <p:xfrm>
          <a:off x="5278610" y="1794199"/>
          <a:ext cx="3165408" cy="183045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389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11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45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07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5076">
                <a:tc gridSpan="4"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/>
                        <a:t>prev_data_size=32</a:t>
                      </a:r>
                      <a:endParaRPr lang="ru-RU"/>
                    </a:p>
                  </a:txBody>
                  <a:tcPr marL="0" marR="0" marT="0" marB="0"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076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/>
                        <a:t>chunk_size=128</a:t>
                      </a:r>
                      <a:endParaRPr lang="ru-RU"/>
                    </a:p>
                  </a:txBody>
                  <a:tcPr marL="0" marR="0" marT="0" marB="0"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/>
                        <a:t>A</a:t>
                      </a:r>
                      <a:endParaRPr lang="ru-RU"/>
                    </a:p>
                  </a:txBody>
                  <a:tcPr marL="0" marR="0" marT="0" marB="0"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/>
                        <a:t>0</a:t>
                      </a:r>
                      <a:endParaRPr lang="ru-RU"/>
                    </a:p>
                  </a:txBody>
                  <a:tcPr marL="0" marR="0" marT="0" marB="0"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/>
                        <a:t>0</a:t>
                      </a:r>
                      <a:endParaRPr lang="ru-RU"/>
                    </a:p>
                  </a:txBody>
                  <a:tcPr marL="0" marR="0" marT="0" marB="0"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20304">
                <a:tc gridSpan="4"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/>
                        <a:t>[data]</a:t>
                      </a:r>
                      <a:endParaRPr lang="ru-RU"/>
                    </a:p>
                  </a:txBody>
                  <a:tcPr marL="0" marR="0" marT="0" marB="0"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49904471" name="Table 6"/>
          <p:cNvGraphicFramePr>
            <a:graphicFrameLocks noGrp="1"/>
          </p:cNvGraphicFramePr>
          <p:nvPr/>
        </p:nvGraphicFramePr>
        <p:xfrm>
          <a:off x="5278610" y="4844959"/>
          <a:ext cx="3165408" cy="15253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389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11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45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07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5076">
                <a:tc gridSpan="4"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/>
                        <a:t>[data end]</a:t>
                      </a:r>
                      <a:endParaRPr lang="ru-RU"/>
                    </a:p>
                  </a:txBody>
                  <a:tcPr marL="0" marR="0" marT="0" marB="0" anchor="ctr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076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/>
                        <a:t>chunk_size=32</a:t>
                      </a:r>
                      <a:endParaRPr lang="ru-RU"/>
                    </a:p>
                  </a:txBody>
                  <a:tcPr marL="0" marR="0" marT="0" marB="0" anchor="ctr">
                    <a:solidFill>
                      <a:srgbClr val="87B6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/>
                        <a:t>A</a:t>
                      </a:r>
                      <a:endParaRPr lang="ru-RU"/>
                    </a:p>
                  </a:txBody>
                  <a:tcPr marL="0" marR="0" marT="0" marB="0" anchor="ctr">
                    <a:solidFill>
                      <a:srgbClr val="87B6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/>
                        <a:t>0</a:t>
                      </a:r>
                      <a:endParaRPr lang="ru-RU"/>
                    </a:p>
                  </a:txBody>
                  <a:tcPr marL="0" marR="0" marT="0" marB="0" anchor="ctr">
                    <a:solidFill>
                      <a:srgbClr val="87B6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/>
                        <a:t>1</a:t>
                      </a:r>
                      <a:endParaRPr lang="ru-RU"/>
                    </a:p>
                  </a:txBody>
                  <a:tcPr marL="0" marR="0" marT="0" marB="0" anchor="ctr">
                    <a:solidFill>
                      <a:srgbClr val="87B6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5076">
                <a:tc gridSpan="4"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/>
                        <a:t>forward_block_ptr</a:t>
                      </a:r>
                      <a:endParaRPr lang="ru-RU"/>
                    </a:p>
                  </a:txBody>
                  <a:tcPr marL="0" marR="0" marT="0" marB="0" anchor="ctr">
                    <a:solidFill>
                      <a:srgbClr val="87B6E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5076">
                <a:tc gridSpan="4"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/>
                        <a:t>backward_block_ptr</a:t>
                      </a:r>
                      <a:endParaRPr lang="ru-RU"/>
                    </a:p>
                  </a:txBody>
                  <a:tcPr marL="0" marR="0" marT="0" marB="0" anchor="ctr">
                    <a:solidFill>
                      <a:srgbClr val="87B6E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5076">
                <a:tc gridSpan="4"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/>
                        <a:t>[free area]</a:t>
                      </a:r>
                      <a:endParaRPr lang="ru-RU"/>
                    </a:p>
                  </a:txBody>
                  <a:tcPr marL="0" marR="0" marT="0" marB="0" anchor="ctr">
                    <a:solidFill>
                      <a:srgbClr val="87B6E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2033742003" name="Table 7"/>
          <p:cNvGraphicFramePr>
            <a:graphicFrameLocks noGrp="1"/>
          </p:cNvGraphicFramePr>
          <p:nvPr/>
        </p:nvGraphicFramePr>
        <p:xfrm>
          <a:off x="5278610" y="3624654"/>
          <a:ext cx="3165408" cy="122030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389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11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45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07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5076">
                <a:tc gridSpan="4"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/>
                        <a:t>[data end]</a:t>
                      </a:r>
                      <a:endParaRPr lang="ru-RU"/>
                    </a:p>
                  </a:txBody>
                  <a:tcPr marL="0" marR="0" marT="0" marB="0"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076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/>
                        <a:t>chunk_size=32</a:t>
                      </a:r>
                      <a:endParaRPr lang="ru-RU"/>
                    </a:p>
                  </a:txBody>
                  <a:tcPr marL="0" marR="0" marT="0" marB="0"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/>
                        <a:t>A</a:t>
                      </a:r>
                      <a:endParaRPr lang="ru-RU"/>
                    </a:p>
                  </a:txBody>
                  <a:tcPr marL="0" marR="0" marT="0" marB="0"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/>
                        <a:t>0</a:t>
                      </a:r>
                      <a:endParaRPr lang="ru-RU"/>
                    </a:p>
                  </a:txBody>
                  <a:tcPr marL="0" marR="0" marT="0" marB="0"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/>
                        <a:t>1</a:t>
                      </a:r>
                      <a:endParaRPr lang="ru-RU"/>
                    </a:p>
                  </a:txBody>
                  <a:tcPr marL="0" marR="0" marT="0" marB="0"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0152">
                <a:tc gridSpan="4"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/>
                        <a:t>[data]</a:t>
                      </a:r>
                      <a:endParaRPr lang="ru-RU"/>
                    </a:p>
                  </a:txBody>
                  <a:tcPr marL="0" marR="0" marT="0" marB="0"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6266763" name="Right Brace 8"/>
          <p:cNvSpPr/>
          <p:nvPr/>
        </p:nvSpPr>
        <p:spPr bwMode="auto">
          <a:xfrm>
            <a:off x="8444018" y="573895"/>
            <a:ext cx="252000" cy="1220304"/>
          </a:xfrm>
          <a:prstGeom prst="rightBrace">
            <a:avLst>
              <a:gd name="adj1" fmla="val 8333"/>
              <a:gd name="adj2" fmla="val 50000"/>
            </a:avLst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822344756" name="Right Brace 10"/>
          <p:cNvSpPr/>
          <p:nvPr/>
        </p:nvSpPr>
        <p:spPr bwMode="auto">
          <a:xfrm>
            <a:off x="8444018" y="1794198"/>
            <a:ext cx="252000" cy="1830455"/>
          </a:xfrm>
          <a:prstGeom prst="rightBrace">
            <a:avLst>
              <a:gd name="adj1" fmla="val 8333"/>
              <a:gd name="adj2" fmla="val 50000"/>
            </a:avLst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533132195" name="Right Brace 13"/>
          <p:cNvSpPr/>
          <p:nvPr/>
        </p:nvSpPr>
        <p:spPr bwMode="auto">
          <a:xfrm>
            <a:off x="8444018" y="3624654"/>
            <a:ext cx="252000" cy="1220304"/>
          </a:xfrm>
          <a:prstGeom prst="rightBrace">
            <a:avLst>
              <a:gd name="adj1" fmla="val 8333"/>
              <a:gd name="adj2" fmla="val 50000"/>
            </a:avLst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368483311" name="Right Brace 40"/>
          <p:cNvSpPr/>
          <p:nvPr/>
        </p:nvSpPr>
        <p:spPr bwMode="auto">
          <a:xfrm>
            <a:off x="8463039" y="4844958"/>
            <a:ext cx="232979" cy="1511392"/>
          </a:xfrm>
          <a:prstGeom prst="rightBrace">
            <a:avLst>
              <a:gd name="adj1" fmla="val 8333"/>
              <a:gd name="adj2" fmla="val 50000"/>
            </a:avLst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cxnSp>
        <p:nvCxnSpPr>
          <p:cNvPr id="245772926" name="Соединитель: уступ 48"/>
          <p:cNvCxnSpPr/>
          <p:nvPr/>
        </p:nvCxnSpPr>
        <p:spPr bwMode="auto">
          <a:xfrm rot="10800000" flipH="1">
            <a:off x="5278610" y="567823"/>
            <a:ext cx="10772" cy="5328000"/>
          </a:xfrm>
          <a:prstGeom prst="bentConnector3">
            <a:avLst>
              <a:gd name="adj1" fmla="val -473951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32474376" name="Соединитель: уступ 48"/>
          <p:cNvCxnSpPr/>
          <p:nvPr/>
        </p:nvCxnSpPr>
        <p:spPr bwMode="auto">
          <a:xfrm rot="10800000" flipV="1">
            <a:off x="8433246" y="1352958"/>
            <a:ext cx="10772" cy="3492000"/>
          </a:xfrm>
          <a:prstGeom prst="bentConnector3">
            <a:avLst>
              <a:gd name="adj1" fmla="val -12214259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958965779" name="Соединитель: уступ 44"/>
          <p:cNvCxnSpPr/>
          <p:nvPr/>
        </p:nvCxnSpPr>
        <p:spPr bwMode="auto">
          <a:xfrm rot="10800000">
            <a:off x="4511837" y="567823"/>
            <a:ext cx="756000" cy="1025038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7996425" name="Соединитель: уступ 52"/>
          <p:cNvCxnSpPr/>
          <p:nvPr/>
        </p:nvCxnSpPr>
        <p:spPr bwMode="auto">
          <a:xfrm>
            <a:off x="8444018" y="5668442"/>
            <a:ext cx="549558" cy="99164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3148313" name="TextBox 9"/>
          <p:cNvSpPr txBox="1"/>
          <p:nvPr/>
        </p:nvSpPr>
        <p:spPr bwMode="auto">
          <a:xfrm>
            <a:off x="4776631" y="146735"/>
            <a:ext cx="5180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/>
              <a:t>0x0</a:t>
            </a:r>
            <a:endParaRPr lang="ru-RU"/>
          </a:p>
        </p:txBody>
      </p:sp>
      <p:sp>
        <p:nvSpPr>
          <p:cNvPr id="2106451355" name="TextBox 11"/>
          <p:cNvSpPr txBox="1"/>
          <p:nvPr/>
        </p:nvSpPr>
        <p:spPr bwMode="auto">
          <a:xfrm>
            <a:off x="4504154" y="6308209"/>
            <a:ext cx="771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/>
              <a:t>0xF…F</a:t>
            </a:r>
            <a:endParaRPr lang="ru-RU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2500746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 </a:t>
            </a:r>
            <a:r>
              <a:rPr lang="ru-RU"/>
              <a:t>Слияние свободных блоков</a:t>
            </a:r>
            <a:endParaRPr lang="en-US"/>
          </a:p>
        </p:txBody>
      </p:sp>
      <p:sp>
        <p:nvSpPr>
          <p:cNvPr id="478765814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7FBA2B-964F-4C4D-AAF7-5A8399264638}" type="slidenum">
              <a:rPr lang="en-US"/>
              <a:t>35</a:t>
            </a:fld>
            <a:endParaRPr lang="en-US"/>
          </a:p>
        </p:txBody>
      </p:sp>
      <p:sp>
        <p:nvSpPr>
          <p:cNvPr id="404381125" name="Номер слайда 4"/>
          <p:cNvSpPr txBox="1"/>
          <p:nvPr/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>
              <a:defRPr sz="18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B67FBA2B-964F-4C4D-AAF7-5A8399264638}" type="slidenum">
              <a:rPr lang="en-US"/>
              <a:t>35</a:t>
            </a:fld>
            <a:endParaRPr lang="en-US"/>
          </a:p>
        </p:txBody>
      </p:sp>
      <p:sp>
        <p:nvSpPr>
          <p:cNvPr id="813481236" name="Прямоугольник 143"/>
          <p:cNvSpPr/>
          <p:nvPr/>
        </p:nvSpPr>
        <p:spPr bwMode="auto">
          <a:xfrm>
            <a:off x="1651865" y="2963621"/>
            <a:ext cx="2196000" cy="54920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non_free_block1</a:t>
            </a:r>
            <a:endParaRPr/>
          </a:p>
        </p:txBody>
      </p:sp>
      <p:sp>
        <p:nvSpPr>
          <p:cNvPr id="294572156" name="Прямоугольник 146"/>
          <p:cNvSpPr/>
          <p:nvPr/>
        </p:nvSpPr>
        <p:spPr bwMode="auto">
          <a:xfrm>
            <a:off x="1651863" y="4742384"/>
            <a:ext cx="2196000" cy="54920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non_free_block3</a:t>
            </a:r>
            <a:endParaRPr/>
          </a:p>
        </p:txBody>
      </p:sp>
      <p:sp>
        <p:nvSpPr>
          <p:cNvPr id="1535341945" name="Прямоугольник 149"/>
          <p:cNvSpPr/>
          <p:nvPr/>
        </p:nvSpPr>
        <p:spPr bwMode="auto">
          <a:xfrm>
            <a:off x="1651864" y="1738079"/>
            <a:ext cx="2196000" cy="1218889"/>
          </a:xfrm>
          <a:prstGeom prst="rect">
            <a:avLst/>
          </a:prstGeom>
          <a:solidFill>
            <a:srgbClr val="87B6E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 b="1">
                <a:solidFill>
                  <a:schemeClr val="tx1"/>
                </a:solidFill>
              </a:rPr>
              <a:t>free_block0</a:t>
            </a:r>
            <a:endParaRPr/>
          </a:p>
        </p:txBody>
      </p:sp>
      <p:sp>
        <p:nvSpPr>
          <p:cNvPr id="1410100063" name="Прямоугольник 150"/>
          <p:cNvSpPr/>
          <p:nvPr/>
        </p:nvSpPr>
        <p:spPr bwMode="auto">
          <a:xfrm>
            <a:off x="1842383" y="2053432"/>
            <a:ext cx="1907469" cy="37031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defRPr/>
            </a:pPr>
            <a:r>
              <a:rPr lang="en-US" b="1">
                <a:solidFill>
                  <a:schemeClr val="tx1"/>
                </a:solidFill>
              </a:rPr>
              <a:t>fp: free_block1</a:t>
            </a:r>
            <a:endParaRPr/>
          </a:p>
        </p:txBody>
      </p:sp>
      <p:sp>
        <p:nvSpPr>
          <p:cNvPr id="1160488224" name="Прямоугольник 151"/>
          <p:cNvSpPr/>
          <p:nvPr/>
        </p:nvSpPr>
        <p:spPr bwMode="auto">
          <a:xfrm>
            <a:off x="1842383" y="2432071"/>
            <a:ext cx="1907469" cy="37031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defRPr/>
            </a:pPr>
            <a:r>
              <a:rPr lang="en-US" b="1">
                <a:solidFill>
                  <a:schemeClr val="tx1"/>
                </a:solidFill>
              </a:rPr>
              <a:t>bp: ???</a:t>
            </a:r>
            <a:endParaRPr/>
          </a:p>
        </p:txBody>
      </p:sp>
      <p:sp>
        <p:nvSpPr>
          <p:cNvPr id="184250583" name="Прямоугольник 152"/>
          <p:cNvSpPr/>
          <p:nvPr/>
        </p:nvSpPr>
        <p:spPr bwMode="auto">
          <a:xfrm>
            <a:off x="1651864" y="3519475"/>
            <a:ext cx="2196000" cy="121888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 b="1">
                <a:solidFill>
                  <a:schemeClr val="tx1"/>
                </a:solidFill>
              </a:rPr>
              <a:t>free_block1</a:t>
            </a:r>
            <a:endParaRPr/>
          </a:p>
        </p:txBody>
      </p:sp>
      <p:sp>
        <p:nvSpPr>
          <p:cNvPr id="1535579013" name="Прямоугольник 153"/>
          <p:cNvSpPr/>
          <p:nvPr/>
        </p:nvSpPr>
        <p:spPr bwMode="auto">
          <a:xfrm>
            <a:off x="1842383" y="3838638"/>
            <a:ext cx="1907469" cy="37031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defRPr/>
            </a:pPr>
            <a:r>
              <a:rPr lang="en-US" b="1">
                <a:solidFill>
                  <a:schemeClr val="tx1"/>
                </a:solidFill>
              </a:rPr>
              <a:t>fp: &amp;free_block2</a:t>
            </a:r>
            <a:endParaRPr/>
          </a:p>
        </p:txBody>
      </p:sp>
      <p:sp>
        <p:nvSpPr>
          <p:cNvPr id="1040338073" name="Прямоугольник 154"/>
          <p:cNvSpPr/>
          <p:nvPr/>
        </p:nvSpPr>
        <p:spPr bwMode="auto">
          <a:xfrm>
            <a:off x="1842383" y="4205085"/>
            <a:ext cx="1907469" cy="37031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defRPr/>
            </a:pPr>
            <a:r>
              <a:rPr lang="en-US" b="1">
                <a:solidFill>
                  <a:schemeClr val="tx1"/>
                </a:solidFill>
              </a:rPr>
              <a:t>bp: &amp;free_block0</a:t>
            </a:r>
            <a:endParaRPr/>
          </a:p>
        </p:txBody>
      </p:sp>
      <p:sp>
        <p:nvSpPr>
          <p:cNvPr id="794063724" name="Прямоугольник 155"/>
          <p:cNvSpPr/>
          <p:nvPr/>
        </p:nvSpPr>
        <p:spPr bwMode="auto">
          <a:xfrm>
            <a:off x="1651863" y="5296328"/>
            <a:ext cx="2196000" cy="121888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 b="1">
                <a:solidFill>
                  <a:schemeClr val="tx1"/>
                </a:solidFill>
              </a:rPr>
              <a:t>free_block2</a:t>
            </a:r>
            <a:endParaRPr/>
          </a:p>
        </p:txBody>
      </p:sp>
      <p:sp>
        <p:nvSpPr>
          <p:cNvPr id="1293094095" name="Прямоугольник 156"/>
          <p:cNvSpPr/>
          <p:nvPr/>
        </p:nvSpPr>
        <p:spPr bwMode="auto">
          <a:xfrm>
            <a:off x="1842383" y="5610157"/>
            <a:ext cx="1907469" cy="37031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defRPr/>
            </a:pPr>
            <a:r>
              <a:rPr lang="en-US" b="1">
                <a:solidFill>
                  <a:schemeClr val="tx1"/>
                </a:solidFill>
              </a:rPr>
              <a:t>fp: ???</a:t>
            </a:r>
            <a:endParaRPr/>
          </a:p>
        </p:txBody>
      </p:sp>
      <p:sp>
        <p:nvSpPr>
          <p:cNvPr id="2050636947" name="Прямоугольник 157"/>
          <p:cNvSpPr/>
          <p:nvPr/>
        </p:nvSpPr>
        <p:spPr bwMode="auto">
          <a:xfrm>
            <a:off x="1842382" y="5988796"/>
            <a:ext cx="1907469" cy="37031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defRPr/>
            </a:pPr>
            <a:r>
              <a:rPr lang="en-US" b="1">
                <a:solidFill>
                  <a:schemeClr val="tx1"/>
                </a:solidFill>
              </a:rPr>
              <a:t>bp: &amp;free_block</a:t>
            </a:r>
            <a:r>
              <a:rPr lang="ru-RU" b="1">
                <a:solidFill>
                  <a:schemeClr val="tx1"/>
                </a:solidFill>
              </a:rPr>
              <a:t>1</a:t>
            </a:r>
            <a:endParaRPr lang="en-US" b="1">
              <a:solidFill>
                <a:schemeClr val="tx1"/>
              </a:solidFill>
            </a:endParaRPr>
          </a:p>
        </p:txBody>
      </p:sp>
      <p:cxnSp>
        <p:nvCxnSpPr>
          <p:cNvPr id="672058760" name="Соединитель: уступ 172"/>
          <p:cNvCxnSpPr/>
          <p:nvPr/>
        </p:nvCxnSpPr>
        <p:spPr bwMode="auto">
          <a:xfrm>
            <a:off x="3742431" y="2212417"/>
            <a:ext cx="93162" cy="1296000"/>
          </a:xfrm>
          <a:prstGeom prst="bentConnector3">
            <a:avLst>
              <a:gd name="adj1" fmla="val 34537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8425864" name="Соединитель: уступ 173"/>
          <p:cNvCxnSpPr/>
          <p:nvPr/>
        </p:nvCxnSpPr>
        <p:spPr bwMode="auto">
          <a:xfrm>
            <a:off x="3742431" y="4072738"/>
            <a:ext cx="93162" cy="1224000"/>
          </a:xfrm>
          <a:prstGeom prst="bentConnector3">
            <a:avLst>
              <a:gd name="adj1" fmla="val 34537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2525383" name="Соединитель: уступ 174"/>
          <p:cNvCxnSpPr/>
          <p:nvPr/>
        </p:nvCxnSpPr>
        <p:spPr bwMode="auto">
          <a:xfrm>
            <a:off x="1651864" y="1729487"/>
            <a:ext cx="180000" cy="2880000"/>
          </a:xfrm>
          <a:prstGeom prst="bentConnector3">
            <a:avLst>
              <a:gd name="adj1" fmla="val -241397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5286153" name="Соединитель: уступ 177"/>
          <p:cNvCxnSpPr/>
          <p:nvPr/>
        </p:nvCxnSpPr>
        <p:spPr bwMode="auto">
          <a:xfrm>
            <a:off x="1649837" y="3508963"/>
            <a:ext cx="180000" cy="2700000"/>
          </a:xfrm>
          <a:prstGeom prst="bentConnector3">
            <a:avLst>
              <a:gd name="adj1" fmla="val -445702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0249723" name="Прямая со стрелкой 180"/>
          <p:cNvCxnSpPr/>
          <p:nvPr/>
        </p:nvCxnSpPr>
        <p:spPr bwMode="auto">
          <a:xfrm>
            <a:off x="5193792" y="3977305"/>
            <a:ext cx="12688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3380832" name="TextBox 181"/>
          <p:cNvSpPr txBox="1"/>
          <p:nvPr/>
        </p:nvSpPr>
        <p:spPr bwMode="auto">
          <a:xfrm>
            <a:off x="4940721" y="3244642"/>
            <a:ext cx="17750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defRPr/>
            </a:pPr>
            <a:r>
              <a:rPr lang="en-US"/>
              <a:t>Free </a:t>
            </a:r>
            <a:br>
              <a:rPr lang="en-US"/>
            </a:br>
            <a:r>
              <a:rPr lang="en-US"/>
              <a:t>non_free_block1</a:t>
            </a:r>
            <a:endParaRPr/>
          </a:p>
        </p:txBody>
      </p:sp>
      <p:sp>
        <p:nvSpPr>
          <p:cNvPr id="59176124" name="Прямоугольник 183"/>
          <p:cNvSpPr/>
          <p:nvPr/>
        </p:nvSpPr>
        <p:spPr bwMode="auto">
          <a:xfrm>
            <a:off x="8137370" y="4750514"/>
            <a:ext cx="2196000" cy="54920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non_free_block2</a:t>
            </a:r>
            <a:endParaRPr/>
          </a:p>
        </p:txBody>
      </p:sp>
      <p:sp>
        <p:nvSpPr>
          <p:cNvPr id="251094702" name="Прямоугольник 184"/>
          <p:cNvSpPr/>
          <p:nvPr/>
        </p:nvSpPr>
        <p:spPr bwMode="auto">
          <a:xfrm>
            <a:off x="8137370" y="1733552"/>
            <a:ext cx="2196000" cy="3004813"/>
          </a:xfrm>
          <a:prstGeom prst="rect">
            <a:avLst/>
          </a:prstGeom>
          <a:solidFill>
            <a:srgbClr val="87B6E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 b="1">
                <a:solidFill>
                  <a:schemeClr val="tx1"/>
                </a:solidFill>
              </a:rPr>
              <a:t>free_block0</a:t>
            </a:r>
            <a:endParaRPr/>
          </a:p>
        </p:txBody>
      </p:sp>
      <p:sp>
        <p:nvSpPr>
          <p:cNvPr id="320157451" name="Прямоугольник 185"/>
          <p:cNvSpPr/>
          <p:nvPr/>
        </p:nvSpPr>
        <p:spPr bwMode="auto">
          <a:xfrm>
            <a:off x="8305102" y="2129698"/>
            <a:ext cx="1907469" cy="37031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defRPr/>
            </a:pPr>
            <a:r>
              <a:rPr lang="en-US" b="1">
                <a:solidFill>
                  <a:schemeClr val="tx1"/>
                </a:solidFill>
              </a:rPr>
              <a:t>fp: free_block2</a:t>
            </a:r>
            <a:endParaRPr/>
          </a:p>
        </p:txBody>
      </p:sp>
      <p:sp>
        <p:nvSpPr>
          <p:cNvPr id="119800166" name="Прямоугольник 186"/>
          <p:cNvSpPr/>
          <p:nvPr/>
        </p:nvSpPr>
        <p:spPr bwMode="auto">
          <a:xfrm>
            <a:off x="8305101" y="2514433"/>
            <a:ext cx="1907469" cy="37031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defRPr/>
            </a:pPr>
            <a:r>
              <a:rPr lang="en-US" b="1">
                <a:solidFill>
                  <a:schemeClr val="tx1"/>
                </a:solidFill>
              </a:rPr>
              <a:t>bp: ???</a:t>
            </a:r>
            <a:endParaRPr/>
          </a:p>
        </p:txBody>
      </p:sp>
      <p:sp>
        <p:nvSpPr>
          <p:cNvPr id="1314126832" name="Прямоугольник 190"/>
          <p:cNvSpPr/>
          <p:nvPr/>
        </p:nvSpPr>
        <p:spPr bwMode="auto">
          <a:xfrm>
            <a:off x="8137370" y="5308095"/>
            <a:ext cx="2196000" cy="121888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 b="1">
                <a:solidFill>
                  <a:schemeClr val="tx1"/>
                </a:solidFill>
              </a:rPr>
              <a:t>free_block2</a:t>
            </a:r>
            <a:endParaRPr/>
          </a:p>
        </p:txBody>
      </p:sp>
      <p:sp>
        <p:nvSpPr>
          <p:cNvPr id="640581451" name="Прямоугольник 191"/>
          <p:cNvSpPr/>
          <p:nvPr/>
        </p:nvSpPr>
        <p:spPr bwMode="auto">
          <a:xfrm>
            <a:off x="8317137" y="5681056"/>
            <a:ext cx="1907469" cy="37031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defRPr/>
            </a:pPr>
            <a:r>
              <a:rPr lang="en-US" b="1">
                <a:solidFill>
                  <a:schemeClr val="tx1"/>
                </a:solidFill>
              </a:rPr>
              <a:t>fp: ???</a:t>
            </a:r>
            <a:endParaRPr/>
          </a:p>
        </p:txBody>
      </p:sp>
      <p:sp>
        <p:nvSpPr>
          <p:cNvPr id="914475616" name="Прямоугольник 192"/>
          <p:cNvSpPr/>
          <p:nvPr/>
        </p:nvSpPr>
        <p:spPr bwMode="auto">
          <a:xfrm>
            <a:off x="8317135" y="6065791"/>
            <a:ext cx="1907469" cy="37031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defRPr/>
            </a:pPr>
            <a:r>
              <a:rPr lang="en-US" b="1">
                <a:solidFill>
                  <a:schemeClr val="tx1"/>
                </a:solidFill>
              </a:rPr>
              <a:t>bp: &amp;free_block0</a:t>
            </a:r>
            <a:endParaRPr/>
          </a:p>
        </p:txBody>
      </p:sp>
      <p:cxnSp>
        <p:nvCxnSpPr>
          <p:cNvPr id="970227142" name="Соединитель: уступ 193"/>
          <p:cNvCxnSpPr/>
          <p:nvPr/>
        </p:nvCxnSpPr>
        <p:spPr bwMode="auto">
          <a:xfrm>
            <a:off x="10212570" y="2275101"/>
            <a:ext cx="108000" cy="3024000"/>
          </a:xfrm>
          <a:prstGeom prst="bentConnector3">
            <a:avLst>
              <a:gd name="adj1" fmla="val 34537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982368" name="Соединитель: уступ 196"/>
          <p:cNvCxnSpPr/>
          <p:nvPr/>
        </p:nvCxnSpPr>
        <p:spPr bwMode="auto">
          <a:xfrm>
            <a:off x="8125100" y="1729487"/>
            <a:ext cx="180000" cy="4500000"/>
          </a:xfrm>
          <a:prstGeom prst="bentConnector3">
            <a:avLst>
              <a:gd name="adj1" fmla="val -445702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8975607" name="TextBox 199"/>
          <p:cNvSpPr txBox="1"/>
          <p:nvPr/>
        </p:nvSpPr>
        <p:spPr bwMode="auto">
          <a:xfrm>
            <a:off x="5034539" y="4471484"/>
            <a:ext cx="177503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b="0" i="0">
                <a:latin typeface="Menlo"/>
              </a:rPr>
              <a:t>*(fp + 24) = bp</a:t>
            </a:r>
            <a:br>
              <a:rPr lang="en-US" b="0" i="0">
                <a:latin typeface="Menlo"/>
              </a:rPr>
            </a:br>
            <a:r>
              <a:rPr lang="en-US" b="0" i="0">
                <a:latin typeface="Menlo"/>
              </a:rPr>
              <a:t>*(bp + 16) = fp</a:t>
            </a:r>
            <a:endParaRPr lang="en-US"/>
          </a:p>
        </p:txBody>
      </p:sp>
      <p:cxnSp>
        <p:nvCxnSpPr>
          <p:cNvPr id="1672499530" name="Соединитель: уступ 34"/>
          <p:cNvCxnSpPr>
            <a:stCxn id="1160488224" idx="3"/>
          </p:cNvCxnSpPr>
          <p:nvPr/>
        </p:nvCxnSpPr>
        <p:spPr bwMode="auto">
          <a:xfrm flipV="1">
            <a:off x="3749852" y="1520054"/>
            <a:ext cx="676868" cy="109717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9997105" name="Соединитель: уступ 35"/>
          <p:cNvCxnSpPr/>
          <p:nvPr/>
        </p:nvCxnSpPr>
        <p:spPr bwMode="auto">
          <a:xfrm>
            <a:off x="3737306" y="5779302"/>
            <a:ext cx="576000" cy="5040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4664825" name="Соединитель: уступ 40"/>
          <p:cNvCxnSpPr/>
          <p:nvPr/>
        </p:nvCxnSpPr>
        <p:spPr bwMode="auto">
          <a:xfrm flipV="1">
            <a:off x="10224605" y="1655659"/>
            <a:ext cx="676868" cy="109717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9907686" name="Соединитель: уступ 41"/>
          <p:cNvCxnSpPr/>
          <p:nvPr/>
        </p:nvCxnSpPr>
        <p:spPr bwMode="auto">
          <a:xfrm>
            <a:off x="10212570" y="5854216"/>
            <a:ext cx="576000" cy="5040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8832165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Переполнение в куче</a:t>
            </a:r>
            <a:endParaRPr lang="en-US"/>
          </a:p>
        </p:txBody>
      </p:sp>
      <p:sp>
        <p:nvSpPr>
          <p:cNvPr id="1141730975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7FBA2B-964F-4C4D-AAF7-5A8399264638}" type="slidenum">
              <a:rPr lang="en-US"/>
              <a:t>36</a:t>
            </a:fld>
            <a:endParaRPr lang="en-US"/>
          </a:p>
        </p:txBody>
      </p:sp>
      <p:sp>
        <p:nvSpPr>
          <p:cNvPr id="423365162" name="Номер слайда 4"/>
          <p:cNvSpPr txBox="1"/>
          <p:nvPr/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>
              <a:defRPr sz="18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B67FBA2B-964F-4C4D-AAF7-5A8399264638}" type="slidenum">
              <a:rPr lang="en-US"/>
              <a:t>36</a:t>
            </a:fld>
            <a:endParaRPr lang="en-US"/>
          </a:p>
        </p:txBody>
      </p:sp>
      <p:sp>
        <p:nvSpPr>
          <p:cNvPr id="1718272535" name="Объект 2"/>
          <p:cNvSpPr>
            <a:spLocks noGrp="1"/>
          </p:cNvSpPr>
          <p:nvPr>
            <p:ph idx="1"/>
          </p:nvPr>
        </p:nvSpPr>
        <p:spPr bwMode="auto">
          <a:xfrm>
            <a:off x="838201" y="1547328"/>
            <a:ext cx="5674832" cy="5085120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2000"/>
              <a:t>Если буфер данных в куче будет переполнен, то лишние данные будут записаны в управляющие структуры следующего блока.</a:t>
            </a:r>
            <a:endParaRPr/>
          </a:p>
          <a:p>
            <a:pPr marL="0" indent="0">
              <a:buNone/>
              <a:defRPr/>
            </a:pPr>
            <a:r>
              <a:rPr lang="ru-RU" sz="2000"/>
              <a:t>Если переполненный блок находится между 2 свободными блоками, то при его освобождении произойдет слияние 3 свободных блоков. </a:t>
            </a:r>
            <a:endParaRPr/>
          </a:p>
          <a:p>
            <a:pPr marL="0" indent="0">
              <a:buNone/>
              <a:defRPr/>
            </a:pPr>
            <a:r>
              <a:rPr lang="ru-RU" sz="2000"/>
              <a:t>Поскольку указатели в нижнем свободном блоке перезаписаны, при попытке слияния блоков произойдут 2 операции записи по заданным адресам.</a:t>
            </a:r>
            <a:endParaRPr/>
          </a:p>
          <a:p>
            <a:pPr marL="0" indent="0">
              <a:buNone/>
              <a:defRPr/>
            </a:pPr>
            <a:r>
              <a:rPr lang="ru-RU" sz="2000"/>
              <a:t>В отличие от переполнения буфера на стеке, данный метод позволяет перезаписывать </a:t>
            </a:r>
            <a:r>
              <a:rPr lang="ru-RU" sz="2000" i="1"/>
              <a:t>произвольные</a:t>
            </a:r>
            <a:r>
              <a:rPr lang="ru-RU" sz="2000"/>
              <a:t> адреса. </a:t>
            </a:r>
            <a:endParaRPr/>
          </a:p>
          <a:p>
            <a:pPr marL="0" indent="0">
              <a:buNone/>
              <a:defRPr/>
            </a:pPr>
            <a:r>
              <a:rPr lang="ru-RU" sz="2000"/>
              <a:t>Изменение размера блока или флагов также позволяют изменить поведение последующих </a:t>
            </a:r>
            <a:r>
              <a:rPr lang="en-US" sz="2000"/>
              <a:t>malloc/free().</a:t>
            </a:r>
            <a:endParaRPr lang="ru-RU" sz="2000"/>
          </a:p>
          <a:p>
            <a:pPr marL="0" indent="0">
              <a:buNone/>
              <a:defRPr/>
            </a:pPr>
            <a:endParaRPr lang="ru-RU" sz="2000"/>
          </a:p>
        </p:txBody>
      </p:sp>
      <p:sp>
        <p:nvSpPr>
          <p:cNvPr id="1110098737" name="Прямоугольник 143"/>
          <p:cNvSpPr/>
          <p:nvPr/>
        </p:nvSpPr>
        <p:spPr bwMode="auto">
          <a:xfrm>
            <a:off x="7881261" y="2451042"/>
            <a:ext cx="2196000" cy="549202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non_free_block1</a:t>
            </a:r>
            <a:endParaRPr/>
          </a:p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0xFF 0xFF 0xFF 0x FF</a:t>
            </a:r>
            <a:endParaRPr/>
          </a:p>
        </p:txBody>
      </p:sp>
      <p:sp>
        <p:nvSpPr>
          <p:cNvPr id="1459195121" name="Прямоугольник 146"/>
          <p:cNvSpPr/>
          <p:nvPr/>
        </p:nvSpPr>
        <p:spPr bwMode="auto">
          <a:xfrm>
            <a:off x="7881259" y="4217067"/>
            <a:ext cx="2196000" cy="54920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non_free_block2</a:t>
            </a:r>
            <a:endParaRPr/>
          </a:p>
        </p:txBody>
      </p:sp>
      <p:sp>
        <p:nvSpPr>
          <p:cNvPr id="1704601204" name="Прямоугольник 149"/>
          <p:cNvSpPr/>
          <p:nvPr/>
        </p:nvSpPr>
        <p:spPr bwMode="auto">
          <a:xfrm>
            <a:off x="7881260" y="1225500"/>
            <a:ext cx="2196000" cy="1218889"/>
          </a:xfrm>
          <a:prstGeom prst="rect">
            <a:avLst/>
          </a:prstGeom>
          <a:solidFill>
            <a:srgbClr val="87B6E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 b="1">
                <a:solidFill>
                  <a:schemeClr val="tx1"/>
                </a:solidFill>
              </a:rPr>
              <a:t>free_block0</a:t>
            </a:r>
            <a:endParaRPr/>
          </a:p>
        </p:txBody>
      </p:sp>
      <p:sp>
        <p:nvSpPr>
          <p:cNvPr id="1638019738" name="Прямоугольник 150"/>
          <p:cNvSpPr/>
          <p:nvPr/>
        </p:nvSpPr>
        <p:spPr bwMode="auto">
          <a:xfrm>
            <a:off x="8071780" y="1540853"/>
            <a:ext cx="1907469" cy="37031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defRPr/>
            </a:pPr>
            <a:r>
              <a:rPr lang="en-US" b="1">
                <a:solidFill>
                  <a:schemeClr val="tx1"/>
                </a:solidFill>
              </a:rPr>
              <a:t>fp: free_block1</a:t>
            </a:r>
            <a:endParaRPr/>
          </a:p>
        </p:txBody>
      </p:sp>
      <p:sp>
        <p:nvSpPr>
          <p:cNvPr id="526294677" name="Прямоугольник 151"/>
          <p:cNvSpPr/>
          <p:nvPr/>
        </p:nvSpPr>
        <p:spPr bwMode="auto">
          <a:xfrm>
            <a:off x="8071779" y="1919492"/>
            <a:ext cx="1907469" cy="37031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defRPr/>
            </a:pPr>
            <a:r>
              <a:rPr lang="en-US" b="1">
                <a:solidFill>
                  <a:schemeClr val="tx1"/>
                </a:solidFill>
              </a:rPr>
              <a:t>bp: ???</a:t>
            </a:r>
            <a:endParaRPr/>
          </a:p>
        </p:txBody>
      </p:sp>
      <p:sp>
        <p:nvSpPr>
          <p:cNvPr id="1161887239" name="Прямоугольник 152"/>
          <p:cNvSpPr/>
          <p:nvPr/>
        </p:nvSpPr>
        <p:spPr bwMode="auto">
          <a:xfrm>
            <a:off x="7881260" y="3006350"/>
            <a:ext cx="2196000" cy="1218889"/>
          </a:xfrm>
          <a:prstGeom prst="rect">
            <a:avLst/>
          </a:prstGeom>
          <a:solidFill>
            <a:srgbClr val="FF757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 b="1">
                <a:solidFill>
                  <a:schemeClr val="tx1"/>
                </a:solidFill>
              </a:rPr>
              <a:t>free_block1</a:t>
            </a:r>
            <a:endParaRPr/>
          </a:p>
        </p:txBody>
      </p:sp>
      <p:sp>
        <p:nvSpPr>
          <p:cNvPr id="200959412" name="Прямоугольник 153"/>
          <p:cNvSpPr/>
          <p:nvPr/>
        </p:nvSpPr>
        <p:spPr bwMode="auto">
          <a:xfrm>
            <a:off x="8071780" y="3325512"/>
            <a:ext cx="1907469" cy="370317"/>
          </a:xfrm>
          <a:prstGeom prst="rect">
            <a:avLst/>
          </a:prstGeom>
          <a:solidFill>
            <a:srgbClr val="FFB7B7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defRPr/>
            </a:pPr>
            <a:r>
              <a:rPr lang="en-US" b="1">
                <a:solidFill>
                  <a:schemeClr val="tx1"/>
                </a:solidFill>
              </a:rPr>
              <a:t>fp: &lt;what&gt;</a:t>
            </a:r>
            <a:endParaRPr/>
          </a:p>
        </p:txBody>
      </p:sp>
      <p:sp>
        <p:nvSpPr>
          <p:cNvPr id="1330571588" name="Прямоугольник 154"/>
          <p:cNvSpPr/>
          <p:nvPr/>
        </p:nvSpPr>
        <p:spPr bwMode="auto">
          <a:xfrm>
            <a:off x="8071779" y="3691960"/>
            <a:ext cx="1907469" cy="370317"/>
          </a:xfrm>
          <a:prstGeom prst="rect">
            <a:avLst/>
          </a:prstGeom>
          <a:solidFill>
            <a:srgbClr val="FFB7B7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defRPr/>
            </a:pPr>
            <a:r>
              <a:rPr lang="en-US" b="1">
                <a:solidFill>
                  <a:schemeClr val="tx1"/>
                </a:solidFill>
              </a:rPr>
              <a:t>bp: &lt;where-16&gt;</a:t>
            </a:r>
            <a:endParaRPr/>
          </a:p>
        </p:txBody>
      </p:sp>
      <p:sp>
        <p:nvSpPr>
          <p:cNvPr id="1026426344" name="Прямоугольник 155"/>
          <p:cNvSpPr/>
          <p:nvPr/>
        </p:nvSpPr>
        <p:spPr bwMode="auto">
          <a:xfrm>
            <a:off x="7881259" y="4777107"/>
            <a:ext cx="2196000" cy="121888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 b="1">
                <a:solidFill>
                  <a:schemeClr val="tx1"/>
                </a:solidFill>
              </a:rPr>
              <a:t>free_block2</a:t>
            </a:r>
            <a:endParaRPr/>
          </a:p>
        </p:txBody>
      </p:sp>
      <p:sp>
        <p:nvSpPr>
          <p:cNvPr id="1049263658" name="Прямоугольник 156"/>
          <p:cNvSpPr/>
          <p:nvPr/>
        </p:nvSpPr>
        <p:spPr bwMode="auto">
          <a:xfrm>
            <a:off x="8071779" y="5090936"/>
            <a:ext cx="1907469" cy="37031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defRPr/>
            </a:pPr>
            <a:r>
              <a:rPr lang="en-US" b="1">
                <a:solidFill>
                  <a:schemeClr val="tx1"/>
                </a:solidFill>
              </a:rPr>
              <a:t>fp: ???</a:t>
            </a:r>
            <a:endParaRPr/>
          </a:p>
        </p:txBody>
      </p:sp>
      <p:sp>
        <p:nvSpPr>
          <p:cNvPr id="1594202207" name="Прямоугольник 157"/>
          <p:cNvSpPr/>
          <p:nvPr/>
        </p:nvSpPr>
        <p:spPr bwMode="auto">
          <a:xfrm>
            <a:off x="8071778" y="5469575"/>
            <a:ext cx="1907469" cy="37031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defRPr/>
            </a:pPr>
            <a:r>
              <a:rPr lang="en-US" b="1">
                <a:solidFill>
                  <a:schemeClr val="tx1"/>
                </a:solidFill>
              </a:rPr>
              <a:t>bp: &amp;free_block</a:t>
            </a:r>
            <a:r>
              <a:rPr lang="ru-RU" b="1">
                <a:solidFill>
                  <a:schemeClr val="tx1"/>
                </a:solidFill>
              </a:rPr>
              <a:t>1</a:t>
            </a:r>
            <a:endParaRPr lang="en-US" b="1">
              <a:solidFill>
                <a:schemeClr val="tx1"/>
              </a:solidFill>
            </a:endParaRPr>
          </a:p>
        </p:txBody>
      </p:sp>
      <p:cxnSp>
        <p:nvCxnSpPr>
          <p:cNvPr id="2119020294" name="Соединитель: уступ 172"/>
          <p:cNvCxnSpPr/>
          <p:nvPr/>
        </p:nvCxnSpPr>
        <p:spPr bwMode="auto">
          <a:xfrm>
            <a:off x="9971827" y="1699838"/>
            <a:ext cx="93162" cy="1296000"/>
          </a:xfrm>
          <a:prstGeom prst="bentConnector3">
            <a:avLst>
              <a:gd name="adj1" fmla="val 22730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8530883" name="Соединитель: уступ 177"/>
          <p:cNvCxnSpPr/>
          <p:nvPr/>
        </p:nvCxnSpPr>
        <p:spPr bwMode="auto">
          <a:xfrm>
            <a:off x="7879233" y="2995838"/>
            <a:ext cx="180000" cy="2700000"/>
          </a:xfrm>
          <a:prstGeom prst="bentConnector3">
            <a:avLst>
              <a:gd name="adj1" fmla="val -12104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2530994" name="Соединитель: уступ 34"/>
          <p:cNvCxnSpPr>
            <a:stCxn id="526294677" idx="3"/>
          </p:cNvCxnSpPr>
          <p:nvPr/>
        </p:nvCxnSpPr>
        <p:spPr bwMode="auto">
          <a:xfrm flipV="1">
            <a:off x="9979248" y="1007475"/>
            <a:ext cx="252000" cy="109717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3687082" name="Соединитель: уступ 35"/>
          <p:cNvCxnSpPr/>
          <p:nvPr/>
        </p:nvCxnSpPr>
        <p:spPr bwMode="auto">
          <a:xfrm>
            <a:off x="9966702" y="5260081"/>
            <a:ext cx="216000" cy="5040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4182089" name="Соединитель: уступ 173"/>
          <p:cNvCxnSpPr/>
          <p:nvPr/>
        </p:nvCxnSpPr>
        <p:spPr bwMode="auto">
          <a:xfrm>
            <a:off x="9979247" y="3522115"/>
            <a:ext cx="900000" cy="1327334"/>
          </a:xfrm>
          <a:prstGeom prst="bentConnector3">
            <a:avLst>
              <a:gd name="adj1" fmla="val 40069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548389515" name="Соединитель: уступ 44"/>
          <p:cNvCxnSpPr/>
          <p:nvPr/>
        </p:nvCxnSpPr>
        <p:spPr bwMode="auto">
          <a:xfrm flipV="1">
            <a:off x="9975895" y="2785238"/>
            <a:ext cx="1044000" cy="1080000"/>
          </a:xfrm>
          <a:prstGeom prst="bentConnector3">
            <a:avLst>
              <a:gd name="adj1" fmla="val 27657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744198042" name="TextBox 22"/>
          <p:cNvSpPr txBox="1"/>
          <p:nvPr/>
        </p:nvSpPr>
        <p:spPr bwMode="auto">
          <a:xfrm>
            <a:off x="10962354" y="2551024"/>
            <a:ext cx="789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b="1"/>
              <a:t>where</a:t>
            </a:r>
            <a:endParaRPr/>
          </a:p>
        </p:txBody>
      </p:sp>
      <p:sp>
        <p:nvSpPr>
          <p:cNvPr id="1861852412" name="TextBox 23"/>
          <p:cNvSpPr txBox="1"/>
          <p:nvPr/>
        </p:nvSpPr>
        <p:spPr bwMode="auto">
          <a:xfrm>
            <a:off x="10251852" y="2431587"/>
            <a:ext cx="9721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b="1"/>
              <a:t>&lt;</a:t>
            </a:r>
            <a:r>
              <a:rPr lang="en-US" b="1">
                <a:solidFill>
                  <a:schemeClr val="tx1"/>
                </a:solidFill>
              </a:rPr>
              <a:t>what&gt;</a:t>
            </a:r>
            <a:endParaRPr lang="ru-RU"/>
          </a:p>
        </p:txBody>
      </p:sp>
      <p:sp>
        <p:nvSpPr>
          <p:cNvPr id="831985269" name="TextBox 24"/>
          <p:cNvSpPr txBox="1"/>
          <p:nvPr/>
        </p:nvSpPr>
        <p:spPr bwMode="auto">
          <a:xfrm>
            <a:off x="10288788" y="4061959"/>
            <a:ext cx="14622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b="1">
                <a:solidFill>
                  <a:schemeClr val="tx1"/>
                </a:solidFill>
              </a:rPr>
              <a:t>&lt;where-16&gt; </a:t>
            </a:r>
            <a:endParaRPr lang="ru-RU"/>
          </a:p>
        </p:txBody>
      </p:sp>
      <p:sp>
        <p:nvSpPr>
          <p:cNvPr id="1554642694" name="TextBox 26"/>
          <p:cNvSpPr txBox="1"/>
          <p:nvPr/>
        </p:nvSpPr>
        <p:spPr bwMode="auto">
          <a:xfrm>
            <a:off x="10814108" y="4651388"/>
            <a:ext cx="11021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b="1">
                <a:solidFill>
                  <a:schemeClr val="tx1"/>
                </a:solidFill>
              </a:rPr>
              <a:t>what+</a:t>
            </a:r>
            <a:r>
              <a:rPr lang="en-US" b="1"/>
              <a:t>24</a:t>
            </a:r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5757274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Переполнение в куче</a:t>
            </a:r>
            <a:endParaRPr lang="en-US"/>
          </a:p>
        </p:txBody>
      </p:sp>
      <p:sp>
        <p:nvSpPr>
          <p:cNvPr id="801259490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7FBA2B-964F-4C4D-AAF7-5A8399264638}" type="slidenum">
              <a:rPr lang="en-US"/>
              <a:t>37</a:t>
            </a:fld>
            <a:endParaRPr lang="en-US"/>
          </a:p>
        </p:txBody>
      </p:sp>
      <p:sp>
        <p:nvSpPr>
          <p:cNvPr id="1902698087" name="Номер слайда 4"/>
          <p:cNvSpPr txBox="1"/>
          <p:nvPr/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>
              <a:defRPr sz="18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B67FBA2B-964F-4C4D-AAF7-5A8399264638}" type="slidenum">
              <a:rPr lang="en-US"/>
              <a:t>37</a:t>
            </a:fld>
            <a:endParaRPr lang="en-US"/>
          </a:p>
        </p:txBody>
      </p:sp>
      <p:cxnSp>
        <p:nvCxnSpPr>
          <p:cNvPr id="46344624" name="Прямая со стрелкой 18"/>
          <p:cNvCxnSpPr/>
          <p:nvPr/>
        </p:nvCxnSpPr>
        <p:spPr bwMode="auto">
          <a:xfrm>
            <a:off x="3026495" y="2828165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88549583" name="Прямая со стрелкой 76"/>
          <p:cNvCxnSpPr/>
          <p:nvPr/>
        </p:nvCxnSpPr>
        <p:spPr bwMode="auto">
          <a:xfrm>
            <a:off x="6720000" y="2828165"/>
            <a:ext cx="123016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13555618" name="TextBox 77"/>
          <p:cNvSpPr txBox="1"/>
          <p:nvPr/>
        </p:nvSpPr>
        <p:spPr bwMode="auto">
          <a:xfrm>
            <a:off x="6526239" y="2281051"/>
            <a:ext cx="15974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defRPr/>
            </a:pPr>
            <a:r>
              <a:rPr lang="en-US" sz="1600"/>
              <a:t>Free </a:t>
            </a:r>
            <a:br>
              <a:rPr lang="ru-RU" sz="1600"/>
            </a:br>
            <a:r>
              <a:rPr lang="en-US" sz="1600"/>
              <a:t>non_free_block1</a:t>
            </a:r>
            <a:endParaRPr/>
          </a:p>
        </p:txBody>
      </p:sp>
      <p:sp>
        <p:nvSpPr>
          <p:cNvPr id="1692838835" name="Прямоугольник 143"/>
          <p:cNvSpPr/>
          <p:nvPr/>
        </p:nvSpPr>
        <p:spPr bwMode="auto">
          <a:xfrm>
            <a:off x="400078" y="2712299"/>
            <a:ext cx="2196000" cy="54920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non_free_block1</a:t>
            </a:r>
            <a:endParaRPr/>
          </a:p>
        </p:txBody>
      </p:sp>
      <p:sp>
        <p:nvSpPr>
          <p:cNvPr id="2025023547" name="Прямоугольник 146"/>
          <p:cNvSpPr/>
          <p:nvPr/>
        </p:nvSpPr>
        <p:spPr bwMode="auto">
          <a:xfrm>
            <a:off x="400076" y="4478324"/>
            <a:ext cx="2196000" cy="54920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non_free_block2</a:t>
            </a:r>
            <a:endParaRPr/>
          </a:p>
        </p:txBody>
      </p:sp>
      <p:sp>
        <p:nvSpPr>
          <p:cNvPr id="718628628" name="Прямоугольник 149"/>
          <p:cNvSpPr/>
          <p:nvPr/>
        </p:nvSpPr>
        <p:spPr bwMode="auto">
          <a:xfrm>
            <a:off x="400077" y="1486757"/>
            <a:ext cx="2196000" cy="1218889"/>
          </a:xfrm>
          <a:prstGeom prst="rect">
            <a:avLst/>
          </a:prstGeom>
          <a:solidFill>
            <a:srgbClr val="87B6E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 b="1">
                <a:solidFill>
                  <a:schemeClr val="tx1"/>
                </a:solidFill>
              </a:rPr>
              <a:t>free_block0</a:t>
            </a:r>
            <a:endParaRPr/>
          </a:p>
        </p:txBody>
      </p:sp>
      <p:sp>
        <p:nvSpPr>
          <p:cNvPr id="2072201888" name="Прямоугольник 150"/>
          <p:cNvSpPr/>
          <p:nvPr/>
        </p:nvSpPr>
        <p:spPr bwMode="auto">
          <a:xfrm>
            <a:off x="590597" y="1802110"/>
            <a:ext cx="1907469" cy="37031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defRPr/>
            </a:pPr>
            <a:r>
              <a:rPr lang="en-US" b="1">
                <a:solidFill>
                  <a:schemeClr val="tx1"/>
                </a:solidFill>
              </a:rPr>
              <a:t>fp: free_block1</a:t>
            </a:r>
            <a:endParaRPr/>
          </a:p>
        </p:txBody>
      </p:sp>
      <p:sp>
        <p:nvSpPr>
          <p:cNvPr id="1448718744" name="Прямоугольник 151"/>
          <p:cNvSpPr/>
          <p:nvPr/>
        </p:nvSpPr>
        <p:spPr bwMode="auto">
          <a:xfrm>
            <a:off x="590596" y="2180749"/>
            <a:ext cx="1907469" cy="37031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defRPr/>
            </a:pPr>
            <a:r>
              <a:rPr lang="en-US" b="1">
                <a:solidFill>
                  <a:schemeClr val="tx1"/>
                </a:solidFill>
              </a:rPr>
              <a:t>bp: ???</a:t>
            </a:r>
            <a:endParaRPr/>
          </a:p>
        </p:txBody>
      </p:sp>
      <p:sp>
        <p:nvSpPr>
          <p:cNvPr id="565639659" name="Прямоугольник 152"/>
          <p:cNvSpPr/>
          <p:nvPr/>
        </p:nvSpPr>
        <p:spPr bwMode="auto">
          <a:xfrm>
            <a:off x="400077" y="3267607"/>
            <a:ext cx="2196000" cy="121888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 b="1">
                <a:solidFill>
                  <a:schemeClr val="tx1"/>
                </a:solidFill>
              </a:rPr>
              <a:t>free_block1</a:t>
            </a:r>
            <a:endParaRPr/>
          </a:p>
        </p:txBody>
      </p:sp>
      <p:sp>
        <p:nvSpPr>
          <p:cNvPr id="1171404647" name="Прямоугольник 153"/>
          <p:cNvSpPr/>
          <p:nvPr/>
        </p:nvSpPr>
        <p:spPr bwMode="auto">
          <a:xfrm>
            <a:off x="590597" y="3586769"/>
            <a:ext cx="1907469" cy="37031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defRPr/>
            </a:pPr>
            <a:r>
              <a:rPr lang="en-US" b="1">
                <a:solidFill>
                  <a:schemeClr val="tx1"/>
                </a:solidFill>
              </a:rPr>
              <a:t>fp: &amp;free_block2</a:t>
            </a:r>
            <a:endParaRPr/>
          </a:p>
        </p:txBody>
      </p:sp>
      <p:sp>
        <p:nvSpPr>
          <p:cNvPr id="597224973" name="Прямоугольник 154"/>
          <p:cNvSpPr/>
          <p:nvPr/>
        </p:nvSpPr>
        <p:spPr bwMode="auto">
          <a:xfrm>
            <a:off x="590596" y="3953217"/>
            <a:ext cx="1907469" cy="37031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defRPr/>
            </a:pPr>
            <a:r>
              <a:rPr lang="en-US" b="1">
                <a:solidFill>
                  <a:schemeClr val="tx1"/>
                </a:solidFill>
              </a:rPr>
              <a:t>bp: &amp;free_block0</a:t>
            </a:r>
            <a:endParaRPr/>
          </a:p>
        </p:txBody>
      </p:sp>
      <p:sp>
        <p:nvSpPr>
          <p:cNvPr id="1839297722" name="Прямоугольник 155"/>
          <p:cNvSpPr/>
          <p:nvPr/>
        </p:nvSpPr>
        <p:spPr bwMode="auto">
          <a:xfrm>
            <a:off x="400076" y="5038364"/>
            <a:ext cx="2196000" cy="121888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 b="1">
                <a:solidFill>
                  <a:schemeClr val="tx1"/>
                </a:solidFill>
              </a:rPr>
              <a:t>free_block2</a:t>
            </a:r>
            <a:endParaRPr/>
          </a:p>
        </p:txBody>
      </p:sp>
      <p:sp>
        <p:nvSpPr>
          <p:cNvPr id="414391255" name="Прямоугольник 156"/>
          <p:cNvSpPr/>
          <p:nvPr/>
        </p:nvSpPr>
        <p:spPr bwMode="auto">
          <a:xfrm>
            <a:off x="590596" y="5352193"/>
            <a:ext cx="1907469" cy="37031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defRPr/>
            </a:pPr>
            <a:r>
              <a:rPr lang="en-US" b="1">
                <a:solidFill>
                  <a:schemeClr val="tx1"/>
                </a:solidFill>
              </a:rPr>
              <a:t>fp: ???</a:t>
            </a:r>
            <a:endParaRPr/>
          </a:p>
        </p:txBody>
      </p:sp>
      <p:sp>
        <p:nvSpPr>
          <p:cNvPr id="1838067587" name="Прямоугольник 157"/>
          <p:cNvSpPr/>
          <p:nvPr/>
        </p:nvSpPr>
        <p:spPr bwMode="auto">
          <a:xfrm>
            <a:off x="590595" y="5730832"/>
            <a:ext cx="1907469" cy="37031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defRPr/>
            </a:pPr>
            <a:r>
              <a:rPr lang="en-US" b="1">
                <a:solidFill>
                  <a:schemeClr val="tx1"/>
                </a:solidFill>
              </a:rPr>
              <a:t>bp: &amp;free_block</a:t>
            </a:r>
            <a:r>
              <a:rPr lang="ru-RU" b="1">
                <a:solidFill>
                  <a:schemeClr val="tx1"/>
                </a:solidFill>
              </a:rPr>
              <a:t>1</a:t>
            </a:r>
            <a:endParaRPr lang="en-US" b="1">
              <a:solidFill>
                <a:schemeClr val="tx1"/>
              </a:solidFill>
            </a:endParaRPr>
          </a:p>
        </p:txBody>
      </p:sp>
      <p:cxnSp>
        <p:nvCxnSpPr>
          <p:cNvPr id="1722324103" name="Соединитель: уступ 172"/>
          <p:cNvCxnSpPr/>
          <p:nvPr/>
        </p:nvCxnSpPr>
        <p:spPr bwMode="auto">
          <a:xfrm>
            <a:off x="2490644" y="1961095"/>
            <a:ext cx="93162" cy="1296000"/>
          </a:xfrm>
          <a:prstGeom prst="bentConnector3">
            <a:avLst>
              <a:gd name="adj1" fmla="val 29372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4242880" name="Соединитель: уступ 173"/>
          <p:cNvCxnSpPr/>
          <p:nvPr/>
        </p:nvCxnSpPr>
        <p:spPr bwMode="auto">
          <a:xfrm>
            <a:off x="2490644" y="3793370"/>
            <a:ext cx="108000" cy="1224000"/>
          </a:xfrm>
          <a:prstGeom prst="bentConnector3">
            <a:avLst>
              <a:gd name="adj1" fmla="val 24989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6621076" name="Соединитель: уступ 174"/>
          <p:cNvCxnSpPr/>
          <p:nvPr/>
        </p:nvCxnSpPr>
        <p:spPr bwMode="auto">
          <a:xfrm>
            <a:off x="400077" y="1478165"/>
            <a:ext cx="180000" cy="2700000"/>
          </a:xfrm>
          <a:prstGeom prst="bentConnector3">
            <a:avLst>
              <a:gd name="adj1" fmla="val -8479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6433132" name="Соединитель: уступ 177"/>
          <p:cNvCxnSpPr/>
          <p:nvPr/>
        </p:nvCxnSpPr>
        <p:spPr bwMode="auto">
          <a:xfrm>
            <a:off x="398049" y="3257095"/>
            <a:ext cx="180000" cy="2700000"/>
          </a:xfrm>
          <a:prstGeom prst="bentConnector3">
            <a:avLst>
              <a:gd name="adj1" fmla="val -147777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1476655" name="Соединитель: уступ 34"/>
          <p:cNvCxnSpPr>
            <a:stCxn id="1448718744" idx="3"/>
          </p:cNvCxnSpPr>
          <p:nvPr/>
        </p:nvCxnSpPr>
        <p:spPr bwMode="auto">
          <a:xfrm flipV="1">
            <a:off x="2498065" y="1268732"/>
            <a:ext cx="324000" cy="109717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7752571" name="Соединитель: уступ 35"/>
          <p:cNvCxnSpPr/>
          <p:nvPr/>
        </p:nvCxnSpPr>
        <p:spPr bwMode="auto">
          <a:xfrm>
            <a:off x="2485519" y="5521338"/>
            <a:ext cx="288000" cy="5040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42857" name="Прямоугольник 143"/>
          <p:cNvSpPr/>
          <p:nvPr/>
        </p:nvSpPr>
        <p:spPr bwMode="auto">
          <a:xfrm>
            <a:off x="4284251" y="2718405"/>
            <a:ext cx="2196000" cy="549202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non_free_block1</a:t>
            </a:r>
            <a:endParaRPr/>
          </a:p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0xFF 0xFF 0xFF 0x FF</a:t>
            </a:r>
            <a:endParaRPr/>
          </a:p>
        </p:txBody>
      </p:sp>
      <p:sp>
        <p:nvSpPr>
          <p:cNvPr id="1289418626" name="Прямоугольник 146"/>
          <p:cNvSpPr/>
          <p:nvPr/>
        </p:nvSpPr>
        <p:spPr bwMode="auto">
          <a:xfrm>
            <a:off x="4284249" y="4484430"/>
            <a:ext cx="2196000" cy="54920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non_free_block2</a:t>
            </a:r>
            <a:endParaRPr/>
          </a:p>
        </p:txBody>
      </p:sp>
      <p:sp>
        <p:nvSpPr>
          <p:cNvPr id="1350894834" name="Прямоугольник 149"/>
          <p:cNvSpPr/>
          <p:nvPr/>
        </p:nvSpPr>
        <p:spPr bwMode="auto">
          <a:xfrm>
            <a:off x="4284250" y="1492863"/>
            <a:ext cx="2196000" cy="1218889"/>
          </a:xfrm>
          <a:prstGeom prst="rect">
            <a:avLst/>
          </a:prstGeom>
          <a:solidFill>
            <a:srgbClr val="87B6E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 b="1">
                <a:solidFill>
                  <a:schemeClr val="tx1"/>
                </a:solidFill>
              </a:rPr>
              <a:t>free_block0</a:t>
            </a:r>
            <a:endParaRPr/>
          </a:p>
        </p:txBody>
      </p:sp>
      <p:sp>
        <p:nvSpPr>
          <p:cNvPr id="645717855" name="Прямоугольник 150"/>
          <p:cNvSpPr/>
          <p:nvPr/>
        </p:nvSpPr>
        <p:spPr bwMode="auto">
          <a:xfrm>
            <a:off x="4474770" y="1808216"/>
            <a:ext cx="1907469" cy="37031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defRPr/>
            </a:pPr>
            <a:r>
              <a:rPr lang="en-US" b="1">
                <a:solidFill>
                  <a:schemeClr val="tx1"/>
                </a:solidFill>
              </a:rPr>
              <a:t>fp: free_block1</a:t>
            </a:r>
            <a:endParaRPr/>
          </a:p>
        </p:txBody>
      </p:sp>
      <p:sp>
        <p:nvSpPr>
          <p:cNvPr id="962059825" name="Прямоугольник 151"/>
          <p:cNvSpPr/>
          <p:nvPr/>
        </p:nvSpPr>
        <p:spPr bwMode="auto">
          <a:xfrm>
            <a:off x="4474769" y="2186855"/>
            <a:ext cx="1907469" cy="37031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defRPr/>
            </a:pPr>
            <a:r>
              <a:rPr lang="en-US" b="1">
                <a:solidFill>
                  <a:schemeClr val="tx1"/>
                </a:solidFill>
              </a:rPr>
              <a:t>bp: ???</a:t>
            </a:r>
            <a:endParaRPr/>
          </a:p>
        </p:txBody>
      </p:sp>
      <p:sp>
        <p:nvSpPr>
          <p:cNvPr id="924984852" name="Прямоугольник 152"/>
          <p:cNvSpPr/>
          <p:nvPr/>
        </p:nvSpPr>
        <p:spPr bwMode="auto">
          <a:xfrm>
            <a:off x="4284250" y="3273713"/>
            <a:ext cx="2196000" cy="1218889"/>
          </a:xfrm>
          <a:prstGeom prst="rect">
            <a:avLst/>
          </a:prstGeom>
          <a:solidFill>
            <a:srgbClr val="FF757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 b="1">
                <a:solidFill>
                  <a:schemeClr val="tx1"/>
                </a:solidFill>
              </a:rPr>
              <a:t>free_block1</a:t>
            </a:r>
            <a:endParaRPr/>
          </a:p>
        </p:txBody>
      </p:sp>
      <p:sp>
        <p:nvSpPr>
          <p:cNvPr id="1970676892" name="Прямоугольник 153"/>
          <p:cNvSpPr/>
          <p:nvPr/>
        </p:nvSpPr>
        <p:spPr bwMode="auto">
          <a:xfrm>
            <a:off x="4474770" y="3592876"/>
            <a:ext cx="1907469" cy="370317"/>
          </a:xfrm>
          <a:prstGeom prst="rect">
            <a:avLst/>
          </a:prstGeom>
          <a:solidFill>
            <a:srgbClr val="FFB7B7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defRPr/>
            </a:pPr>
            <a:r>
              <a:rPr lang="en-US" b="1">
                <a:solidFill>
                  <a:schemeClr val="tx1"/>
                </a:solidFill>
              </a:rPr>
              <a:t>fp: &lt;what&gt;</a:t>
            </a:r>
            <a:endParaRPr/>
          </a:p>
        </p:txBody>
      </p:sp>
      <p:sp>
        <p:nvSpPr>
          <p:cNvPr id="200071787" name="Прямоугольник 154"/>
          <p:cNvSpPr/>
          <p:nvPr/>
        </p:nvSpPr>
        <p:spPr bwMode="auto">
          <a:xfrm>
            <a:off x="4474769" y="3959323"/>
            <a:ext cx="1907469" cy="370317"/>
          </a:xfrm>
          <a:prstGeom prst="rect">
            <a:avLst/>
          </a:prstGeom>
          <a:solidFill>
            <a:srgbClr val="FFB7B7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defRPr/>
            </a:pPr>
            <a:r>
              <a:rPr lang="en-US" b="1">
                <a:solidFill>
                  <a:schemeClr val="tx1"/>
                </a:solidFill>
              </a:rPr>
              <a:t>bp: &lt;where-16&gt;</a:t>
            </a:r>
            <a:endParaRPr/>
          </a:p>
        </p:txBody>
      </p:sp>
      <p:sp>
        <p:nvSpPr>
          <p:cNvPr id="1367397271" name="Прямоугольник 155"/>
          <p:cNvSpPr/>
          <p:nvPr/>
        </p:nvSpPr>
        <p:spPr bwMode="auto">
          <a:xfrm>
            <a:off x="4284249" y="5044470"/>
            <a:ext cx="2196000" cy="121888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 b="1">
                <a:solidFill>
                  <a:schemeClr val="tx1"/>
                </a:solidFill>
              </a:rPr>
              <a:t>free_block2</a:t>
            </a:r>
            <a:endParaRPr/>
          </a:p>
        </p:txBody>
      </p:sp>
      <p:sp>
        <p:nvSpPr>
          <p:cNvPr id="1707228419" name="Прямоугольник 156"/>
          <p:cNvSpPr/>
          <p:nvPr/>
        </p:nvSpPr>
        <p:spPr bwMode="auto">
          <a:xfrm>
            <a:off x="4474769" y="5358299"/>
            <a:ext cx="1907469" cy="37031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defRPr/>
            </a:pPr>
            <a:r>
              <a:rPr lang="en-US" b="1">
                <a:solidFill>
                  <a:schemeClr val="tx1"/>
                </a:solidFill>
              </a:rPr>
              <a:t>fp: ???</a:t>
            </a:r>
            <a:endParaRPr/>
          </a:p>
        </p:txBody>
      </p:sp>
      <p:sp>
        <p:nvSpPr>
          <p:cNvPr id="799955739" name="Прямоугольник 157"/>
          <p:cNvSpPr/>
          <p:nvPr/>
        </p:nvSpPr>
        <p:spPr bwMode="auto">
          <a:xfrm>
            <a:off x="4474768" y="5736938"/>
            <a:ext cx="1907469" cy="37031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defRPr/>
            </a:pPr>
            <a:r>
              <a:rPr lang="en-US" b="1">
                <a:solidFill>
                  <a:schemeClr val="tx1"/>
                </a:solidFill>
              </a:rPr>
              <a:t>bp: &amp;free_block</a:t>
            </a:r>
            <a:r>
              <a:rPr lang="ru-RU" b="1">
                <a:solidFill>
                  <a:schemeClr val="tx1"/>
                </a:solidFill>
              </a:rPr>
              <a:t>1</a:t>
            </a:r>
            <a:endParaRPr lang="en-US" b="1">
              <a:solidFill>
                <a:schemeClr val="tx1"/>
              </a:solidFill>
            </a:endParaRPr>
          </a:p>
        </p:txBody>
      </p:sp>
      <p:cxnSp>
        <p:nvCxnSpPr>
          <p:cNvPr id="782160594" name="Соединитель: уступ 172"/>
          <p:cNvCxnSpPr/>
          <p:nvPr/>
        </p:nvCxnSpPr>
        <p:spPr bwMode="auto">
          <a:xfrm>
            <a:off x="6374817" y="1967201"/>
            <a:ext cx="93162" cy="1296000"/>
          </a:xfrm>
          <a:prstGeom prst="bentConnector3">
            <a:avLst>
              <a:gd name="adj1" fmla="val 25682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38753" name="Соединитель: уступ 177"/>
          <p:cNvCxnSpPr/>
          <p:nvPr/>
        </p:nvCxnSpPr>
        <p:spPr bwMode="auto">
          <a:xfrm>
            <a:off x="4282223" y="3263201"/>
            <a:ext cx="180000" cy="2700000"/>
          </a:xfrm>
          <a:prstGeom prst="bentConnector3">
            <a:avLst>
              <a:gd name="adj1" fmla="val -128679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5295303" name="Соединитель: уступ 34"/>
          <p:cNvCxnSpPr>
            <a:stCxn id="962059825" idx="3"/>
          </p:cNvCxnSpPr>
          <p:nvPr/>
        </p:nvCxnSpPr>
        <p:spPr bwMode="auto">
          <a:xfrm flipV="1">
            <a:off x="6382238" y="1274838"/>
            <a:ext cx="360000" cy="109717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8622348" name="Соединитель: уступ 35"/>
          <p:cNvCxnSpPr/>
          <p:nvPr/>
        </p:nvCxnSpPr>
        <p:spPr bwMode="auto">
          <a:xfrm>
            <a:off x="6369692" y="5527444"/>
            <a:ext cx="216000" cy="5040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5176620" name="TextBox 75"/>
          <p:cNvSpPr txBox="1"/>
          <p:nvPr/>
        </p:nvSpPr>
        <p:spPr bwMode="auto">
          <a:xfrm>
            <a:off x="3664475" y="255106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endParaRPr lang="ru-RU"/>
          </a:p>
        </p:txBody>
      </p:sp>
      <p:sp>
        <p:nvSpPr>
          <p:cNvPr id="32424941" name="TextBox 78"/>
          <p:cNvSpPr txBox="1"/>
          <p:nvPr/>
        </p:nvSpPr>
        <p:spPr bwMode="auto">
          <a:xfrm>
            <a:off x="2701337" y="2262152"/>
            <a:ext cx="15974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defRPr/>
            </a:pPr>
            <a:r>
              <a:rPr lang="en-US" sz="1600"/>
              <a:t>Overflow </a:t>
            </a:r>
            <a:br>
              <a:rPr lang="ru-RU" sz="1600"/>
            </a:br>
            <a:r>
              <a:rPr lang="en-US" sz="1600"/>
              <a:t>non_free_block1</a:t>
            </a:r>
            <a:endParaRPr/>
          </a:p>
        </p:txBody>
      </p:sp>
      <p:sp>
        <p:nvSpPr>
          <p:cNvPr id="1225976940" name="Прямоугольник 143"/>
          <p:cNvSpPr/>
          <p:nvPr/>
        </p:nvSpPr>
        <p:spPr bwMode="auto">
          <a:xfrm>
            <a:off x="8115017" y="2712299"/>
            <a:ext cx="2196000" cy="549202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non_free_block1</a:t>
            </a:r>
            <a:endParaRPr/>
          </a:p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0xFF 0xFF 0xFF 0x FF</a:t>
            </a:r>
            <a:endParaRPr/>
          </a:p>
        </p:txBody>
      </p:sp>
      <p:sp>
        <p:nvSpPr>
          <p:cNvPr id="624494552" name="Прямоугольник 146"/>
          <p:cNvSpPr/>
          <p:nvPr/>
        </p:nvSpPr>
        <p:spPr bwMode="auto">
          <a:xfrm>
            <a:off x="8115015" y="4478324"/>
            <a:ext cx="2196000" cy="54920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non_free_block2</a:t>
            </a:r>
            <a:endParaRPr/>
          </a:p>
        </p:txBody>
      </p:sp>
      <p:sp>
        <p:nvSpPr>
          <p:cNvPr id="266469969" name="Прямоугольник 149"/>
          <p:cNvSpPr/>
          <p:nvPr/>
        </p:nvSpPr>
        <p:spPr bwMode="auto">
          <a:xfrm>
            <a:off x="8115015" y="1486757"/>
            <a:ext cx="2196000" cy="1218889"/>
          </a:xfrm>
          <a:prstGeom prst="rect">
            <a:avLst/>
          </a:prstGeom>
          <a:solidFill>
            <a:srgbClr val="87B6E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 b="1">
                <a:solidFill>
                  <a:schemeClr val="tx1"/>
                </a:solidFill>
              </a:rPr>
              <a:t>free_block0</a:t>
            </a:r>
            <a:endParaRPr/>
          </a:p>
        </p:txBody>
      </p:sp>
      <p:sp>
        <p:nvSpPr>
          <p:cNvPr id="192764635" name="Прямоугольник 150"/>
          <p:cNvSpPr/>
          <p:nvPr/>
        </p:nvSpPr>
        <p:spPr bwMode="auto">
          <a:xfrm>
            <a:off x="8305535" y="1802110"/>
            <a:ext cx="1907469" cy="37031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defRPr/>
            </a:pPr>
            <a:r>
              <a:rPr lang="en-US" b="1">
                <a:solidFill>
                  <a:schemeClr val="tx1"/>
                </a:solidFill>
              </a:rPr>
              <a:t>fp: free_block1</a:t>
            </a:r>
            <a:endParaRPr/>
          </a:p>
        </p:txBody>
      </p:sp>
      <p:sp>
        <p:nvSpPr>
          <p:cNvPr id="1827482726" name="Прямоугольник 151"/>
          <p:cNvSpPr/>
          <p:nvPr/>
        </p:nvSpPr>
        <p:spPr bwMode="auto">
          <a:xfrm>
            <a:off x="8305535" y="2180749"/>
            <a:ext cx="1907469" cy="37031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defRPr/>
            </a:pPr>
            <a:r>
              <a:rPr lang="en-US" b="1">
                <a:solidFill>
                  <a:schemeClr val="tx1"/>
                </a:solidFill>
              </a:rPr>
              <a:t>bp: ???</a:t>
            </a:r>
            <a:endParaRPr/>
          </a:p>
        </p:txBody>
      </p:sp>
      <p:sp>
        <p:nvSpPr>
          <p:cNvPr id="679032379" name="Прямоугольник 152"/>
          <p:cNvSpPr/>
          <p:nvPr/>
        </p:nvSpPr>
        <p:spPr bwMode="auto">
          <a:xfrm>
            <a:off x="8115015" y="3267607"/>
            <a:ext cx="2196000" cy="1218889"/>
          </a:xfrm>
          <a:prstGeom prst="rect">
            <a:avLst/>
          </a:prstGeom>
          <a:solidFill>
            <a:srgbClr val="FF757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 b="1">
                <a:solidFill>
                  <a:schemeClr val="tx1"/>
                </a:solidFill>
              </a:rPr>
              <a:t>free_block1</a:t>
            </a:r>
            <a:endParaRPr/>
          </a:p>
        </p:txBody>
      </p:sp>
      <p:sp>
        <p:nvSpPr>
          <p:cNvPr id="1912073384" name="Прямоугольник 153"/>
          <p:cNvSpPr/>
          <p:nvPr/>
        </p:nvSpPr>
        <p:spPr bwMode="auto">
          <a:xfrm>
            <a:off x="8305535" y="3586769"/>
            <a:ext cx="1907469" cy="370317"/>
          </a:xfrm>
          <a:prstGeom prst="rect">
            <a:avLst/>
          </a:prstGeom>
          <a:solidFill>
            <a:srgbClr val="FFB7B7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defRPr/>
            </a:pPr>
            <a:r>
              <a:rPr lang="en-US" b="1">
                <a:solidFill>
                  <a:schemeClr val="tx1"/>
                </a:solidFill>
              </a:rPr>
              <a:t>fp: &lt;what&gt;</a:t>
            </a:r>
            <a:endParaRPr/>
          </a:p>
        </p:txBody>
      </p:sp>
      <p:sp>
        <p:nvSpPr>
          <p:cNvPr id="1244436895" name="Прямоугольник 154"/>
          <p:cNvSpPr/>
          <p:nvPr/>
        </p:nvSpPr>
        <p:spPr bwMode="auto">
          <a:xfrm>
            <a:off x="8305535" y="3953217"/>
            <a:ext cx="1907469" cy="370317"/>
          </a:xfrm>
          <a:prstGeom prst="rect">
            <a:avLst/>
          </a:prstGeom>
          <a:solidFill>
            <a:srgbClr val="FFB7B7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defRPr/>
            </a:pPr>
            <a:r>
              <a:rPr lang="en-US" b="1">
                <a:solidFill>
                  <a:schemeClr val="tx1"/>
                </a:solidFill>
              </a:rPr>
              <a:t>bp: &lt;where-16&gt;</a:t>
            </a:r>
            <a:endParaRPr/>
          </a:p>
        </p:txBody>
      </p:sp>
      <p:sp>
        <p:nvSpPr>
          <p:cNvPr id="1115135887" name="Прямоугольник 155"/>
          <p:cNvSpPr/>
          <p:nvPr/>
        </p:nvSpPr>
        <p:spPr bwMode="auto">
          <a:xfrm>
            <a:off x="8115015" y="5038364"/>
            <a:ext cx="2196000" cy="121888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 b="1">
                <a:solidFill>
                  <a:schemeClr val="tx1"/>
                </a:solidFill>
              </a:rPr>
              <a:t>free_block2</a:t>
            </a:r>
            <a:endParaRPr/>
          </a:p>
        </p:txBody>
      </p:sp>
      <p:sp>
        <p:nvSpPr>
          <p:cNvPr id="615418413" name="Прямоугольник 156"/>
          <p:cNvSpPr/>
          <p:nvPr/>
        </p:nvSpPr>
        <p:spPr bwMode="auto">
          <a:xfrm>
            <a:off x="8305535" y="5352193"/>
            <a:ext cx="1907469" cy="37031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defRPr/>
            </a:pPr>
            <a:r>
              <a:rPr lang="en-US" b="1">
                <a:solidFill>
                  <a:schemeClr val="tx1"/>
                </a:solidFill>
              </a:rPr>
              <a:t>fp: ???</a:t>
            </a:r>
            <a:endParaRPr/>
          </a:p>
        </p:txBody>
      </p:sp>
      <p:sp>
        <p:nvSpPr>
          <p:cNvPr id="1128623085" name="Прямоугольник 157"/>
          <p:cNvSpPr/>
          <p:nvPr/>
        </p:nvSpPr>
        <p:spPr bwMode="auto">
          <a:xfrm>
            <a:off x="8305534" y="5730832"/>
            <a:ext cx="1907469" cy="37031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defRPr/>
            </a:pPr>
            <a:r>
              <a:rPr lang="en-US" b="1">
                <a:solidFill>
                  <a:schemeClr val="tx1"/>
                </a:solidFill>
              </a:rPr>
              <a:t>bp: &amp;free_block</a:t>
            </a:r>
            <a:r>
              <a:rPr lang="ru-RU" b="1">
                <a:solidFill>
                  <a:schemeClr val="tx1"/>
                </a:solidFill>
              </a:rPr>
              <a:t>1</a:t>
            </a:r>
            <a:endParaRPr lang="en-US" b="1">
              <a:solidFill>
                <a:schemeClr val="tx1"/>
              </a:solidFill>
            </a:endParaRPr>
          </a:p>
        </p:txBody>
      </p:sp>
      <p:cxnSp>
        <p:nvCxnSpPr>
          <p:cNvPr id="1445103394" name="Соединитель: уступ 172"/>
          <p:cNvCxnSpPr/>
          <p:nvPr/>
        </p:nvCxnSpPr>
        <p:spPr bwMode="auto">
          <a:xfrm>
            <a:off x="10205583" y="1961095"/>
            <a:ext cx="93162" cy="1296000"/>
          </a:xfrm>
          <a:prstGeom prst="bentConnector3">
            <a:avLst>
              <a:gd name="adj1" fmla="val 22730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3670904" name="Соединитель: уступ 177"/>
          <p:cNvCxnSpPr/>
          <p:nvPr/>
        </p:nvCxnSpPr>
        <p:spPr bwMode="auto">
          <a:xfrm>
            <a:off x="8112989" y="3257095"/>
            <a:ext cx="180000" cy="2700000"/>
          </a:xfrm>
          <a:prstGeom prst="bentConnector3">
            <a:avLst>
              <a:gd name="adj1" fmla="val -12104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6953427" name="Соединитель: уступ 34"/>
          <p:cNvCxnSpPr>
            <a:stCxn id="1827482726" idx="3"/>
          </p:cNvCxnSpPr>
          <p:nvPr/>
        </p:nvCxnSpPr>
        <p:spPr bwMode="auto">
          <a:xfrm flipV="1">
            <a:off x="10213004" y="1268732"/>
            <a:ext cx="252000" cy="109717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3491612" name="Соединитель: уступ 35"/>
          <p:cNvCxnSpPr/>
          <p:nvPr/>
        </p:nvCxnSpPr>
        <p:spPr bwMode="auto">
          <a:xfrm>
            <a:off x="10200458" y="5521338"/>
            <a:ext cx="216000" cy="5040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7361393" name="Соединитель: уступ 173"/>
          <p:cNvCxnSpPr/>
          <p:nvPr/>
        </p:nvCxnSpPr>
        <p:spPr bwMode="auto">
          <a:xfrm>
            <a:off x="10213002" y="3783372"/>
            <a:ext cx="900000" cy="1327334"/>
          </a:xfrm>
          <a:prstGeom prst="bentConnector3">
            <a:avLst>
              <a:gd name="adj1" fmla="val 40069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985431302" name="Соединитель: уступ 44"/>
          <p:cNvCxnSpPr/>
          <p:nvPr/>
        </p:nvCxnSpPr>
        <p:spPr bwMode="auto">
          <a:xfrm flipV="1">
            <a:off x="10209651" y="3046495"/>
            <a:ext cx="1044000" cy="1080000"/>
          </a:xfrm>
          <a:prstGeom prst="bentConnector3">
            <a:avLst>
              <a:gd name="adj1" fmla="val 27657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004167627" name="TextBox 104"/>
          <p:cNvSpPr txBox="1"/>
          <p:nvPr/>
        </p:nvSpPr>
        <p:spPr bwMode="auto">
          <a:xfrm>
            <a:off x="11196110" y="2812281"/>
            <a:ext cx="789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b="1"/>
              <a:t>where</a:t>
            </a:r>
            <a:endParaRPr/>
          </a:p>
        </p:txBody>
      </p:sp>
      <p:sp>
        <p:nvSpPr>
          <p:cNvPr id="72840026" name="TextBox 106"/>
          <p:cNvSpPr txBox="1"/>
          <p:nvPr/>
        </p:nvSpPr>
        <p:spPr bwMode="auto">
          <a:xfrm>
            <a:off x="10485608" y="2692844"/>
            <a:ext cx="9721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b="1"/>
              <a:t>&lt;</a:t>
            </a:r>
            <a:r>
              <a:rPr lang="en-US" b="1">
                <a:solidFill>
                  <a:schemeClr val="tx1"/>
                </a:solidFill>
              </a:rPr>
              <a:t>what&gt;</a:t>
            </a:r>
            <a:endParaRPr lang="ru-RU"/>
          </a:p>
        </p:txBody>
      </p:sp>
      <p:sp>
        <p:nvSpPr>
          <p:cNvPr id="591942028" name="TextBox 107"/>
          <p:cNvSpPr txBox="1"/>
          <p:nvPr/>
        </p:nvSpPr>
        <p:spPr bwMode="auto">
          <a:xfrm>
            <a:off x="10522544" y="4323216"/>
            <a:ext cx="14622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b="1">
                <a:solidFill>
                  <a:schemeClr val="tx1"/>
                </a:solidFill>
              </a:rPr>
              <a:t>&lt;where-16&gt; </a:t>
            </a:r>
            <a:endParaRPr lang="ru-RU"/>
          </a:p>
        </p:txBody>
      </p:sp>
      <p:sp>
        <p:nvSpPr>
          <p:cNvPr id="495114949" name="TextBox 111"/>
          <p:cNvSpPr txBox="1"/>
          <p:nvPr/>
        </p:nvSpPr>
        <p:spPr bwMode="auto">
          <a:xfrm>
            <a:off x="11047864" y="4912645"/>
            <a:ext cx="11021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b="1">
                <a:solidFill>
                  <a:schemeClr val="tx1"/>
                </a:solidFill>
              </a:rPr>
              <a:t>what+</a:t>
            </a:r>
            <a:r>
              <a:rPr lang="en-US" b="1"/>
              <a:t>24</a:t>
            </a:r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2306158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Обход «канареек» через переполнение в куче</a:t>
            </a:r>
            <a:endParaRPr lang="en-US"/>
          </a:p>
        </p:txBody>
      </p:sp>
      <p:sp>
        <p:nvSpPr>
          <p:cNvPr id="839519445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7FBA2B-964F-4C4D-AAF7-5A8399264638}" type="slidenum">
              <a:rPr lang="en-US"/>
              <a:t>38</a:t>
            </a:fld>
            <a:endParaRPr lang="en-US"/>
          </a:p>
        </p:txBody>
      </p:sp>
      <p:sp>
        <p:nvSpPr>
          <p:cNvPr id="1536784708" name="Объект 2"/>
          <p:cNvSpPr>
            <a:spLocks noGrp="1"/>
          </p:cNvSpPr>
          <p:nvPr>
            <p:ph idx="1"/>
          </p:nvPr>
        </p:nvSpPr>
        <p:spPr bwMode="auto">
          <a:xfrm>
            <a:off x="838200" y="1608893"/>
            <a:ext cx="10869166" cy="2658093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2000"/>
              <a:t>Поскольку переполнение в куче предоставляет возможность произвольной записи, эту уязвимость можно использовать для обхода канареек.</a:t>
            </a:r>
            <a:r>
              <a:rPr lang="en-US" sz="2000"/>
              <a:t> </a:t>
            </a:r>
            <a:endParaRPr lang="ru-RU" sz="2000"/>
          </a:p>
          <a:p>
            <a:pPr marL="0" indent="0">
              <a:buNone/>
              <a:defRPr/>
            </a:pPr>
            <a:r>
              <a:rPr lang="ru-RU" sz="2000"/>
              <a:t>В таком случае значение в </a:t>
            </a:r>
            <a:r>
              <a:rPr lang="en-US" sz="2000">
                <a:latin typeface="Consolas"/>
              </a:rPr>
              <a:t>backward_block_ptr</a:t>
            </a:r>
            <a:r>
              <a:rPr lang="ru-RU" sz="2000"/>
              <a:t> в этом случае нацеливается на адрес возврата или его часть. </a:t>
            </a:r>
            <a:endParaRPr/>
          </a:p>
          <a:p>
            <a:pPr marL="0" indent="0">
              <a:buNone/>
              <a:defRPr/>
            </a:pPr>
            <a:r>
              <a:rPr lang="ru-RU" sz="2000"/>
              <a:t>Значение в </a:t>
            </a:r>
            <a:r>
              <a:rPr lang="en-US" sz="2000">
                <a:latin typeface="Consolas"/>
              </a:rPr>
              <a:t>forward_block_ptr</a:t>
            </a:r>
            <a:r>
              <a:rPr lang="en-US" sz="2000"/>
              <a:t> </a:t>
            </a:r>
            <a:r>
              <a:rPr lang="ru-RU" sz="2000"/>
              <a:t>подбирается так, чтобы вторая операция записи не вызвала </a:t>
            </a:r>
            <a:r>
              <a:rPr lang="en-US" sz="2000"/>
              <a:t>SIGSEGV</a:t>
            </a:r>
            <a:r>
              <a:rPr lang="ru-RU" sz="2000"/>
              <a:t> и при этом адрес возврата изменился на нужный атакующему. </a:t>
            </a:r>
            <a:br>
              <a:rPr lang="ru-RU" sz="2000"/>
            </a:br>
            <a:endParaRPr lang="en-US" sz="2000"/>
          </a:p>
        </p:txBody>
      </p:sp>
      <p:sp>
        <p:nvSpPr>
          <p:cNvPr id="1515550173" name="Прямоугольник 8"/>
          <p:cNvSpPr/>
          <p:nvPr/>
        </p:nvSpPr>
        <p:spPr bwMode="auto">
          <a:xfrm>
            <a:off x="484634" y="4576391"/>
            <a:ext cx="2196000" cy="549202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BUFFER</a:t>
            </a:r>
            <a:br>
              <a:rPr lang="en-US">
                <a:solidFill>
                  <a:schemeClr val="tx1"/>
                </a:solidFill>
              </a:rPr>
            </a:br>
            <a:endParaRPr lang="en-US">
              <a:solidFill>
                <a:schemeClr val="tx1"/>
              </a:solidFill>
            </a:endParaRPr>
          </a:p>
        </p:txBody>
      </p:sp>
      <p:sp>
        <p:nvSpPr>
          <p:cNvPr id="2059102558" name="Прямоугольник 19"/>
          <p:cNvSpPr/>
          <p:nvPr/>
        </p:nvSpPr>
        <p:spPr bwMode="auto">
          <a:xfrm>
            <a:off x="485772" y="5131189"/>
            <a:ext cx="2196000" cy="1218889"/>
          </a:xfrm>
          <a:prstGeom prst="rect">
            <a:avLst/>
          </a:prstGeom>
          <a:solidFill>
            <a:srgbClr val="FF757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 b="1">
                <a:solidFill>
                  <a:schemeClr val="tx1"/>
                </a:solidFill>
              </a:rPr>
              <a:t>free_block1</a:t>
            </a:r>
            <a:endParaRPr/>
          </a:p>
        </p:txBody>
      </p:sp>
      <p:sp>
        <p:nvSpPr>
          <p:cNvPr id="728368409" name="Прямоугольник 20"/>
          <p:cNvSpPr/>
          <p:nvPr/>
        </p:nvSpPr>
        <p:spPr bwMode="auto">
          <a:xfrm>
            <a:off x="676292" y="5438922"/>
            <a:ext cx="1907469" cy="370317"/>
          </a:xfrm>
          <a:prstGeom prst="rect">
            <a:avLst/>
          </a:prstGeom>
          <a:solidFill>
            <a:srgbClr val="FFB7B7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defRPr/>
            </a:pPr>
            <a:r>
              <a:rPr lang="en-US" b="1">
                <a:solidFill>
                  <a:schemeClr val="tx1"/>
                </a:solidFill>
              </a:rPr>
              <a:t>fp: &amp;something</a:t>
            </a:r>
            <a:endParaRPr/>
          </a:p>
        </p:txBody>
      </p:sp>
      <p:sp>
        <p:nvSpPr>
          <p:cNvPr id="2102671355" name="Прямоугольник 21"/>
          <p:cNvSpPr/>
          <p:nvPr/>
        </p:nvSpPr>
        <p:spPr bwMode="auto">
          <a:xfrm>
            <a:off x="676291" y="5823657"/>
            <a:ext cx="1907469" cy="370317"/>
          </a:xfrm>
          <a:prstGeom prst="rect">
            <a:avLst/>
          </a:prstGeom>
          <a:solidFill>
            <a:srgbClr val="FFB7B7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defRPr/>
            </a:pPr>
            <a:r>
              <a:rPr lang="en-US" b="1">
                <a:solidFill>
                  <a:schemeClr val="tx1"/>
                </a:solidFill>
              </a:rPr>
              <a:t>bp:&amp;ret_addr+20</a:t>
            </a:r>
            <a:endParaRPr/>
          </a:p>
        </p:txBody>
      </p:sp>
      <p:cxnSp>
        <p:nvCxnSpPr>
          <p:cNvPr id="1284780031" name="Соединитель: уступ 22"/>
          <p:cNvCxnSpPr>
            <a:endCxn id="1504043417" idx="0"/>
          </p:cNvCxnSpPr>
          <p:nvPr/>
        </p:nvCxnSpPr>
        <p:spPr bwMode="auto">
          <a:xfrm flipV="1">
            <a:off x="2680634" y="4704389"/>
            <a:ext cx="3299403" cy="889739"/>
          </a:xfrm>
          <a:prstGeom prst="bentConnector4">
            <a:avLst>
              <a:gd name="adj1" fmla="val 33633"/>
              <a:gd name="adj2" fmla="val 125693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9965100" name="Прямоугольник 25"/>
          <p:cNvSpPr/>
          <p:nvPr/>
        </p:nvSpPr>
        <p:spPr bwMode="auto">
          <a:xfrm>
            <a:off x="4900037" y="4710160"/>
            <a:ext cx="2160000" cy="20430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504043417" name="Прямоугольник 28"/>
          <p:cNvSpPr/>
          <p:nvPr/>
        </p:nvSpPr>
        <p:spPr bwMode="auto">
          <a:xfrm>
            <a:off x="4900037" y="4704389"/>
            <a:ext cx="2160000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return address</a:t>
            </a:r>
            <a:endParaRPr/>
          </a:p>
        </p:txBody>
      </p:sp>
      <p:sp>
        <p:nvSpPr>
          <p:cNvPr id="1172903135" name="Прямоугольник 29"/>
          <p:cNvSpPr/>
          <p:nvPr/>
        </p:nvSpPr>
        <p:spPr bwMode="auto">
          <a:xfrm>
            <a:off x="4900037" y="5807277"/>
            <a:ext cx="2160000" cy="87590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locals</a:t>
            </a:r>
            <a:endParaRPr/>
          </a:p>
        </p:txBody>
      </p:sp>
      <p:sp>
        <p:nvSpPr>
          <p:cNvPr id="860572788" name="Прямоугольник 30"/>
          <p:cNvSpPr/>
          <p:nvPr/>
        </p:nvSpPr>
        <p:spPr bwMode="auto">
          <a:xfrm>
            <a:off x="4900037" y="5066695"/>
            <a:ext cx="2160000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Prev. RBP</a:t>
            </a:r>
            <a:endParaRPr/>
          </a:p>
        </p:txBody>
      </p:sp>
      <p:sp>
        <p:nvSpPr>
          <p:cNvPr id="144135052" name="Прямоугольник 33"/>
          <p:cNvSpPr/>
          <p:nvPr/>
        </p:nvSpPr>
        <p:spPr bwMode="auto">
          <a:xfrm>
            <a:off x="4900037" y="5438922"/>
            <a:ext cx="2160000" cy="368419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canary</a:t>
            </a:r>
            <a:endParaRPr/>
          </a:p>
        </p:txBody>
      </p:sp>
      <p:sp>
        <p:nvSpPr>
          <p:cNvPr id="1906629613" name="Прямоугольник 48"/>
          <p:cNvSpPr/>
          <p:nvPr/>
        </p:nvSpPr>
        <p:spPr bwMode="auto">
          <a:xfrm>
            <a:off x="8158249" y="4706352"/>
            <a:ext cx="2160000" cy="20430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993929078" name="Прямоугольник 49"/>
          <p:cNvSpPr/>
          <p:nvPr/>
        </p:nvSpPr>
        <p:spPr bwMode="auto">
          <a:xfrm>
            <a:off x="8158249" y="4700581"/>
            <a:ext cx="2160000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return address</a:t>
            </a:r>
            <a:endParaRPr/>
          </a:p>
        </p:txBody>
      </p:sp>
      <p:sp>
        <p:nvSpPr>
          <p:cNvPr id="633697281" name="Прямоугольник 50"/>
          <p:cNvSpPr/>
          <p:nvPr/>
        </p:nvSpPr>
        <p:spPr bwMode="auto">
          <a:xfrm>
            <a:off x="8158249" y="5803469"/>
            <a:ext cx="2160000" cy="87590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locals</a:t>
            </a:r>
            <a:endParaRPr/>
          </a:p>
        </p:txBody>
      </p:sp>
      <p:sp>
        <p:nvSpPr>
          <p:cNvPr id="1329874689" name="Прямоугольник 51"/>
          <p:cNvSpPr/>
          <p:nvPr/>
        </p:nvSpPr>
        <p:spPr bwMode="auto">
          <a:xfrm>
            <a:off x="8158249" y="5062887"/>
            <a:ext cx="2160000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Prev. RBP</a:t>
            </a:r>
            <a:endParaRPr/>
          </a:p>
        </p:txBody>
      </p:sp>
      <p:sp>
        <p:nvSpPr>
          <p:cNvPr id="468077163" name="Прямоугольник 52"/>
          <p:cNvSpPr/>
          <p:nvPr/>
        </p:nvSpPr>
        <p:spPr bwMode="auto">
          <a:xfrm>
            <a:off x="8158249" y="5435114"/>
            <a:ext cx="2160000" cy="368419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canary</a:t>
            </a:r>
            <a:endParaRPr/>
          </a:p>
        </p:txBody>
      </p:sp>
      <p:sp>
        <p:nvSpPr>
          <p:cNvPr id="1847323365" name="Прямоугольник 53"/>
          <p:cNvSpPr/>
          <p:nvPr/>
        </p:nvSpPr>
        <p:spPr bwMode="auto">
          <a:xfrm>
            <a:off x="9238249" y="4701428"/>
            <a:ext cx="1080000" cy="357652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some</a:t>
            </a:r>
            <a:endParaRPr/>
          </a:p>
        </p:txBody>
      </p:sp>
      <p:sp>
        <p:nvSpPr>
          <p:cNvPr id="942817067" name="Прямоугольник 54"/>
          <p:cNvSpPr/>
          <p:nvPr/>
        </p:nvSpPr>
        <p:spPr bwMode="auto">
          <a:xfrm>
            <a:off x="8158249" y="5062142"/>
            <a:ext cx="1080000" cy="372972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/>
              <a:t>thing</a:t>
            </a:r>
            <a:endParaRPr/>
          </a:p>
        </p:txBody>
      </p:sp>
      <p:cxnSp>
        <p:nvCxnSpPr>
          <p:cNvPr id="1836653716" name="Connector: Elbow 35"/>
          <p:cNvCxnSpPr/>
          <p:nvPr/>
        </p:nvCxnSpPr>
        <p:spPr bwMode="auto">
          <a:xfrm>
            <a:off x="2680634" y="6008815"/>
            <a:ext cx="1135095" cy="53009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02892093" name="TextBox 36"/>
          <p:cNvSpPr txBox="1"/>
          <p:nvPr/>
        </p:nvSpPr>
        <p:spPr bwMode="auto">
          <a:xfrm>
            <a:off x="3779984" y="6354246"/>
            <a:ext cx="292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/>
              <a:t>?</a:t>
            </a:r>
            <a:endParaRPr lang="ru-RU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440756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Перезапись </a:t>
            </a:r>
            <a:r>
              <a:rPr lang="en-US"/>
              <a:t>GOT </a:t>
            </a:r>
            <a:r>
              <a:rPr lang="ru-RU"/>
              <a:t>через переполнение в куче</a:t>
            </a:r>
            <a:r>
              <a:rPr lang="ru-RU" sz="2400"/>
              <a:t>(</a:t>
            </a:r>
            <a:r>
              <a:rPr lang="en-US" sz="2400"/>
              <a:t>Linux</a:t>
            </a:r>
            <a:r>
              <a:rPr lang="ru-RU" sz="2400"/>
              <a:t>)</a:t>
            </a:r>
            <a:endParaRPr lang="en-US"/>
          </a:p>
        </p:txBody>
      </p:sp>
      <p:sp>
        <p:nvSpPr>
          <p:cNvPr id="827901170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7FBA2B-964F-4C4D-AAF7-5A8399264638}" type="slidenum">
              <a:rPr lang="en-US"/>
              <a:t>39</a:t>
            </a:fld>
            <a:endParaRPr lang="en-US"/>
          </a:p>
        </p:txBody>
      </p:sp>
      <p:sp>
        <p:nvSpPr>
          <p:cNvPr id="1540384795" name="Номер слайда 4"/>
          <p:cNvSpPr txBox="1"/>
          <p:nvPr/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>
              <a:defRPr sz="18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B67FBA2B-964F-4C4D-AAF7-5A8399264638}" type="slidenum">
              <a:rPr lang="en-US"/>
              <a:t>39</a:t>
            </a:fld>
            <a:endParaRPr lang="en-US"/>
          </a:p>
        </p:txBody>
      </p:sp>
      <p:sp>
        <p:nvSpPr>
          <p:cNvPr id="1470965372" name="Прямоугольник 143"/>
          <p:cNvSpPr/>
          <p:nvPr/>
        </p:nvSpPr>
        <p:spPr bwMode="auto">
          <a:xfrm>
            <a:off x="975994" y="2922714"/>
            <a:ext cx="2196000" cy="549202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BUFFER</a:t>
            </a:r>
            <a:br>
              <a:rPr lang="en-US">
                <a:solidFill>
                  <a:schemeClr val="tx1"/>
                </a:solidFill>
              </a:rPr>
            </a:br>
            <a:r>
              <a:rPr lang="en-US">
                <a:solidFill>
                  <a:schemeClr val="tx1"/>
                </a:solidFill>
              </a:rPr>
              <a:t>&lt;shell code&gt;</a:t>
            </a:r>
            <a:endParaRPr/>
          </a:p>
        </p:txBody>
      </p:sp>
      <p:sp>
        <p:nvSpPr>
          <p:cNvPr id="111446727" name="Прямоугольник 146"/>
          <p:cNvSpPr/>
          <p:nvPr/>
        </p:nvSpPr>
        <p:spPr bwMode="auto">
          <a:xfrm>
            <a:off x="975994" y="4712332"/>
            <a:ext cx="2196000" cy="54920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>
                <a:solidFill>
                  <a:schemeClr val="tx1"/>
                </a:solidFill>
              </a:rPr>
              <a:t>non_free_block2</a:t>
            </a:r>
            <a:endParaRPr/>
          </a:p>
        </p:txBody>
      </p:sp>
      <p:sp>
        <p:nvSpPr>
          <p:cNvPr id="509590320" name="Прямоугольник 149"/>
          <p:cNvSpPr/>
          <p:nvPr/>
        </p:nvSpPr>
        <p:spPr bwMode="auto">
          <a:xfrm>
            <a:off x="975994" y="1694749"/>
            <a:ext cx="2196000" cy="1218889"/>
          </a:xfrm>
          <a:prstGeom prst="rect">
            <a:avLst/>
          </a:prstGeom>
          <a:solidFill>
            <a:srgbClr val="87B6E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 b="1">
                <a:solidFill>
                  <a:schemeClr val="tx1"/>
                </a:solidFill>
              </a:rPr>
              <a:t>free_block0</a:t>
            </a:r>
            <a:endParaRPr/>
          </a:p>
        </p:txBody>
      </p:sp>
      <p:sp>
        <p:nvSpPr>
          <p:cNvPr id="1190960898" name="Прямоугольник 150"/>
          <p:cNvSpPr/>
          <p:nvPr/>
        </p:nvSpPr>
        <p:spPr bwMode="auto">
          <a:xfrm>
            <a:off x="1166514" y="2002482"/>
            <a:ext cx="1907469" cy="37031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defRPr/>
            </a:pPr>
            <a:r>
              <a:rPr lang="en-US" b="1">
                <a:solidFill>
                  <a:schemeClr val="tx1"/>
                </a:solidFill>
              </a:rPr>
              <a:t>fp: &amp;free_block1</a:t>
            </a:r>
            <a:endParaRPr/>
          </a:p>
        </p:txBody>
      </p:sp>
      <p:sp>
        <p:nvSpPr>
          <p:cNvPr id="646295160" name="Прямоугольник 151"/>
          <p:cNvSpPr/>
          <p:nvPr/>
        </p:nvSpPr>
        <p:spPr bwMode="auto">
          <a:xfrm>
            <a:off x="1166513" y="2387217"/>
            <a:ext cx="1907469" cy="37031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defRPr/>
            </a:pPr>
            <a:r>
              <a:rPr lang="en-US" b="1">
                <a:solidFill>
                  <a:schemeClr val="tx1"/>
                </a:solidFill>
              </a:rPr>
              <a:t>bp: ???</a:t>
            </a:r>
            <a:endParaRPr/>
          </a:p>
        </p:txBody>
      </p:sp>
      <p:sp>
        <p:nvSpPr>
          <p:cNvPr id="367359697" name="Прямоугольник 152"/>
          <p:cNvSpPr/>
          <p:nvPr/>
        </p:nvSpPr>
        <p:spPr bwMode="auto">
          <a:xfrm>
            <a:off x="975994" y="3480991"/>
            <a:ext cx="2196000" cy="1218889"/>
          </a:xfrm>
          <a:prstGeom prst="rect">
            <a:avLst/>
          </a:prstGeom>
          <a:solidFill>
            <a:srgbClr val="FF757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 b="1">
                <a:solidFill>
                  <a:schemeClr val="tx1"/>
                </a:solidFill>
              </a:rPr>
              <a:t>free_block1</a:t>
            </a:r>
            <a:endParaRPr/>
          </a:p>
        </p:txBody>
      </p:sp>
      <p:sp>
        <p:nvSpPr>
          <p:cNvPr id="86469029" name="Прямоугольник 153"/>
          <p:cNvSpPr/>
          <p:nvPr/>
        </p:nvSpPr>
        <p:spPr bwMode="auto">
          <a:xfrm>
            <a:off x="1166514" y="3788724"/>
            <a:ext cx="1907469" cy="370317"/>
          </a:xfrm>
          <a:prstGeom prst="rect">
            <a:avLst/>
          </a:prstGeom>
          <a:solidFill>
            <a:srgbClr val="FFB7B7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defRPr/>
            </a:pPr>
            <a:r>
              <a:rPr lang="en-US" b="1">
                <a:solidFill>
                  <a:schemeClr val="tx1"/>
                </a:solidFill>
              </a:rPr>
              <a:t>fp: &amp;shell_code</a:t>
            </a:r>
          </a:p>
        </p:txBody>
      </p:sp>
      <p:sp>
        <p:nvSpPr>
          <p:cNvPr id="60486383" name="Прямоугольник 154"/>
          <p:cNvSpPr/>
          <p:nvPr/>
        </p:nvSpPr>
        <p:spPr bwMode="auto">
          <a:xfrm>
            <a:off x="1166513" y="4173459"/>
            <a:ext cx="1907469" cy="370317"/>
          </a:xfrm>
          <a:prstGeom prst="rect">
            <a:avLst/>
          </a:prstGeom>
          <a:solidFill>
            <a:srgbClr val="FFB7B7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defRPr/>
            </a:pPr>
            <a:r>
              <a:rPr lang="en-US" b="1">
                <a:solidFill>
                  <a:schemeClr val="tx1"/>
                </a:solidFill>
              </a:rPr>
              <a:t>bp:&amp;printf-16</a:t>
            </a:r>
            <a:endParaRPr/>
          </a:p>
        </p:txBody>
      </p:sp>
      <p:sp>
        <p:nvSpPr>
          <p:cNvPr id="1438970801" name="Прямоугольник 155"/>
          <p:cNvSpPr/>
          <p:nvPr/>
        </p:nvSpPr>
        <p:spPr bwMode="auto">
          <a:xfrm>
            <a:off x="975994" y="5273985"/>
            <a:ext cx="2196000" cy="121888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r>
              <a:rPr lang="en-US" b="1">
                <a:solidFill>
                  <a:schemeClr val="tx1"/>
                </a:solidFill>
              </a:rPr>
              <a:t>free_block2</a:t>
            </a:r>
            <a:endParaRPr/>
          </a:p>
        </p:txBody>
      </p:sp>
      <p:sp>
        <p:nvSpPr>
          <p:cNvPr id="2066857656" name="Прямоугольник 156"/>
          <p:cNvSpPr/>
          <p:nvPr/>
        </p:nvSpPr>
        <p:spPr bwMode="auto">
          <a:xfrm>
            <a:off x="1166514" y="5581718"/>
            <a:ext cx="1907469" cy="37031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defRPr/>
            </a:pPr>
            <a:r>
              <a:rPr lang="en-US" b="1">
                <a:solidFill>
                  <a:schemeClr val="tx1"/>
                </a:solidFill>
              </a:rPr>
              <a:t>fp: ???</a:t>
            </a:r>
            <a:endParaRPr/>
          </a:p>
        </p:txBody>
      </p:sp>
      <p:sp>
        <p:nvSpPr>
          <p:cNvPr id="261707406" name="Прямоугольник 157"/>
          <p:cNvSpPr/>
          <p:nvPr/>
        </p:nvSpPr>
        <p:spPr bwMode="auto">
          <a:xfrm>
            <a:off x="1166513" y="5966453"/>
            <a:ext cx="1907469" cy="37031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defRPr/>
            </a:pPr>
            <a:r>
              <a:rPr lang="en-US" b="1">
                <a:solidFill>
                  <a:schemeClr val="tx1"/>
                </a:solidFill>
              </a:rPr>
              <a:t>bp: &amp;free_block</a:t>
            </a:r>
            <a:r>
              <a:rPr lang="ru-RU" b="1">
                <a:solidFill>
                  <a:schemeClr val="tx1"/>
                </a:solidFill>
              </a:rPr>
              <a:t>1</a:t>
            </a:r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89484176" name="TextBox 25"/>
          <p:cNvSpPr txBox="1"/>
          <p:nvPr/>
        </p:nvSpPr>
        <p:spPr bwMode="auto">
          <a:xfrm>
            <a:off x="6392702" y="1914726"/>
            <a:ext cx="394070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>
                <a:latin typeface="Menlo"/>
              </a:rPr>
              <a:t>*(&amp;printf@GOT) = &amp;shell_code</a:t>
            </a:r>
            <a:endParaRPr lang="en-US" b="0" i="0">
              <a:latin typeface="Menlo"/>
            </a:endParaRPr>
          </a:p>
          <a:p>
            <a:pPr>
              <a:defRPr/>
            </a:pPr>
            <a:r>
              <a:rPr lang="en-US" b="0" i="0">
                <a:latin typeface="Menlo"/>
              </a:rPr>
              <a:t>*(&amp;</a:t>
            </a:r>
            <a:r>
              <a:rPr lang="en-US">
                <a:latin typeface="Menlo"/>
              </a:rPr>
              <a:t>shell_code +</a:t>
            </a:r>
            <a:r>
              <a:rPr lang="en-US" b="0" i="0">
                <a:latin typeface="Menlo"/>
              </a:rPr>
              <a:t> 24) = &amp;printf@GOT-16</a:t>
            </a:r>
            <a:br>
              <a:rPr lang="en-US" b="0" i="0">
                <a:latin typeface="Menlo"/>
              </a:rPr>
            </a:br>
            <a:endParaRPr lang="en-US"/>
          </a:p>
        </p:txBody>
      </p:sp>
      <p:sp>
        <p:nvSpPr>
          <p:cNvPr id="1203546779" name="TextBox 26"/>
          <p:cNvSpPr txBox="1"/>
          <p:nvPr/>
        </p:nvSpPr>
        <p:spPr bwMode="auto">
          <a:xfrm>
            <a:off x="4321640" y="1897830"/>
            <a:ext cx="177503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b="0" i="0">
                <a:latin typeface="Menlo"/>
              </a:rPr>
              <a:t>*(fp + </a:t>
            </a:r>
            <a:r>
              <a:rPr lang="en-US">
                <a:latin typeface="Menlo"/>
              </a:rPr>
              <a:t>24</a:t>
            </a:r>
            <a:r>
              <a:rPr lang="en-US" b="0" i="0">
                <a:latin typeface="Menlo"/>
              </a:rPr>
              <a:t>) = bp</a:t>
            </a:r>
            <a:br>
              <a:rPr lang="en-US" b="0" i="0">
                <a:latin typeface="Menlo"/>
              </a:rPr>
            </a:br>
            <a:r>
              <a:rPr lang="en-US" b="0" i="0">
                <a:latin typeface="Menlo"/>
              </a:rPr>
              <a:t>*(bp + 16) = fp</a:t>
            </a:r>
            <a:endParaRPr lang="en-US"/>
          </a:p>
        </p:txBody>
      </p:sp>
      <p:cxnSp>
        <p:nvCxnSpPr>
          <p:cNvPr id="1829051478" name="Соединитель: уступ 6"/>
          <p:cNvCxnSpPr/>
          <p:nvPr/>
        </p:nvCxnSpPr>
        <p:spPr bwMode="auto">
          <a:xfrm>
            <a:off x="3070271" y="4325599"/>
            <a:ext cx="2502737" cy="1080000"/>
          </a:xfrm>
          <a:prstGeom prst="bentConnector3">
            <a:avLst>
              <a:gd name="adj1" fmla="val 24259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803686" name="Соединитель: уступ 22"/>
          <p:cNvCxnSpPr>
            <a:endCxn id="1470965372" idx="3"/>
          </p:cNvCxnSpPr>
          <p:nvPr/>
        </p:nvCxnSpPr>
        <p:spPr bwMode="auto">
          <a:xfrm rot="5400000" flipH="1" flipV="1">
            <a:off x="2516436" y="3754861"/>
            <a:ext cx="1213104" cy="98012"/>
          </a:xfrm>
          <a:prstGeom prst="bentConnector4">
            <a:avLst>
              <a:gd name="adj1" fmla="val 38682"/>
              <a:gd name="adj2" fmla="val 333237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6305230" name="TextBox 27"/>
          <p:cNvSpPr txBox="1"/>
          <p:nvPr/>
        </p:nvSpPr>
        <p:spPr bwMode="auto">
          <a:xfrm>
            <a:off x="3822327" y="5076867"/>
            <a:ext cx="1548658" cy="366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b="0" i="0">
                <a:latin typeface="Menlo"/>
              </a:rPr>
              <a:t>&amp;</a:t>
            </a:r>
            <a:r>
              <a:rPr lang="en-US">
                <a:latin typeface="Menlo"/>
              </a:rPr>
              <a:t>shell_code</a:t>
            </a:r>
            <a:endParaRPr lang="ru-RU"/>
          </a:p>
        </p:txBody>
      </p:sp>
      <p:sp>
        <p:nvSpPr>
          <p:cNvPr id="167818365" name="TextBox 8"/>
          <p:cNvSpPr txBox="1"/>
          <p:nvPr/>
        </p:nvSpPr>
        <p:spPr bwMode="auto">
          <a:xfrm>
            <a:off x="3308103" y="2912484"/>
            <a:ext cx="58894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>
                <a:solidFill>
                  <a:schemeClr val="tx1"/>
                </a:solidFill>
              </a:rPr>
              <a:t>&amp;</a:t>
            </a:r>
            <a:r>
              <a:rPr lang="en-US">
                <a:latin typeface="Menlo"/>
              </a:rPr>
              <a:t>printf@GOT</a:t>
            </a:r>
            <a:r>
              <a:rPr lang="en-US">
                <a:solidFill>
                  <a:schemeClr val="tx1"/>
                </a:solidFill>
              </a:rPr>
              <a:t>-16 =&gt; </a:t>
            </a:r>
            <a:r>
              <a:rPr lang="ru-RU" i="1">
                <a:solidFill>
                  <a:schemeClr val="tx1"/>
                </a:solidFill>
              </a:rPr>
              <a:t>часть буфера перезапишется</a:t>
            </a:r>
            <a:endParaRPr lang="ru-RU" i="1"/>
          </a:p>
        </p:txBody>
      </p:sp>
      <p:sp>
        <p:nvSpPr>
          <p:cNvPr id="2143390064" name="TextBox 7"/>
          <p:cNvSpPr txBox="1"/>
          <p:nvPr/>
        </p:nvSpPr>
        <p:spPr bwMode="auto">
          <a:xfrm>
            <a:off x="5153416" y="4935561"/>
            <a:ext cx="586574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>
                <a:latin typeface="Courier New"/>
                <a:cs typeface="Courier New"/>
              </a:rPr>
              <a:t>GOT: </a:t>
            </a:r>
            <a:br>
              <a:rPr lang="en-US">
                <a:latin typeface="Courier New"/>
                <a:cs typeface="Courier New"/>
              </a:rPr>
            </a:br>
            <a:r>
              <a:rPr lang="en-US">
                <a:latin typeface="Courier New"/>
                <a:cs typeface="Courier New"/>
              </a:rPr>
              <a:t>    </a:t>
            </a:r>
            <a:r>
              <a:rPr lang="en-US" b="1">
                <a:latin typeface="Courier New"/>
                <a:cs typeface="Courier New"/>
              </a:rPr>
              <a:t>printf:            dq &amp;shell_code</a:t>
            </a:r>
            <a:r>
              <a:rPr lang="en-US">
                <a:solidFill>
                  <a:schemeClr val="tx1"/>
                </a:solidFill>
                <a:latin typeface="Courier New"/>
                <a:cs typeface="Courier New"/>
              </a:rPr>
              <a:t>  </a:t>
            </a:r>
            <a:br>
              <a:rPr lang="en-US">
                <a:solidFill>
                  <a:schemeClr val="tx1"/>
                </a:solidFill>
                <a:latin typeface="Courier New"/>
                <a:cs typeface="Courier New"/>
              </a:rPr>
            </a:br>
            <a:r>
              <a:rPr lang="en-US">
                <a:solidFill>
                  <a:schemeClr val="tx1"/>
                </a:solidFill>
                <a:latin typeface="Courier New"/>
                <a:cs typeface="Courier New"/>
              </a:rPr>
              <a:t>    __stack_chck_fail: dq ?</a:t>
            </a:r>
            <a:endParaRPr/>
          </a:p>
          <a:p>
            <a:pPr>
              <a:defRPr/>
            </a:pPr>
            <a:r>
              <a:rPr lang="en-US">
                <a:latin typeface="Courier New"/>
                <a:cs typeface="Courier New"/>
              </a:rPr>
              <a:t>    </a:t>
            </a:r>
            <a:r>
              <a:rPr lang="en-US">
                <a:solidFill>
                  <a:schemeClr val="tx1"/>
                </a:solidFill>
                <a:latin typeface="Courier New"/>
                <a:cs typeface="Courier New"/>
              </a:rPr>
              <a:t>cudaMalloc:        dq ?</a:t>
            </a:r>
            <a:endParaRPr/>
          </a:p>
          <a:p>
            <a:pPr>
              <a:defRPr/>
            </a:pPr>
            <a:r>
              <a:rPr lang="en-US">
                <a:latin typeface="Courier New"/>
                <a:cs typeface="Courier New"/>
              </a:rPr>
              <a:t>    </a:t>
            </a:r>
            <a:r>
              <a:rPr lang="en-US">
                <a:solidFill>
                  <a:schemeClr val="tx1"/>
                </a:solidFill>
                <a:latin typeface="Courier New"/>
                <a:cs typeface="Courier New"/>
              </a:rPr>
              <a:t>filter2D:          dq ?    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0351095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Address Space Layout Randomization</a:t>
            </a:r>
            <a:endParaRPr/>
          </a:p>
        </p:txBody>
      </p:sp>
      <p:sp>
        <p:nvSpPr>
          <p:cNvPr id="512195848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7FBA2B-964F-4C4D-AAF7-5A8399264638}" type="slidenum">
              <a:rPr lang="en-US"/>
              <a:t>40</a:t>
            </a:fld>
            <a:endParaRPr lang="en-US"/>
          </a:p>
        </p:txBody>
      </p:sp>
      <p:sp>
        <p:nvSpPr>
          <p:cNvPr id="1722688269" name="Объект 2"/>
          <p:cNvSpPr>
            <a:spLocks noGrp="1"/>
          </p:cNvSpPr>
          <p:nvPr>
            <p:ph idx="1"/>
          </p:nvPr>
        </p:nvSpPr>
        <p:spPr bwMode="auto">
          <a:xfrm>
            <a:off x="838201" y="1547328"/>
            <a:ext cx="7245096" cy="5025352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2000"/>
              <a:t>Для эксплуатации многих уязвимостей необходимо точно знать адреса, по которым происходит запись</a:t>
            </a:r>
            <a:r>
              <a:rPr lang="en-US" sz="2000"/>
              <a:t>/</a:t>
            </a:r>
            <a:r>
              <a:rPr lang="ru-RU" sz="2000"/>
              <a:t>передача управления. Если адрес неизвестен, вероятность успешной эксплуатации крайне мала. На этом принципе основан защитный механизм </a:t>
            </a:r>
            <a:r>
              <a:rPr lang="en-US" sz="2000"/>
              <a:t>ASLR. </a:t>
            </a:r>
            <a:endParaRPr lang="ru-RU" sz="2000"/>
          </a:p>
          <a:p>
            <a:pPr marL="0" indent="0">
              <a:buNone/>
              <a:defRPr/>
            </a:pPr>
            <a:r>
              <a:rPr lang="ru-RU" sz="2000"/>
              <a:t>При включенном </a:t>
            </a:r>
            <a:r>
              <a:rPr lang="en-US" sz="2000"/>
              <a:t>ASLR</a:t>
            </a:r>
            <a:r>
              <a:rPr lang="ru-RU" sz="2000"/>
              <a:t> адреса стека и кучи, а также адреса загрузки библиотек изменяются при каждом запуске программы.  </a:t>
            </a:r>
            <a:endParaRPr/>
          </a:p>
          <a:p>
            <a:pPr marL="0" indent="0">
              <a:buNone/>
              <a:defRPr/>
            </a:pPr>
            <a:r>
              <a:rPr lang="ru-RU" sz="2000"/>
              <a:t>Сама программа загружается по случайному адресу, если она была собрана с поддержкой </a:t>
            </a:r>
            <a:r>
              <a:rPr lang="en-US" sz="2000"/>
              <a:t>Position Independent Code (</a:t>
            </a:r>
            <a:r>
              <a:rPr lang="ru-RU" sz="2000"/>
              <a:t>см. лекцию 5). При этом как в </a:t>
            </a:r>
            <a:r>
              <a:rPr lang="en-US" sz="2000"/>
              <a:t>Windows, </a:t>
            </a:r>
            <a:r>
              <a:rPr lang="ru-RU" sz="2000"/>
              <a:t>так и в </a:t>
            </a:r>
            <a:r>
              <a:rPr lang="en-US" sz="2000"/>
              <a:t>Linux </a:t>
            </a:r>
            <a:r>
              <a:rPr lang="ru-RU" sz="2000"/>
              <a:t>можно включить принудительную рандомизацию адресов ценой усложнения процесса загрузки.</a:t>
            </a:r>
            <a:endParaRPr/>
          </a:p>
          <a:p>
            <a:pPr marL="0" indent="0">
              <a:buNone/>
              <a:defRPr/>
            </a:pPr>
            <a:r>
              <a:rPr lang="ru-RU" sz="2000"/>
              <a:t>Если без </a:t>
            </a:r>
            <a:r>
              <a:rPr lang="en-US" sz="2000"/>
              <a:t>ASLR </a:t>
            </a:r>
            <a:r>
              <a:rPr lang="ru-RU" sz="2000"/>
              <a:t>атакующий может позволить себе  «уронить» программу, чтобы узнать адрес и провести атаку позже, то с </a:t>
            </a:r>
            <a:r>
              <a:rPr lang="en-US" sz="2000"/>
              <a:t>ASLR </a:t>
            </a:r>
            <a:r>
              <a:rPr lang="ru-RU" sz="2000"/>
              <a:t>такой подход становится невозможным.</a:t>
            </a:r>
            <a:endParaRPr/>
          </a:p>
          <a:p>
            <a:pPr marL="0" indent="0">
              <a:buNone/>
              <a:defRPr/>
            </a:pPr>
            <a:endParaRPr lang="en-US" sz="2000"/>
          </a:p>
        </p:txBody>
      </p:sp>
      <p:sp>
        <p:nvSpPr>
          <p:cNvPr id="867059374" name="Прямоугольник 5"/>
          <p:cNvSpPr/>
          <p:nvPr/>
        </p:nvSpPr>
        <p:spPr bwMode="auto">
          <a:xfrm>
            <a:off x="9528913" y="2189778"/>
            <a:ext cx="1440000" cy="36512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>
                <a:solidFill>
                  <a:sysClr val="windowText" lastClr="000000"/>
                </a:solidFill>
              </a:rPr>
              <a:t>.stack</a:t>
            </a:r>
            <a:endParaRPr lang="ru-RU">
              <a:solidFill>
                <a:sysClr val="windowText" lastClr="000000"/>
              </a:solidFill>
            </a:endParaRPr>
          </a:p>
        </p:txBody>
      </p:sp>
      <p:sp>
        <p:nvSpPr>
          <p:cNvPr id="968237826" name="Прямоугольник 7"/>
          <p:cNvSpPr/>
          <p:nvPr/>
        </p:nvSpPr>
        <p:spPr bwMode="auto">
          <a:xfrm>
            <a:off x="9530129" y="4584129"/>
            <a:ext cx="1440000" cy="40891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>
                <a:solidFill>
                  <a:sysClr val="windowText" lastClr="000000"/>
                </a:solidFill>
              </a:rPr>
              <a:t>lib2</a:t>
            </a:r>
            <a:endParaRPr lang="ru-RU">
              <a:solidFill>
                <a:sysClr val="windowText" lastClr="000000"/>
              </a:solidFill>
            </a:endParaRPr>
          </a:p>
        </p:txBody>
      </p:sp>
      <p:sp>
        <p:nvSpPr>
          <p:cNvPr id="1217167431" name="TextBox 12"/>
          <p:cNvSpPr txBox="1"/>
          <p:nvPr/>
        </p:nvSpPr>
        <p:spPr bwMode="auto">
          <a:xfrm>
            <a:off x="9047691" y="5990016"/>
            <a:ext cx="4812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1600"/>
              <a:t>0x0</a:t>
            </a:r>
            <a:endParaRPr lang="ru-RU" sz="1600"/>
          </a:p>
        </p:txBody>
      </p:sp>
      <p:sp>
        <p:nvSpPr>
          <p:cNvPr id="2120545782" name="TextBox 14"/>
          <p:cNvSpPr txBox="1"/>
          <p:nvPr/>
        </p:nvSpPr>
        <p:spPr bwMode="auto">
          <a:xfrm>
            <a:off x="8821668" y="1379913"/>
            <a:ext cx="7072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1600"/>
              <a:t>0xF…F</a:t>
            </a:r>
            <a:endParaRPr lang="ru-RU" sz="1600"/>
          </a:p>
        </p:txBody>
      </p:sp>
      <p:sp>
        <p:nvSpPr>
          <p:cNvPr id="1318386990" name="Прямоугольник 18"/>
          <p:cNvSpPr/>
          <p:nvPr/>
        </p:nvSpPr>
        <p:spPr bwMode="auto">
          <a:xfrm>
            <a:off x="9530129" y="2965437"/>
            <a:ext cx="1440000" cy="57618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>
                <a:solidFill>
                  <a:sysClr val="windowText" lastClr="000000"/>
                </a:solidFill>
              </a:rPr>
              <a:t>.heap</a:t>
            </a:r>
            <a:endParaRPr lang="ru-RU">
              <a:solidFill>
                <a:sysClr val="windowText" lastClr="000000"/>
              </a:solidFill>
            </a:endParaRPr>
          </a:p>
        </p:txBody>
      </p:sp>
      <p:sp>
        <p:nvSpPr>
          <p:cNvPr id="1349319394" name="Прямоугольник 20"/>
          <p:cNvSpPr/>
          <p:nvPr/>
        </p:nvSpPr>
        <p:spPr bwMode="auto">
          <a:xfrm>
            <a:off x="9528913" y="5357075"/>
            <a:ext cx="1440000" cy="40891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>
                <a:solidFill>
                  <a:sysClr val="windowText" lastClr="000000"/>
                </a:solidFill>
              </a:rPr>
              <a:t>exe</a:t>
            </a:r>
            <a:endParaRPr lang="ru-RU">
              <a:solidFill>
                <a:sysClr val="windowText" lastClr="000000"/>
              </a:solidFill>
            </a:endParaRPr>
          </a:p>
        </p:txBody>
      </p:sp>
      <p:sp>
        <p:nvSpPr>
          <p:cNvPr id="1372668435" name="Прямоугольник 21"/>
          <p:cNvSpPr/>
          <p:nvPr/>
        </p:nvSpPr>
        <p:spPr bwMode="auto">
          <a:xfrm>
            <a:off x="9530129" y="3819061"/>
            <a:ext cx="1440000" cy="40891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>
                <a:solidFill>
                  <a:sysClr val="windowText" lastClr="000000"/>
                </a:solidFill>
              </a:rPr>
              <a:t>lib1</a:t>
            </a:r>
            <a:endParaRPr lang="ru-RU">
              <a:solidFill>
                <a:sysClr val="windowText" lastClr="000000"/>
              </a:solidFill>
            </a:endParaRPr>
          </a:p>
        </p:txBody>
      </p:sp>
      <p:cxnSp>
        <p:nvCxnSpPr>
          <p:cNvPr id="1988295649" name="Прямая со стрелкой 24"/>
          <p:cNvCxnSpPr/>
          <p:nvPr/>
        </p:nvCxnSpPr>
        <p:spPr bwMode="auto">
          <a:xfrm>
            <a:off x="9455942" y="2000041"/>
            <a:ext cx="0" cy="7467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952553" name="Прямая со стрелкой 25"/>
          <p:cNvCxnSpPr/>
          <p:nvPr/>
        </p:nvCxnSpPr>
        <p:spPr bwMode="auto">
          <a:xfrm>
            <a:off x="9447844" y="2862487"/>
            <a:ext cx="0" cy="7467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431847" name="Прямая со стрелкой 26"/>
          <p:cNvCxnSpPr/>
          <p:nvPr/>
        </p:nvCxnSpPr>
        <p:spPr bwMode="auto">
          <a:xfrm>
            <a:off x="9455942" y="3712045"/>
            <a:ext cx="0" cy="63237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2154057" name="Прямая со стрелкой 28"/>
          <p:cNvCxnSpPr/>
          <p:nvPr/>
        </p:nvCxnSpPr>
        <p:spPr bwMode="auto">
          <a:xfrm>
            <a:off x="9455942" y="4476418"/>
            <a:ext cx="0" cy="63237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9322179" name="Прямая со стрелкой 29"/>
          <p:cNvCxnSpPr/>
          <p:nvPr/>
        </p:nvCxnSpPr>
        <p:spPr bwMode="auto">
          <a:xfrm>
            <a:off x="9455942" y="5261457"/>
            <a:ext cx="0" cy="63237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0149126" name="TextBox 2"/>
          <p:cNvSpPr txBox="1"/>
          <p:nvPr/>
        </p:nvSpPr>
        <p:spPr bwMode="auto">
          <a:xfrm>
            <a:off x="7729027" y="5441024"/>
            <a:ext cx="1503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ru-RU"/>
              <a:t>опционально</a:t>
            </a:r>
            <a:endParaRPr/>
          </a:p>
        </p:txBody>
      </p:sp>
      <p:cxnSp>
        <p:nvCxnSpPr>
          <p:cNvPr id="1778018649" name="Straight Connector 6"/>
          <p:cNvCxnSpPr>
            <a:stCxn id="710149126" idx="3"/>
          </p:cNvCxnSpPr>
          <p:nvPr/>
        </p:nvCxnSpPr>
        <p:spPr bwMode="auto">
          <a:xfrm flipV="1">
            <a:off x="9232965" y="5561533"/>
            <a:ext cx="214879" cy="6415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41364872" name="Прямая соединительная линия 11"/>
          <p:cNvCxnSpPr/>
          <p:nvPr/>
        </p:nvCxnSpPr>
        <p:spPr bwMode="auto">
          <a:xfrm>
            <a:off x="9529478" y="2025518"/>
            <a:ext cx="0" cy="3996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7840982" name="Прямая соединительная линия 19"/>
          <p:cNvCxnSpPr/>
          <p:nvPr/>
        </p:nvCxnSpPr>
        <p:spPr bwMode="auto">
          <a:xfrm>
            <a:off x="10972723" y="2025518"/>
            <a:ext cx="0" cy="3996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1320767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ASLR </a:t>
            </a:r>
            <a:r>
              <a:rPr lang="ru-RU"/>
              <a:t>и </a:t>
            </a:r>
            <a:r>
              <a:rPr lang="en-US"/>
              <a:t>Windows</a:t>
            </a:r>
            <a:endParaRPr/>
          </a:p>
        </p:txBody>
      </p:sp>
      <p:sp>
        <p:nvSpPr>
          <p:cNvPr id="1650999653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7FBA2B-964F-4C4D-AAF7-5A8399264638}" type="slidenum">
              <a:rPr lang="en-US"/>
              <a:t>41</a:t>
            </a:fld>
            <a:endParaRPr lang="en-US"/>
          </a:p>
        </p:txBody>
      </p:sp>
      <p:sp>
        <p:nvSpPr>
          <p:cNvPr id="1105415260" name="Объект 2"/>
          <p:cNvSpPr>
            <a:spLocks noGrp="1"/>
          </p:cNvSpPr>
          <p:nvPr>
            <p:ph idx="1"/>
          </p:nvPr>
        </p:nvSpPr>
        <p:spPr bwMode="auto">
          <a:xfrm>
            <a:off x="838200" y="1547328"/>
            <a:ext cx="7425775" cy="4530725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2000"/>
              <a:t>В </a:t>
            </a:r>
            <a:r>
              <a:rPr lang="en-US" sz="2000"/>
              <a:t>Windows</a:t>
            </a:r>
            <a:r>
              <a:rPr lang="ru-RU" sz="2000"/>
              <a:t> рандомизация адресов загрузки разделяемых библиотек производится при первой загрузке библиотеки. </a:t>
            </a:r>
            <a:r>
              <a:rPr lang="ru-RU" sz="2000" i="1"/>
              <a:t>До следующей перезагрузки системы </a:t>
            </a:r>
            <a:r>
              <a:rPr lang="ru-RU" sz="2000"/>
              <a:t>разделяемые библиотеки будут загружаться по одним и тем же адресам в силу необходимости релокации при загрузке по новому адресу. </a:t>
            </a:r>
            <a:endParaRPr/>
          </a:p>
          <a:p>
            <a:pPr marL="0" indent="0">
              <a:buNone/>
              <a:defRPr/>
            </a:pPr>
            <a:r>
              <a:rPr lang="ru-RU" sz="2000"/>
              <a:t>Стек и куча имеют каждый раз случайный адрес.</a:t>
            </a:r>
            <a:endParaRPr/>
          </a:p>
          <a:p>
            <a:pPr marL="0" indent="0">
              <a:buNone/>
              <a:defRPr/>
            </a:pPr>
            <a:r>
              <a:rPr lang="ru-RU" sz="2000"/>
              <a:t>Программы, собранные с поддержкой </a:t>
            </a:r>
            <a:r>
              <a:rPr lang="en-US" sz="2000"/>
              <a:t>ASLR (</a:t>
            </a:r>
            <a:r>
              <a:rPr lang="ru-RU" sz="2000"/>
              <a:t>флаг</a:t>
            </a:r>
            <a:r>
              <a:rPr lang="ru-RU" sz="2000" i="1"/>
              <a:t> </a:t>
            </a:r>
            <a:r>
              <a:rPr lang="en-US" sz="2000" i="1"/>
              <a:t>/DYNAMICBASE</a:t>
            </a:r>
            <a:r>
              <a:rPr lang="en-US" sz="2000"/>
              <a:t>)</a:t>
            </a:r>
            <a:r>
              <a:rPr lang="ru-RU" sz="2000"/>
              <a:t>, загружаются по случайному адресу при каждом запуске.</a:t>
            </a:r>
            <a:endParaRPr/>
          </a:p>
        </p:txBody>
      </p:sp>
      <p:sp>
        <p:nvSpPr>
          <p:cNvPr id="1301752785" name="Прямоугольник 5"/>
          <p:cNvSpPr/>
          <p:nvPr/>
        </p:nvSpPr>
        <p:spPr bwMode="auto">
          <a:xfrm>
            <a:off x="9528913" y="2197905"/>
            <a:ext cx="1440000" cy="36512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>
                <a:solidFill>
                  <a:sysClr val="windowText" lastClr="000000"/>
                </a:solidFill>
              </a:rPr>
              <a:t>.stack</a:t>
            </a:r>
            <a:endParaRPr lang="ru-RU">
              <a:solidFill>
                <a:sysClr val="windowText" lastClr="000000"/>
              </a:solidFill>
            </a:endParaRPr>
          </a:p>
        </p:txBody>
      </p:sp>
      <p:sp>
        <p:nvSpPr>
          <p:cNvPr id="303072837" name="Прямоугольник 7"/>
          <p:cNvSpPr/>
          <p:nvPr/>
        </p:nvSpPr>
        <p:spPr bwMode="auto">
          <a:xfrm>
            <a:off x="9528913" y="4591258"/>
            <a:ext cx="1440000" cy="40891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>
                <a:solidFill>
                  <a:sysClr val="windowText" lastClr="000000"/>
                </a:solidFill>
              </a:rPr>
              <a:t>lib2</a:t>
            </a:r>
            <a:endParaRPr lang="ru-RU">
              <a:solidFill>
                <a:sysClr val="windowText" lastClr="000000"/>
              </a:solidFill>
            </a:endParaRPr>
          </a:p>
        </p:txBody>
      </p:sp>
      <p:sp>
        <p:nvSpPr>
          <p:cNvPr id="687225621" name="TextBox 12"/>
          <p:cNvSpPr txBox="1"/>
          <p:nvPr/>
        </p:nvSpPr>
        <p:spPr bwMode="auto">
          <a:xfrm>
            <a:off x="9047691" y="5990016"/>
            <a:ext cx="4812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1600"/>
              <a:t>0x0</a:t>
            </a:r>
            <a:endParaRPr lang="ru-RU" sz="1600"/>
          </a:p>
        </p:txBody>
      </p:sp>
      <p:sp>
        <p:nvSpPr>
          <p:cNvPr id="1981851844" name="TextBox 14"/>
          <p:cNvSpPr txBox="1"/>
          <p:nvPr/>
        </p:nvSpPr>
        <p:spPr bwMode="auto">
          <a:xfrm>
            <a:off x="8821668" y="1379913"/>
            <a:ext cx="7072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1600"/>
              <a:t>0xF…F</a:t>
            </a:r>
            <a:endParaRPr lang="ru-RU" sz="1600"/>
          </a:p>
        </p:txBody>
      </p:sp>
      <p:sp>
        <p:nvSpPr>
          <p:cNvPr id="151965362" name="Прямоугольник 18"/>
          <p:cNvSpPr/>
          <p:nvPr/>
        </p:nvSpPr>
        <p:spPr bwMode="auto">
          <a:xfrm>
            <a:off x="9528913" y="2969646"/>
            <a:ext cx="1440000" cy="57618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>
                <a:solidFill>
                  <a:sysClr val="windowText" lastClr="000000"/>
                </a:solidFill>
              </a:rPr>
              <a:t>.heap</a:t>
            </a:r>
            <a:endParaRPr lang="ru-RU">
              <a:solidFill>
                <a:sysClr val="windowText" lastClr="000000"/>
              </a:solidFill>
            </a:endParaRPr>
          </a:p>
        </p:txBody>
      </p:sp>
      <p:sp>
        <p:nvSpPr>
          <p:cNvPr id="391564331" name="Прямоугольник 20"/>
          <p:cNvSpPr/>
          <p:nvPr/>
        </p:nvSpPr>
        <p:spPr bwMode="auto">
          <a:xfrm>
            <a:off x="9528913" y="5384409"/>
            <a:ext cx="1440000" cy="40891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>
                <a:solidFill>
                  <a:sysClr val="windowText" lastClr="000000"/>
                </a:solidFill>
              </a:rPr>
              <a:t>exe</a:t>
            </a:r>
            <a:endParaRPr lang="ru-RU">
              <a:solidFill>
                <a:sysClr val="windowText" lastClr="000000"/>
              </a:solidFill>
            </a:endParaRPr>
          </a:p>
        </p:txBody>
      </p:sp>
      <p:sp>
        <p:nvSpPr>
          <p:cNvPr id="1118552726" name="Прямоугольник 21"/>
          <p:cNvSpPr/>
          <p:nvPr/>
        </p:nvSpPr>
        <p:spPr bwMode="auto">
          <a:xfrm>
            <a:off x="9528913" y="3823776"/>
            <a:ext cx="1440000" cy="40891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>
                <a:solidFill>
                  <a:sysClr val="windowText" lastClr="000000"/>
                </a:solidFill>
              </a:rPr>
              <a:t>lib1</a:t>
            </a:r>
            <a:endParaRPr lang="ru-RU">
              <a:solidFill>
                <a:sysClr val="windowText" lastClr="000000"/>
              </a:solidFill>
            </a:endParaRPr>
          </a:p>
        </p:txBody>
      </p:sp>
      <p:cxnSp>
        <p:nvCxnSpPr>
          <p:cNvPr id="876307965" name="Прямая со стрелкой 24"/>
          <p:cNvCxnSpPr/>
          <p:nvPr/>
        </p:nvCxnSpPr>
        <p:spPr bwMode="auto">
          <a:xfrm>
            <a:off x="9455942" y="2000041"/>
            <a:ext cx="0" cy="7467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5551902" name="Прямая со стрелкой 25"/>
          <p:cNvCxnSpPr/>
          <p:nvPr/>
        </p:nvCxnSpPr>
        <p:spPr bwMode="auto">
          <a:xfrm>
            <a:off x="9447844" y="2862487"/>
            <a:ext cx="0" cy="7467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2420461" name="Прямая соединительная линия 11"/>
          <p:cNvCxnSpPr/>
          <p:nvPr/>
        </p:nvCxnSpPr>
        <p:spPr bwMode="auto">
          <a:xfrm>
            <a:off x="9528913" y="1994016"/>
            <a:ext cx="0" cy="3996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18243311" name="Прямая соединительная линия 19"/>
          <p:cNvCxnSpPr/>
          <p:nvPr/>
        </p:nvCxnSpPr>
        <p:spPr bwMode="auto">
          <a:xfrm>
            <a:off x="10968913" y="1994016"/>
            <a:ext cx="0" cy="3996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876625" name="Прямая со стрелкой 29"/>
          <p:cNvCxnSpPr/>
          <p:nvPr/>
        </p:nvCxnSpPr>
        <p:spPr bwMode="auto">
          <a:xfrm>
            <a:off x="9455942" y="5261457"/>
            <a:ext cx="0" cy="63237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10404641" name="TextBox 3"/>
          <p:cNvSpPr txBox="1"/>
          <p:nvPr/>
        </p:nvSpPr>
        <p:spPr bwMode="auto">
          <a:xfrm>
            <a:off x="7355819" y="5729577"/>
            <a:ext cx="1503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ru-RU"/>
              <a:t>опционально</a:t>
            </a:r>
            <a:endParaRPr/>
          </a:p>
        </p:txBody>
      </p:sp>
      <p:cxnSp>
        <p:nvCxnSpPr>
          <p:cNvPr id="1173035814" name="Straight Connector 6"/>
          <p:cNvCxnSpPr>
            <a:stCxn id="2010404641" idx="3"/>
          </p:cNvCxnSpPr>
          <p:nvPr/>
        </p:nvCxnSpPr>
        <p:spPr bwMode="auto">
          <a:xfrm flipV="1">
            <a:off x="8859757" y="5577645"/>
            <a:ext cx="588087" cy="33659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859787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Меры защиты на уровне компилятора</a:t>
            </a:r>
            <a:endParaRPr/>
          </a:p>
        </p:txBody>
      </p:sp>
      <p:sp>
        <p:nvSpPr>
          <p:cNvPr id="2062551200" name="Объект 2"/>
          <p:cNvSpPr>
            <a:spLocks noGrp="1"/>
          </p:cNvSpPr>
          <p:nvPr>
            <p:ph idx="1"/>
          </p:nvPr>
        </p:nvSpPr>
        <p:spPr bwMode="auto"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2000"/>
              <a:t>Многие уязвимости являются следствием ошибок, на которые компилятор реагирует предупреждениями </a:t>
            </a:r>
            <a:r>
              <a:rPr lang="en-US" sz="2000"/>
              <a:t>=&gt; </a:t>
            </a:r>
            <a:r>
              <a:rPr lang="ru-RU" sz="2000" b="1" u="sng"/>
              <a:t>читайте предупреждения компилятора</a:t>
            </a:r>
            <a:r>
              <a:rPr lang="ru-RU" sz="2000"/>
              <a:t>.</a:t>
            </a:r>
            <a:endParaRPr/>
          </a:p>
          <a:p>
            <a:pPr marL="0" indent="0">
              <a:buNone/>
              <a:defRPr/>
            </a:pPr>
            <a:r>
              <a:rPr lang="ru-RU" sz="2000"/>
              <a:t>Многие дистрибутивы</a:t>
            </a:r>
            <a:r>
              <a:rPr lang="en-US" sz="2000"/>
              <a:t> Linux </a:t>
            </a:r>
            <a:r>
              <a:rPr lang="ru-RU" sz="2000"/>
              <a:t>устанавливают флаги, неявно посылаемые системному компилятору при сборке программ</a:t>
            </a:r>
            <a:r>
              <a:rPr lang="en-US" sz="2000"/>
              <a:t>. </a:t>
            </a:r>
            <a:r>
              <a:rPr lang="ru-RU" sz="2000"/>
              <a:t>Обычно эти флаги включают в себя вышеупомянутые «канарейки» и </a:t>
            </a:r>
            <a:r>
              <a:rPr lang="en-US" sz="2000"/>
              <a:t>Intel IBT</a:t>
            </a:r>
            <a:r>
              <a:rPr lang="ru-RU" sz="2000"/>
              <a:t>. Как следствие, собираемые программы будут защищены автоматически.</a:t>
            </a:r>
            <a:endParaRPr/>
          </a:p>
          <a:p>
            <a:pPr marL="0" indent="0">
              <a:buNone/>
              <a:defRPr/>
            </a:pPr>
            <a:r>
              <a:rPr lang="ru-RU" sz="2000"/>
              <a:t>Кроме того, при включенной оптимизации (а иногда и без нее) компиляторы могут располагать переменные после буферов, чтобы защитить их от перезаписи.</a:t>
            </a:r>
            <a:endParaRPr/>
          </a:p>
          <a:p>
            <a:pPr marL="0" indent="0">
              <a:buNone/>
              <a:defRPr/>
            </a:pPr>
            <a:r>
              <a:rPr lang="en-US" sz="2000"/>
              <a:t>GCC/clang </a:t>
            </a:r>
            <a:r>
              <a:rPr lang="ru-RU" sz="2000"/>
              <a:t>поддерживают макрос </a:t>
            </a:r>
            <a:r>
              <a:rPr lang="en-US" sz="2000" u="sng">
                <a:hlinkClick r:id="rId3"/>
              </a:rPr>
              <a:t>_FORTIFY_SOURCE</a:t>
            </a:r>
            <a:r>
              <a:rPr lang="ru-RU" sz="2000"/>
              <a:t>. Если этот макрос определен и его</a:t>
            </a:r>
            <a:r>
              <a:rPr lang="en-US" sz="2000"/>
              <a:t> </a:t>
            </a:r>
            <a:r>
              <a:rPr lang="ru-RU" sz="2000"/>
              <a:t>значение не равно 0, то компилятор может вставлять дополнительные проверки границ буферов и автоматически заменять небезопасные функции ввода/вывода на безопасные.</a:t>
            </a:r>
            <a:endParaRPr/>
          </a:p>
          <a:p>
            <a:pPr marL="0" indent="0">
              <a:buNone/>
              <a:defRPr/>
            </a:pPr>
            <a:endParaRPr lang="ru-RU" sz="2000"/>
          </a:p>
        </p:txBody>
      </p:sp>
      <p:sp>
        <p:nvSpPr>
          <p:cNvPr id="644362491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7FBA2B-964F-4C4D-AAF7-5A8399264638}" type="slidenum">
              <a:rPr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7205189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Полезные ссылки</a:t>
            </a:r>
            <a:endParaRPr lang="en-US"/>
          </a:p>
        </p:txBody>
      </p:sp>
      <p:sp>
        <p:nvSpPr>
          <p:cNvPr id="1533094453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7FBA2B-964F-4C4D-AAF7-5A8399264638}" type="slidenum">
              <a:rPr lang="en-US"/>
              <a:t>43</a:t>
            </a:fld>
            <a:endParaRPr lang="en-US"/>
          </a:p>
        </p:txBody>
      </p:sp>
      <p:sp>
        <p:nvSpPr>
          <p:cNvPr id="613375948" name="Объект 2"/>
          <p:cNvSpPr>
            <a:spLocks noGrp="1"/>
          </p:cNvSpPr>
          <p:nvPr>
            <p:ph idx="1"/>
          </p:nvPr>
        </p:nvSpPr>
        <p:spPr bwMode="auto">
          <a:xfrm>
            <a:off x="838200" y="1547328"/>
            <a:ext cx="9697277" cy="4530725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b="1"/>
              <a:t>Простые задачи на эксплуатацию уязвимостей:</a:t>
            </a:r>
            <a:br>
              <a:rPr lang="en-US">
                <a:hlinkClick r:id="rId3"/>
              </a:rPr>
            </a:br>
            <a:r>
              <a:rPr lang="en-US" u="sng">
                <a:hlinkClick r:id="rId3"/>
              </a:rPr>
              <a:t>https://exploit.education/protostar/</a:t>
            </a:r>
            <a:r>
              <a:rPr lang="ru-RU"/>
              <a:t> </a:t>
            </a:r>
            <a:br>
              <a:rPr lang="ru-RU"/>
            </a:br>
            <a:br>
              <a:rPr lang="ru-RU"/>
            </a:br>
            <a:r>
              <a:rPr lang="ru-RU"/>
              <a:t>Канал с неплохими обучающими видео</a:t>
            </a:r>
            <a:br>
              <a:rPr lang="en-US">
                <a:hlinkClick r:id="rId4"/>
              </a:rPr>
            </a:br>
            <a:r>
              <a:rPr lang="en-US" u="sng">
                <a:hlinkClick r:id="rId4"/>
              </a:rPr>
              <a:t>https://www.youtube.com/channel/UClcE-kVhqyiHCcjYwcpfj9w</a:t>
            </a:r>
            <a:r>
              <a:rPr lang="ru-RU"/>
              <a:t> </a:t>
            </a:r>
            <a:endParaRPr lang="en-US"/>
          </a:p>
          <a:p>
            <a:pPr marL="0" indent="0">
              <a:buNone/>
              <a:defRPr/>
            </a:pPr>
            <a:r>
              <a:rPr lang="ru-RU"/>
              <a:t>Реализация </a:t>
            </a:r>
            <a:r>
              <a:rPr lang="en-US"/>
              <a:t>malloc:</a:t>
            </a:r>
            <a:br>
              <a:rPr lang="en-US"/>
            </a:br>
            <a:r>
              <a:rPr lang="en-US" u="sng">
                <a:hlinkClick r:id="rId5"/>
              </a:rPr>
              <a:t>https://code.woboq.org/userspace/glibc/malloc/malloc.c.html</a:t>
            </a:r>
            <a:endParaRPr lang="en-US"/>
          </a:p>
          <a:p>
            <a:pPr marL="0" indent="0">
              <a:buNone/>
              <a:defRPr/>
            </a:pPr>
            <a:r>
              <a:rPr lang="ru-RU"/>
              <a:t>Эксплуатация </a:t>
            </a:r>
            <a:r>
              <a:rPr lang="en-US"/>
              <a:t>heap3 (</a:t>
            </a:r>
            <a:r>
              <a:rPr lang="ru-RU"/>
              <a:t>переполнение в куче для </a:t>
            </a:r>
            <a:r>
              <a:rPr lang="en-US"/>
              <a:t>x86):</a:t>
            </a:r>
            <a:br>
              <a:rPr lang="ru-RU"/>
            </a:br>
            <a:r>
              <a:rPr lang="en-US" u="sng">
                <a:hlinkClick r:id="rId6"/>
              </a:rPr>
              <a:t>https://airman604.medium.com/protostar-heap-3-walkthrough-56d9334bcd13</a:t>
            </a:r>
            <a:r>
              <a:rPr lang="ru-RU"/>
              <a:t> </a:t>
            </a:r>
            <a:endParaRPr lang="en-US"/>
          </a:p>
          <a:p>
            <a:pPr marL="0" indent="0">
              <a:buNone/>
              <a:defRPr/>
            </a:pPr>
            <a:endParaRPr lang="en-US"/>
          </a:p>
          <a:p>
            <a:pPr marL="0" indent="0">
              <a:buNone/>
              <a:defRPr/>
            </a:pPr>
            <a:endParaRPr lang="ru-RU"/>
          </a:p>
          <a:p>
            <a:pPr marL="0" indent="0">
              <a:buNone/>
              <a:defRPr/>
            </a:pPr>
            <a:endParaRPr lang="en-US"/>
          </a:p>
          <a:p>
            <a:pPr marL="0" indent="0">
              <a:buNone/>
              <a:defRPr/>
            </a:pPr>
            <a:endParaRPr lang="ru-RU"/>
          </a:p>
          <a:p>
            <a:pPr marL="0" indent="0">
              <a:buNone/>
              <a:defRPr/>
            </a:pP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4257</Words>
  <Application>Microsoft Office PowerPoint</Application>
  <PresentationFormat>Widescreen</PresentationFormat>
  <Paragraphs>773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50" baseType="lpstr">
      <vt:lpstr>Arial</vt:lpstr>
      <vt:lpstr>Calibri</vt:lpstr>
      <vt:lpstr>Calibri Light</vt:lpstr>
      <vt:lpstr>Consolas</vt:lpstr>
      <vt:lpstr>Courier New</vt:lpstr>
      <vt:lpstr>Menlo</vt:lpstr>
      <vt:lpstr>Тема Office</vt:lpstr>
      <vt:lpstr>Низкоуровневое программирование</vt:lpstr>
      <vt:lpstr>Уязвимости форматной строки</vt:lpstr>
      <vt:lpstr>Уязвимости форматной строки</vt:lpstr>
      <vt:lpstr>Уязвимости форматной строки</vt:lpstr>
      <vt:lpstr>Уязвимости форматной строки</vt:lpstr>
      <vt:lpstr>Уязвимости форматной строки</vt:lpstr>
      <vt:lpstr>Защита от уязвимостей форматной строки</vt:lpstr>
      <vt:lpstr>Буферы</vt:lpstr>
      <vt:lpstr>Переполнение буфера</vt:lpstr>
      <vt:lpstr>Переполнение буфера</vt:lpstr>
      <vt:lpstr>Возможные цели переполнения буфера на стеке</vt:lpstr>
      <vt:lpstr>Изменение адреса возврата</vt:lpstr>
      <vt:lpstr>Изменение адреса возврата</vt:lpstr>
      <vt:lpstr>Исполнение произвольного кода</vt:lpstr>
      <vt:lpstr>Исполнение произвольного кода</vt:lpstr>
      <vt:lpstr>Исполнение произвольного кода</vt:lpstr>
      <vt:lpstr>Об аргументах и переменных среды (Linux)</vt:lpstr>
      <vt:lpstr>Защита от выполнения</vt:lpstr>
      <vt:lpstr>Return Oriented Programming</vt:lpstr>
      <vt:lpstr>Return Oriented Programming</vt:lpstr>
      <vt:lpstr>Поиск гаджетов</vt:lpstr>
      <vt:lpstr>Защита от изменения адреса возврата</vt:lpstr>
      <vt:lpstr>Защита от изменения адреса возврата</vt:lpstr>
      <vt:lpstr>Защита от изменения адреса возврата</vt:lpstr>
      <vt:lpstr>Обход «канареек» 1 (Linux)</vt:lpstr>
      <vt:lpstr>Защита на аппаратном уровне: Shadow Stack</vt:lpstr>
      <vt:lpstr>Защита на аппаратном уровне : Intel Indirect Branch Tracking</vt:lpstr>
      <vt:lpstr>Перезапись GOT (Linux)</vt:lpstr>
      <vt:lpstr>Обход «канареек» 2 (Linux)</vt:lpstr>
      <vt:lpstr>Защита от перезаписи GOT</vt:lpstr>
      <vt:lpstr>Структура кучи</vt:lpstr>
      <vt:lpstr>Занятые блоки</vt:lpstr>
      <vt:lpstr>Свободные блоки</vt:lpstr>
      <vt:lpstr>Структура кучи</vt:lpstr>
      <vt:lpstr> Слияние свободных блоков</vt:lpstr>
      <vt:lpstr>Переполнение в куче</vt:lpstr>
      <vt:lpstr>Переполнение в куче</vt:lpstr>
      <vt:lpstr>Обход «канареек» через переполнение в куче</vt:lpstr>
      <vt:lpstr>Перезапись GOT через переполнение в куче(Linux)</vt:lpstr>
      <vt:lpstr>Address Space Layout Randomization</vt:lpstr>
      <vt:lpstr>ASLR и Windows</vt:lpstr>
      <vt:lpstr>Меры защиты на уровне компилятора</vt:lpstr>
      <vt:lpstr>Полезные ссылки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Низкоуровневое программирование</dc:title>
  <dc:creator>Алексей Борисов</dc:creator>
  <cp:lastModifiedBy>Alexey</cp:lastModifiedBy>
  <cp:revision>263</cp:revision>
  <dcterms:created xsi:type="dcterms:W3CDTF">2021-02-27T16:04:41Z</dcterms:created>
  <dcterms:modified xsi:type="dcterms:W3CDTF">2025-12-04T13:49:11Z</dcterms:modified>
</cp:coreProperties>
</file>