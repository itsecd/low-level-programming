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5"/>
  </p:notesMasterIdLst>
  <p:sldIdLst>
    <p:sldId id="256" r:id="rId2"/>
    <p:sldId id="357" r:id="rId3"/>
    <p:sldId id="363" r:id="rId4"/>
    <p:sldId id="364" r:id="rId5"/>
    <p:sldId id="362" r:id="rId6"/>
    <p:sldId id="366" r:id="rId7"/>
    <p:sldId id="367" r:id="rId8"/>
    <p:sldId id="365" r:id="rId9"/>
    <p:sldId id="353" r:id="rId10"/>
    <p:sldId id="354" r:id="rId11"/>
    <p:sldId id="407" r:id="rId12"/>
    <p:sldId id="355" r:id="rId13"/>
    <p:sldId id="356" r:id="rId14"/>
    <p:sldId id="361" r:id="rId15"/>
    <p:sldId id="360" r:id="rId16"/>
    <p:sldId id="359" r:id="rId17"/>
    <p:sldId id="408" r:id="rId18"/>
    <p:sldId id="375" r:id="rId19"/>
    <p:sldId id="378" r:id="rId20"/>
    <p:sldId id="377" r:id="rId21"/>
    <p:sldId id="379" r:id="rId22"/>
    <p:sldId id="368" r:id="rId23"/>
    <p:sldId id="370" r:id="rId24"/>
    <p:sldId id="372" r:id="rId25"/>
    <p:sldId id="405" r:id="rId26"/>
    <p:sldId id="409" r:id="rId27"/>
    <p:sldId id="410" r:id="rId28"/>
    <p:sldId id="383" r:id="rId29"/>
    <p:sldId id="384" r:id="rId30"/>
    <p:sldId id="404" r:id="rId31"/>
    <p:sldId id="385" r:id="rId32"/>
    <p:sldId id="391" r:id="rId33"/>
    <p:sldId id="392" r:id="rId34"/>
    <p:sldId id="412" r:id="rId35"/>
    <p:sldId id="386" r:id="rId36"/>
    <p:sldId id="394" r:id="rId37"/>
    <p:sldId id="413" r:id="rId38"/>
    <p:sldId id="414" r:id="rId39"/>
    <p:sldId id="403" r:id="rId40"/>
    <p:sldId id="395" r:id="rId41"/>
    <p:sldId id="401" r:id="rId42"/>
    <p:sldId id="411" r:id="rId43"/>
    <p:sldId id="397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7B7"/>
    <a:srgbClr val="FF7575"/>
    <a:srgbClr val="C00000"/>
    <a:srgbClr val="87B6E1"/>
    <a:srgbClr val="0094C8"/>
    <a:srgbClr val="0000FF"/>
    <a:srgbClr val="FBE5D6"/>
    <a:srgbClr val="FF8B8B"/>
    <a:srgbClr val="53D2FF"/>
    <a:srgbClr val="0072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34" autoAdjust="0"/>
  </p:normalViewPr>
  <p:slideViewPr>
    <p:cSldViewPr snapToGrid="0">
      <p:cViewPr varScale="1">
        <p:scale>
          <a:sx n="111" d="100"/>
          <a:sy n="111" d="100"/>
        </p:scale>
        <p:origin x="792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3500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70136C-4900-4139-A65E-0FFE21BA866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ru-RU" dirty="0" err="1"/>
              <a:t>вр</a:t>
            </a:r>
            <a:endParaRPr lang="en-US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5C656-B1C2-48D6-B4C0-50C1DF62A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36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1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0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24B42-0E25-4A7E-B7D6-9674B89D9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785556B-B022-443D-83AC-7485A88B8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99A08A-18EF-4E21-A894-034E4294D4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28A281-9EB8-427F-B1A2-BB5CDB839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Переполнение на стеке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19546A-E21B-4819-8351-F094DB6BB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65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82607-438D-4515-8271-35633FBFD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F9345-D2D0-4359-93FF-C2809BBCD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C4B98D-193A-4E7E-9BEA-6F3C2EE77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r>
              <a:rPr lang="ru-RU"/>
              <a:t>Переполнение на стеке</a:t>
            </a:r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8A8E53-6AB8-45F5-8458-43FBA3AB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B67FBA2B-964F-4C4D-AAF7-5A83992646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08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84BB97-026A-4EB6-8279-BE4B55CA7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A6FBF6-4F3F-41E8-A64F-B8A683F4B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354DB5-B3D6-4EDB-9909-40D48A81AE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F0C955-1908-48B6-9150-7193ED69D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Переполнение на стеке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C7563E-18B2-410D-9817-3B879AA10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92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06DCC4-014E-47CE-BFF3-EAE9564A9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66D607-FBCA-4B15-B062-E45AA60CE0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FB3B74-1388-436C-BC7D-DF0753585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44EB42-FC5E-4732-8D39-85BD7D4459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5D3CDC-636C-432D-83AE-143CB5C27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Переполнение на стеке</a:t>
            </a: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C6E501-E3A1-4D96-B216-FC763952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62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AAB106-F335-4889-B133-0215C0577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DF2971-2E9F-4E0E-810D-844904D83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3F5027-2511-41F9-8706-0B42FF723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A181A99-0161-4256-9FC3-ECBEBC06F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8359298-1003-4941-8DDA-BB77D8FF8F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16DAD6F-6ACC-4778-851E-7C2FC7C990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817DBD-1FD5-4A1F-8EEF-54F2CDFBC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Переполнение на стеке</a:t>
            </a:r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DA5F785-F625-4B7D-A6D0-1866E6AB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90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D0865-6E6F-4F6C-9ADB-8490153D7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D807B0F-2182-4083-AEF4-15492FFA01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BD1E51B-05BC-4B55-9EDB-412577C2F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Переполнение на стеке</a:t>
            </a:r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7EF8A98-69E1-4575-9608-425E1EF6D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9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EFF670A-5F4C-4552-80BC-36BE7A0D0F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A1FE3E8-94B9-4A2A-9DE6-43C4AB55D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Переполнение на стеке</a:t>
            </a:r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B634DB-486D-4D74-8F97-5FDA68E8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14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6AC518-993C-4EF2-9F29-9B2181CFB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BD7AD4-B430-4725-AB1E-7F24CD1FE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8E3CAB-7D42-44CD-B5A0-13B27A565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C79307-2068-4CD8-96B1-D6EA12DD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76925D-4A53-4B35-9542-25F6E3F12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Переполнение на стеке</a:t>
            </a: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A61258-9615-4E73-B2A0-2BDE6E7D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45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1776D7-0540-4DA6-AAE2-F391FD565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CA0F336-6616-474B-A11B-02EE61C0A4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BFBC25-939E-4FBB-86C3-85F5F655D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EB1EFF-DD78-4110-90B6-F4ECA9D8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B72029-FB69-40F6-9351-634C607F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Переполнение на стеке</a:t>
            </a: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E13307-0790-4F95-A50A-E421528D5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2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3C619-5DB0-420B-8DA6-C9D70844E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A727C8C-5D04-41CC-9119-BCAE9D984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8D7C69-F24E-42E8-B75E-4AB73C8E90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273778-3D61-4FF5-91E9-8EED986B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Переполнение на стеке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9DDFBA-D1D6-4FBE-8BA5-EE146371C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18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C160B9B-068E-45FF-ABF1-517456125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BDE121-1D3C-4DCA-8A26-7C9E0B901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384099-E0F3-46A0-9264-BAE732E93D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FB4418-B1EA-4AE6-AEBE-953C1C7E9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Переполнение на стеке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22D353-A0CE-474D-80EB-75A67EDB5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84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9C333E-9900-4FCD-A4BE-6E7C7524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E0A9C9-CCCA-434F-A14F-8416DC5DA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A36A1B-5D5B-4687-941C-4A2CC17804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Переполнение на стеке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1CF36F-C4AB-4875-86C3-377938959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FBA2B-964F-4C4D-AAF7-5A83992646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980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nu.org/software/libc/manual/html_node/Source-Fortification.html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channel/UClcE-kVhqyiHCcjYwcpfj9w" TargetMode="External"/><Relationship Id="rId2" Type="http://schemas.openxmlformats.org/officeDocument/2006/relationships/hyperlink" Target="https://exploit.education/protostar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irman604.medium.com/protostar-heap-3-walkthrough-56d9334bcd13" TargetMode="External"/><Relationship Id="rId4" Type="http://schemas.openxmlformats.org/officeDocument/2006/relationships/hyperlink" Target="https://code.woboq.org/userspace/glibc/malloc/malloc.c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3B0387-A424-4232-B826-E72B79246B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Низкоуровневое программирование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0B0FE4-1541-4C22-BC3D-263F41B28B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684462"/>
          </a:xfrm>
        </p:spPr>
        <p:txBody>
          <a:bodyPr>
            <a:normAutofit/>
          </a:bodyPr>
          <a:lstStyle/>
          <a:p>
            <a:r>
              <a:rPr lang="ru-RU" dirty="0"/>
              <a:t>Лекция </a:t>
            </a:r>
            <a:r>
              <a:rPr lang="en-US"/>
              <a:t>6</a:t>
            </a:r>
            <a:endParaRPr lang="ru-RU" dirty="0"/>
          </a:p>
          <a:p>
            <a:r>
              <a:rPr lang="ru-RU" dirty="0"/>
              <a:t>Уязвимости форматной строки</a:t>
            </a:r>
            <a:br>
              <a:rPr lang="ru-RU" dirty="0"/>
            </a:br>
            <a:r>
              <a:rPr lang="ru-RU" dirty="0"/>
              <a:t>Переполнение на стеке</a:t>
            </a:r>
            <a:br>
              <a:rPr lang="ru-RU" dirty="0"/>
            </a:br>
            <a:r>
              <a:rPr lang="ru-RU" dirty="0"/>
              <a:t>Переполнение в куче</a:t>
            </a:r>
            <a:br>
              <a:rPr lang="ru-RU" dirty="0"/>
            </a:br>
            <a:r>
              <a:rPr lang="ru-RU" dirty="0"/>
              <a:t>ASLR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644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CD8022-1334-455C-BACE-F6730FA86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Буферы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A6EA6E-8E23-475E-BB4B-86F7EA06B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Для реализации ввода</a:t>
            </a:r>
            <a:r>
              <a:rPr lang="en-US" sz="2000" dirty="0"/>
              <a:t>/</a:t>
            </a:r>
            <a:r>
              <a:rPr lang="ru-RU" sz="2000" dirty="0"/>
              <a:t>вывода используются буферы – массивы, используемые для хранения временных данных.</a:t>
            </a:r>
          </a:p>
          <a:p>
            <a:pPr marL="0" indent="0">
              <a:buNone/>
            </a:pPr>
            <a:r>
              <a:rPr lang="ru-RU" sz="2000" dirty="0"/>
              <a:t>Буферы малого размера часто располагаются </a:t>
            </a:r>
            <a:r>
              <a:rPr lang="ru-RU" sz="2000" i="1" dirty="0"/>
              <a:t>на стеке</a:t>
            </a:r>
            <a:r>
              <a:rPr lang="ru-RU" sz="2000" dirty="0"/>
              <a:t>, рядом с локальными переменными и адресами возврата.</a:t>
            </a:r>
          </a:p>
          <a:p>
            <a:pPr marL="0" indent="0">
              <a:buNone/>
            </a:pPr>
            <a:r>
              <a:rPr lang="ru-RU" sz="2000" dirty="0"/>
              <a:t>В языке С++ работа с вводом/выводом во многом автоматизирована внутри классов стандартной библиотеки.</a:t>
            </a:r>
          </a:p>
          <a:p>
            <a:pPr marL="0" indent="0">
              <a:buNone/>
            </a:pPr>
            <a:r>
              <a:rPr lang="ru-RU" sz="2000" dirty="0"/>
              <a:t>В языке С программист сам должен следить за соответствием вводимых данных и размера буфера. </a:t>
            </a:r>
            <a:endParaRPr lang="en-US" sz="2000" dirty="0"/>
          </a:p>
          <a:p>
            <a:pPr marL="0" indent="0">
              <a:buNone/>
            </a:pPr>
            <a:r>
              <a:rPr lang="ru-RU" sz="2000" b="1" i="1" dirty="0"/>
              <a:t>Многие стандартные функции по умолчанию не производят проверку границ буфера.</a:t>
            </a:r>
            <a:r>
              <a:rPr lang="ru-RU" sz="2000" dirty="0"/>
              <a:t>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EEA6DF5-5857-4C0D-91D0-D02B9FB07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32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Уязвимости форматной строки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772985-5A26-45A0-9238-768A1106A2EE}"/>
              </a:ext>
            </a:extLst>
          </p:cNvPr>
          <p:cNvSpPr txBox="1"/>
          <p:nvPr/>
        </p:nvSpPr>
        <p:spPr>
          <a:xfrm>
            <a:off x="1148225" y="2429496"/>
            <a:ext cx="520009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echo()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buffer[100] ;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buffer);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(buffer);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echo();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ED93F0A-DE40-4724-AC2F-611FD2642B5D}"/>
              </a:ext>
            </a:extLst>
          </p:cNvPr>
          <p:cNvSpPr/>
          <p:nvPr/>
        </p:nvSpPr>
        <p:spPr>
          <a:xfrm>
            <a:off x="8933992" y="1690688"/>
            <a:ext cx="2396971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8D1E9813-69D2-4D4B-BA56-9EA1BCDA747B}"/>
              </a:ext>
            </a:extLst>
          </p:cNvPr>
          <p:cNvCxnSpPr>
            <a:cxnSpLocks/>
          </p:cNvCxnSpPr>
          <p:nvPr/>
        </p:nvCxnSpPr>
        <p:spPr>
          <a:xfrm>
            <a:off x="8041419" y="4051622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FD2822A-BC9B-424B-89FD-6D53823E7420}"/>
              </a:ext>
            </a:extLst>
          </p:cNvPr>
          <p:cNvSpPr txBox="1"/>
          <p:nvPr/>
        </p:nvSpPr>
        <p:spPr>
          <a:xfrm>
            <a:off x="7949403" y="3663714"/>
            <a:ext cx="66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RSP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6768481-F8F8-4F76-BB70-E94574722D0E}"/>
              </a:ext>
            </a:extLst>
          </p:cNvPr>
          <p:cNvSpPr/>
          <p:nvPr/>
        </p:nvSpPr>
        <p:spPr>
          <a:xfrm>
            <a:off x="8933992" y="1684917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address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7642FA0-8325-497D-9746-61F587849EBC}"/>
              </a:ext>
            </a:extLst>
          </p:cNvPr>
          <p:cNvSpPr/>
          <p:nvPr/>
        </p:nvSpPr>
        <p:spPr>
          <a:xfrm>
            <a:off x="8933992" y="2434647"/>
            <a:ext cx="2396971" cy="16163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buffer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568919C-6D45-471A-B6B2-7982B0E56A0F}"/>
              </a:ext>
            </a:extLst>
          </p:cNvPr>
          <p:cNvSpPr/>
          <p:nvPr/>
        </p:nvSpPr>
        <p:spPr>
          <a:xfrm>
            <a:off x="8933992" y="2061077"/>
            <a:ext cx="2396971" cy="368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Prev. RBP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B02DF7-775B-456C-9BDE-D6CBCF0FC9AA}"/>
              </a:ext>
            </a:extLst>
          </p:cNvPr>
          <p:cNvSpPr txBox="1"/>
          <p:nvPr/>
        </p:nvSpPr>
        <p:spPr>
          <a:xfrm>
            <a:off x="1838739" y="5287617"/>
            <a:ext cx="5379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Что будет, если ввести 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“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%d %d %d %d %d %d %d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”</a:t>
            </a:r>
            <a:r>
              <a:rPr lang="ru-RU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230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Уязвимости форматной строки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772985-5A26-45A0-9238-768A1106A2EE}"/>
              </a:ext>
            </a:extLst>
          </p:cNvPr>
          <p:cNvSpPr txBox="1"/>
          <p:nvPr/>
        </p:nvSpPr>
        <p:spPr>
          <a:xfrm>
            <a:off x="6323155" y="1824387"/>
            <a:ext cx="520009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echo()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buffer[100] ;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buffer);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(buffer);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echo();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846B50-EFD7-4DC7-9F23-09B588D3C580}"/>
              </a:ext>
            </a:extLst>
          </p:cNvPr>
          <p:cNvSpPr txBox="1"/>
          <p:nvPr/>
        </p:nvSpPr>
        <p:spPr>
          <a:xfrm>
            <a:off x="838200" y="1981094"/>
            <a:ext cx="4262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"%d %d %d %d %d %d %d …"</a:t>
            </a:r>
            <a:endParaRPr lang="en-US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03CD76-194D-4346-B0D4-346831E07501}"/>
              </a:ext>
            </a:extLst>
          </p:cNvPr>
          <p:cNvSpPr txBox="1"/>
          <p:nvPr/>
        </p:nvSpPr>
        <p:spPr>
          <a:xfrm>
            <a:off x="917923" y="3578089"/>
            <a:ext cx="569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RDX</a:t>
            </a: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618529B5-E2FE-472E-BCA9-80FDBF119B1E}"/>
              </a:ext>
            </a:extLst>
          </p:cNvPr>
          <p:cNvCxnSpPr>
            <a:cxnSpLocks/>
          </p:cNvCxnSpPr>
          <p:nvPr/>
        </p:nvCxnSpPr>
        <p:spPr>
          <a:xfrm flipV="1">
            <a:off x="1127009" y="2442759"/>
            <a:ext cx="0" cy="1135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31CA8D21-8C21-4B9A-A0C7-758FD5CB2106}"/>
              </a:ext>
            </a:extLst>
          </p:cNvPr>
          <p:cNvCxnSpPr>
            <a:cxnSpLocks/>
          </p:cNvCxnSpPr>
          <p:nvPr/>
        </p:nvCxnSpPr>
        <p:spPr>
          <a:xfrm flipV="1">
            <a:off x="1763457" y="2442752"/>
            <a:ext cx="0" cy="673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D959E4A-6E1F-482B-ABE3-320B839F9E98}"/>
              </a:ext>
            </a:extLst>
          </p:cNvPr>
          <p:cNvSpPr txBox="1"/>
          <p:nvPr/>
        </p:nvSpPr>
        <p:spPr>
          <a:xfrm>
            <a:off x="1462538" y="3208747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1EE9C2-05A1-49AB-A824-68581DFD2595}"/>
              </a:ext>
            </a:extLst>
          </p:cNvPr>
          <p:cNvSpPr txBox="1"/>
          <p:nvPr/>
        </p:nvSpPr>
        <p:spPr>
          <a:xfrm>
            <a:off x="2045203" y="3578085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R9</a:t>
            </a:r>
          </a:p>
        </p:txBody>
      </p: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7CB2020A-619C-461A-B045-0BFE7441354E}"/>
              </a:ext>
            </a:extLst>
          </p:cNvPr>
          <p:cNvCxnSpPr>
            <a:cxnSpLocks/>
          </p:cNvCxnSpPr>
          <p:nvPr/>
        </p:nvCxnSpPr>
        <p:spPr>
          <a:xfrm flipV="1">
            <a:off x="2254289" y="2442755"/>
            <a:ext cx="0" cy="1135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0AF6537E-0062-4ACF-9504-6AD4BD868702}"/>
              </a:ext>
            </a:extLst>
          </p:cNvPr>
          <p:cNvCxnSpPr>
            <a:cxnSpLocks/>
          </p:cNvCxnSpPr>
          <p:nvPr/>
        </p:nvCxnSpPr>
        <p:spPr>
          <a:xfrm flipH="1" flipV="1">
            <a:off x="2758863" y="2456418"/>
            <a:ext cx="570857" cy="1121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5C58E0BB-2989-4BBF-87DB-E5149E8BA603}"/>
              </a:ext>
            </a:extLst>
          </p:cNvPr>
          <p:cNvCxnSpPr>
            <a:cxnSpLocks/>
          </p:cNvCxnSpPr>
          <p:nvPr/>
        </p:nvCxnSpPr>
        <p:spPr>
          <a:xfrm flipH="1" flipV="1">
            <a:off x="3273077" y="2456418"/>
            <a:ext cx="197487" cy="1099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81028E09-8D1A-49BE-9D12-AE5647A8FC6F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3639036" y="2456418"/>
            <a:ext cx="135774" cy="1099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69CDFC4C-27F9-42AF-8D31-85C9E3DE399F}"/>
              </a:ext>
            </a:extLst>
          </p:cNvPr>
          <p:cNvCxnSpPr>
            <a:cxnSpLocks/>
          </p:cNvCxnSpPr>
          <p:nvPr/>
        </p:nvCxnSpPr>
        <p:spPr>
          <a:xfrm flipV="1">
            <a:off x="3774810" y="2442751"/>
            <a:ext cx="450980" cy="1113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AAD15BD-1112-4C8E-9ED5-D158AC14A0FD}"/>
              </a:ext>
            </a:extLst>
          </p:cNvPr>
          <p:cNvSpPr txBox="1"/>
          <p:nvPr/>
        </p:nvSpPr>
        <p:spPr>
          <a:xfrm>
            <a:off x="3329720" y="3556116"/>
            <a:ext cx="618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Стек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617725-9C30-4E31-BA2C-11C279FB9B73}"/>
              </a:ext>
            </a:extLst>
          </p:cNvPr>
          <p:cNvSpPr txBox="1"/>
          <p:nvPr/>
        </p:nvSpPr>
        <p:spPr>
          <a:xfrm>
            <a:off x="92645" y="1739732"/>
            <a:ext cx="1591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Microsoft x64: </a:t>
            </a:r>
          </a:p>
        </p:txBody>
      </p: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F8978F46-98B6-4F0A-A1D1-A18D92CB22CA}"/>
              </a:ext>
            </a:extLst>
          </p:cNvPr>
          <p:cNvCxnSpPr>
            <a:cxnSpLocks/>
          </p:cNvCxnSpPr>
          <p:nvPr/>
        </p:nvCxnSpPr>
        <p:spPr>
          <a:xfrm flipH="1" flipV="1">
            <a:off x="1223879" y="4739941"/>
            <a:ext cx="1084336" cy="1148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3259F80B-689A-4622-B5CD-94C5B7AC94EE}"/>
              </a:ext>
            </a:extLst>
          </p:cNvPr>
          <p:cNvCxnSpPr>
            <a:cxnSpLocks/>
          </p:cNvCxnSpPr>
          <p:nvPr/>
        </p:nvCxnSpPr>
        <p:spPr>
          <a:xfrm flipH="1" flipV="1">
            <a:off x="1756275" y="4739943"/>
            <a:ext cx="670143" cy="1113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235BB6E9-2CD1-47B5-9C06-1BF8CAA9EEBC}"/>
              </a:ext>
            </a:extLst>
          </p:cNvPr>
          <p:cNvCxnSpPr>
            <a:cxnSpLocks/>
          </p:cNvCxnSpPr>
          <p:nvPr/>
        </p:nvCxnSpPr>
        <p:spPr>
          <a:xfrm flipH="1" flipV="1">
            <a:off x="2226467" y="4739937"/>
            <a:ext cx="366313" cy="1113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16F1C68B-2D20-4A23-AFEF-24A9FB493567}"/>
              </a:ext>
            </a:extLst>
          </p:cNvPr>
          <p:cNvCxnSpPr>
            <a:cxnSpLocks/>
          </p:cNvCxnSpPr>
          <p:nvPr/>
        </p:nvCxnSpPr>
        <p:spPr>
          <a:xfrm flipV="1">
            <a:off x="2758863" y="4739939"/>
            <a:ext cx="0" cy="1135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49450181-8529-4792-BE57-78AD7AB757F5}"/>
              </a:ext>
            </a:extLst>
          </p:cNvPr>
          <p:cNvCxnSpPr>
            <a:cxnSpLocks/>
          </p:cNvCxnSpPr>
          <p:nvPr/>
        </p:nvCxnSpPr>
        <p:spPr>
          <a:xfrm flipV="1">
            <a:off x="2901820" y="4753600"/>
            <a:ext cx="340594" cy="1099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A4C5B51F-6BD6-40D7-8855-D81362967A4D}"/>
              </a:ext>
            </a:extLst>
          </p:cNvPr>
          <p:cNvCxnSpPr>
            <a:cxnSpLocks/>
          </p:cNvCxnSpPr>
          <p:nvPr/>
        </p:nvCxnSpPr>
        <p:spPr>
          <a:xfrm flipV="1">
            <a:off x="2969551" y="4753602"/>
            <a:ext cx="805259" cy="1099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1BCB5CBD-2E9A-488F-9097-58D0301782F2}"/>
              </a:ext>
            </a:extLst>
          </p:cNvPr>
          <p:cNvCxnSpPr>
            <a:cxnSpLocks/>
          </p:cNvCxnSpPr>
          <p:nvPr/>
        </p:nvCxnSpPr>
        <p:spPr>
          <a:xfrm flipV="1">
            <a:off x="3072117" y="4739935"/>
            <a:ext cx="1153673" cy="1148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92D51BF9-B160-40E4-991E-2E54C1FFEE8E}"/>
              </a:ext>
            </a:extLst>
          </p:cNvPr>
          <p:cNvCxnSpPr>
            <a:cxnSpLocks/>
          </p:cNvCxnSpPr>
          <p:nvPr/>
        </p:nvCxnSpPr>
        <p:spPr>
          <a:xfrm flipV="1">
            <a:off x="3175624" y="4739935"/>
            <a:ext cx="1482485" cy="1148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EB66E2EC-70D6-454A-9350-CC3F8F90FA28}"/>
              </a:ext>
            </a:extLst>
          </p:cNvPr>
          <p:cNvSpPr txBox="1"/>
          <p:nvPr/>
        </p:nvSpPr>
        <p:spPr>
          <a:xfrm>
            <a:off x="2426418" y="5853319"/>
            <a:ext cx="618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Стек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25C857-06D5-4D83-B9B0-8073F8A5DD66}"/>
              </a:ext>
            </a:extLst>
          </p:cNvPr>
          <p:cNvSpPr txBox="1"/>
          <p:nvPr/>
        </p:nvSpPr>
        <p:spPr>
          <a:xfrm>
            <a:off x="231152" y="4075357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cdecl</a:t>
            </a:r>
            <a:r>
              <a:rPr lang="en-US" dirty="0"/>
              <a:t>: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A4D705-2561-4DC1-9DD9-B92A3BE7D45F}"/>
              </a:ext>
            </a:extLst>
          </p:cNvPr>
          <p:cNvSpPr txBox="1"/>
          <p:nvPr/>
        </p:nvSpPr>
        <p:spPr>
          <a:xfrm>
            <a:off x="838199" y="4348661"/>
            <a:ext cx="4262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"%d %d %d %d %d %d %d …"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481179-A95F-4C54-8D55-36714C581A4D}"/>
              </a:ext>
            </a:extLst>
          </p:cNvPr>
          <p:cNvSpPr txBox="1"/>
          <p:nvPr/>
        </p:nvSpPr>
        <p:spPr>
          <a:xfrm>
            <a:off x="6243828" y="4965600"/>
            <a:ext cx="4843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Уязвимость форматной строки дает возможность читать стек, предоставляя информацию атакующему</a:t>
            </a:r>
          </a:p>
        </p:txBody>
      </p: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C3AF8A8A-99A6-4EC2-9CA4-3BF247E2AC11}"/>
              </a:ext>
            </a:extLst>
          </p:cNvPr>
          <p:cNvCxnSpPr>
            <a:cxnSpLocks/>
          </p:cNvCxnSpPr>
          <p:nvPr/>
        </p:nvCxnSpPr>
        <p:spPr>
          <a:xfrm flipV="1">
            <a:off x="3948351" y="2456418"/>
            <a:ext cx="709758" cy="1099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626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Уязвимости форматной строки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772985-5A26-45A0-9238-768A1106A2EE}"/>
              </a:ext>
            </a:extLst>
          </p:cNvPr>
          <p:cNvSpPr txBox="1"/>
          <p:nvPr/>
        </p:nvSpPr>
        <p:spPr>
          <a:xfrm>
            <a:off x="973633" y="1684917"/>
            <a:ext cx="520009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echo()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buffer[100]{} ; 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//zeros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buffer);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(buffer);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global_variable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echo();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global_variable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"Access granted"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ED93F0A-DE40-4724-AC2F-611FD2642B5D}"/>
              </a:ext>
            </a:extLst>
          </p:cNvPr>
          <p:cNvSpPr/>
          <p:nvPr/>
        </p:nvSpPr>
        <p:spPr>
          <a:xfrm>
            <a:off x="8933992" y="1690688"/>
            <a:ext cx="2396971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8D1E9813-69D2-4D4B-BA56-9EA1BCDA747B}"/>
              </a:ext>
            </a:extLst>
          </p:cNvPr>
          <p:cNvCxnSpPr>
            <a:cxnSpLocks/>
          </p:cNvCxnSpPr>
          <p:nvPr/>
        </p:nvCxnSpPr>
        <p:spPr>
          <a:xfrm>
            <a:off x="8041419" y="4054506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FD2822A-BC9B-424B-89FD-6D53823E7420}"/>
              </a:ext>
            </a:extLst>
          </p:cNvPr>
          <p:cNvSpPr txBox="1"/>
          <p:nvPr/>
        </p:nvSpPr>
        <p:spPr>
          <a:xfrm>
            <a:off x="7949403" y="3666598"/>
            <a:ext cx="66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RSP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6768481-F8F8-4F76-BB70-E94574722D0E}"/>
              </a:ext>
            </a:extLst>
          </p:cNvPr>
          <p:cNvSpPr/>
          <p:nvPr/>
        </p:nvSpPr>
        <p:spPr>
          <a:xfrm>
            <a:off x="8933992" y="1687801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address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7642FA0-8325-497D-9746-61F587849EBC}"/>
              </a:ext>
            </a:extLst>
          </p:cNvPr>
          <p:cNvSpPr/>
          <p:nvPr/>
        </p:nvSpPr>
        <p:spPr>
          <a:xfrm>
            <a:off x="8933992" y="2437531"/>
            <a:ext cx="2396971" cy="16163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buffer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568919C-6D45-471A-B6B2-7982B0E56A0F}"/>
              </a:ext>
            </a:extLst>
          </p:cNvPr>
          <p:cNvSpPr/>
          <p:nvPr/>
        </p:nvSpPr>
        <p:spPr>
          <a:xfrm>
            <a:off x="8933992" y="2063961"/>
            <a:ext cx="2396971" cy="368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Prev. RBP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8C2F0A-F6BB-44CC-8FBD-23870443F991}"/>
              </a:ext>
            </a:extLst>
          </p:cNvPr>
          <p:cNvSpPr txBox="1"/>
          <p:nvPr/>
        </p:nvSpPr>
        <p:spPr>
          <a:xfrm>
            <a:off x="2715817" y="5607506"/>
            <a:ext cx="3949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Как можно поменять </a:t>
            </a:r>
            <a:r>
              <a:rPr lang="en-US" dirty="0" err="1"/>
              <a:t>global_variable</a:t>
            </a:r>
            <a:r>
              <a:rPr lang="ru-RU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729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Уязвимости форматной строки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6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85ECD0-19EA-46DC-A875-55A77CB19F22}"/>
              </a:ext>
            </a:extLst>
          </p:cNvPr>
          <p:cNvSpPr txBox="1"/>
          <p:nvPr/>
        </p:nvSpPr>
        <p:spPr>
          <a:xfrm>
            <a:off x="890441" y="1692025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%x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B3543E-3623-40A6-9276-3CC079F6F92A}"/>
              </a:ext>
            </a:extLst>
          </p:cNvPr>
          <p:cNvSpPr txBox="1"/>
          <p:nvPr/>
        </p:nvSpPr>
        <p:spPr>
          <a:xfrm>
            <a:off x="2040673" y="1730583"/>
            <a:ext cx="1551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Чтение 4 байт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69575B-1162-499A-B626-B4A7337C84D2}"/>
              </a:ext>
            </a:extLst>
          </p:cNvPr>
          <p:cNvSpPr txBox="1"/>
          <p:nvPr/>
        </p:nvSpPr>
        <p:spPr>
          <a:xfrm>
            <a:off x="2040673" y="4036715"/>
            <a:ext cx="4015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Запись числа напечатанных символов</a:t>
            </a:r>
            <a:br>
              <a:rPr lang="en-US" b="1" dirty="0"/>
            </a:br>
            <a:r>
              <a:rPr lang="ru-RU" b="1" dirty="0"/>
              <a:t> по указателю </a:t>
            </a:r>
            <a:r>
              <a:rPr lang="en-US" b="1" dirty="0"/>
              <a:t>int*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BD460D-7DA4-4B88-993C-DB17A594B780}"/>
              </a:ext>
            </a:extLst>
          </p:cNvPr>
          <p:cNvSpPr txBox="1"/>
          <p:nvPr/>
        </p:nvSpPr>
        <p:spPr>
          <a:xfrm>
            <a:off x="890441" y="2470163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%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llx</a:t>
            </a:r>
            <a:endParaRPr lang="en-US" sz="2400" dirty="0">
              <a:solidFill>
                <a:srgbClr val="A31515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090030-8065-4AEA-8A69-DF555B1E38F2}"/>
              </a:ext>
            </a:extLst>
          </p:cNvPr>
          <p:cNvSpPr txBox="1"/>
          <p:nvPr/>
        </p:nvSpPr>
        <p:spPr>
          <a:xfrm>
            <a:off x="890440" y="3990549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%n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72F4DE-EF9D-4FAA-AFE2-91288690E5ED}"/>
              </a:ext>
            </a:extLst>
          </p:cNvPr>
          <p:cNvSpPr txBox="1"/>
          <p:nvPr/>
        </p:nvSpPr>
        <p:spPr>
          <a:xfrm>
            <a:off x="838200" y="4951451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%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lln</a:t>
            </a:r>
            <a:endParaRPr lang="en-US" sz="2400" dirty="0">
              <a:solidFill>
                <a:srgbClr val="A31515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644036-5F66-479B-9645-7B3CE9D2F9F1}"/>
              </a:ext>
            </a:extLst>
          </p:cNvPr>
          <p:cNvSpPr txBox="1"/>
          <p:nvPr/>
        </p:nvSpPr>
        <p:spPr>
          <a:xfrm>
            <a:off x="2040673" y="2562496"/>
            <a:ext cx="1551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Чтение </a:t>
            </a:r>
            <a:r>
              <a:rPr lang="en-US" dirty="0"/>
              <a:t>8</a:t>
            </a:r>
            <a:r>
              <a:rPr lang="ru-RU" dirty="0"/>
              <a:t> байт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AAE167-7121-47F4-AA4D-9AFCB164EC36}"/>
              </a:ext>
            </a:extLst>
          </p:cNvPr>
          <p:cNvSpPr txBox="1"/>
          <p:nvPr/>
        </p:nvSpPr>
        <p:spPr>
          <a:xfrm>
            <a:off x="2040673" y="5026747"/>
            <a:ext cx="4015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Запись числа напечатанных символов</a:t>
            </a:r>
            <a:br>
              <a:rPr lang="en-US" b="1" dirty="0"/>
            </a:br>
            <a:r>
              <a:rPr lang="ru-RU" b="1" dirty="0"/>
              <a:t> по указателю </a:t>
            </a:r>
            <a:r>
              <a:rPr lang="en-US" b="1" dirty="0"/>
              <a:t>long long*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37ED44-5481-4019-825F-9987811CCF26}"/>
              </a:ext>
            </a:extLst>
          </p:cNvPr>
          <p:cNvSpPr txBox="1"/>
          <p:nvPr/>
        </p:nvSpPr>
        <p:spPr>
          <a:xfrm>
            <a:off x="890441" y="3215233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%p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3A05AE-9F56-4BCF-9F11-85EACB726A6D}"/>
              </a:ext>
            </a:extLst>
          </p:cNvPr>
          <p:cNvSpPr txBox="1"/>
          <p:nvPr/>
        </p:nvSpPr>
        <p:spPr>
          <a:xfrm>
            <a:off x="2040673" y="3307566"/>
            <a:ext cx="3675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Чтение указателя (8 байт на х86-64)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785D3-B12A-49D4-9085-135DA330092C}"/>
              </a:ext>
            </a:extLst>
          </p:cNvPr>
          <p:cNvSpPr txBox="1"/>
          <p:nvPr/>
        </p:nvSpPr>
        <p:spPr>
          <a:xfrm>
            <a:off x="6782151" y="1826379"/>
            <a:ext cx="520009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echo()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buffer[100]{} ; 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//zeros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buffer);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(buffer);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global_variable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echo();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global_variable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"Access granted"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90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Уязвимости форматной строки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7</a:t>
            </a:fld>
            <a:endParaRPr lang="en-US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ED93F0A-DE40-4724-AC2F-611FD2642B5D}"/>
              </a:ext>
            </a:extLst>
          </p:cNvPr>
          <p:cNvSpPr/>
          <p:nvPr/>
        </p:nvSpPr>
        <p:spPr>
          <a:xfrm>
            <a:off x="8933992" y="1690688"/>
            <a:ext cx="2396971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6768481-F8F8-4F76-BB70-E94574722D0E}"/>
              </a:ext>
            </a:extLst>
          </p:cNvPr>
          <p:cNvSpPr/>
          <p:nvPr/>
        </p:nvSpPr>
        <p:spPr>
          <a:xfrm>
            <a:off x="8933992" y="1687801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address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7642FA0-8325-497D-9746-61F587849EBC}"/>
              </a:ext>
            </a:extLst>
          </p:cNvPr>
          <p:cNvSpPr/>
          <p:nvPr/>
        </p:nvSpPr>
        <p:spPr>
          <a:xfrm>
            <a:off x="8933991" y="2440121"/>
            <a:ext cx="2396971" cy="16163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br>
              <a:rPr lang="en-US" dirty="0"/>
            </a:br>
            <a:r>
              <a:rPr lang="ru-RU" b="1" dirty="0">
                <a:solidFill>
                  <a:schemeClr val="bg1"/>
                </a:solidFill>
              </a:rPr>
              <a:t>ЭМ»Є</a:t>
            </a:r>
            <a:r>
              <a:rPr lang="en-US" dirty="0">
                <a:solidFill>
                  <a:schemeClr val="tx1"/>
                </a:solidFill>
              </a:rPr>
              <a:t>000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0</a:t>
            </a:r>
            <a:br>
              <a:rPr lang="en-US" dirty="0"/>
            </a:br>
            <a:r>
              <a:rPr lang="en-US" dirty="0"/>
              <a:t>%</a:t>
            </a:r>
            <a:r>
              <a:rPr lang="en-US" dirty="0" err="1"/>
              <a:t>p%pAA%n</a:t>
            </a:r>
            <a:br>
              <a:rPr lang="en-US" dirty="0"/>
            </a:br>
            <a:r>
              <a:rPr lang="en-US" dirty="0"/>
              <a:t>%</a:t>
            </a:r>
            <a:r>
              <a:rPr lang="en-US" dirty="0" err="1"/>
              <a:t>p%p%p%p</a:t>
            </a:r>
            <a:endParaRPr lang="en-US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568919C-6D45-471A-B6B2-7982B0E56A0F}"/>
              </a:ext>
            </a:extLst>
          </p:cNvPr>
          <p:cNvSpPr/>
          <p:nvPr/>
        </p:nvSpPr>
        <p:spPr>
          <a:xfrm>
            <a:off x="8933992" y="2063961"/>
            <a:ext cx="2396971" cy="368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Prev. RBP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B1450C-9FEF-4FFA-B41D-98D814CF4ABB}"/>
              </a:ext>
            </a:extLst>
          </p:cNvPr>
          <p:cNvSpPr txBox="1"/>
          <p:nvPr/>
        </p:nvSpPr>
        <p:spPr>
          <a:xfrm>
            <a:off x="8535164" y="3715532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%p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C6B4FC-6C48-42A0-92FE-24DB654C3BC0}"/>
              </a:ext>
            </a:extLst>
          </p:cNvPr>
          <p:cNvSpPr txBox="1"/>
          <p:nvPr/>
        </p:nvSpPr>
        <p:spPr>
          <a:xfrm>
            <a:off x="8546583" y="3122763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</a:t>
            </a:r>
            <a:endParaRPr lang="en-US" sz="1800" dirty="0">
              <a:solidFill>
                <a:srgbClr val="A31515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AD2A88-F927-4A43-830C-0B6C8E156D2A}"/>
              </a:ext>
            </a:extLst>
          </p:cNvPr>
          <p:cNvSpPr txBox="1"/>
          <p:nvPr/>
        </p:nvSpPr>
        <p:spPr>
          <a:xfrm>
            <a:off x="8546583" y="3432723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%p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E94344-F8BA-462D-B961-28276A1693A0}"/>
              </a:ext>
            </a:extLst>
          </p:cNvPr>
          <p:cNvSpPr txBox="1"/>
          <p:nvPr/>
        </p:nvSpPr>
        <p:spPr>
          <a:xfrm>
            <a:off x="973632" y="1684917"/>
            <a:ext cx="648594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echo()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buffer[100]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{}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; 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//zeros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buffer);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</a:t>
            </a:r>
            <a:r>
              <a:rPr lang="en-US" dirty="0">
                <a:solidFill>
                  <a:schemeClr val="accent6"/>
                </a:solidFill>
              </a:rPr>
              <a:t>%</a:t>
            </a:r>
            <a:r>
              <a:rPr lang="en-US" dirty="0" err="1">
                <a:solidFill>
                  <a:schemeClr val="accent6"/>
                </a:solidFill>
              </a:rPr>
              <a:t>p%p%p%p%p%pAA%n</a:t>
            </a:r>
            <a:r>
              <a:rPr lang="ru-RU" dirty="0">
                <a:solidFill>
                  <a:schemeClr val="accent6"/>
                </a:solidFill>
              </a:rPr>
              <a:t>ЭМ»Є</a:t>
            </a:r>
            <a:br>
              <a:rPr lang="en-US" dirty="0">
                <a:solidFill>
                  <a:schemeClr val="accent6"/>
                </a:solidFill>
              </a:rPr>
            </a:b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(buffer);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global_variable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echo();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global_variable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"Access granted"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Соединитель: уступ 5">
            <a:extLst>
              <a:ext uri="{FF2B5EF4-FFF2-40B4-BE49-F238E27FC236}">
                <a16:creationId xmlns:a16="http://schemas.microsoft.com/office/drawing/2014/main" id="{60E2FC06-7EB6-4A91-AC4C-A2EFF4597B96}"/>
              </a:ext>
            </a:extLst>
          </p:cNvPr>
          <p:cNvCxnSpPr>
            <a:cxnSpLocks/>
          </p:cNvCxnSpPr>
          <p:nvPr/>
        </p:nvCxnSpPr>
        <p:spPr>
          <a:xfrm rot="10800000" flipV="1">
            <a:off x="4042611" y="3307428"/>
            <a:ext cx="4503972" cy="2510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5291281-4E97-167A-1A8B-EC71FC44C8A1}"/>
              </a:ext>
            </a:extLst>
          </p:cNvPr>
          <p:cNvSpPr txBox="1"/>
          <p:nvPr/>
        </p:nvSpPr>
        <p:spPr>
          <a:xfrm>
            <a:off x="5969162" y="2979495"/>
            <a:ext cx="3778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onsolas" panose="020B0609020204030204" pitchFamily="49" charset="0"/>
              </a:rPr>
              <a:t>0x00000000AABBCCDD</a:t>
            </a:r>
          </a:p>
        </p:txBody>
      </p:sp>
    </p:spTree>
    <p:extLst>
      <p:ext uri="{BB962C8B-B14F-4D97-AF65-F5344CB8AC3E}">
        <p14:creationId xmlns:p14="http://schemas.microsoft.com/office/powerpoint/2010/main" val="109502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Защита от уязвимостей форматной строки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772985-5A26-45A0-9238-768A1106A2EE}"/>
              </a:ext>
            </a:extLst>
          </p:cNvPr>
          <p:cNvSpPr txBox="1"/>
          <p:nvPr/>
        </p:nvSpPr>
        <p:spPr>
          <a:xfrm>
            <a:off x="895905" y="2136338"/>
            <a:ext cx="520009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echo()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buffer[100] ; </a:t>
            </a:r>
          </a:p>
          <a:p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buffer);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(buffer);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echo();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6FF5AF-1868-44A8-836D-1B27BCC1DF8A}"/>
              </a:ext>
            </a:extLst>
          </p:cNvPr>
          <p:cNvSpPr txBox="1"/>
          <p:nvPr/>
        </p:nvSpPr>
        <p:spPr>
          <a:xfrm>
            <a:off x="6693325" y="2136338"/>
            <a:ext cx="520009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echo()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buffer[100] ;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buffer);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puts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(buffer);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echo();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7A843C-3AD9-4D46-B393-A11BB5CB8D99}"/>
              </a:ext>
            </a:extLst>
          </p:cNvPr>
          <p:cNvSpPr txBox="1"/>
          <p:nvPr/>
        </p:nvSpPr>
        <p:spPr>
          <a:xfrm>
            <a:off x="1818302" y="5169673"/>
            <a:ext cx="1814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Есть уязвимость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2ABE58-EAFC-4CB2-A277-B62C3CA26996}"/>
              </a:ext>
            </a:extLst>
          </p:cNvPr>
          <p:cNvSpPr txBox="1"/>
          <p:nvPr/>
        </p:nvSpPr>
        <p:spPr>
          <a:xfrm>
            <a:off x="7744804" y="5069632"/>
            <a:ext cx="1721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Нет уязвимости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36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Переполнение буфера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9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0B0750-7BB9-4343-8160-96F7FD7FC8F3}"/>
              </a:ext>
            </a:extLst>
          </p:cNvPr>
          <p:cNvSpPr txBox="1"/>
          <p:nvPr/>
        </p:nvSpPr>
        <p:spPr>
          <a:xfrm>
            <a:off x="838635" y="1791091"/>
            <a:ext cx="520009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var = 0;</a:t>
            </a:r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buffer[16];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buffer);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80C8D1-B704-4FA8-8C3F-5F3D356D4CF0}"/>
              </a:ext>
            </a:extLst>
          </p:cNvPr>
          <p:cNvSpPr txBox="1"/>
          <p:nvPr/>
        </p:nvSpPr>
        <p:spPr>
          <a:xfrm>
            <a:off x="760645" y="5488085"/>
            <a:ext cx="55967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Что будет, если ввести строку длиной больше 15?</a:t>
            </a:r>
            <a:endParaRPr lang="en-US" sz="2000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25FDC5A-5192-3859-CE3B-CD193D7FBC45}"/>
              </a:ext>
            </a:extLst>
          </p:cNvPr>
          <p:cNvSpPr/>
          <p:nvPr/>
        </p:nvSpPr>
        <p:spPr>
          <a:xfrm>
            <a:off x="9251354" y="1386601"/>
            <a:ext cx="2396971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491240A8-FDFD-0407-CAD4-42AE37A70E91}"/>
              </a:ext>
            </a:extLst>
          </p:cNvPr>
          <p:cNvCxnSpPr>
            <a:cxnSpLocks/>
          </p:cNvCxnSpPr>
          <p:nvPr/>
        </p:nvCxnSpPr>
        <p:spPr>
          <a:xfrm>
            <a:off x="8355822" y="4459636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C934E8-3127-2724-77BF-906C258B2A30}"/>
              </a:ext>
            </a:extLst>
          </p:cNvPr>
          <p:cNvSpPr txBox="1"/>
          <p:nvPr/>
        </p:nvSpPr>
        <p:spPr>
          <a:xfrm>
            <a:off x="8245178" y="4105874"/>
            <a:ext cx="66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RSP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DC8177A-24B1-DE7E-221D-0FDBACD29442}"/>
              </a:ext>
            </a:extLst>
          </p:cNvPr>
          <p:cNvSpPr/>
          <p:nvPr/>
        </p:nvSpPr>
        <p:spPr>
          <a:xfrm>
            <a:off x="9251354" y="1386601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address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88BD006A-BB17-BD06-05F1-FF28AE84608B}"/>
              </a:ext>
            </a:extLst>
          </p:cNvPr>
          <p:cNvSpPr/>
          <p:nvPr/>
        </p:nvSpPr>
        <p:spPr>
          <a:xfrm>
            <a:off x="9251352" y="2486737"/>
            <a:ext cx="2396971" cy="36841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var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CE065A40-8260-7048-8FB5-2C6C3812B31F}"/>
              </a:ext>
            </a:extLst>
          </p:cNvPr>
          <p:cNvSpPr/>
          <p:nvPr/>
        </p:nvSpPr>
        <p:spPr>
          <a:xfrm>
            <a:off x="9251352" y="2843328"/>
            <a:ext cx="2396971" cy="16163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buffer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9909EB71-738B-E25E-1544-173364517E91}"/>
              </a:ext>
            </a:extLst>
          </p:cNvPr>
          <p:cNvSpPr/>
          <p:nvPr/>
        </p:nvSpPr>
        <p:spPr>
          <a:xfrm>
            <a:off x="9251353" y="2118318"/>
            <a:ext cx="2396971" cy="368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Prev. RBP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503632-A01C-61DD-2105-978E4F58F348}"/>
              </a:ext>
            </a:extLst>
          </p:cNvPr>
          <p:cNvSpPr txBox="1"/>
          <p:nvPr/>
        </p:nvSpPr>
        <p:spPr>
          <a:xfrm>
            <a:off x="8003896" y="1087826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/>
              <a:t>0</a:t>
            </a:r>
            <a:r>
              <a:rPr lang="en-US"/>
              <a:t>xFFFFFFFF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AF8B363-D890-D4A3-BB98-DD01D29DAC95}"/>
              </a:ext>
            </a:extLst>
          </p:cNvPr>
          <p:cNvSpPr txBox="1"/>
          <p:nvPr/>
        </p:nvSpPr>
        <p:spPr>
          <a:xfrm>
            <a:off x="8031146" y="5630409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  <a:r>
              <a:rPr lang="en-US" dirty="0"/>
              <a:t>x0000000</a:t>
            </a:r>
          </a:p>
        </p:txBody>
      </p: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D3AEA7F3-D742-07BE-0383-C6B135688BCD}"/>
              </a:ext>
            </a:extLst>
          </p:cNvPr>
          <p:cNvCxnSpPr/>
          <p:nvPr/>
        </p:nvCxnSpPr>
        <p:spPr>
          <a:xfrm>
            <a:off x="9246408" y="878289"/>
            <a:ext cx="0" cy="51980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CA39E843-3185-2DBF-0C84-7975DF0B58CE}"/>
              </a:ext>
            </a:extLst>
          </p:cNvPr>
          <p:cNvCxnSpPr/>
          <p:nvPr/>
        </p:nvCxnSpPr>
        <p:spPr>
          <a:xfrm>
            <a:off x="11645795" y="878289"/>
            <a:ext cx="0" cy="51980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00AC33A9-8211-6A68-399D-44167E65E7DA}"/>
              </a:ext>
            </a:extLst>
          </p:cNvPr>
          <p:cNvSpPr/>
          <p:nvPr/>
        </p:nvSpPr>
        <p:spPr>
          <a:xfrm>
            <a:off x="9251219" y="1749474"/>
            <a:ext cx="2396971" cy="368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Prev. RBX</a:t>
            </a:r>
          </a:p>
        </p:txBody>
      </p:sp>
    </p:spTree>
    <p:extLst>
      <p:ext uri="{BB962C8B-B14F-4D97-AF65-F5344CB8AC3E}">
        <p14:creationId xmlns:p14="http://schemas.microsoft.com/office/powerpoint/2010/main" val="1182121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Переполнение буфера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10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0B0750-7BB9-4343-8160-96F7FD7FC8F3}"/>
              </a:ext>
            </a:extLst>
          </p:cNvPr>
          <p:cNvSpPr txBox="1"/>
          <p:nvPr/>
        </p:nvSpPr>
        <p:spPr>
          <a:xfrm>
            <a:off x="838635" y="1791091"/>
            <a:ext cx="520009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var = 0;</a:t>
            </a:r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buffer[16];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buffer);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961A3-CCE5-45DF-9C38-BC84DED30D84}"/>
              </a:ext>
            </a:extLst>
          </p:cNvPr>
          <p:cNvSpPr txBox="1"/>
          <p:nvPr/>
        </p:nvSpPr>
        <p:spPr>
          <a:xfrm>
            <a:off x="1036194" y="4199818"/>
            <a:ext cx="3002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Ввод:</a:t>
            </a:r>
            <a:r>
              <a:rPr lang="en-US" dirty="0"/>
              <a:t> 1111111111111111111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FCAE0B-5128-C727-C810-17D75049B7E4}"/>
              </a:ext>
            </a:extLst>
          </p:cNvPr>
          <p:cNvSpPr txBox="1"/>
          <p:nvPr/>
        </p:nvSpPr>
        <p:spPr>
          <a:xfrm>
            <a:off x="838200" y="4614746"/>
            <a:ext cx="58937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Аналогичные атаки возможны с любой функцией, </a:t>
            </a:r>
          </a:p>
          <a:p>
            <a:r>
              <a:rPr lang="ru-RU" sz="2000" b="1" dirty="0"/>
              <a:t>которая не проверяет размер буфера записи: </a:t>
            </a:r>
            <a:endParaRPr lang="en-US" sz="2000" b="1" dirty="0"/>
          </a:p>
          <a:p>
            <a:r>
              <a:rPr lang="en-US" sz="2000" b="1" dirty="0"/>
              <a:t>gets, </a:t>
            </a:r>
            <a:r>
              <a:rPr lang="en-US" sz="2000" b="1" dirty="0" err="1"/>
              <a:t>strcpy</a:t>
            </a:r>
            <a:r>
              <a:rPr lang="en-US" sz="2000" b="1" dirty="0"/>
              <a:t>, </a:t>
            </a:r>
            <a:r>
              <a:rPr lang="en-US" sz="2000" b="1" dirty="0" err="1"/>
              <a:t>memcpy</a:t>
            </a:r>
            <a:r>
              <a:rPr lang="en-US" sz="2000" b="1" dirty="0"/>
              <a:t>, </a:t>
            </a:r>
            <a:r>
              <a:rPr lang="en-US" sz="2000" b="1" dirty="0" err="1"/>
              <a:t>memmove</a:t>
            </a:r>
            <a:r>
              <a:rPr lang="en-US" sz="2000" b="1" dirty="0"/>
              <a:t>,…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73D198A-DE42-905B-BBC4-63412A98AF1C}"/>
              </a:ext>
            </a:extLst>
          </p:cNvPr>
          <p:cNvSpPr/>
          <p:nvPr/>
        </p:nvSpPr>
        <p:spPr>
          <a:xfrm>
            <a:off x="9251354" y="1386601"/>
            <a:ext cx="2396971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2E6389DA-55E7-798F-32BD-0E6EF8190E14}"/>
              </a:ext>
            </a:extLst>
          </p:cNvPr>
          <p:cNvCxnSpPr>
            <a:cxnSpLocks/>
          </p:cNvCxnSpPr>
          <p:nvPr/>
        </p:nvCxnSpPr>
        <p:spPr>
          <a:xfrm>
            <a:off x="8355822" y="4459636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FC4D2AF-8352-4254-D4B9-C6B4485E462C}"/>
              </a:ext>
            </a:extLst>
          </p:cNvPr>
          <p:cNvSpPr txBox="1"/>
          <p:nvPr/>
        </p:nvSpPr>
        <p:spPr>
          <a:xfrm>
            <a:off x="8245178" y="4105874"/>
            <a:ext cx="66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RSP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7A33A83-B1BD-80E6-BE72-908B650FDE60}"/>
              </a:ext>
            </a:extLst>
          </p:cNvPr>
          <p:cNvSpPr/>
          <p:nvPr/>
        </p:nvSpPr>
        <p:spPr>
          <a:xfrm>
            <a:off x="9251354" y="1386601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address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78F6391-0BEB-9AEC-723F-185303973896}"/>
              </a:ext>
            </a:extLst>
          </p:cNvPr>
          <p:cNvSpPr/>
          <p:nvPr/>
        </p:nvSpPr>
        <p:spPr>
          <a:xfrm>
            <a:off x="9251352" y="2486737"/>
            <a:ext cx="2396971" cy="36841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0x31 </a:t>
            </a:r>
            <a:r>
              <a:rPr lang="en-US" dirty="0" err="1"/>
              <a:t>0x31</a:t>
            </a:r>
            <a:r>
              <a:rPr lang="en-US" dirty="0"/>
              <a:t> </a:t>
            </a:r>
            <a:r>
              <a:rPr lang="en-US" dirty="0" err="1"/>
              <a:t>0x31</a:t>
            </a:r>
            <a:r>
              <a:rPr lang="en-US" dirty="0"/>
              <a:t> 0x00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05AD1FC-3582-E766-A1D7-830B65733848}"/>
              </a:ext>
            </a:extLst>
          </p:cNvPr>
          <p:cNvSpPr/>
          <p:nvPr/>
        </p:nvSpPr>
        <p:spPr>
          <a:xfrm>
            <a:off x="9251352" y="2843328"/>
            <a:ext cx="2396971" cy="16163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0x31 </a:t>
            </a:r>
            <a:r>
              <a:rPr lang="en-US" dirty="0" err="1"/>
              <a:t>0x31</a:t>
            </a:r>
            <a:r>
              <a:rPr lang="en-US" dirty="0"/>
              <a:t> </a:t>
            </a:r>
            <a:r>
              <a:rPr lang="en-US" dirty="0" err="1"/>
              <a:t>0x31</a:t>
            </a:r>
            <a:r>
              <a:rPr lang="en-US" dirty="0"/>
              <a:t> </a:t>
            </a:r>
            <a:r>
              <a:rPr lang="en-US" dirty="0" err="1"/>
              <a:t>0x31</a:t>
            </a:r>
            <a:br>
              <a:rPr lang="en-US" dirty="0"/>
            </a:br>
            <a:r>
              <a:rPr lang="en-US" dirty="0" err="1"/>
              <a:t>0x31</a:t>
            </a:r>
            <a:r>
              <a:rPr lang="en-US" dirty="0"/>
              <a:t> </a:t>
            </a:r>
            <a:r>
              <a:rPr lang="en-US" dirty="0" err="1"/>
              <a:t>0x31</a:t>
            </a:r>
            <a:r>
              <a:rPr lang="en-US" dirty="0"/>
              <a:t> </a:t>
            </a:r>
            <a:r>
              <a:rPr lang="en-US" dirty="0" err="1"/>
              <a:t>0x31</a:t>
            </a:r>
            <a:r>
              <a:rPr lang="en-US" dirty="0"/>
              <a:t> </a:t>
            </a:r>
            <a:r>
              <a:rPr lang="en-US" dirty="0" err="1"/>
              <a:t>0x31</a:t>
            </a:r>
            <a:endParaRPr lang="en-US" dirty="0"/>
          </a:p>
          <a:p>
            <a:pPr algn="ctr"/>
            <a:r>
              <a:rPr lang="en-US" dirty="0"/>
              <a:t>0x31 </a:t>
            </a:r>
            <a:r>
              <a:rPr lang="en-US" dirty="0" err="1"/>
              <a:t>0x31</a:t>
            </a:r>
            <a:r>
              <a:rPr lang="en-US" dirty="0"/>
              <a:t> </a:t>
            </a:r>
            <a:r>
              <a:rPr lang="en-US" dirty="0" err="1"/>
              <a:t>0x31</a:t>
            </a:r>
            <a:r>
              <a:rPr lang="en-US" dirty="0"/>
              <a:t> </a:t>
            </a:r>
            <a:r>
              <a:rPr lang="en-US" dirty="0" err="1"/>
              <a:t>0x31</a:t>
            </a:r>
            <a:endParaRPr lang="en-US" dirty="0"/>
          </a:p>
          <a:p>
            <a:pPr algn="ctr"/>
            <a:r>
              <a:rPr lang="en-US" dirty="0"/>
              <a:t>0x31 </a:t>
            </a:r>
            <a:r>
              <a:rPr lang="en-US" dirty="0" err="1"/>
              <a:t>0x31</a:t>
            </a:r>
            <a:r>
              <a:rPr lang="en-US" dirty="0"/>
              <a:t> </a:t>
            </a:r>
            <a:r>
              <a:rPr lang="en-US" dirty="0" err="1"/>
              <a:t>0x31</a:t>
            </a:r>
            <a:r>
              <a:rPr lang="en-US" dirty="0"/>
              <a:t> </a:t>
            </a:r>
            <a:r>
              <a:rPr lang="en-US" dirty="0" err="1"/>
              <a:t>0x31</a:t>
            </a:r>
            <a:endParaRPr lang="en-US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A599928-2538-DDE5-A8F5-7258C70C3691}"/>
              </a:ext>
            </a:extLst>
          </p:cNvPr>
          <p:cNvSpPr/>
          <p:nvPr/>
        </p:nvSpPr>
        <p:spPr>
          <a:xfrm>
            <a:off x="9251353" y="2118318"/>
            <a:ext cx="2396971" cy="368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Prev. RBP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201E8D-EB87-089D-F7AE-6ECD32AFB27B}"/>
              </a:ext>
            </a:extLst>
          </p:cNvPr>
          <p:cNvSpPr txBox="1"/>
          <p:nvPr/>
        </p:nvSpPr>
        <p:spPr>
          <a:xfrm>
            <a:off x="8003896" y="1087826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/>
              <a:t>0</a:t>
            </a:r>
            <a:r>
              <a:rPr lang="en-US"/>
              <a:t>xFFFFFFFF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61C6FD-3051-7B77-3786-3E5035193055}"/>
              </a:ext>
            </a:extLst>
          </p:cNvPr>
          <p:cNvSpPr txBox="1"/>
          <p:nvPr/>
        </p:nvSpPr>
        <p:spPr>
          <a:xfrm>
            <a:off x="8031146" y="5630409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  <a:r>
              <a:rPr lang="en-US" dirty="0"/>
              <a:t>x0000000</a:t>
            </a:r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A44ED82C-EB05-4029-EFD0-1BBD50DFFC2C}"/>
              </a:ext>
            </a:extLst>
          </p:cNvPr>
          <p:cNvCxnSpPr/>
          <p:nvPr/>
        </p:nvCxnSpPr>
        <p:spPr>
          <a:xfrm>
            <a:off x="9246408" y="878289"/>
            <a:ext cx="0" cy="51980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F0EF3908-0174-7BB8-CE68-BCF37C61D07E}"/>
              </a:ext>
            </a:extLst>
          </p:cNvPr>
          <p:cNvCxnSpPr/>
          <p:nvPr/>
        </p:nvCxnSpPr>
        <p:spPr>
          <a:xfrm>
            <a:off x="11645795" y="878289"/>
            <a:ext cx="0" cy="51980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18AB7A9-0FFE-BCCB-FD11-6BF70FCE4B9F}"/>
              </a:ext>
            </a:extLst>
          </p:cNvPr>
          <p:cNvSpPr/>
          <p:nvPr/>
        </p:nvSpPr>
        <p:spPr>
          <a:xfrm>
            <a:off x="9256299" y="1749474"/>
            <a:ext cx="2396971" cy="368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Prev. RBX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0223D4-3495-1F87-14BA-E85D47195D3D}"/>
              </a:ext>
            </a:extLst>
          </p:cNvPr>
          <p:cNvSpPr txBox="1"/>
          <p:nvPr/>
        </p:nvSpPr>
        <p:spPr>
          <a:xfrm>
            <a:off x="838200" y="5831026"/>
            <a:ext cx="6153444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b="1" dirty="0"/>
              <a:t>Мера защиты: функции с проверкой границ буфера - </a:t>
            </a:r>
            <a:r>
              <a:rPr lang="en-US" sz="2000" b="1" dirty="0" err="1"/>
              <a:t>fgets</a:t>
            </a:r>
            <a:r>
              <a:rPr lang="en-US" sz="2000" b="1" dirty="0"/>
              <a:t>, </a:t>
            </a:r>
            <a:r>
              <a:rPr lang="en-US" sz="2000" b="1" dirty="0" err="1"/>
              <a:t>scanf_s</a:t>
            </a:r>
            <a:r>
              <a:rPr lang="en-US" sz="2000" b="1" dirty="0"/>
              <a:t> </a:t>
            </a:r>
            <a:r>
              <a:rPr lang="ru-RU" sz="2000" b="1" dirty="0"/>
              <a:t>и пр.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633374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6F7AD4-483E-74D2-0A86-D3C0542A1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Возможные цели переполнения буфера на стеке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B306DB-8244-1C1D-AC16-13D652FA5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337"/>
            <a:ext cx="5860473" cy="4351338"/>
          </a:xfrm>
        </p:spPr>
        <p:txBody>
          <a:bodyPr>
            <a:normAutofit/>
          </a:bodyPr>
          <a:lstStyle/>
          <a:p>
            <a:r>
              <a:rPr lang="ru-RU" sz="2000" b="1" dirty="0"/>
              <a:t>Локальные переменные</a:t>
            </a:r>
            <a:r>
              <a:rPr lang="ru-RU" sz="2000" dirty="0"/>
              <a:t>:  перезапись позволяет изменить ход работы текущей функции;</a:t>
            </a:r>
          </a:p>
          <a:p>
            <a:r>
              <a:rPr lang="ru-RU" sz="2000" b="1" dirty="0"/>
              <a:t>Копии регистров на стеке</a:t>
            </a:r>
            <a:r>
              <a:rPr lang="ru-RU" sz="2000" dirty="0"/>
              <a:t>: чаще всего хранят некоторые переменные из вызывающей функции </a:t>
            </a:r>
            <a:r>
              <a:rPr lang="en-US" sz="2000" dirty="0"/>
              <a:t>=&gt; </a:t>
            </a:r>
            <a:r>
              <a:rPr lang="ru-RU" sz="2000" dirty="0"/>
              <a:t>перезапись может изменить ход работы вызывающей функции;</a:t>
            </a:r>
          </a:p>
          <a:p>
            <a:r>
              <a:rPr lang="ru-RU" sz="2000" b="1" dirty="0"/>
              <a:t>Адрес возврата.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A00B544-19A8-130A-3FD3-A9E89E89E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E9E2ADA9-D605-9EE0-74CF-F2A1659EB76B}"/>
              </a:ext>
            </a:extLst>
          </p:cNvPr>
          <p:cNvSpPr/>
          <p:nvPr/>
        </p:nvSpPr>
        <p:spPr>
          <a:xfrm>
            <a:off x="9251354" y="1386601"/>
            <a:ext cx="2396971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3339B30A-CF49-35D7-C921-D3E784F7CF22}"/>
              </a:ext>
            </a:extLst>
          </p:cNvPr>
          <p:cNvCxnSpPr>
            <a:cxnSpLocks/>
          </p:cNvCxnSpPr>
          <p:nvPr/>
        </p:nvCxnSpPr>
        <p:spPr>
          <a:xfrm>
            <a:off x="8355822" y="4459636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1C409FC-734E-DC0C-96DE-7AFA8D6BDC25}"/>
              </a:ext>
            </a:extLst>
          </p:cNvPr>
          <p:cNvSpPr txBox="1"/>
          <p:nvPr/>
        </p:nvSpPr>
        <p:spPr>
          <a:xfrm>
            <a:off x="8245178" y="4105874"/>
            <a:ext cx="66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RSP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B9448A2C-FBF8-E518-153B-79D335CD70CB}"/>
              </a:ext>
            </a:extLst>
          </p:cNvPr>
          <p:cNvSpPr/>
          <p:nvPr/>
        </p:nvSpPr>
        <p:spPr>
          <a:xfrm>
            <a:off x="9251354" y="1386601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address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E20C141-39B2-3B30-2A68-DBBDA4EDBBA7}"/>
              </a:ext>
            </a:extLst>
          </p:cNvPr>
          <p:cNvSpPr/>
          <p:nvPr/>
        </p:nvSpPr>
        <p:spPr>
          <a:xfrm>
            <a:off x="9251352" y="2486737"/>
            <a:ext cx="2396971" cy="36841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var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0FE88464-08ED-906F-1D70-944F352EFCD8}"/>
              </a:ext>
            </a:extLst>
          </p:cNvPr>
          <p:cNvSpPr/>
          <p:nvPr/>
        </p:nvSpPr>
        <p:spPr>
          <a:xfrm>
            <a:off x="9251352" y="2843328"/>
            <a:ext cx="2396971" cy="16163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buffer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0AC0DAD5-E59F-30AC-9457-61BA01D5D6C4}"/>
              </a:ext>
            </a:extLst>
          </p:cNvPr>
          <p:cNvSpPr/>
          <p:nvPr/>
        </p:nvSpPr>
        <p:spPr>
          <a:xfrm>
            <a:off x="9251353" y="2118318"/>
            <a:ext cx="2396971" cy="368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Prev. RBP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508226-B6CC-7F7A-C9F8-C6EB978D1B77}"/>
              </a:ext>
            </a:extLst>
          </p:cNvPr>
          <p:cNvSpPr txBox="1"/>
          <p:nvPr/>
        </p:nvSpPr>
        <p:spPr>
          <a:xfrm>
            <a:off x="8003896" y="1087826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/>
              <a:t>0</a:t>
            </a:r>
            <a:r>
              <a:rPr lang="en-US"/>
              <a:t>xFFFFFFFF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67080D-AE03-9100-1098-6127C4E50BD5}"/>
              </a:ext>
            </a:extLst>
          </p:cNvPr>
          <p:cNvSpPr txBox="1"/>
          <p:nvPr/>
        </p:nvSpPr>
        <p:spPr>
          <a:xfrm>
            <a:off x="8031146" y="5630409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  <a:r>
              <a:rPr lang="en-US" dirty="0"/>
              <a:t>x0000000</a:t>
            </a:r>
          </a:p>
        </p:txBody>
      </p: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A8D399AC-D031-172A-BEA6-77506B8C6854}"/>
              </a:ext>
            </a:extLst>
          </p:cNvPr>
          <p:cNvCxnSpPr/>
          <p:nvPr/>
        </p:nvCxnSpPr>
        <p:spPr>
          <a:xfrm>
            <a:off x="9246408" y="878289"/>
            <a:ext cx="0" cy="51980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59873AE5-AF38-FD1F-D319-869BC0FB4F8D}"/>
              </a:ext>
            </a:extLst>
          </p:cNvPr>
          <p:cNvCxnSpPr/>
          <p:nvPr/>
        </p:nvCxnSpPr>
        <p:spPr>
          <a:xfrm>
            <a:off x="11645795" y="878289"/>
            <a:ext cx="0" cy="51980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9C021AA6-3093-C5E3-253B-BF2C4BBB55D7}"/>
              </a:ext>
            </a:extLst>
          </p:cNvPr>
          <p:cNvSpPr/>
          <p:nvPr/>
        </p:nvSpPr>
        <p:spPr>
          <a:xfrm>
            <a:off x="9251219" y="1749474"/>
            <a:ext cx="2396971" cy="368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Prev. RBX</a:t>
            </a:r>
          </a:p>
        </p:txBody>
      </p:sp>
    </p:spTree>
    <p:extLst>
      <p:ext uri="{BB962C8B-B14F-4D97-AF65-F5344CB8AC3E}">
        <p14:creationId xmlns:p14="http://schemas.microsoft.com/office/powerpoint/2010/main" val="3852536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Изменение адреса возврата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12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0B0750-7BB9-4343-8160-96F7FD7FC8F3}"/>
              </a:ext>
            </a:extLst>
          </p:cNvPr>
          <p:cNvSpPr txBox="1"/>
          <p:nvPr/>
        </p:nvSpPr>
        <p:spPr>
          <a:xfrm>
            <a:off x="1450759" y="1690688"/>
            <a:ext cx="520009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pass_check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char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buffer[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64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buffer);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strcmp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(buffer,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"PASSWORD"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bool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ok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pass_check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(!ok)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  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-1;</a:t>
            </a: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  /*ACCESS DATA*/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5D76405B-0734-4BB2-A082-9074E54A96B2}"/>
              </a:ext>
            </a:extLst>
          </p:cNvPr>
          <p:cNvSpPr/>
          <p:nvPr/>
        </p:nvSpPr>
        <p:spPr>
          <a:xfrm>
            <a:off x="8933992" y="1690688"/>
            <a:ext cx="2396971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D5C62F9-909D-4916-957F-63A30D5D300B}"/>
              </a:ext>
            </a:extLst>
          </p:cNvPr>
          <p:cNvSpPr/>
          <p:nvPr/>
        </p:nvSpPr>
        <p:spPr>
          <a:xfrm>
            <a:off x="8933992" y="1690688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0xAA </a:t>
            </a:r>
            <a:r>
              <a:rPr lang="en-US" dirty="0" err="1"/>
              <a:t>0xAA</a:t>
            </a:r>
            <a:r>
              <a:rPr lang="en-US" dirty="0"/>
              <a:t> 0xFF </a:t>
            </a:r>
            <a:r>
              <a:rPr lang="en-US" dirty="0" err="1"/>
              <a:t>0xFF</a:t>
            </a:r>
            <a:endParaRPr lang="en-US" dirty="0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84F6E574-E2B6-43D1-B183-CA4FB6849BA8}"/>
              </a:ext>
            </a:extLst>
          </p:cNvPr>
          <p:cNvSpPr/>
          <p:nvPr/>
        </p:nvSpPr>
        <p:spPr>
          <a:xfrm>
            <a:off x="8933990" y="2434166"/>
            <a:ext cx="2396971" cy="16163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buffer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70B3123D-5735-442F-B9A1-31A01D216F3D}"/>
              </a:ext>
            </a:extLst>
          </p:cNvPr>
          <p:cNvSpPr/>
          <p:nvPr/>
        </p:nvSpPr>
        <p:spPr>
          <a:xfrm>
            <a:off x="8933991" y="2062184"/>
            <a:ext cx="2396971" cy="368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Prev. RBP</a:t>
            </a:r>
          </a:p>
        </p:txBody>
      </p:sp>
      <p:cxnSp>
        <p:nvCxnSpPr>
          <p:cNvPr id="6" name="Соединитель: уступ 5">
            <a:extLst>
              <a:ext uri="{FF2B5EF4-FFF2-40B4-BE49-F238E27FC236}">
                <a16:creationId xmlns:a16="http://schemas.microsoft.com/office/drawing/2014/main" id="{BA7F9554-6973-4AE8-9DEF-3B34968E7F91}"/>
              </a:ext>
            </a:extLst>
          </p:cNvPr>
          <p:cNvCxnSpPr>
            <a:stCxn id="37" idx="1"/>
          </p:cNvCxnSpPr>
          <p:nvPr/>
        </p:nvCxnSpPr>
        <p:spPr>
          <a:xfrm rot="10800000" flipV="1">
            <a:off x="3220278" y="1874898"/>
            <a:ext cx="5713714" cy="2194720"/>
          </a:xfrm>
          <a:prstGeom prst="bentConnector3">
            <a:avLst>
              <a:gd name="adj1" fmla="val 3451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765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Изменение адреса возврата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13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0B0750-7BB9-4343-8160-96F7FD7FC8F3}"/>
              </a:ext>
            </a:extLst>
          </p:cNvPr>
          <p:cNvSpPr txBox="1"/>
          <p:nvPr/>
        </p:nvSpPr>
        <p:spPr>
          <a:xfrm>
            <a:off x="1450759" y="1690688"/>
            <a:ext cx="520009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pass_check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char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buffer[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64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buffer);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strcmp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(buffer,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"PASSWORD"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bool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ok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pass_check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(!ok)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  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-1;</a:t>
            </a: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  /*ACCESS DATA*/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5D76405B-0734-4BB2-A082-9074E54A96B2}"/>
              </a:ext>
            </a:extLst>
          </p:cNvPr>
          <p:cNvSpPr/>
          <p:nvPr/>
        </p:nvSpPr>
        <p:spPr>
          <a:xfrm>
            <a:off x="8933992" y="1690688"/>
            <a:ext cx="2396971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D5C62F9-909D-4916-957F-63A30D5D300B}"/>
              </a:ext>
            </a:extLst>
          </p:cNvPr>
          <p:cNvSpPr/>
          <p:nvPr/>
        </p:nvSpPr>
        <p:spPr>
          <a:xfrm>
            <a:off x="8933992" y="1690688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0xBB 0xAA 0xFF </a:t>
            </a:r>
            <a:r>
              <a:rPr lang="en-US" dirty="0" err="1"/>
              <a:t>0xFF</a:t>
            </a:r>
            <a:endParaRPr lang="en-US" dirty="0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84F6E574-E2B6-43D1-B183-CA4FB6849BA8}"/>
              </a:ext>
            </a:extLst>
          </p:cNvPr>
          <p:cNvSpPr/>
          <p:nvPr/>
        </p:nvSpPr>
        <p:spPr>
          <a:xfrm>
            <a:off x="8933990" y="2424835"/>
            <a:ext cx="2396971" cy="16163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0x31 </a:t>
            </a:r>
            <a:r>
              <a:rPr lang="en-US" dirty="0" err="1">
                <a:solidFill>
                  <a:schemeClr val="bg1"/>
                </a:solidFill>
              </a:rPr>
              <a:t>0x31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0x31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0x31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err="1">
                <a:solidFill>
                  <a:schemeClr val="bg1"/>
                </a:solidFill>
              </a:rPr>
              <a:t>0x31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0x31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0x31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0x31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0x31 </a:t>
            </a:r>
            <a:r>
              <a:rPr lang="en-US" dirty="0" err="1">
                <a:solidFill>
                  <a:schemeClr val="bg1"/>
                </a:solidFill>
              </a:rPr>
              <a:t>0x31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0x31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0x31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0x31 </a:t>
            </a:r>
            <a:r>
              <a:rPr lang="en-US" dirty="0" err="1">
                <a:solidFill>
                  <a:schemeClr val="bg1"/>
                </a:solidFill>
              </a:rPr>
              <a:t>0x31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0x31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0x31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70B3123D-5735-442F-B9A1-31A01D216F3D}"/>
              </a:ext>
            </a:extLst>
          </p:cNvPr>
          <p:cNvSpPr/>
          <p:nvPr/>
        </p:nvSpPr>
        <p:spPr>
          <a:xfrm>
            <a:off x="8933991" y="2062184"/>
            <a:ext cx="2396971" cy="368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0x31 </a:t>
            </a:r>
            <a:r>
              <a:rPr lang="en-US" dirty="0" err="1">
                <a:solidFill>
                  <a:schemeClr val="bg1"/>
                </a:solidFill>
              </a:rPr>
              <a:t>0x31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0x31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0x31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6" name="Соединитель: уступ 5">
            <a:extLst>
              <a:ext uri="{FF2B5EF4-FFF2-40B4-BE49-F238E27FC236}">
                <a16:creationId xmlns:a16="http://schemas.microsoft.com/office/drawing/2014/main" id="{BA7F9554-6973-4AE8-9DEF-3B34968E7F91}"/>
              </a:ext>
            </a:extLst>
          </p:cNvPr>
          <p:cNvCxnSpPr>
            <a:cxnSpLocks/>
            <a:stCxn id="37" idx="1"/>
          </p:cNvCxnSpPr>
          <p:nvPr/>
        </p:nvCxnSpPr>
        <p:spPr>
          <a:xfrm rot="10800000" flipV="1">
            <a:off x="3916018" y="1874897"/>
            <a:ext cx="5017975" cy="2756737"/>
          </a:xfrm>
          <a:prstGeom prst="bentConnector3">
            <a:avLst>
              <a:gd name="adj1" fmla="val 36136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274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Исполнение произвольного кода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14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0B0750-7BB9-4343-8160-96F7FD7FC8F3}"/>
              </a:ext>
            </a:extLst>
          </p:cNvPr>
          <p:cNvSpPr txBox="1"/>
          <p:nvPr/>
        </p:nvSpPr>
        <p:spPr>
          <a:xfrm>
            <a:off x="1450759" y="1690688"/>
            <a:ext cx="520009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pass_check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char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buffer[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64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buffer);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strcmp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(buffer,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"PASSWORD"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bool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ok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pass_check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(!ok)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  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-1;</a:t>
            </a: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  /*ACCESS DATA*/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5D76405B-0734-4BB2-A082-9074E54A96B2}"/>
              </a:ext>
            </a:extLst>
          </p:cNvPr>
          <p:cNvSpPr/>
          <p:nvPr/>
        </p:nvSpPr>
        <p:spPr>
          <a:xfrm>
            <a:off x="8933992" y="1690688"/>
            <a:ext cx="2396971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D5C62F9-909D-4916-957F-63A30D5D300B}"/>
              </a:ext>
            </a:extLst>
          </p:cNvPr>
          <p:cNvSpPr/>
          <p:nvPr/>
        </p:nvSpPr>
        <p:spPr>
          <a:xfrm>
            <a:off x="8933992" y="1690688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0xAA </a:t>
            </a:r>
            <a:r>
              <a:rPr lang="en-US" dirty="0" err="1"/>
              <a:t>0xAA</a:t>
            </a:r>
            <a:r>
              <a:rPr lang="en-US" dirty="0"/>
              <a:t> 0xFF </a:t>
            </a:r>
            <a:r>
              <a:rPr lang="en-US" dirty="0" err="1"/>
              <a:t>0xFF</a:t>
            </a:r>
            <a:endParaRPr lang="en-US" dirty="0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84F6E574-E2B6-43D1-B183-CA4FB6849BA8}"/>
              </a:ext>
            </a:extLst>
          </p:cNvPr>
          <p:cNvSpPr/>
          <p:nvPr/>
        </p:nvSpPr>
        <p:spPr>
          <a:xfrm>
            <a:off x="8933990" y="2434166"/>
            <a:ext cx="2396971" cy="16163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buffer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70B3123D-5735-442F-B9A1-31A01D216F3D}"/>
              </a:ext>
            </a:extLst>
          </p:cNvPr>
          <p:cNvSpPr/>
          <p:nvPr/>
        </p:nvSpPr>
        <p:spPr>
          <a:xfrm>
            <a:off x="8933991" y="2062184"/>
            <a:ext cx="2396971" cy="368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Prev. RBP</a:t>
            </a:r>
          </a:p>
        </p:txBody>
      </p:sp>
      <p:cxnSp>
        <p:nvCxnSpPr>
          <p:cNvPr id="6" name="Соединитель: уступ 5">
            <a:extLst>
              <a:ext uri="{FF2B5EF4-FFF2-40B4-BE49-F238E27FC236}">
                <a16:creationId xmlns:a16="http://schemas.microsoft.com/office/drawing/2014/main" id="{BA7F9554-6973-4AE8-9DEF-3B34968E7F91}"/>
              </a:ext>
            </a:extLst>
          </p:cNvPr>
          <p:cNvCxnSpPr>
            <a:stCxn id="37" idx="1"/>
          </p:cNvCxnSpPr>
          <p:nvPr/>
        </p:nvCxnSpPr>
        <p:spPr>
          <a:xfrm rot="10800000" flipV="1">
            <a:off x="3220278" y="1874898"/>
            <a:ext cx="5713714" cy="2194720"/>
          </a:xfrm>
          <a:prstGeom prst="bentConnector3">
            <a:avLst>
              <a:gd name="adj1" fmla="val 4360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6009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Исполнение произвольного кода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DAD82A-F68E-4700-878A-DB0AF8DCD17F}"/>
              </a:ext>
            </a:extLst>
          </p:cNvPr>
          <p:cNvSpPr txBox="1"/>
          <p:nvPr/>
        </p:nvSpPr>
        <p:spPr>
          <a:xfrm>
            <a:off x="5402885" y="1997839"/>
            <a:ext cx="43117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31 c0</a:t>
            </a:r>
            <a:b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48 bb 2f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2f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62 69 6e 2f 73 68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48 c1 eb 08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53                                      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48 89 e7 </a:t>
            </a:r>
            <a:b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50                                       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57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48 89 e6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b0 3b</a:t>
            </a:r>
            <a:b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0f 05                                    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B850EC-9085-427B-B242-22D6C669E84C}"/>
              </a:ext>
            </a:extLst>
          </p:cNvPr>
          <p:cNvSpPr txBox="1"/>
          <p:nvPr/>
        </p:nvSpPr>
        <p:spPr>
          <a:xfrm>
            <a:off x="838200" y="1997839"/>
            <a:ext cx="450812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'//bin/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8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rdi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    al, 0x3b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796CC0-2198-49F0-932B-CDCC33C46AFB}"/>
              </a:ext>
            </a:extLst>
          </p:cNvPr>
          <p:cNvSpPr txBox="1"/>
          <p:nvPr/>
        </p:nvSpPr>
        <p:spPr>
          <a:xfrm>
            <a:off x="5561991" y="5423589"/>
            <a:ext cx="6097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1ÀH»//bin/</a:t>
            </a:r>
            <a:r>
              <a:rPr lang="en-US" dirty="0" err="1"/>
              <a:t>shHÁëSHçPWHæ</a:t>
            </a:r>
            <a:r>
              <a:rPr lang="en-US" dirty="0"/>
              <a:t>°;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9295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Исполнение произвольного кода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16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0B0750-7BB9-4343-8160-96F7FD7FC8F3}"/>
              </a:ext>
            </a:extLst>
          </p:cNvPr>
          <p:cNvSpPr txBox="1"/>
          <p:nvPr/>
        </p:nvSpPr>
        <p:spPr>
          <a:xfrm>
            <a:off x="1450759" y="1690688"/>
            <a:ext cx="520009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pass_check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char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buffer[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64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buffer);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strcmp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(buffer,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"PASSWORD"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bool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ok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pass_check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(!ok)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  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-1;</a:t>
            </a: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  /*ACCESS DATA*/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172EA59-07F0-4698-85C7-E2888768C92A}"/>
              </a:ext>
            </a:extLst>
          </p:cNvPr>
          <p:cNvSpPr/>
          <p:nvPr/>
        </p:nvSpPr>
        <p:spPr>
          <a:xfrm>
            <a:off x="8933992" y="1690688"/>
            <a:ext cx="2396971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CF9A113-E985-4EDE-9FDB-D4DF555AF2D9}"/>
              </a:ext>
            </a:extLst>
          </p:cNvPr>
          <p:cNvSpPr/>
          <p:nvPr/>
        </p:nvSpPr>
        <p:spPr>
          <a:xfrm>
            <a:off x="8933992" y="1684917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0xAA </a:t>
            </a:r>
            <a:r>
              <a:rPr lang="en-US" dirty="0" err="1">
                <a:solidFill>
                  <a:schemeClr val="tx1"/>
                </a:solidFill>
              </a:rPr>
              <a:t>0xAA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0xAA</a:t>
            </a:r>
            <a:r>
              <a:rPr lang="en-US" dirty="0">
                <a:solidFill>
                  <a:schemeClr val="tx1"/>
                </a:solidFill>
              </a:rPr>
              <a:t> 0xFF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464D8D9-DD02-4B6D-8580-A77F93885ED3}"/>
              </a:ext>
            </a:extLst>
          </p:cNvPr>
          <p:cNvSpPr/>
          <p:nvPr/>
        </p:nvSpPr>
        <p:spPr>
          <a:xfrm>
            <a:off x="8933992" y="2434647"/>
            <a:ext cx="2396971" cy="16163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1ÀH»//bin/</a:t>
            </a:r>
            <a:r>
              <a:rPr lang="en-US" dirty="0" err="1">
                <a:solidFill>
                  <a:schemeClr val="tx1"/>
                </a:solidFill>
              </a:rPr>
              <a:t>shHÁëSHçPWHæ</a:t>
            </a:r>
            <a:r>
              <a:rPr lang="en-US" dirty="0">
                <a:solidFill>
                  <a:schemeClr val="tx1"/>
                </a:solidFill>
              </a:rPr>
              <a:t>°;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4D0883D-4C1A-4C47-9957-EF2CD1186BD0}"/>
              </a:ext>
            </a:extLst>
          </p:cNvPr>
          <p:cNvSpPr/>
          <p:nvPr/>
        </p:nvSpPr>
        <p:spPr>
          <a:xfrm>
            <a:off x="8933992" y="2061077"/>
            <a:ext cx="2396971" cy="368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0x31 </a:t>
            </a:r>
            <a:r>
              <a:rPr lang="en-US" dirty="0" err="1">
                <a:solidFill>
                  <a:schemeClr val="tx1"/>
                </a:solidFill>
              </a:rPr>
              <a:t>0x31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0x31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0x31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Соединитель: уступ 5">
            <a:extLst>
              <a:ext uri="{FF2B5EF4-FFF2-40B4-BE49-F238E27FC236}">
                <a16:creationId xmlns:a16="http://schemas.microsoft.com/office/drawing/2014/main" id="{2A3891A3-F752-4DD1-AE25-91741306417C}"/>
              </a:ext>
            </a:extLst>
          </p:cNvPr>
          <p:cNvCxnSpPr>
            <a:cxnSpLocks/>
            <a:stCxn id="17" idx="1"/>
          </p:cNvCxnSpPr>
          <p:nvPr/>
        </p:nvCxnSpPr>
        <p:spPr>
          <a:xfrm rot="10800000" flipH="1" flipV="1">
            <a:off x="8933992" y="1869127"/>
            <a:ext cx="12700" cy="2181828"/>
          </a:xfrm>
          <a:prstGeom prst="bentConnector4">
            <a:avLst>
              <a:gd name="adj1" fmla="val -1800000"/>
              <a:gd name="adj2" fmla="val 99980"/>
            </a:avLst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A7A9F8C-AE85-4BBB-B4FF-EBF34ECC9A61}"/>
              </a:ext>
            </a:extLst>
          </p:cNvPr>
          <p:cNvCxnSpPr>
            <a:cxnSpLocks/>
          </p:cNvCxnSpPr>
          <p:nvPr/>
        </p:nvCxnSpPr>
        <p:spPr>
          <a:xfrm>
            <a:off x="8031834" y="4069618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EB2C1B1-3BFC-4070-85B8-7513F4E561F1}"/>
              </a:ext>
            </a:extLst>
          </p:cNvPr>
          <p:cNvSpPr txBox="1"/>
          <p:nvPr/>
        </p:nvSpPr>
        <p:spPr>
          <a:xfrm>
            <a:off x="6912189" y="3700426"/>
            <a:ext cx="1861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0xFFAAAAAA</a:t>
            </a:r>
          </a:p>
        </p:txBody>
      </p:sp>
    </p:spTree>
    <p:extLst>
      <p:ext uri="{BB962C8B-B14F-4D97-AF65-F5344CB8AC3E}">
        <p14:creationId xmlns:p14="http://schemas.microsoft.com/office/powerpoint/2010/main" val="792288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608F0-0175-45F0-CDBF-9E985DF0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 аргументах и переменных среды </a:t>
            </a:r>
            <a:r>
              <a:rPr lang="ru-RU" sz="2000" dirty="0"/>
              <a:t>(</a:t>
            </a:r>
            <a:r>
              <a:rPr lang="en-US" sz="2000" dirty="0"/>
              <a:t>Linux</a:t>
            </a:r>
            <a:r>
              <a:rPr lang="ru-RU" sz="2000" dirty="0"/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498A6F-8B04-8B66-8148-C3237111E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189" y="1551585"/>
            <a:ext cx="7728285" cy="4943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ОС на ядре </a:t>
            </a:r>
            <a:r>
              <a:rPr lang="en-US" sz="2000" dirty="0"/>
              <a:t>Linux </a:t>
            </a:r>
            <a:r>
              <a:rPr lang="ru-RU" sz="2000" dirty="0"/>
              <a:t>аргументы и переменные среды располагаются в начальной области стека – </a:t>
            </a:r>
            <a:r>
              <a:rPr lang="ru-RU" sz="2000" i="1" dirty="0"/>
              <a:t>даже если программа их не использует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Как следствие, аргументы программы и переменные среды могут использоваться, как вспомогательный канал ввода информации, которая используется при успешной эксплуатации других уязвимостей. Например, если буфер слишком мал для шелл-кода, его можно ввести с помощью аргументов программы.</a:t>
            </a:r>
          </a:p>
          <a:p>
            <a:pPr marL="0" indent="0">
              <a:buNone/>
            </a:pPr>
            <a:r>
              <a:rPr lang="ru-RU" sz="2000" dirty="0"/>
              <a:t>Аргументы удобны тем, что позволяют передавать в программу нулевые байты (пустая строка в качестве аргумента = байт 0). При обычном текстовом вводе-выводе передать в программу последовательность нулевых байтов не всегда возможно, что порождает проблему (например, если вводимый адрес содержит 0, что почти всегда верно для х86-64).</a:t>
            </a:r>
          </a:p>
          <a:p>
            <a:pPr marL="0" indent="0">
              <a:buNone/>
            </a:pPr>
            <a:r>
              <a:rPr lang="ru-RU" sz="2000" dirty="0"/>
              <a:t>Обратной стороной такого подхода является смещение адресов элементов стека при изменении аргументов/переменных среды, что неудобно для атакующего.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1A847E-7434-C7B9-D165-900E85A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Прямоугольник 5">
            <a:extLst>
              <a:ext uri="{FF2B5EF4-FFF2-40B4-BE49-F238E27FC236}">
                <a16:creationId xmlns:a16="http://schemas.microsoft.com/office/drawing/2014/main" id="{65CECE21-FE46-F79C-67B5-B0A6C80E8E8C}"/>
              </a:ext>
            </a:extLst>
          </p:cNvPr>
          <p:cNvSpPr/>
          <p:nvPr/>
        </p:nvSpPr>
        <p:spPr>
          <a:xfrm>
            <a:off x="9727767" y="3062810"/>
            <a:ext cx="1879782" cy="2881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Прямоугольник 6">
            <a:extLst>
              <a:ext uri="{FF2B5EF4-FFF2-40B4-BE49-F238E27FC236}">
                <a16:creationId xmlns:a16="http://schemas.microsoft.com/office/drawing/2014/main" id="{12651EE2-E3EB-B909-6A7F-05A85BD568BC}"/>
              </a:ext>
            </a:extLst>
          </p:cNvPr>
          <p:cNvSpPr/>
          <p:nvPr/>
        </p:nvSpPr>
        <p:spPr>
          <a:xfrm>
            <a:off x="9727766" y="3060581"/>
            <a:ext cx="1879782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/bin/</a:t>
            </a:r>
            <a:r>
              <a:rPr lang="en-US" dirty="0" err="1">
                <a:solidFill>
                  <a:schemeClr val="tx1"/>
                </a:solidFill>
              </a:rPr>
              <a:t>sh</a:t>
            </a:r>
            <a:r>
              <a:rPr lang="en-US" dirty="0">
                <a:solidFill>
                  <a:srgbClr val="0000FF"/>
                </a:solidFill>
              </a:rPr>
              <a:t>\0</a:t>
            </a:r>
          </a:p>
        </p:txBody>
      </p:sp>
      <p:sp>
        <p:nvSpPr>
          <p:cNvPr id="7" name="Прямоугольник 7">
            <a:extLst>
              <a:ext uri="{FF2B5EF4-FFF2-40B4-BE49-F238E27FC236}">
                <a16:creationId xmlns:a16="http://schemas.microsoft.com/office/drawing/2014/main" id="{1C58363A-C5A0-E19B-C369-8C03BE7BD8F2}"/>
              </a:ext>
            </a:extLst>
          </p:cNvPr>
          <p:cNvSpPr/>
          <p:nvPr/>
        </p:nvSpPr>
        <p:spPr>
          <a:xfrm>
            <a:off x="9727766" y="3436741"/>
            <a:ext cx="1879782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arg1</a:t>
            </a:r>
            <a:r>
              <a:rPr lang="en-US" dirty="0">
                <a:solidFill>
                  <a:srgbClr val="0000FF"/>
                </a:solidFill>
              </a:rPr>
              <a:t>\0</a:t>
            </a:r>
            <a:r>
              <a:rPr lang="en-US" dirty="0">
                <a:solidFill>
                  <a:schemeClr val="tx1"/>
                </a:solidFill>
              </a:rPr>
              <a:t>arg2</a:t>
            </a:r>
            <a:r>
              <a:rPr lang="en-US" dirty="0">
                <a:solidFill>
                  <a:srgbClr val="0000FF"/>
                </a:solidFill>
              </a:rPr>
              <a:t>\0</a:t>
            </a:r>
          </a:p>
        </p:txBody>
      </p:sp>
      <p:sp>
        <p:nvSpPr>
          <p:cNvPr id="8" name="Прямоугольник 8">
            <a:extLst>
              <a:ext uri="{FF2B5EF4-FFF2-40B4-BE49-F238E27FC236}">
                <a16:creationId xmlns:a16="http://schemas.microsoft.com/office/drawing/2014/main" id="{D8C20B91-D7F4-B08B-58B5-EA5782258DD8}"/>
              </a:ext>
            </a:extLst>
          </p:cNvPr>
          <p:cNvSpPr/>
          <p:nvPr/>
        </p:nvSpPr>
        <p:spPr>
          <a:xfrm>
            <a:off x="9727765" y="3812901"/>
            <a:ext cx="1879782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ENV=foo</a:t>
            </a:r>
            <a:r>
              <a:rPr lang="en-US" dirty="0">
                <a:solidFill>
                  <a:srgbClr val="0000FF"/>
                </a:solidFill>
              </a:rPr>
              <a:t>\0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91D48C8-CFCC-8EB7-8CC2-85568ED0C5DC}"/>
              </a:ext>
            </a:extLst>
          </p:cNvPr>
          <p:cNvSpPr/>
          <p:nvPr/>
        </p:nvSpPr>
        <p:spPr>
          <a:xfrm>
            <a:off x="9727766" y="4732024"/>
            <a:ext cx="1879781" cy="107361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15FFCA-3142-6B49-93F3-9D58EF3DD033}"/>
              </a:ext>
            </a:extLst>
          </p:cNvPr>
          <p:cNvSpPr txBox="1"/>
          <p:nvPr/>
        </p:nvSpPr>
        <p:spPr>
          <a:xfrm>
            <a:off x="9099301" y="1991954"/>
            <a:ext cx="2820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ENV=foo  /bin/</a:t>
            </a:r>
            <a:r>
              <a:rPr lang="en-US" i="1" dirty="0" err="1"/>
              <a:t>sh</a:t>
            </a:r>
            <a:r>
              <a:rPr lang="en-US" i="1" dirty="0"/>
              <a:t> arg1 arg2</a:t>
            </a:r>
            <a:endParaRPr lang="ru-RU" i="1" dirty="0"/>
          </a:p>
        </p:txBody>
      </p:sp>
      <p:cxnSp>
        <p:nvCxnSpPr>
          <p:cNvPr id="14" name="Прямая со стрелкой 29">
            <a:extLst>
              <a:ext uri="{FF2B5EF4-FFF2-40B4-BE49-F238E27FC236}">
                <a16:creationId xmlns:a16="http://schemas.microsoft.com/office/drawing/2014/main" id="{576F1358-996E-DBCB-470F-49721A60DB76}"/>
              </a:ext>
            </a:extLst>
          </p:cNvPr>
          <p:cNvCxnSpPr>
            <a:cxnSpLocks/>
          </p:cNvCxnSpPr>
          <p:nvPr/>
        </p:nvCxnSpPr>
        <p:spPr>
          <a:xfrm>
            <a:off x="8837481" y="5805644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199B09B-3C02-52D5-6BFD-1105658F16A8}"/>
              </a:ext>
            </a:extLst>
          </p:cNvPr>
          <p:cNvSpPr txBox="1"/>
          <p:nvPr/>
        </p:nvSpPr>
        <p:spPr>
          <a:xfrm>
            <a:off x="8731531" y="5438071"/>
            <a:ext cx="66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RSP</a:t>
            </a:r>
          </a:p>
        </p:txBody>
      </p:sp>
      <p:sp>
        <p:nvSpPr>
          <p:cNvPr id="16" name="Прямоугольник 8">
            <a:extLst>
              <a:ext uri="{FF2B5EF4-FFF2-40B4-BE49-F238E27FC236}">
                <a16:creationId xmlns:a16="http://schemas.microsoft.com/office/drawing/2014/main" id="{7D8A87F4-7DD0-DD05-A9DA-A70AE997963D}"/>
              </a:ext>
            </a:extLst>
          </p:cNvPr>
          <p:cNvSpPr/>
          <p:nvPr/>
        </p:nvSpPr>
        <p:spPr>
          <a:xfrm>
            <a:off x="9727765" y="4189061"/>
            <a:ext cx="1879782" cy="5429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др. переменные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19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Защита от выполнения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18</a:t>
            </a:fld>
            <a:endParaRPr lang="en-US" dirty="0"/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BFA1C83E-1D14-405D-838A-CA36A32BE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314440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современных процессорах возможно запрещать исполнение кода в определённых сегментах памяти.</a:t>
            </a:r>
          </a:p>
          <a:p>
            <a:pPr marL="0" indent="0">
              <a:buNone/>
            </a:pPr>
            <a:r>
              <a:rPr lang="ru-RU" sz="2000" dirty="0"/>
              <a:t>При попытке исполнения кода внутри сегментов </a:t>
            </a:r>
            <a:r>
              <a:rPr lang="en-US" sz="2000" dirty="0"/>
              <a:t>.data, .</a:t>
            </a:r>
            <a:r>
              <a:rPr lang="en-US" sz="2000" dirty="0" err="1"/>
              <a:t>rodata</a:t>
            </a:r>
            <a:r>
              <a:rPr lang="ru-RU" sz="2000" dirty="0"/>
              <a:t>, </a:t>
            </a:r>
            <a:r>
              <a:rPr lang="en-US" sz="2000" dirty="0"/>
              <a:t>.</a:t>
            </a:r>
            <a:r>
              <a:rPr lang="en-US" sz="2000" dirty="0" err="1"/>
              <a:t>bss</a:t>
            </a:r>
            <a:r>
              <a:rPr lang="en-US" sz="2000" dirty="0"/>
              <a:t>, </a:t>
            </a:r>
            <a:r>
              <a:rPr lang="ru-RU" sz="2000" dirty="0"/>
              <a:t>стека или кучи</a:t>
            </a:r>
            <a:r>
              <a:rPr lang="en-US" sz="2000" dirty="0"/>
              <a:t> </a:t>
            </a:r>
            <a:r>
              <a:rPr lang="ru-RU" sz="2000" dirty="0"/>
              <a:t>будет сгенерировано аппаратное исключение и </a:t>
            </a:r>
            <a:r>
              <a:rPr lang="ru-RU" sz="2000" i="1" dirty="0"/>
              <a:t>программа завершится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Примечание: можно сделать стек исполняемым – но пользователь должен явно запросить это при сборке программы.</a:t>
            </a:r>
            <a:br>
              <a:rPr lang="ru-RU" sz="2000" dirty="0"/>
            </a:br>
            <a:endParaRPr lang="en-US" sz="2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093F97A-DDB2-4FAE-BA6D-65B458A299BC}"/>
              </a:ext>
            </a:extLst>
          </p:cNvPr>
          <p:cNvSpPr/>
          <p:nvPr/>
        </p:nvSpPr>
        <p:spPr>
          <a:xfrm>
            <a:off x="8933992" y="1690688"/>
            <a:ext cx="2396971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99604AA-3FCC-4188-BE64-2E99EB6D91BD}"/>
              </a:ext>
            </a:extLst>
          </p:cNvPr>
          <p:cNvSpPr/>
          <p:nvPr/>
        </p:nvSpPr>
        <p:spPr>
          <a:xfrm>
            <a:off x="8933992" y="1684917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new return address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3121384-1C22-4666-8464-F7633FC544B0}"/>
              </a:ext>
            </a:extLst>
          </p:cNvPr>
          <p:cNvSpPr/>
          <p:nvPr/>
        </p:nvSpPr>
        <p:spPr>
          <a:xfrm>
            <a:off x="8933992" y="2434647"/>
            <a:ext cx="2396971" cy="16163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Your code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FD0483F-B3D3-40C4-B059-2AE2592B10BE}"/>
              </a:ext>
            </a:extLst>
          </p:cNvPr>
          <p:cNvSpPr/>
          <p:nvPr/>
        </p:nvSpPr>
        <p:spPr>
          <a:xfrm>
            <a:off x="8933992" y="2061077"/>
            <a:ext cx="2396971" cy="368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0x31 </a:t>
            </a:r>
            <a:r>
              <a:rPr lang="en-US" dirty="0" err="1">
                <a:solidFill>
                  <a:schemeClr val="tx1"/>
                </a:solidFill>
              </a:rPr>
              <a:t>0x31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0x31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0x31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Соединитель: уступ 9">
            <a:extLst>
              <a:ext uri="{FF2B5EF4-FFF2-40B4-BE49-F238E27FC236}">
                <a16:creationId xmlns:a16="http://schemas.microsoft.com/office/drawing/2014/main" id="{669527EA-435B-4319-9E26-0C671C0B274D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 flipH="1" flipV="1">
            <a:off x="8933992" y="1869127"/>
            <a:ext cx="12700" cy="2181828"/>
          </a:xfrm>
          <a:prstGeom prst="bentConnector4">
            <a:avLst>
              <a:gd name="adj1" fmla="val -1800000"/>
              <a:gd name="adj2" fmla="val 99980"/>
            </a:avLst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Знак умножения 10">
            <a:extLst>
              <a:ext uri="{FF2B5EF4-FFF2-40B4-BE49-F238E27FC236}">
                <a16:creationId xmlns:a16="http://schemas.microsoft.com/office/drawing/2014/main" id="{DEAFE425-CABE-4D81-891E-26348DDBDCF0}"/>
              </a:ext>
            </a:extLst>
          </p:cNvPr>
          <p:cNvSpPr/>
          <p:nvPr/>
        </p:nvSpPr>
        <p:spPr>
          <a:xfrm>
            <a:off x="8375670" y="2617514"/>
            <a:ext cx="656363" cy="40532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73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Oriented Programming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19</a:t>
            </a:fld>
            <a:endParaRPr lang="en-US" dirty="0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64D067C3-B8F6-49ED-B3EE-D56A5636B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328"/>
            <a:ext cx="7530389" cy="52262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При включенном запрете исполнения нельзя просто передать управление на записанный код, но адрес возврата изменять все еще можно. Тогда в исполняемых файлах и загружаемых библиотеках можно найти конструкции следующего вида:</a:t>
            </a:r>
            <a:br>
              <a:rPr lang="ru-RU" sz="2000" dirty="0"/>
            </a:br>
            <a:b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часть нужных инструкций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ru-RU" sz="2000" dirty="0"/>
              <a:t>Таки конструкции называются </a:t>
            </a:r>
            <a:r>
              <a:rPr lang="ru-RU" sz="2000" b="1" dirty="0"/>
              <a:t>гаджетами</a:t>
            </a:r>
            <a:r>
              <a:rPr lang="ru-RU" sz="2000" dirty="0"/>
              <a:t> (</a:t>
            </a:r>
            <a:r>
              <a:rPr lang="en-US" sz="2000" dirty="0"/>
              <a:t>gadgets</a:t>
            </a:r>
            <a:r>
              <a:rPr lang="ru-RU" sz="2000" dirty="0"/>
              <a:t>)</a:t>
            </a:r>
            <a:r>
              <a:rPr lang="en-US" sz="2000" dirty="0"/>
              <a:t>. </a:t>
            </a:r>
            <a:r>
              <a:rPr lang="ru-RU" sz="2000" dirty="0"/>
              <a:t>Если гаджетов достаточно для составления требуемого кода, они могут быть объединены в </a:t>
            </a:r>
            <a:r>
              <a:rPr lang="en-US" sz="2000" b="1" dirty="0"/>
              <a:t>ROP-</a:t>
            </a:r>
            <a:r>
              <a:rPr lang="ru-RU" sz="2000" b="1" dirty="0"/>
              <a:t>цепочку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i="1" dirty="0"/>
              <a:t>Примечание: помимо </a:t>
            </a:r>
            <a:r>
              <a:rPr 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en-US" sz="2000" i="1" dirty="0"/>
              <a:t> </a:t>
            </a:r>
            <a:r>
              <a:rPr lang="ru-RU" sz="2000" i="1" dirty="0"/>
              <a:t>могут использоваться инструкции перехода по вычисляемому аргументу, например </a:t>
            </a:r>
            <a:r>
              <a:rPr lang="en-US" sz="20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jmp</a:t>
            </a:r>
            <a:r>
              <a:rPr 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20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ru-RU" sz="2000" i="1" dirty="0"/>
              <a:t>(</a:t>
            </a:r>
            <a:r>
              <a:rPr lang="en-US" sz="2000" i="1" dirty="0"/>
              <a:t>Jump Oriented Programming</a:t>
            </a:r>
            <a:r>
              <a:rPr lang="ru-RU" sz="2000" i="1" dirty="0"/>
              <a:t>)</a:t>
            </a:r>
            <a:r>
              <a:rPr lang="en-US" sz="2000" i="1" dirty="0"/>
              <a:t> </a:t>
            </a:r>
            <a:r>
              <a:rPr lang="ru-RU" sz="2000" i="1" dirty="0"/>
              <a:t>или</a:t>
            </a:r>
            <a:r>
              <a:rPr 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 call [</a:t>
            </a:r>
            <a:r>
              <a:rPr lang="en-US" sz="20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ru-RU" sz="2000" i="1" dirty="0"/>
              <a:t> </a:t>
            </a:r>
            <a:r>
              <a:rPr lang="en-US" sz="2000" i="1" dirty="0"/>
              <a:t>(Call Oriented Programming) - </a:t>
            </a:r>
            <a:r>
              <a:rPr lang="ru-RU" sz="2000" i="1" dirty="0"/>
              <a:t>в этом случае аргумент должен содержать целевой адрес.</a:t>
            </a:r>
            <a:r>
              <a:rPr lang="en-US" sz="2000" i="1" dirty="0"/>
              <a:t> 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8ADD980-CD53-4DAC-B569-C0B6B9761F72}"/>
              </a:ext>
            </a:extLst>
          </p:cNvPr>
          <p:cNvSpPr/>
          <p:nvPr/>
        </p:nvSpPr>
        <p:spPr>
          <a:xfrm>
            <a:off x="9950090" y="1684474"/>
            <a:ext cx="1879782" cy="2881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B03CDF5-A691-4B26-9E43-84926F8D764C}"/>
              </a:ext>
            </a:extLst>
          </p:cNvPr>
          <p:cNvSpPr/>
          <p:nvPr/>
        </p:nvSpPr>
        <p:spPr>
          <a:xfrm>
            <a:off x="9950090" y="2066333"/>
            <a:ext cx="1879782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gadget1 address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5E6C1D9-DE4C-4A1D-8229-68C2D59712C8}"/>
              </a:ext>
            </a:extLst>
          </p:cNvPr>
          <p:cNvSpPr/>
          <p:nvPr/>
        </p:nvSpPr>
        <p:spPr>
          <a:xfrm>
            <a:off x="9950090" y="2442493"/>
            <a:ext cx="1879782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gadget0 address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6566566-DA62-44CD-9E12-FF3F0D4A85C9}"/>
              </a:ext>
            </a:extLst>
          </p:cNvPr>
          <p:cNvSpPr/>
          <p:nvPr/>
        </p:nvSpPr>
        <p:spPr>
          <a:xfrm>
            <a:off x="9950089" y="1690688"/>
            <a:ext cx="1879782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gadget2 address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0FF0FD-0E0F-44CE-AEA6-7814540F2DBD}"/>
              </a:ext>
            </a:extLst>
          </p:cNvPr>
          <p:cNvSpPr txBox="1"/>
          <p:nvPr/>
        </p:nvSpPr>
        <p:spPr>
          <a:xfrm>
            <a:off x="10531837" y="1339029"/>
            <a:ext cx="716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.stack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18383EC-8956-435B-8857-63BDF6E9268F}"/>
              </a:ext>
            </a:extLst>
          </p:cNvPr>
          <p:cNvSpPr/>
          <p:nvPr/>
        </p:nvSpPr>
        <p:spPr>
          <a:xfrm>
            <a:off x="9950089" y="2811000"/>
            <a:ext cx="1879781" cy="16163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0xFF </a:t>
            </a:r>
            <a:r>
              <a:rPr lang="en-US" dirty="0" err="1">
                <a:solidFill>
                  <a:schemeClr val="tx1"/>
                </a:solidFill>
              </a:rPr>
              <a:t>0xFF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0xFF </a:t>
            </a:r>
            <a:r>
              <a:rPr lang="en-US" dirty="0" err="1">
                <a:solidFill>
                  <a:schemeClr val="tx1"/>
                </a:solidFill>
              </a:rPr>
              <a:t>0xFF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0xFF </a:t>
            </a:r>
            <a:r>
              <a:rPr lang="en-US" dirty="0" err="1">
                <a:solidFill>
                  <a:schemeClr val="tx1"/>
                </a:solidFill>
              </a:rPr>
              <a:t>0xFF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0xFF </a:t>
            </a:r>
            <a:r>
              <a:rPr lang="en-US" dirty="0" err="1">
                <a:solidFill>
                  <a:schemeClr val="tx1"/>
                </a:solidFill>
              </a:rPr>
              <a:t>0xFF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0xFF </a:t>
            </a:r>
            <a:r>
              <a:rPr lang="en-US" dirty="0" err="1">
                <a:solidFill>
                  <a:schemeClr val="tx1"/>
                </a:solidFill>
              </a:rPr>
              <a:t>0xFF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5608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Oriented Programming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20</a:t>
            </a:fld>
            <a:endParaRPr lang="en-US" dirty="0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64D067C3-B8F6-49ED-B3EE-D56A5636B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47328"/>
            <a:ext cx="4081669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При эксплуатации </a:t>
            </a:r>
            <a:r>
              <a:rPr lang="en-US" sz="2000" dirty="0"/>
              <a:t>ROP-</a:t>
            </a:r>
            <a:r>
              <a:rPr lang="ru-RU" sz="2000" dirty="0"/>
              <a:t>цепочки нарушитель должен сформировать на стеке адреса возврата, первый из которых указывает на начальный гаджет.</a:t>
            </a:r>
          </a:p>
          <a:p>
            <a:pPr marL="0" indent="0">
              <a:buNone/>
            </a:pPr>
            <a:r>
              <a:rPr lang="ru-RU" sz="2000" dirty="0"/>
              <a:t>Переход от гаджета к гаджету осуществляется инструкцией </a:t>
            </a:r>
            <a:r>
              <a:rPr lang="en-US" sz="2000" dirty="0"/>
              <a:t>ret, </a:t>
            </a:r>
            <a:r>
              <a:rPr lang="ru-RU" sz="2000" dirty="0"/>
              <a:t>которая достает адрес следующего гаджета со стека.</a:t>
            </a:r>
            <a:br>
              <a:rPr lang="ru-RU" sz="2000" dirty="0"/>
            </a:br>
            <a:endParaRPr lang="en-US" sz="20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FD06191-2436-483F-8A66-D9C51874F723}"/>
              </a:ext>
            </a:extLst>
          </p:cNvPr>
          <p:cNvSpPr/>
          <p:nvPr/>
        </p:nvSpPr>
        <p:spPr>
          <a:xfrm>
            <a:off x="6021828" y="2310153"/>
            <a:ext cx="1879782" cy="2881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54E7279-9622-431B-ACF2-A3A2A30F58C0}"/>
              </a:ext>
            </a:extLst>
          </p:cNvPr>
          <p:cNvSpPr/>
          <p:nvPr/>
        </p:nvSpPr>
        <p:spPr>
          <a:xfrm>
            <a:off x="6021828" y="2692012"/>
            <a:ext cx="1879782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gadget1 address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60C3C71-EE16-4E78-9A3D-AB47B2F6811E}"/>
              </a:ext>
            </a:extLst>
          </p:cNvPr>
          <p:cNvSpPr/>
          <p:nvPr/>
        </p:nvSpPr>
        <p:spPr>
          <a:xfrm>
            <a:off x="6021828" y="3068172"/>
            <a:ext cx="1879782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gadget0 address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07F057C-DE27-4ACD-981F-4BB93F805C0E}"/>
              </a:ext>
            </a:extLst>
          </p:cNvPr>
          <p:cNvSpPr/>
          <p:nvPr/>
        </p:nvSpPr>
        <p:spPr>
          <a:xfrm>
            <a:off x="6021827" y="2316367"/>
            <a:ext cx="1879782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gadget2 address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8C4ADB-8ACE-411E-B40D-7EF69CE93C3C}"/>
              </a:ext>
            </a:extLst>
          </p:cNvPr>
          <p:cNvSpPr txBox="1"/>
          <p:nvPr/>
        </p:nvSpPr>
        <p:spPr>
          <a:xfrm>
            <a:off x="6603575" y="1964708"/>
            <a:ext cx="716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.stack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C2D43B-AD09-42D0-BEFE-88D7AC65698B}"/>
              </a:ext>
            </a:extLst>
          </p:cNvPr>
          <p:cNvSpPr txBox="1"/>
          <p:nvPr/>
        </p:nvSpPr>
        <p:spPr>
          <a:xfrm>
            <a:off x="10452496" y="410293"/>
            <a:ext cx="600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.text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880125A-9782-4CC9-8396-9AE3D2AC560E}"/>
              </a:ext>
            </a:extLst>
          </p:cNvPr>
          <p:cNvSpPr/>
          <p:nvPr/>
        </p:nvSpPr>
        <p:spPr>
          <a:xfrm>
            <a:off x="9818773" y="1162877"/>
            <a:ext cx="1879782" cy="45307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PROGRAM CODE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579010F6-50A4-48DB-9A51-6EACC76D0371}"/>
              </a:ext>
            </a:extLst>
          </p:cNvPr>
          <p:cNvSpPr/>
          <p:nvPr/>
        </p:nvSpPr>
        <p:spPr>
          <a:xfrm>
            <a:off x="9818773" y="1831512"/>
            <a:ext cx="1879782" cy="48485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mov </a:t>
            </a:r>
            <a:r>
              <a:rPr lang="en-US" dirty="0" err="1">
                <a:solidFill>
                  <a:schemeClr val="tx1"/>
                </a:solidFill>
              </a:rPr>
              <a:t>rax</a:t>
            </a:r>
            <a:r>
              <a:rPr lang="en-US" dirty="0">
                <a:solidFill>
                  <a:schemeClr val="tx1"/>
                </a:solidFill>
              </a:rPr>
              <a:t>, 0x3b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ret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2B46EDFC-BAD4-4DD2-B631-98C90CC03ECC}"/>
              </a:ext>
            </a:extLst>
          </p:cNvPr>
          <p:cNvSpPr/>
          <p:nvPr/>
        </p:nvSpPr>
        <p:spPr>
          <a:xfrm>
            <a:off x="9818773" y="3091141"/>
            <a:ext cx="1879782" cy="48485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mov </a:t>
            </a:r>
            <a:r>
              <a:rPr lang="en-US" dirty="0" err="1">
                <a:solidFill>
                  <a:schemeClr val="tx1"/>
                </a:solidFill>
              </a:rPr>
              <a:t>rdi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rsp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ret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F9E7AF0-F6D5-48CE-BB89-6A1499D6D2BF}"/>
              </a:ext>
            </a:extLst>
          </p:cNvPr>
          <p:cNvSpPr/>
          <p:nvPr/>
        </p:nvSpPr>
        <p:spPr>
          <a:xfrm>
            <a:off x="9818773" y="4325372"/>
            <a:ext cx="1879782" cy="48485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syscall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Соединитель: уступ 8">
            <a:extLst>
              <a:ext uri="{FF2B5EF4-FFF2-40B4-BE49-F238E27FC236}">
                <a16:creationId xmlns:a16="http://schemas.microsoft.com/office/drawing/2014/main" id="{6C61086A-9FFF-4BB6-914F-F9A270F298EB}"/>
              </a:ext>
            </a:extLst>
          </p:cNvPr>
          <p:cNvCxnSpPr>
            <a:cxnSpLocks/>
            <a:stCxn id="19" idx="3"/>
            <a:endCxn id="32" idx="1"/>
          </p:cNvCxnSpPr>
          <p:nvPr/>
        </p:nvCxnSpPr>
        <p:spPr>
          <a:xfrm>
            <a:off x="7901610" y="3252382"/>
            <a:ext cx="1917163" cy="81187"/>
          </a:xfrm>
          <a:prstGeom prst="bentConnector3">
            <a:avLst>
              <a:gd name="adj1" fmla="val 261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Соединитель: уступ 34">
            <a:extLst>
              <a:ext uri="{FF2B5EF4-FFF2-40B4-BE49-F238E27FC236}">
                <a16:creationId xmlns:a16="http://schemas.microsoft.com/office/drawing/2014/main" id="{67E31755-4034-400D-8657-87FF075012AB}"/>
              </a:ext>
            </a:extLst>
          </p:cNvPr>
          <p:cNvCxnSpPr>
            <a:cxnSpLocks/>
            <a:stCxn id="15" idx="3"/>
            <a:endCxn id="31" idx="1"/>
          </p:cNvCxnSpPr>
          <p:nvPr/>
        </p:nvCxnSpPr>
        <p:spPr>
          <a:xfrm flipV="1">
            <a:off x="7901610" y="2073940"/>
            <a:ext cx="1917163" cy="80228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Соединитель: уступ 36">
            <a:extLst>
              <a:ext uri="{FF2B5EF4-FFF2-40B4-BE49-F238E27FC236}">
                <a16:creationId xmlns:a16="http://schemas.microsoft.com/office/drawing/2014/main" id="{DE7D0EA5-DDE5-46B9-B79D-FF30FB5F4BFE}"/>
              </a:ext>
            </a:extLst>
          </p:cNvPr>
          <p:cNvCxnSpPr>
            <a:cxnSpLocks/>
            <a:stCxn id="23" idx="3"/>
            <a:endCxn id="33" idx="1"/>
          </p:cNvCxnSpPr>
          <p:nvPr/>
        </p:nvCxnSpPr>
        <p:spPr>
          <a:xfrm>
            <a:off x="7901609" y="2500577"/>
            <a:ext cx="1917164" cy="2067223"/>
          </a:xfrm>
          <a:prstGeom prst="bentConnector3">
            <a:avLst>
              <a:gd name="adj1" fmla="val 7384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F86EDC3-6578-4CDE-9B68-EAF7AFEE01EB}"/>
              </a:ext>
            </a:extLst>
          </p:cNvPr>
          <p:cNvSpPr/>
          <p:nvPr/>
        </p:nvSpPr>
        <p:spPr>
          <a:xfrm>
            <a:off x="6021827" y="3436679"/>
            <a:ext cx="1879781" cy="16163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0xFF </a:t>
            </a:r>
            <a:r>
              <a:rPr lang="en-US" dirty="0" err="1">
                <a:solidFill>
                  <a:schemeClr val="tx1"/>
                </a:solidFill>
              </a:rPr>
              <a:t>0xFF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0xFF </a:t>
            </a:r>
            <a:r>
              <a:rPr lang="en-US" dirty="0" err="1">
                <a:solidFill>
                  <a:schemeClr val="tx1"/>
                </a:solidFill>
              </a:rPr>
              <a:t>0xFF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0xFF </a:t>
            </a:r>
            <a:r>
              <a:rPr lang="en-US" dirty="0" err="1">
                <a:solidFill>
                  <a:schemeClr val="tx1"/>
                </a:solidFill>
              </a:rPr>
              <a:t>0xFF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0xFF </a:t>
            </a:r>
            <a:r>
              <a:rPr lang="en-US" dirty="0" err="1">
                <a:solidFill>
                  <a:schemeClr val="tx1"/>
                </a:solidFill>
              </a:rPr>
              <a:t>0xFF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0xFF </a:t>
            </a:r>
            <a:r>
              <a:rPr lang="en-US" dirty="0" err="1">
                <a:solidFill>
                  <a:schemeClr val="tx1"/>
                </a:solidFill>
              </a:rPr>
              <a:t>0xFF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1355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Поиск гаджетов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21</a:t>
            </a:fld>
            <a:endParaRPr lang="en-US" dirty="0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64D067C3-B8F6-49ED-B3EE-D56A5636B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47328"/>
            <a:ext cx="4601877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Гаджеты обычно ищутся специально написанным ПО.</a:t>
            </a:r>
          </a:p>
          <a:p>
            <a:pPr marL="0" indent="0">
              <a:buNone/>
            </a:pPr>
            <a:r>
              <a:rPr lang="ru-RU" sz="2000" dirty="0"/>
              <a:t>В самом простом случае маркером гаджета является инструкция </a:t>
            </a:r>
            <a:r>
              <a:rPr lang="en-US" sz="2000" dirty="0"/>
              <a:t>ret, </a:t>
            </a:r>
            <a:r>
              <a:rPr lang="ru-RU" sz="2000" dirty="0"/>
              <a:t>имеющая код </a:t>
            </a:r>
            <a:r>
              <a:rPr lang="en-US" sz="2000" dirty="0"/>
              <a:t>0xC3. </a:t>
            </a:r>
            <a:r>
              <a:rPr lang="ru-RU" sz="2000" dirty="0"/>
              <a:t>Если байт с данным значением найден, просматриваются байты «выше» него. Если они представляют собой нужные инструкции, гаджет запоминается, иначе – поиск идет дальше.</a:t>
            </a:r>
            <a:br>
              <a:rPr lang="ru-RU" sz="2000" dirty="0"/>
            </a:br>
            <a:endParaRPr lang="en-US" sz="20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FD06191-2436-483F-8A66-D9C51874F723}"/>
              </a:ext>
            </a:extLst>
          </p:cNvPr>
          <p:cNvSpPr/>
          <p:nvPr/>
        </p:nvSpPr>
        <p:spPr>
          <a:xfrm>
            <a:off x="6021828" y="2310153"/>
            <a:ext cx="1879782" cy="2881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54E7279-9622-431B-ACF2-A3A2A30F58C0}"/>
              </a:ext>
            </a:extLst>
          </p:cNvPr>
          <p:cNvSpPr/>
          <p:nvPr/>
        </p:nvSpPr>
        <p:spPr>
          <a:xfrm>
            <a:off x="6021828" y="2692012"/>
            <a:ext cx="1879782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gadget1 address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60C3C71-EE16-4E78-9A3D-AB47B2F6811E}"/>
              </a:ext>
            </a:extLst>
          </p:cNvPr>
          <p:cNvSpPr/>
          <p:nvPr/>
        </p:nvSpPr>
        <p:spPr>
          <a:xfrm>
            <a:off x="6021828" y="3068172"/>
            <a:ext cx="1879782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gadget0 address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07F057C-DE27-4ACD-981F-4BB93F805C0E}"/>
              </a:ext>
            </a:extLst>
          </p:cNvPr>
          <p:cNvSpPr/>
          <p:nvPr/>
        </p:nvSpPr>
        <p:spPr>
          <a:xfrm>
            <a:off x="6021827" y="2316367"/>
            <a:ext cx="1879782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gadget2 address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8C4ADB-8ACE-411E-B40D-7EF69CE93C3C}"/>
              </a:ext>
            </a:extLst>
          </p:cNvPr>
          <p:cNvSpPr txBox="1"/>
          <p:nvPr/>
        </p:nvSpPr>
        <p:spPr>
          <a:xfrm>
            <a:off x="6603575" y="1964708"/>
            <a:ext cx="716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.stack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C2D43B-AD09-42D0-BEFE-88D7AC65698B}"/>
              </a:ext>
            </a:extLst>
          </p:cNvPr>
          <p:cNvSpPr txBox="1"/>
          <p:nvPr/>
        </p:nvSpPr>
        <p:spPr>
          <a:xfrm>
            <a:off x="10452496" y="410293"/>
            <a:ext cx="600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.text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880125A-9782-4CC9-8396-9AE3D2AC560E}"/>
              </a:ext>
            </a:extLst>
          </p:cNvPr>
          <p:cNvSpPr/>
          <p:nvPr/>
        </p:nvSpPr>
        <p:spPr>
          <a:xfrm>
            <a:off x="9818773" y="1162877"/>
            <a:ext cx="1879782" cy="45307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PROGRAM CODE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579010F6-50A4-48DB-9A51-6EACC76D0371}"/>
              </a:ext>
            </a:extLst>
          </p:cNvPr>
          <p:cNvSpPr/>
          <p:nvPr/>
        </p:nvSpPr>
        <p:spPr>
          <a:xfrm>
            <a:off x="9818773" y="1831512"/>
            <a:ext cx="1879782" cy="48485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mov </a:t>
            </a:r>
            <a:r>
              <a:rPr lang="en-US" dirty="0" err="1">
                <a:solidFill>
                  <a:schemeClr val="tx1"/>
                </a:solidFill>
              </a:rPr>
              <a:t>rax</a:t>
            </a:r>
            <a:r>
              <a:rPr lang="en-US" dirty="0">
                <a:solidFill>
                  <a:schemeClr val="tx1"/>
                </a:solidFill>
              </a:rPr>
              <a:t>, 0x3b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ret (0xC3)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2B46EDFC-BAD4-4DD2-B631-98C90CC03ECC}"/>
              </a:ext>
            </a:extLst>
          </p:cNvPr>
          <p:cNvSpPr/>
          <p:nvPr/>
        </p:nvSpPr>
        <p:spPr>
          <a:xfrm>
            <a:off x="9818773" y="3091141"/>
            <a:ext cx="1879782" cy="48485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mov </a:t>
            </a:r>
            <a:r>
              <a:rPr lang="en-US" dirty="0" err="1">
                <a:solidFill>
                  <a:schemeClr val="tx1"/>
                </a:solidFill>
              </a:rPr>
              <a:t>rdi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rsp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ret (0xC3)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F9E7AF0-F6D5-48CE-BB89-6A1499D6D2BF}"/>
              </a:ext>
            </a:extLst>
          </p:cNvPr>
          <p:cNvSpPr/>
          <p:nvPr/>
        </p:nvSpPr>
        <p:spPr>
          <a:xfrm>
            <a:off x="9818773" y="4325372"/>
            <a:ext cx="1879782" cy="48485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syscall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Соединитель: уступ 8">
            <a:extLst>
              <a:ext uri="{FF2B5EF4-FFF2-40B4-BE49-F238E27FC236}">
                <a16:creationId xmlns:a16="http://schemas.microsoft.com/office/drawing/2014/main" id="{6C61086A-9FFF-4BB6-914F-F9A270F298EB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7901610" y="3091141"/>
            <a:ext cx="1917163" cy="161241"/>
          </a:xfrm>
          <a:prstGeom prst="bentConnector3">
            <a:avLst>
              <a:gd name="adj1" fmla="val 3278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Соединитель: уступ 34">
            <a:extLst>
              <a:ext uri="{FF2B5EF4-FFF2-40B4-BE49-F238E27FC236}">
                <a16:creationId xmlns:a16="http://schemas.microsoft.com/office/drawing/2014/main" id="{67E31755-4034-400D-8657-87FF075012AB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7901610" y="1831512"/>
            <a:ext cx="1917163" cy="10447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Соединитель: уступ 36">
            <a:extLst>
              <a:ext uri="{FF2B5EF4-FFF2-40B4-BE49-F238E27FC236}">
                <a16:creationId xmlns:a16="http://schemas.microsoft.com/office/drawing/2014/main" id="{DE7D0EA5-DDE5-46B9-B79D-FF30FB5F4BFE}"/>
              </a:ext>
            </a:extLst>
          </p:cNvPr>
          <p:cNvCxnSpPr>
            <a:cxnSpLocks/>
          </p:cNvCxnSpPr>
          <p:nvPr/>
        </p:nvCxnSpPr>
        <p:spPr>
          <a:xfrm>
            <a:off x="7901608" y="2518337"/>
            <a:ext cx="1917163" cy="1807035"/>
          </a:xfrm>
          <a:prstGeom prst="bentConnector3">
            <a:avLst>
              <a:gd name="adj1" fmla="val 6757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1877F5F-9627-46CA-8BF3-E6FB0607C564}"/>
              </a:ext>
            </a:extLst>
          </p:cNvPr>
          <p:cNvSpPr/>
          <p:nvPr/>
        </p:nvSpPr>
        <p:spPr>
          <a:xfrm>
            <a:off x="6021827" y="3436679"/>
            <a:ext cx="1879781" cy="16163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0xFF </a:t>
            </a:r>
            <a:r>
              <a:rPr lang="en-US" dirty="0" err="1">
                <a:solidFill>
                  <a:schemeClr val="tx1"/>
                </a:solidFill>
              </a:rPr>
              <a:t>0xFF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0xFF </a:t>
            </a:r>
            <a:r>
              <a:rPr lang="en-US" dirty="0" err="1">
                <a:solidFill>
                  <a:schemeClr val="tx1"/>
                </a:solidFill>
              </a:rPr>
              <a:t>0xFF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0xFF </a:t>
            </a:r>
            <a:r>
              <a:rPr lang="en-US" dirty="0" err="1">
                <a:solidFill>
                  <a:schemeClr val="tx1"/>
                </a:solidFill>
              </a:rPr>
              <a:t>0xFF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0xFF </a:t>
            </a:r>
            <a:r>
              <a:rPr lang="en-US" dirty="0" err="1">
                <a:solidFill>
                  <a:schemeClr val="tx1"/>
                </a:solidFill>
              </a:rPr>
              <a:t>0xFF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0xFF </a:t>
            </a:r>
            <a:r>
              <a:rPr lang="en-US" dirty="0" err="1">
                <a:solidFill>
                  <a:schemeClr val="tx1"/>
                </a:solidFill>
              </a:rPr>
              <a:t>0xFF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43472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Защита от изменения адреса возврата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22</a:t>
            </a:fld>
            <a:endParaRPr lang="en-US" dirty="0"/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BFA1C83E-1D14-405D-838A-CA36A32BE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1391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Для защиты стека от переполнения буфера и изменения адреса возврата используются т.н. «</a:t>
            </a:r>
            <a:r>
              <a:rPr lang="ru-RU" sz="2000" b="1" dirty="0"/>
              <a:t>канарейки</a:t>
            </a:r>
            <a:r>
              <a:rPr lang="ru-RU" sz="2000" dirty="0"/>
              <a:t>» (</a:t>
            </a:r>
            <a:r>
              <a:rPr lang="en-US" sz="2000" dirty="0"/>
              <a:t>canary, stack protector</a:t>
            </a:r>
            <a:r>
              <a:rPr lang="ru-RU" sz="2000" dirty="0"/>
              <a:t>).</a:t>
            </a:r>
          </a:p>
          <a:p>
            <a:pPr marL="0" indent="0">
              <a:buNone/>
            </a:pPr>
            <a:r>
              <a:rPr lang="ru-RU" sz="2000" dirty="0"/>
              <a:t>«Канарейка» - это копия значения специальной глобальной переменной, которая записывается на стек при входе в функцию. При выходе из функции значение канарейки сверяется с исходным. Если значения не совпали – возникает исключение. </a:t>
            </a:r>
          </a:p>
          <a:p>
            <a:pPr marL="0" indent="0">
              <a:buNone/>
            </a:pPr>
            <a:r>
              <a:rPr lang="ru-RU" sz="2000" dirty="0"/>
              <a:t>Поскольку исходная глобальная переменная находится не на стеке, атакующий не может на нее повлиять с помощью переполнения буфера на стеке. Значение глобальной переменной выбирается случайным образом при запуске программы, т.е. атакующий не может его предсказать. </a:t>
            </a:r>
          </a:p>
          <a:p>
            <a:pPr marL="0" indent="0">
              <a:buNone/>
            </a:pPr>
            <a:r>
              <a:rPr lang="ru-RU" sz="2000" dirty="0"/>
              <a:t>Канарейки могут быть </a:t>
            </a:r>
            <a:r>
              <a:rPr lang="ru-RU" sz="2000" i="1" dirty="0"/>
              <a:t>отключены</a:t>
            </a:r>
            <a:r>
              <a:rPr lang="ru-RU" sz="2000" dirty="0"/>
              <a:t> специальными ключами компиляции (</a:t>
            </a:r>
            <a:r>
              <a:rPr lang="en-US" sz="2000" dirty="0"/>
              <a:t>-</a:t>
            </a:r>
            <a:r>
              <a:rPr lang="en-US" sz="2000" dirty="0" err="1"/>
              <a:t>fno</a:t>
            </a:r>
            <a:r>
              <a:rPr lang="en-US" sz="2000" dirty="0"/>
              <a:t>-stack-protector</a:t>
            </a:r>
            <a:r>
              <a:rPr lang="ru-RU" sz="2000" dirty="0"/>
              <a:t> для </a:t>
            </a:r>
            <a:r>
              <a:rPr lang="en-US" sz="2000" dirty="0"/>
              <a:t>GCC</a:t>
            </a:r>
            <a:r>
              <a:rPr lang="ru-RU" sz="2000" dirty="0"/>
              <a:t>)</a:t>
            </a:r>
            <a:br>
              <a:rPr lang="ru-RU" sz="2000" dirty="0"/>
            </a:br>
            <a:endParaRPr lang="en-US" sz="2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5AC05C1-A966-44AD-85EF-631E2D458B34}"/>
              </a:ext>
            </a:extLst>
          </p:cNvPr>
          <p:cNvSpPr/>
          <p:nvPr/>
        </p:nvSpPr>
        <p:spPr>
          <a:xfrm>
            <a:off x="9536045" y="1506478"/>
            <a:ext cx="2396971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7733D91D-9D7B-45E9-9421-890362A5F86C}"/>
              </a:ext>
            </a:extLst>
          </p:cNvPr>
          <p:cNvCxnSpPr>
            <a:cxnSpLocks/>
          </p:cNvCxnSpPr>
          <p:nvPr/>
        </p:nvCxnSpPr>
        <p:spPr>
          <a:xfrm>
            <a:off x="8631183" y="4245482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BF8093B-6796-4699-8E54-E6829ABCB247}"/>
              </a:ext>
            </a:extLst>
          </p:cNvPr>
          <p:cNvSpPr txBox="1"/>
          <p:nvPr/>
        </p:nvSpPr>
        <p:spPr>
          <a:xfrm>
            <a:off x="8537104" y="3893566"/>
            <a:ext cx="66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RSP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DDE0A91-C524-4365-B143-BD973904E58B}"/>
              </a:ext>
            </a:extLst>
          </p:cNvPr>
          <p:cNvSpPr/>
          <p:nvPr/>
        </p:nvSpPr>
        <p:spPr>
          <a:xfrm>
            <a:off x="9536045" y="1506478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address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0B99894-7286-420D-912C-C878E1B46CF4}"/>
              </a:ext>
            </a:extLst>
          </p:cNvPr>
          <p:cNvSpPr/>
          <p:nvPr/>
        </p:nvSpPr>
        <p:spPr>
          <a:xfrm>
            <a:off x="9535879" y="2610030"/>
            <a:ext cx="2396971" cy="16163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buffer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A939B3A-38F2-4FBB-B66A-8677BE8D8D5C}"/>
              </a:ext>
            </a:extLst>
          </p:cNvPr>
          <p:cNvSpPr/>
          <p:nvPr/>
        </p:nvSpPr>
        <p:spPr>
          <a:xfrm>
            <a:off x="9536044" y="1877974"/>
            <a:ext cx="2396971" cy="368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Prev. RBP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6FDE0D1-1F63-4945-8580-BB6F26BEC8C1}"/>
              </a:ext>
            </a:extLst>
          </p:cNvPr>
          <p:cNvSpPr/>
          <p:nvPr/>
        </p:nvSpPr>
        <p:spPr>
          <a:xfrm>
            <a:off x="9535880" y="2246393"/>
            <a:ext cx="2396971" cy="3684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canary</a:t>
            </a:r>
          </a:p>
        </p:txBody>
      </p:sp>
    </p:spTree>
    <p:extLst>
      <p:ext uri="{BB962C8B-B14F-4D97-AF65-F5344CB8AC3E}">
        <p14:creationId xmlns:p14="http://schemas.microsoft.com/office/powerpoint/2010/main" val="3618915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Защита от изменения адреса возврата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23</a:t>
            </a:fld>
            <a:endParaRPr lang="en-US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859014E8-9DFC-4767-BD82-6C805C483E92}"/>
              </a:ext>
            </a:extLst>
          </p:cNvPr>
          <p:cNvSpPr/>
          <p:nvPr/>
        </p:nvSpPr>
        <p:spPr>
          <a:xfrm>
            <a:off x="2785119" y="1765333"/>
            <a:ext cx="2396971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AE92A2E1-3918-4E0C-BC1F-AB3B3412B7EB}"/>
              </a:ext>
            </a:extLst>
          </p:cNvPr>
          <p:cNvCxnSpPr>
            <a:cxnSpLocks/>
          </p:cNvCxnSpPr>
          <p:nvPr/>
        </p:nvCxnSpPr>
        <p:spPr>
          <a:xfrm>
            <a:off x="1882961" y="4144263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A1E2CFF-4F37-4134-94D8-4E7331159214}"/>
              </a:ext>
            </a:extLst>
          </p:cNvPr>
          <p:cNvSpPr txBox="1"/>
          <p:nvPr/>
        </p:nvSpPr>
        <p:spPr>
          <a:xfrm>
            <a:off x="1788882" y="3792347"/>
            <a:ext cx="66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RSP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84644E67-29FC-4A6C-976B-F0C95ADC71BA}"/>
              </a:ext>
            </a:extLst>
          </p:cNvPr>
          <p:cNvSpPr/>
          <p:nvPr/>
        </p:nvSpPr>
        <p:spPr>
          <a:xfrm>
            <a:off x="2785119" y="1765333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address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F4A3176-5487-4EE2-9551-7CE10069469C}"/>
              </a:ext>
            </a:extLst>
          </p:cNvPr>
          <p:cNvSpPr/>
          <p:nvPr/>
        </p:nvSpPr>
        <p:spPr>
          <a:xfrm>
            <a:off x="2785117" y="2508811"/>
            <a:ext cx="2396971" cy="16163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buffer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33B2A99-DCAC-4BD0-BFB3-1B5CE30B7282}"/>
              </a:ext>
            </a:extLst>
          </p:cNvPr>
          <p:cNvSpPr/>
          <p:nvPr/>
        </p:nvSpPr>
        <p:spPr>
          <a:xfrm>
            <a:off x="2785118" y="2136829"/>
            <a:ext cx="2396971" cy="368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Prev. RBP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7C79E6F0-C4E3-44AD-9A48-743AC960C1A4}"/>
              </a:ext>
            </a:extLst>
          </p:cNvPr>
          <p:cNvSpPr/>
          <p:nvPr/>
        </p:nvSpPr>
        <p:spPr>
          <a:xfrm>
            <a:off x="7912070" y="1761770"/>
            <a:ext cx="2396971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E251BBC6-4085-4940-9125-88806CBB68E8}"/>
              </a:ext>
            </a:extLst>
          </p:cNvPr>
          <p:cNvCxnSpPr>
            <a:cxnSpLocks/>
          </p:cNvCxnSpPr>
          <p:nvPr/>
        </p:nvCxnSpPr>
        <p:spPr>
          <a:xfrm>
            <a:off x="7007208" y="4500774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993F90F-5071-401F-9182-587902386849}"/>
              </a:ext>
            </a:extLst>
          </p:cNvPr>
          <p:cNvSpPr txBox="1"/>
          <p:nvPr/>
        </p:nvSpPr>
        <p:spPr>
          <a:xfrm>
            <a:off x="6913129" y="4148858"/>
            <a:ext cx="66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RSP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4D575814-9C04-46B3-84DA-BD6AB2A4373B}"/>
              </a:ext>
            </a:extLst>
          </p:cNvPr>
          <p:cNvSpPr/>
          <p:nvPr/>
        </p:nvSpPr>
        <p:spPr>
          <a:xfrm>
            <a:off x="7912070" y="1761770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address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956A8DB0-ACDE-4B0E-84DC-3E940822AD8B}"/>
              </a:ext>
            </a:extLst>
          </p:cNvPr>
          <p:cNvSpPr/>
          <p:nvPr/>
        </p:nvSpPr>
        <p:spPr>
          <a:xfrm>
            <a:off x="7909364" y="2865322"/>
            <a:ext cx="2396971" cy="16163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buffer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5A1EE729-9281-4170-8D50-878E1B5DF03D}"/>
              </a:ext>
            </a:extLst>
          </p:cNvPr>
          <p:cNvSpPr/>
          <p:nvPr/>
        </p:nvSpPr>
        <p:spPr>
          <a:xfrm>
            <a:off x="7912069" y="2133266"/>
            <a:ext cx="2396971" cy="368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Prev. RBP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C24706ED-3DBE-417B-B85C-52E4595C9D99}"/>
              </a:ext>
            </a:extLst>
          </p:cNvPr>
          <p:cNvSpPr/>
          <p:nvPr/>
        </p:nvSpPr>
        <p:spPr>
          <a:xfrm>
            <a:off x="7909365" y="2501685"/>
            <a:ext cx="2396971" cy="3684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canary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3399E52C-C52C-4099-BE74-D01B5789956D}"/>
              </a:ext>
            </a:extLst>
          </p:cNvPr>
          <p:cNvCxnSpPr/>
          <p:nvPr/>
        </p:nvCxnSpPr>
        <p:spPr>
          <a:xfrm>
            <a:off x="5427878" y="3211372"/>
            <a:ext cx="20189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856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Защита от изменения адреса возврата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24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0B0750-7BB9-4343-8160-96F7FD7FC8F3}"/>
              </a:ext>
            </a:extLst>
          </p:cNvPr>
          <p:cNvSpPr txBox="1"/>
          <p:nvPr/>
        </p:nvSpPr>
        <p:spPr>
          <a:xfrm>
            <a:off x="130629" y="1690688"/>
            <a:ext cx="674455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long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int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canary_global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rand();</a:t>
            </a:r>
            <a:endParaRPr lang="en-U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pass_check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volatile long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int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canary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canary_global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char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buffer[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64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buffer);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(canary !=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canary_global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fail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strcmp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(buffer,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"PASSWORD"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bool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ok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pass_check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(!ok)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  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-1;</a:t>
            </a: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  /*ACCESS DATA*/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5D76405B-0734-4BB2-A082-9074E54A96B2}"/>
              </a:ext>
            </a:extLst>
          </p:cNvPr>
          <p:cNvSpPr/>
          <p:nvPr/>
        </p:nvSpPr>
        <p:spPr>
          <a:xfrm>
            <a:off x="8933992" y="1690688"/>
            <a:ext cx="2396971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4E7B0EFF-70B5-48E5-B714-A97F5D6482C1}"/>
              </a:ext>
            </a:extLst>
          </p:cNvPr>
          <p:cNvCxnSpPr>
            <a:cxnSpLocks/>
          </p:cNvCxnSpPr>
          <p:nvPr/>
        </p:nvCxnSpPr>
        <p:spPr>
          <a:xfrm>
            <a:off x="8031835" y="4439246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568B7AF-6CC3-45E2-A740-CC18CF5FC035}"/>
              </a:ext>
            </a:extLst>
          </p:cNvPr>
          <p:cNvSpPr txBox="1"/>
          <p:nvPr/>
        </p:nvSpPr>
        <p:spPr>
          <a:xfrm>
            <a:off x="7937756" y="4096661"/>
            <a:ext cx="66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RSP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D5C62F9-909D-4916-957F-63A30D5D300B}"/>
              </a:ext>
            </a:extLst>
          </p:cNvPr>
          <p:cNvSpPr/>
          <p:nvPr/>
        </p:nvSpPr>
        <p:spPr>
          <a:xfrm>
            <a:off x="8933992" y="1690688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new return address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84F6E574-E2B6-43D1-B183-CA4FB6849BA8}"/>
              </a:ext>
            </a:extLst>
          </p:cNvPr>
          <p:cNvSpPr/>
          <p:nvPr/>
        </p:nvSpPr>
        <p:spPr>
          <a:xfrm>
            <a:off x="8933991" y="2801831"/>
            <a:ext cx="2396971" cy="16163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0x31 </a:t>
            </a:r>
            <a:r>
              <a:rPr lang="en-US" dirty="0" err="1">
                <a:solidFill>
                  <a:schemeClr val="tx1"/>
                </a:solidFill>
              </a:rPr>
              <a:t>0x31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0x31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0x31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0x31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0x31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0x31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0x31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0x31 </a:t>
            </a:r>
            <a:r>
              <a:rPr lang="en-US" dirty="0" err="1">
                <a:solidFill>
                  <a:schemeClr val="tx1"/>
                </a:solidFill>
              </a:rPr>
              <a:t>0x31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0x31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0x31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0x31 </a:t>
            </a:r>
            <a:r>
              <a:rPr lang="en-US" dirty="0" err="1">
                <a:solidFill>
                  <a:schemeClr val="tx1"/>
                </a:solidFill>
              </a:rPr>
              <a:t>0x31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0x31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0x31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70B3123D-5735-442F-B9A1-31A01D216F3D}"/>
              </a:ext>
            </a:extLst>
          </p:cNvPr>
          <p:cNvSpPr/>
          <p:nvPr/>
        </p:nvSpPr>
        <p:spPr>
          <a:xfrm>
            <a:off x="8933991" y="2062184"/>
            <a:ext cx="2396971" cy="368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0x31 </a:t>
            </a:r>
            <a:r>
              <a:rPr lang="en-US" dirty="0" err="1">
                <a:solidFill>
                  <a:sysClr val="windowText" lastClr="000000"/>
                </a:solidFill>
              </a:rPr>
              <a:t>0x31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0x31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0x31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6" name="Соединитель: уступ 5">
            <a:extLst>
              <a:ext uri="{FF2B5EF4-FFF2-40B4-BE49-F238E27FC236}">
                <a16:creationId xmlns:a16="http://schemas.microsoft.com/office/drawing/2014/main" id="{BA7F9554-6973-4AE8-9DEF-3B34968E7F91}"/>
              </a:ext>
            </a:extLst>
          </p:cNvPr>
          <p:cNvCxnSpPr>
            <a:cxnSpLocks/>
            <a:stCxn id="37" idx="1"/>
          </p:cNvCxnSpPr>
          <p:nvPr/>
        </p:nvCxnSpPr>
        <p:spPr>
          <a:xfrm rot="10800000" flipV="1">
            <a:off x="3258010" y="1874898"/>
            <a:ext cx="5675983" cy="3798114"/>
          </a:xfrm>
          <a:prstGeom prst="bentConnector3">
            <a:avLst>
              <a:gd name="adj1" fmla="val 29893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1E9D426-AFD7-4CAC-99A0-63F6DF6FD9C0}"/>
              </a:ext>
            </a:extLst>
          </p:cNvPr>
          <p:cNvSpPr/>
          <p:nvPr/>
        </p:nvSpPr>
        <p:spPr>
          <a:xfrm>
            <a:off x="8933992" y="2439075"/>
            <a:ext cx="2397660" cy="3684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0x31 </a:t>
            </a:r>
            <a:r>
              <a:rPr lang="en-US" dirty="0" err="1">
                <a:solidFill>
                  <a:schemeClr val="tx1"/>
                </a:solidFill>
              </a:rPr>
              <a:t>0x31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0x31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0x31</a:t>
            </a:r>
            <a:endParaRPr lang="en-US" dirty="0"/>
          </a:p>
        </p:txBody>
      </p:sp>
      <p:sp>
        <p:nvSpPr>
          <p:cNvPr id="7" name="Знак умножения 6">
            <a:extLst>
              <a:ext uri="{FF2B5EF4-FFF2-40B4-BE49-F238E27FC236}">
                <a16:creationId xmlns:a16="http://schemas.microsoft.com/office/drawing/2014/main" id="{6FD4A9D0-F416-433F-9FFF-637C29C92CC1}"/>
              </a:ext>
            </a:extLst>
          </p:cNvPr>
          <p:cNvSpPr/>
          <p:nvPr/>
        </p:nvSpPr>
        <p:spPr>
          <a:xfrm>
            <a:off x="6920045" y="4327493"/>
            <a:ext cx="656363" cy="40532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8D0A0509-FCEB-4FE4-ACF6-47FA36FC4DFA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5632704" y="2623285"/>
            <a:ext cx="3301288" cy="895326"/>
          </a:xfrm>
          <a:prstGeom prst="straightConnector1">
            <a:avLst/>
          </a:prstGeom>
          <a:ln w="6350"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4349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Обход «канареек» </a:t>
            </a:r>
            <a:r>
              <a:rPr lang="en-US" dirty="0"/>
              <a:t>1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Linux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)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25</a:t>
            </a:fld>
            <a:endParaRPr lang="en-US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DA196DDE-2B0D-46C7-A402-DB44ADAEF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5481"/>
            <a:ext cx="10869166" cy="2658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При наличии уязвимости, обеспечивающей возможность записи по произвольным адресам, можно обойти «канарейку» и изменить значение на стеке, не затрагивая «канарейку».</a:t>
            </a:r>
          </a:p>
          <a:p>
            <a:pPr marL="0" indent="0">
              <a:buNone/>
            </a:pPr>
            <a:r>
              <a:rPr lang="ru-RU" sz="2000" dirty="0"/>
              <a:t>К уязвимостям подобного типа относятся в т.ч. уязвимости форматной строки и переполнения в куче (см. далее).</a:t>
            </a:r>
          </a:p>
          <a:p>
            <a:pPr marL="0" indent="0">
              <a:buNone/>
            </a:pPr>
            <a:r>
              <a:rPr lang="ru-RU" sz="2000" i="1" dirty="0"/>
              <a:t>Стоит отметить, что во многих случаях не требуется полной перезаписи переменной или адреса возврата.</a:t>
            </a:r>
            <a:br>
              <a:rPr lang="ru-RU" sz="2000" dirty="0"/>
            </a:br>
            <a:endParaRPr lang="en-US" sz="2000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AEDBA15-E9A3-12A2-C83D-6801566351DA}"/>
              </a:ext>
            </a:extLst>
          </p:cNvPr>
          <p:cNvSpPr/>
          <p:nvPr/>
        </p:nvSpPr>
        <p:spPr>
          <a:xfrm>
            <a:off x="838200" y="4661283"/>
            <a:ext cx="216000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EF1ED8A8-57EA-B936-14DA-312565ADDB5D}"/>
              </a:ext>
            </a:extLst>
          </p:cNvPr>
          <p:cNvSpPr/>
          <p:nvPr/>
        </p:nvSpPr>
        <p:spPr>
          <a:xfrm>
            <a:off x="838200" y="4655511"/>
            <a:ext cx="2160000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address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60E06E81-11D4-9C19-A2AB-C8FD3D31084E}"/>
              </a:ext>
            </a:extLst>
          </p:cNvPr>
          <p:cNvSpPr/>
          <p:nvPr/>
        </p:nvSpPr>
        <p:spPr>
          <a:xfrm>
            <a:off x="838200" y="5758400"/>
            <a:ext cx="2160000" cy="44655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locals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3948D177-3D5C-68DF-2295-2F3A798B1557}"/>
              </a:ext>
            </a:extLst>
          </p:cNvPr>
          <p:cNvSpPr/>
          <p:nvPr/>
        </p:nvSpPr>
        <p:spPr>
          <a:xfrm>
            <a:off x="838200" y="5017817"/>
            <a:ext cx="2160000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Prev. RBP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CFA4C2BF-34F6-C858-3A60-4D7A77EC88A4}"/>
              </a:ext>
            </a:extLst>
          </p:cNvPr>
          <p:cNvSpPr/>
          <p:nvPr/>
        </p:nvSpPr>
        <p:spPr>
          <a:xfrm>
            <a:off x="838200" y="5390044"/>
            <a:ext cx="2160000" cy="3684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canary</a:t>
            </a: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47842ACD-B149-2564-CBF8-26A273C453E1}"/>
              </a:ext>
            </a:extLst>
          </p:cNvPr>
          <p:cNvSpPr/>
          <p:nvPr/>
        </p:nvSpPr>
        <p:spPr>
          <a:xfrm>
            <a:off x="8314712" y="4661282"/>
            <a:ext cx="2160000" cy="18011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40C0C97C-3705-073A-1BBF-72BA4254A2BC}"/>
              </a:ext>
            </a:extLst>
          </p:cNvPr>
          <p:cNvSpPr/>
          <p:nvPr/>
        </p:nvSpPr>
        <p:spPr>
          <a:xfrm>
            <a:off x="8314712" y="4655511"/>
            <a:ext cx="2160000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address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8AB06A7E-D89E-6FB2-EBCF-10858A9B7596}"/>
              </a:ext>
            </a:extLst>
          </p:cNvPr>
          <p:cNvSpPr/>
          <p:nvPr/>
        </p:nvSpPr>
        <p:spPr>
          <a:xfrm>
            <a:off x="8314712" y="5758399"/>
            <a:ext cx="2160000" cy="5674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locals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A814A886-250B-5017-E341-3C157EDD3122}"/>
              </a:ext>
            </a:extLst>
          </p:cNvPr>
          <p:cNvSpPr/>
          <p:nvPr/>
        </p:nvSpPr>
        <p:spPr>
          <a:xfrm>
            <a:off x="8314712" y="5017817"/>
            <a:ext cx="2160000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Prev. RBP</a:t>
            </a: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4C24AEF6-FFB2-ADD6-F7AE-54967DCAE039}"/>
              </a:ext>
            </a:extLst>
          </p:cNvPr>
          <p:cNvSpPr/>
          <p:nvPr/>
        </p:nvSpPr>
        <p:spPr>
          <a:xfrm>
            <a:off x="8314712" y="5390044"/>
            <a:ext cx="2160000" cy="3684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canary</a:t>
            </a: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E8806D40-1119-1EE2-436C-7DDCCDCDE113}"/>
              </a:ext>
            </a:extLst>
          </p:cNvPr>
          <p:cNvSpPr/>
          <p:nvPr/>
        </p:nvSpPr>
        <p:spPr>
          <a:xfrm>
            <a:off x="9394712" y="4656358"/>
            <a:ext cx="1080000" cy="35765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some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DC658720-D0BC-829F-B98D-A7C9285EA7BD}"/>
              </a:ext>
            </a:extLst>
          </p:cNvPr>
          <p:cNvSpPr/>
          <p:nvPr/>
        </p:nvSpPr>
        <p:spPr>
          <a:xfrm>
            <a:off x="8314712" y="5017072"/>
            <a:ext cx="1080000" cy="37297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26F134-B99A-B399-8495-03056055BE68}"/>
              </a:ext>
            </a:extLst>
          </p:cNvPr>
          <p:cNvSpPr txBox="1"/>
          <p:nvPr/>
        </p:nvSpPr>
        <p:spPr>
          <a:xfrm>
            <a:off x="3822287" y="4655511"/>
            <a:ext cx="41852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bool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ok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pass_check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(!ok)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  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-1;</a:t>
            </a: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  /*ACCESS DATA*/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B7EA6F62-A3F5-7454-5961-6AD8AEF50F69}"/>
              </a:ext>
            </a:extLst>
          </p:cNvPr>
          <p:cNvCxnSpPr>
            <a:stCxn id="29" idx="3"/>
          </p:cNvCxnSpPr>
          <p:nvPr/>
        </p:nvCxnSpPr>
        <p:spPr>
          <a:xfrm>
            <a:off x="2998200" y="4839721"/>
            <a:ext cx="1374420" cy="54651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67B15740-6773-6394-1AC5-810B38340986}"/>
              </a:ext>
            </a:extLst>
          </p:cNvPr>
          <p:cNvCxnSpPr>
            <a:stCxn id="50" idx="1"/>
          </p:cNvCxnSpPr>
          <p:nvPr/>
        </p:nvCxnSpPr>
        <p:spPr>
          <a:xfrm rot="10800000" flipV="1">
            <a:off x="6249546" y="4839720"/>
            <a:ext cx="2065166" cy="1121067"/>
          </a:xfrm>
          <a:prstGeom prst="bentConnector3">
            <a:avLst>
              <a:gd name="adj1" fmla="val 3734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066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D8BA51-A7CA-394D-E717-5CBB1DB65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Защита на аппаратном уровне :</a:t>
            </a:r>
            <a:br>
              <a:rPr lang="ru-RU" dirty="0"/>
            </a:br>
            <a:r>
              <a:rPr lang="en-US" dirty="0"/>
              <a:t>Intel Indirect Branch Tracking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A1AE63-FD5A-7E97-C4EC-18D70C72A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Технология </a:t>
            </a:r>
            <a:r>
              <a:rPr lang="en-US" sz="2000" dirty="0"/>
              <a:t>Intel IBT </a:t>
            </a:r>
            <a:r>
              <a:rPr lang="ru-RU" sz="2000" dirty="0"/>
              <a:t>позволяет усложнить атакующему эксплуатацию уязвимостей, основанных на изменении адреса возврата. </a:t>
            </a:r>
          </a:p>
          <a:p>
            <a:pPr marL="0" indent="0">
              <a:buNone/>
            </a:pPr>
            <a:r>
              <a:rPr lang="en-US" sz="2000" dirty="0"/>
              <a:t>ROP</a:t>
            </a:r>
            <a:r>
              <a:rPr lang="ru-RU" sz="2000" dirty="0"/>
              <a:t>-атака основана на возможности атакующего выбирать любую точку в программе для последующего перехода.</a:t>
            </a:r>
          </a:p>
          <a:p>
            <a:pPr marL="0" indent="0">
              <a:buNone/>
            </a:pPr>
            <a:r>
              <a:rPr lang="en-US" sz="2000" dirty="0"/>
              <a:t>Intel IBT </a:t>
            </a:r>
            <a:r>
              <a:rPr lang="ru-RU" sz="2000" dirty="0"/>
              <a:t>вводит 2 новые инструкции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endbr32/enbr64 </a:t>
            </a:r>
            <a:r>
              <a:rPr lang="en-US" sz="2000" dirty="0"/>
              <a:t>(END Branch</a:t>
            </a:r>
            <a:r>
              <a:rPr lang="ru-RU" sz="2000" dirty="0"/>
              <a:t>) для 32/64-битных программ. Кодировка инструкций подобрана так, что ЦП без поддержки (или с выключенным) </a:t>
            </a:r>
            <a:r>
              <a:rPr lang="en-US" sz="2000" dirty="0"/>
              <a:t>IBT </a:t>
            </a:r>
            <a:r>
              <a:rPr lang="ru-RU" sz="2000" dirty="0"/>
              <a:t>воспринимает их как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nop</a:t>
            </a:r>
            <a:r>
              <a:rPr lang="ru-RU" sz="2000" dirty="0"/>
              <a:t>. Эти инструкции используются для маркировки валидных точек перехода.</a:t>
            </a:r>
          </a:p>
          <a:p>
            <a:pPr marL="0" indent="0">
              <a:buNone/>
            </a:pPr>
            <a:r>
              <a:rPr lang="ru-RU" sz="2000" dirty="0"/>
              <a:t>Если ЦП выполняет переход 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call/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jmp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/j*/ret</a:t>
            </a:r>
            <a:r>
              <a:rPr lang="ru-RU" sz="2000" dirty="0"/>
              <a:t>), и он попадает не на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endbr</a:t>
            </a:r>
            <a:r>
              <a:rPr lang="ru-RU" sz="2000" dirty="0"/>
              <a:t>, то генерируется аппаратное исключение и программа </a:t>
            </a:r>
            <a:r>
              <a:rPr lang="ru-RU" sz="2000" dirty="0" err="1"/>
              <a:t>аварийно</a:t>
            </a:r>
            <a:r>
              <a:rPr lang="ru-RU" sz="2000" dirty="0"/>
              <a:t> завершается =</a:t>
            </a:r>
            <a:r>
              <a:rPr lang="en-US" sz="2000" dirty="0"/>
              <a:t>&gt; </a:t>
            </a:r>
            <a:r>
              <a:rPr lang="ru-RU" sz="2000" dirty="0"/>
              <a:t>ограничивается выбор для атакующего.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8250871-A908-49E3-FE6C-DB310813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479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E3811-25AC-C831-28F0-4BC86404B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Защита на аппаратном уровне:</a:t>
            </a:r>
            <a:br>
              <a:rPr lang="ru-RU" dirty="0"/>
            </a:br>
            <a:r>
              <a:rPr lang="en-US" dirty="0"/>
              <a:t>Shadow Stack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7A01DC-4D28-00CD-4D1B-585CA2CB7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Shadow Stack – </a:t>
            </a:r>
            <a:r>
              <a:rPr lang="ru-RU" sz="2000" dirty="0"/>
              <a:t>техника, позволяющая защититься от перезаписи адреса возврата, поддерживаемая ЦП </a:t>
            </a:r>
            <a:r>
              <a:rPr lang="en-US" sz="2000" dirty="0"/>
              <a:t>Intel </a:t>
            </a:r>
            <a:r>
              <a:rPr lang="ru-RU" sz="2000" dirty="0"/>
              <a:t>и </a:t>
            </a:r>
            <a:r>
              <a:rPr lang="en-US" sz="2000" dirty="0"/>
              <a:t>AMD.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При выполнении инструкции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call</a:t>
            </a:r>
            <a:r>
              <a:rPr lang="en-US" sz="2000" dirty="0"/>
              <a:t> </a:t>
            </a:r>
            <a:r>
              <a:rPr lang="ru-RU" sz="2000" dirty="0"/>
              <a:t>адрес возврата сохраняется в обычный стек, и в специальный теневой стек.</a:t>
            </a:r>
          </a:p>
          <a:p>
            <a:pPr marL="0" indent="0">
              <a:buNone/>
            </a:pPr>
            <a:r>
              <a:rPr lang="ru-RU" sz="2000" dirty="0"/>
              <a:t>При выполнении инструкции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en-US" sz="2000" dirty="0"/>
              <a:t> </a:t>
            </a:r>
            <a:r>
              <a:rPr lang="ru-RU" sz="2000" dirty="0"/>
              <a:t>записи из обычного и из теневого стека сравниваются. Если есть различие – генерируется аппаратное исключение и программа </a:t>
            </a:r>
            <a:r>
              <a:rPr lang="ru-RU" sz="2000" dirty="0" err="1"/>
              <a:t>аварийно</a:t>
            </a:r>
            <a:r>
              <a:rPr lang="ru-RU" sz="2000" dirty="0"/>
              <a:t> завершается.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DF7B621-88A2-F99B-8A78-69A3F5704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3401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Перезапись </a:t>
            </a:r>
            <a:r>
              <a:rPr lang="en-US" dirty="0"/>
              <a:t>GOT</a:t>
            </a:r>
            <a:r>
              <a:rPr lang="ru-RU" dirty="0"/>
              <a:t> </a:t>
            </a:r>
            <a:r>
              <a:rPr lang="ru-RU" sz="2400" dirty="0"/>
              <a:t>(</a:t>
            </a:r>
            <a:r>
              <a:rPr lang="en-US" sz="2400" dirty="0"/>
              <a:t>Linux</a:t>
            </a:r>
            <a:r>
              <a:rPr lang="ru-RU" sz="2400" dirty="0"/>
              <a:t>)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28</a:t>
            </a:fld>
            <a:endParaRPr lang="en-US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DA196DDE-2B0D-46C7-A402-DB44ADAEF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47328"/>
            <a:ext cx="6715538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Поскольку в </a:t>
            </a:r>
            <a:r>
              <a:rPr lang="en-US" sz="2000" dirty="0"/>
              <a:t>GOT </a:t>
            </a:r>
            <a:r>
              <a:rPr lang="ru-RU" sz="2000" dirty="0"/>
              <a:t>происходит запись, она находится в сегменте с разрешением на запись.</a:t>
            </a:r>
          </a:p>
          <a:p>
            <a:pPr marL="0" indent="0">
              <a:buNone/>
            </a:pPr>
            <a:r>
              <a:rPr lang="ru-RU" sz="2000" dirty="0"/>
              <a:t>Следовательно, если известно расположение самой </a:t>
            </a:r>
            <a:r>
              <a:rPr lang="en-US" sz="2000" dirty="0"/>
              <a:t>GOT</a:t>
            </a:r>
            <a:r>
              <a:rPr lang="ru-RU" sz="2000" dirty="0"/>
              <a:t>, можно </a:t>
            </a:r>
            <a:br>
              <a:rPr lang="ru-RU" sz="2000" dirty="0"/>
            </a:br>
            <a:r>
              <a:rPr lang="ru-RU" sz="2000" dirty="0"/>
              <a:t>1)узнать адреса функций и содержащих их библиотек;</a:t>
            </a:r>
            <a:br>
              <a:rPr lang="ru-RU" sz="2000" dirty="0"/>
            </a:br>
            <a:r>
              <a:rPr lang="ru-RU" sz="2000" dirty="0"/>
              <a:t>2) </a:t>
            </a:r>
            <a:r>
              <a:rPr lang="ru-RU" sz="2000" u="sng" dirty="0"/>
              <a:t>перезаписать адрес функции </a:t>
            </a:r>
            <a:r>
              <a:rPr lang="en-US" sz="2000" u="sng" dirty="0"/>
              <a:t> </a:t>
            </a:r>
            <a:r>
              <a:rPr lang="ru-RU" sz="2000" u="sng" dirty="0"/>
              <a:t>в </a:t>
            </a:r>
            <a:r>
              <a:rPr lang="en-US" sz="2000" u="sng" dirty="0"/>
              <a:t>GOT </a:t>
            </a:r>
            <a:r>
              <a:rPr lang="ru-RU" sz="2000" u="sng" dirty="0"/>
              <a:t>и передать управление в нужное место.</a:t>
            </a:r>
          </a:p>
          <a:p>
            <a:pPr marL="0" indent="0">
              <a:buNone/>
            </a:pPr>
            <a:r>
              <a:rPr lang="ru-RU" sz="2000" i="1" dirty="0"/>
              <a:t>Возможность перезаписи </a:t>
            </a:r>
            <a:r>
              <a:rPr lang="en-US" sz="2000" i="1" dirty="0"/>
              <a:t>GOT </a:t>
            </a:r>
            <a:r>
              <a:rPr lang="ru-RU" sz="2000" i="1" dirty="0"/>
              <a:t>обеспечивается любой уязвимостью, позволяющей выполнять запись по произвольным адресам.</a:t>
            </a:r>
            <a:br>
              <a:rPr lang="ru-RU" sz="2000" dirty="0"/>
            </a:b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2A9D9D-E766-4706-9121-BEBB9D3A4BC9}"/>
              </a:ext>
            </a:extLst>
          </p:cNvPr>
          <p:cNvSpPr txBox="1"/>
          <p:nvPr/>
        </p:nvSpPr>
        <p:spPr>
          <a:xfrm>
            <a:off x="2503832" y="4600725"/>
            <a:ext cx="39839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GOT: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?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__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stack_chck_fail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dq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cudaMalloc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     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dq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filter2D:        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dq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   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062CCCF-33E3-422E-9144-E3708D1A72E1}"/>
              </a:ext>
            </a:extLst>
          </p:cNvPr>
          <p:cNvSpPr/>
          <p:nvPr/>
        </p:nvSpPr>
        <p:spPr>
          <a:xfrm>
            <a:off x="9219370" y="1619008"/>
            <a:ext cx="1879782" cy="45307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3AF3507-956A-4AC2-9EA1-9F6C8EE8A44B}"/>
              </a:ext>
            </a:extLst>
          </p:cNvPr>
          <p:cNvSpPr/>
          <p:nvPr/>
        </p:nvSpPr>
        <p:spPr>
          <a:xfrm>
            <a:off x="9219370" y="1927122"/>
            <a:ext cx="1879782" cy="129208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libc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br>
              <a:rPr lang="en-US" b="1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printf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__</a:t>
            </a:r>
            <a:r>
              <a:rPr lang="en-US" dirty="0" err="1">
                <a:solidFill>
                  <a:schemeClr val="tx1"/>
                </a:solidFill>
              </a:rPr>
              <a:t>stack_chck_fail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596C509-01A6-4D6E-ADED-F4BDE07BF715}"/>
              </a:ext>
            </a:extLst>
          </p:cNvPr>
          <p:cNvSpPr/>
          <p:nvPr/>
        </p:nvSpPr>
        <p:spPr>
          <a:xfrm>
            <a:off x="9219370" y="3547272"/>
            <a:ext cx="1879782" cy="93156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libcuda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cudaMalloc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48C3B16-87B9-420A-835B-C6916CF3E884}"/>
              </a:ext>
            </a:extLst>
          </p:cNvPr>
          <p:cNvSpPr/>
          <p:nvPr/>
        </p:nvSpPr>
        <p:spPr>
          <a:xfrm>
            <a:off x="9219370" y="4781503"/>
            <a:ext cx="1879782" cy="9585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libopencv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filter2D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Соединитель: уступ 7">
            <a:extLst>
              <a:ext uri="{FF2B5EF4-FFF2-40B4-BE49-F238E27FC236}">
                <a16:creationId xmlns:a16="http://schemas.microsoft.com/office/drawing/2014/main" id="{3503D511-52D1-4629-A502-66BE22031CB9}"/>
              </a:ext>
            </a:extLst>
          </p:cNvPr>
          <p:cNvCxnSpPr>
            <a:endCxn id="15" idx="1"/>
          </p:cNvCxnSpPr>
          <p:nvPr/>
        </p:nvCxnSpPr>
        <p:spPr>
          <a:xfrm flipV="1">
            <a:off x="6331226" y="2713383"/>
            <a:ext cx="2888144" cy="23456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: уступ 20">
            <a:extLst>
              <a:ext uri="{FF2B5EF4-FFF2-40B4-BE49-F238E27FC236}">
                <a16:creationId xmlns:a16="http://schemas.microsoft.com/office/drawing/2014/main" id="{14D3E152-A018-4542-845E-B01E49017978}"/>
              </a:ext>
            </a:extLst>
          </p:cNvPr>
          <p:cNvCxnSpPr>
            <a:cxnSpLocks/>
          </p:cNvCxnSpPr>
          <p:nvPr/>
        </p:nvCxnSpPr>
        <p:spPr>
          <a:xfrm flipV="1">
            <a:off x="6331226" y="4305731"/>
            <a:ext cx="2888144" cy="1320034"/>
          </a:xfrm>
          <a:prstGeom prst="bentConnector3">
            <a:avLst>
              <a:gd name="adj1" fmla="val 668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Соединитель: уступ 25">
            <a:extLst>
              <a:ext uri="{FF2B5EF4-FFF2-40B4-BE49-F238E27FC236}">
                <a16:creationId xmlns:a16="http://schemas.microsoft.com/office/drawing/2014/main" id="{0A94F9B1-0ED3-4F8C-ABA2-69B90D0C5AB1}"/>
              </a:ext>
            </a:extLst>
          </p:cNvPr>
          <p:cNvCxnSpPr>
            <a:cxnSpLocks/>
          </p:cNvCxnSpPr>
          <p:nvPr/>
        </p:nvCxnSpPr>
        <p:spPr>
          <a:xfrm flipV="1">
            <a:off x="6331226" y="5535175"/>
            <a:ext cx="2888144" cy="362139"/>
          </a:xfrm>
          <a:prstGeom prst="bentConnector3">
            <a:avLst>
              <a:gd name="adj1" fmla="val 785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Соединитель: уступ 30">
            <a:extLst>
              <a:ext uri="{FF2B5EF4-FFF2-40B4-BE49-F238E27FC236}">
                <a16:creationId xmlns:a16="http://schemas.microsoft.com/office/drawing/2014/main" id="{5FEFA62B-2C51-4B75-B89F-C4A3257AA583}"/>
              </a:ext>
            </a:extLst>
          </p:cNvPr>
          <p:cNvCxnSpPr>
            <a:cxnSpLocks/>
          </p:cNvCxnSpPr>
          <p:nvPr/>
        </p:nvCxnSpPr>
        <p:spPr>
          <a:xfrm flipV="1">
            <a:off x="6331226" y="2944571"/>
            <a:ext cx="2888144" cy="2403771"/>
          </a:xfrm>
          <a:prstGeom prst="bentConnector3">
            <a:avLst>
              <a:gd name="adj1" fmla="val 579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5393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Обход «канареек» </a:t>
            </a:r>
            <a:r>
              <a:rPr lang="en-US" dirty="0"/>
              <a:t>2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Linux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)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29</a:t>
            </a:fld>
            <a:endParaRPr lang="en-US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DA196DDE-2B0D-46C7-A402-DB44ADAEF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47328"/>
            <a:ext cx="6715538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Функция </a:t>
            </a:r>
            <a:r>
              <a:rPr lang="en-US" sz="2000" dirty="0"/>
              <a:t>__</a:t>
            </a:r>
            <a:r>
              <a:rPr lang="en-US" sz="2000" dirty="0" err="1"/>
              <a:t>stack_chck_fail</a:t>
            </a:r>
            <a:r>
              <a:rPr lang="en-US" sz="2000" dirty="0"/>
              <a:t> </a:t>
            </a:r>
            <a:r>
              <a:rPr lang="ru-RU" sz="2000" dirty="0"/>
              <a:t>или ее аналог (завершение программы при изменении «канарейки») часто является библиотечной функцией, адрес которой хранится в </a:t>
            </a:r>
            <a:r>
              <a:rPr lang="en-US" sz="2000" dirty="0"/>
              <a:t>GOT.</a:t>
            </a:r>
          </a:p>
          <a:p>
            <a:pPr marL="0" indent="0">
              <a:buNone/>
            </a:pPr>
            <a:r>
              <a:rPr lang="ru-RU" sz="2000" dirty="0"/>
              <a:t>Если удастся перезаписать адрес функции на адрес целевого кода, то  код выполнится автоматически, когда проверка «канарейки» провалится.</a:t>
            </a:r>
          </a:p>
          <a:p>
            <a:pPr marL="0" indent="0">
              <a:buNone/>
            </a:pPr>
            <a:r>
              <a:rPr lang="ru-RU" sz="2000" dirty="0"/>
              <a:t>В качестве такого кода может выступать как шелл-код, так и простая инструкция </a:t>
            </a:r>
            <a:r>
              <a:rPr lang="en-US" sz="2000" dirty="0"/>
              <a:t>RET/JMP.</a:t>
            </a:r>
            <a:br>
              <a:rPr lang="ru-RU" sz="2000" dirty="0"/>
            </a:b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E8F3FE-A06B-4512-A007-34D932E1F423}"/>
              </a:ext>
            </a:extLst>
          </p:cNvPr>
          <p:cNvSpPr txBox="1"/>
          <p:nvPr/>
        </p:nvSpPr>
        <p:spPr>
          <a:xfrm>
            <a:off x="2503832" y="4600725"/>
            <a:ext cx="39839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GOT: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?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stack_chck_fail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dq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cudaMalloc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     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dq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filter2D:        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dq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   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2214C54-9D21-4560-9D74-4A9B680D48DB}"/>
              </a:ext>
            </a:extLst>
          </p:cNvPr>
          <p:cNvSpPr/>
          <p:nvPr/>
        </p:nvSpPr>
        <p:spPr>
          <a:xfrm>
            <a:off x="9219370" y="1619008"/>
            <a:ext cx="1879782" cy="45307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6913D1B-EE08-4C30-9FF7-E9D6562C7A29}"/>
              </a:ext>
            </a:extLst>
          </p:cNvPr>
          <p:cNvSpPr/>
          <p:nvPr/>
        </p:nvSpPr>
        <p:spPr>
          <a:xfrm>
            <a:off x="9219370" y="1927122"/>
            <a:ext cx="1879782" cy="129208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libc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br>
              <a:rPr lang="en-US" b="1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printf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__</a:t>
            </a:r>
            <a:r>
              <a:rPr lang="en-US" dirty="0" err="1">
                <a:solidFill>
                  <a:schemeClr val="tx1"/>
                </a:solidFill>
              </a:rPr>
              <a:t>stack_chck_fail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D28FD0B-5EBD-4E93-84B5-5FA19BDAFCA6}"/>
              </a:ext>
            </a:extLst>
          </p:cNvPr>
          <p:cNvSpPr/>
          <p:nvPr/>
        </p:nvSpPr>
        <p:spPr>
          <a:xfrm>
            <a:off x="9219370" y="3547272"/>
            <a:ext cx="1879782" cy="93156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libcuda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cudaMalloc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02367E7-D3E8-4473-86C3-4CA5EAD3B80A}"/>
              </a:ext>
            </a:extLst>
          </p:cNvPr>
          <p:cNvSpPr/>
          <p:nvPr/>
        </p:nvSpPr>
        <p:spPr>
          <a:xfrm>
            <a:off x="9219370" y="4781503"/>
            <a:ext cx="1879782" cy="9585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libopencv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filter2D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Соединитель: уступ 15">
            <a:extLst>
              <a:ext uri="{FF2B5EF4-FFF2-40B4-BE49-F238E27FC236}">
                <a16:creationId xmlns:a16="http://schemas.microsoft.com/office/drawing/2014/main" id="{5F0B723D-A0E6-4AF5-B886-544BDD042904}"/>
              </a:ext>
            </a:extLst>
          </p:cNvPr>
          <p:cNvCxnSpPr>
            <a:endCxn id="12" idx="1"/>
          </p:cNvCxnSpPr>
          <p:nvPr/>
        </p:nvCxnSpPr>
        <p:spPr>
          <a:xfrm flipV="1">
            <a:off x="6331226" y="2713383"/>
            <a:ext cx="2888144" cy="23456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: уступ 16">
            <a:extLst>
              <a:ext uri="{FF2B5EF4-FFF2-40B4-BE49-F238E27FC236}">
                <a16:creationId xmlns:a16="http://schemas.microsoft.com/office/drawing/2014/main" id="{E3E2EFA5-50E3-4588-AFE8-CE97264B6370}"/>
              </a:ext>
            </a:extLst>
          </p:cNvPr>
          <p:cNvCxnSpPr>
            <a:cxnSpLocks/>
          </p:cNvCxnSpPr>
          <p:nvPr/>
        </p:nvCxnSpPr>
        <p:spPr>
          <a:xfrm flipV="1">
            <a:off x="6331226" y="4305731"/>
            <a:ext cx="2888144" cy="1320034"/>
          </a:xfrm>
          <a:prstGeom prst="bentConnector3">
            <a:avLst>
              <a:gd name="adj1" fmla="val 668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: уступ 17">
            <a:extLst>
              <a:ext uri="{FF2B5EF4-FFF2-40B4-BE49-F238E27FC236}">
                <a16:creationId xmlns:a16="http://schemas.microsoft.com/office/drawing/2014/main" id="{E9B81739-04C4-4A16-86CC-57B17909647F}"/>
              </a:ext>
            </a:extLst>
          </p:cNvPr>
          <p:cNvCxnSpPr>
            <a:cxnSpLocks/>
          </p:cNvCxnSpPr>
          <p:nvPr/>
        </p:nvCxnSpPr>
        <p:spPr>
          <a:xfrm flipV="1">
            <a:off x="6331226" y="5535175"/>
            <a:ext cx="2888144" cy="362139"/>
          </a:xfrm>
          <a:prstGeom prst="bentConnector3">
            <a:avLst>
              <a:gd name="adj1" fmla="val 785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Соединитель: уступ 18">
            <a:extLst>
              <a:ext uri="{FF2B5EF4-FFF2-40B4-BE49-F238E27FC236}">
                <a16:creationId xmlns:a16="http://schemas.microsoft.com/office/drawing/2014/main" id="{6ADD1099-2CB9-49E1-9A51-B6FA89ED480D}"/>
              </a:ext>
            </a:extLst>
          </p:cNvPr>
          <p:cNvCxnSpPr>
            <a:cxnSpLocks/>
          </p:cNvCxnSpPr>
          <p:nvPr/>
        </p:nvCxnSpPr>
        <p:spPr>
          <a:xfrm flipV="1">
            <a:off x="6331226" y="2944571"/>
            <a:ext cx="2888144" cy="2403771"/>
          </a:xfrm>
          <a:prstGeom prst="bentConnector3">
            <a:avLst>
              <a:gd name="adj1" fmla="val 57915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3354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23908B-839D-5A27-BC2E-F35C14744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Защита от перезаписи </a:t>
            </a:r>
            <a:r>
              <a:rPr lang="en-US" dirty="0"/>
              <a:t>GOT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C53351-6823-92C3-380E-778D69184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Эффективной защитой от перезаписи </a:t>
            </a:r>
            <a:r>
              <a:rPr lang="en-US" sz="2000" dirty="0"/>
              <a:t>GOT </a:t>
            </a:r>
            <a:r>
              <a:rPr lang="ru-RU" sz="2000" dirty="0"/>
              <a:t>является т.н. </a:t>
            </a:r>
            <a:r>
              <a:rPr lang="en-US" sz="2000" dirty="0"/>
              <a:t>RELRO (relocation read-only). </a:t>
            </a:r>
            <a:r>
              <a:rPr lang="ru-RU" sz="2000" dirty="0"/>
              <a:t>Обычно </a:t>
            </a:r>
            <a:r>
              <a:rPr lang="en-US" sz="2000" dirty="0"/>
              <a:t>RELRO </a:t>
            </a:r>
            <a:r>
              <a:rPr lang="ru-RU" sz="2000" dirty="0"/>
              <a:t>включается специальным флагом компоновщика.</a:t>
            </a:r>
          </a:p>
          <a:p>
            <a:pPr marL="0" indent="0">
              <a:buNone/>
            </a:pPr>
            <a:r>
              <a:rPr lang="ru-RU" sz="2000" dirty="0"/>
              <a:t>При включенном </a:t>
            </a:r>
            <a:r>
              <a:rPr lang="en-US" sz="2000" dirty="0"/>
              <a:t>RELRO</a:t>
            </a:r>
            <a:r>
              <a:rPr lang="ru-RU" sz="2000" dirty="0"/>
              <a:t>:</a:t>
            </a:r>
          </a:p>
          <a:p>
            <a:r>
              <a:rPr lang="ru-RU" sz="2000" dirty="0"/>
              <a:t>Таблица </a:t>
            </a:r>
            <a:r>
              <a:rPr lang="en-US" sz="2000" dirty="0"/>
              <a:t>GOT </a:t>
            </a:r>
            <a:r>
              <a:rPr lang="ru-RU" sz="2000" dirty="0"/>
              <a:t>заполняется компоновщиком полностью при старте программы.</a:t>
            </a:r>
          </a:p>
          <a:p>
            <a:r>
              <a:rPr lang="ru-RU" sz="2000" dirty="0"/>
              <a:t>Сразу после заполнения секция </a:t>
            </a:r>
            <a:r>
              <a:rPr lang="en-US" sz="2000" dirty="0"/>
              <a:t>.got </a:t>
            </a:r>
            <a:r>
              <a:rPr lang="ru-RU" sz="2000" dirty="0"/>
              <a:t>помечается, как </a:t>
            </a:r>
            <a:r>
              <a:rPr lang="en-US" sz="2000" dirty="0"/>
              <a:t>read-only. </a:t>
            </a:r>
            <a:r>
              <a:rPr lang="ru-RU" sz="2000" dirty="0"/>
              <a:t>Любая попытка записи приведет к аппаратному исключению.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BB9B658-6B06-9E85-98DA-8DB470A1A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2680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кучи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31</a:t>
            </a:fld>
            <a:endParaRPr lang="en-US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DA196DDE-2B0D-46C7-A402-DB44ADAEF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47328"/>
            <a:ext cx="6715538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Структура кучи, вообще говоря, зависит от ОС и от реализации стандартной библиотеки языка. </a:t>
            </a:r>
          </a:p>
          <a:p>
            <a:pPr marL="0" indent="0">
              <a:buNone/>
            </a:pPr>
            <a:r>
              <a:rPr lang="ru-RU" sz="2000" dirty="0"/>
              <a:t>В языке С за управление кучей отвечают функции </a:t>
            </a:r>
            <a:r>
              <a:rPr lang="en-US" sz="2000" dirty="0"/>
              <a:t>malloc/free. </a:t>
            </a:r>
            <a:r>
              <a:rPr lang="ru-RU" sz="2000" dirty="0"/>
              <a:t>В</a:t>
            </a:r>
            <a:r>
              <a:rPr lang="en-US" sz="2000" dirty="0"/>
              <a:t> </a:t>
            </a:r>
            <a:r>
              <a:rPr lang="en-US" sz="2000" dirty="0" err="1"/>
              <a:t>libc</a:t>
            </a:r>
            <a:r>
              <a:rPr lang="ru-RU" sz="2000" dirty="0"/>
              <a:t> исходные</a:t>
            </a:r>
            <a:r>
              <a:rPr lang="en-US" sz="2000" dirty="0"/>
              <a:t> </a:t>
            </a:r>
            <a:r>
              <a:rPr lang="ru-RU" sz="2000" dirty="0"/>
              <a:t>реализации этих функций написаны Дугласом Ли. </a:t>
            </a:r>
          </a:p>
          <a:p>
            <a:pPr marL="0" indent="0">
              <a:buNone/>
            </a:pPr>
            <a:r>
              <a:rPr lang="ru-RU" sz="2000" dirty="0"/>
              <a:t>В общих чертах, куча является </a:t>
            </a:r>
            <a:r>
              <a:rPr lang="ru-RU" sz="2000" i="1" dirty="0"/>
              <a:t>двусвязным списком свободных блоков памяти</a:t>
            </a:r>
            <a:r>
              <a:rPr lang="ru-RU" sz="2000" dirty="0"/>
              <a:t>. </a:t>
            </a:r>
          </a:p>
          <a:p>
            <a:pPr marL="0" indent="0">
              <a:buNone/>
            </a:pPr>
            <a:br>
              <a:rPr lang="ru-RU" sz="2000" dirty="0"/>
            </a:br>
            <a:endParaRPr lang="en-US" sz="2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F7D87A9-7E55-41BF-A97D-6D005A1F9F38}"/>
              </a:ext>
            </a:extLst>
          </p:cNvPr>
          <p:cNvSpPr/>
          <p:nvPr/>
        </p:nvSpPr>
        <p:spPr>
          <a:xfrm>
            <a:off x="8491741" y="1546035"/>
            <a:ext cx="3174726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chunk_prev_size</a:t>
            </a:r>
            <a:r>
              <a:rPr lang="en-US" b="1" dirty="0">
                <a:solidFill>
                  <a:schemeClr val="tx1"/>
                </a:solidFill>
              </a:rPr>
              <a:t>/[</a:t>
            </a:r>
            <a:r>
              <a:rPr lang="en-US" b="1" dirty="0" err="1">
                <a:solidFill>
                  <a:schemeClr val="tx1"/>
                </a:solidFill>
              </a:rPr>
              <a:t>prev</a:t>
            </a:r>
            <a:r>
              <a:rPr lang="en-US" b="1" dirty="0">
                <a:solidFill>
                  <a:schemeClr val="tx1"/>
                </a:solidFill>
              </a:rPr>
              <a:t> data]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9F77FF1-8ACC-466E-AE34-CB0E6DC407F2}"/>
              </a:ext>
            </a:extLst>
          </p:cNvPr>
          <p:cNvSpPr/>
          <p:nvPr/>
        </p:nvSpPr>
        <p:spPr>
          <a:xfrm>
            <a:off x="8492282" y="1835340"/>
            <a:ext cx="2310642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chunk_size</a:t>
            </a:r>
            <a:r>
              <a:rPr lang="en-US" b="1" dirty="0">
                <a:solidFill>
                  <a:schemeClr val="tx1"/>
                </a:solidFill>
              </a:rPr>
              <a:t> [/8]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45A9CF0-55F3-4C1C-90A7-4428DB5E8B7E}"/>
              </a:ext>
            </a:extLst>
          </p:cNvPr>
          <p:cNvSpPr/>
          <p:nvPr/>
        </p:nvSpPr>
        <p:spPr>
          <a:xfrm>
            <a:off x="8491741" y="2118548"/>
            <a:ext cx="3174726" cy="15329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[data]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E12D910-2AF9-4F82-9FA2-1A11344980F4}"/>
              </a:ext>
            </a:extLst>
          </p:cNvPr>
          <p:cNvSpPr/>
          <p:nvPr/>
        </p:nvSpPr>
        <p:spPr>
          <a:xfrm>
            <a:off x="8497127" y="3744741"/>
            <a:ext cx="3174726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[</a:t>
            </a:r>
            <a:r>
              <a:rPr lang="en-US" b="1" dirty="0" err="1">
                <a:solidFill>
                  <a:schemeClr val="tx1"/>
                </a:solidFill>
              </a:rPr>
              <a:t>prev</a:t>
            </a:r>
            <a:r>
              <a:rPr lang="en-US" b="1" dirty="0">
                <a:solidFill>
                  <a:schemeClr val="tx1"/>
                </a:solidFill>
              </a:rPr>
              <a:t> data]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06A63D3-6A42-4221-9B7F-0E9E1578AAAD}"/>
              </a:ext>
            </a:extLst>
          </p:cNvPr>
          <p:cNvSpPr/>
          <p:nvPr/>
        </p:nvSpPr>
        <p:spPr>
          <a:xfrm>
            <a:off x="8497127" y="4890404"/>
            <a:ext cx="3174726" cy="9436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[freed data]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D50E797-EE3D-4935-BF5E-CFC08FBAB700}"/>
              </a:ext>
            </a:extLst>
          </p:cNvPr>
          <p:cNvSpPr/>
          <p:nvPr/>
        </p:nvSpPr>
        <p:spPr>
          <a:xfrm>
            <a:off x="10801931" y="1835817"/>
            <a:ext cx="288235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E6B087D-B2C0-417D-896A-DECDE3AF4BEC}"/>
              </a:ext>
            </a:extLst>
          </p:cNvPr>
          <p:cNvSpPr/>
          <p:nvPr/>
        </p:nvSpPr>
        <p:spPr>
          <a:xfrm>
            <a:off x="11091573" y="1835817"/>
            <a:ext cx="288235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05EBF1E-DA60-4A5B-8EDC-A588EBB81F02}"/>
              </a:ext>
            </a:extLst>
          </p:cNvPr>
          <p:cNvSpPr/>
          <p:nvPr/>
        </p:nvSpPr>
        <p:spPr>
          <a:xfrm>
            <a:off x="11377903" y="1835817"/>
            <a:ext cx="288235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F1A3D87-A683-46B2-8BF1-F75D20DDCBD0}"/>
              </a:ext>
            </a:extLst>
          </p:cNvPr>
          <p:cNvSpPr/>
          <p:nvPr/>
        </p:nvSpPr>
        <p:spPr>
          <a:xfrm>
            <a:off x="8497127" y="4318460"/>
            <a:ext cx="31752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forward_block_ptr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822779C-9F8C-49A2-9627-623C0FC6718D}"/>
              </a:ext>
            </a:extLst>
          </p:cNvPr>
          <p:cNvSpPr/>
          <p:nvPr/>
        </p:nvSpPr>
        <p:spPr>
          <a:xfrm>
            <a:off x="8497127" y="4604432"/>
            <a:ext cx="3174726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backward_block_ptr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3A5464A-E2B3-47DB-813D-9AC38CDB8D3C}"/>
              </a:ext>
            </a:extLst>
          </p:cNvPr>
          <p:cNvSpPr/>
          <p:nvPr/>
        </p:nvSpPr>
        <p:spPr>
          <a:xfrm>
            <a:off x="8497127" y="4029154"/>
            <a:ext cx="2305468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chunk_size</a:t>
            </a:r>
            <a:r>
              <a:rPr lang="en-US" b="1" dirty="0">
                <a:solidFill>
                  <a:schemeClr val="tx1"/>
                </a:solidFill>
              </a:rPr>
              <a:t> [/8]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785060B-648B-4E09-8159-BCE4E0224823}"/>
              </a:ext>
            </a:extLst>
          </p:cNvPr>
          <p:cNvSpPr/>
          <p:nvPr/>
        </p:nvSpPr>
        <p:spPr>
          <a:xfrm>
            <a:off x="10811127" y="4029217"/>
            <a:ext cx="288235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0F86266-AFE8-4EF0-8756-B7B8650DD25E}"/>
              </a:ext>
            </a:extLst>
          </p:cNvPr>
          <p:cNvSpPr/>
          <p:nvPr/>
        </p:nvSpPr>
        <p:spPr>
          <a:xfrm>
            <a:off x="11104579" y="4029217"/>
            <a:ext cx="288235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3E49D38-89A2-4197-8AE1-3D86E710BB2B}"/>
              </a:ext>
            </a:extLst>
          </p:cNvPr>
          <p:cNvSpPr/>
          <p:nvPr/>
        </p:nvSpPr>
        <p:spPr>
          <a:xfrm>
            <a:off x="11394718" y="4029154"/>
            <a:ext cx="277463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928914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Занятые блоки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32</a:t>
            </a:fld>
            <a:endParaRPr lang="en-US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DA196DDE-2B0D-46C7-A402-DB44ADAEF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47328"/>
            <a:ext cx="6715538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Структура занятого блока памяти выглядит следующим образом:</a:t>
            </a:r>
          </a:p>
          <a:p>
            <a:pPr marL="0" indent="0">
              <a:buNone/>
            </a:pPr>
            <a:r>
              <a:rPr lang="ru-RU" sz="2000" dirty="0"/>
              <a:t>Поле </a:t>
            </a:r>
            <a:r>
              <a:rPr lang="en-US" sz="2000" b="1" dirty="0" err="1">
                <a:solidFill>
                  <a:schemeClr val="tx1"/>
                </a:solidFill>
              </a:rPr>
              <a:t>chunk_size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ru-RU" sz="2000" dirty="0"/>
              <a:t> равно размеру текущего блока. Т.к. размер блока всегда кратен 16</a:t>
            </a:r>
            <a:r>
              <a:rPr lang="en-US" sz="2000" dirty="0"/>
              <a:t> (</a:t>
            </a:r>
            <a:r>
              <a:rPr lang="ru-RU" sz="2000" dirty="0"/>
              <a:t>для </a:t>
            </a:r>
            <a:r>
              <a:rPr lang="en-US" sz="2000" dirty="0"/>
              <a:t>x64)</a:t>
            </a:r>
            <a:r>
              <a:rPr lang="ru-RU" sz="2000" dirty="0"/>
              <a:t>, последние 3 бита всегда равны 0. Эти 3 бита используются как флаги. </a:t>
            </a:r>
          </a:p>
          <a:p>
            <a:pPr marL="0" indent="0">
              <a:buNone/>
            </a:pPr>
            <a:r>
              <a:rPr lang="ru-RU" sz="2000" dirty="0">
                <a:solidFill>
                  <a:schemeClr val="tx1"/>
                </a:solidFill>
              </a:rPr>
              <a:t>Флаг </a:t>
            </a:r>
            <a:r>
              <a:rPr lang="en-US" sz="2000" b="1" dirty="0">
                <a:solidFill>
                  <a:schemeClr val="tx1"/>
                </a:solidFill>
              </a:rPr>
              <a:t>P</a:t>
            </a:r>
            <a:r>
              <a:rPr lang="ru-RU" sz="2000" b="1" dirty="0">
                <a:solidFill>
                  <a:schemeClr val="tx1"/>
                </a:solidFill>
              </a:rPr>
              <a:t> </a:t>
            </a:r>
            <a:r>
              <a:rPr lang="ru-RU" sz="2000" dirty="0">
                <a:solidFill>
                  <a:schemeClr val="tx1"/>
                </a:solidFill>
              </a:rPr>
              <a:t>отвечает за состояние предыдущего блока памяти (0 если свободен, 1 если выделен).</a:t>
            </a:r>
          </a:p>
          <a:p>
            <a:pPr marL="0" indent="0">
              <a:buNone/>
            </a:pPr>
            <a:r>
              <a:rPr lang="ru-RU" sz="2000" dirty="0"/>
              <a:t>Поле </a:t>
            </a:r>
            <a:r>
              <a:rPr lang="en-US" sz="2000" b="1" dirty="0" err="1"/>
              <a:t>chunk_prev_size</a:t>
            </a:r>
            <a:r>
              <a:rPr lang="ru-RU" sz="2000" b="1" dirty="0"/>
              <a:t> </a:t>
            </a:r>
            <a:r>
              <a:rPr lang="ru-RU" sz="2000" dirty="0"/>
              <a:t> равно размеру  предыдущего блока памяти, если предыдущий блок свободен. </a:t>
            </a:r>
            <a:r>
              <a:rPr lang="ru-RU" sz="2000" i="1" dirty="0"/>
              <a:t>Если предыдущий блок занят – в этом поле могут храниться данные предыдущего блока.</a:t>
            </a:r>
            <a:endParaRPr lang="ru-RU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/>
              <a:t>Malloc</a:t>
            </a:r>
            <a:r>
              <a:rPr lang="ru-RU" sz="2000" dirty="0"/>
              <a:t>()</a:t>
            </a:r>
            <a:r>
              <a:rPr lang="en-US" sz="2000" dirty="0"/>
              <a:t> </a:t>
            </a:r>
            <a:r>
              <a:rPr lang="ru-RU" sz="2000" dirty="0"/>
              <a:t>всегда возвращает адрес начала данных.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2000" dirty="0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5FE8A212-3D03-4214-AC22-C6CB424B5927}"/>
              </a:ext>
            </a:extLst>
          </p:cNvPr>
          <p:cNvCxnSpPr>
            <a:cxnSpLocks/>
          </p:cNvCxnSpPr>
          <p:nvPr/>
        </p:nvCxnSpPr>
        <p:spPr>
          <a:xfrm>
            <a:off x="7710221" y="3265815"/>
            <a:ext cx="7763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BD18E6C-D9E8-4789-A147-509DD37BC00C}"/>
              </a:ext>
            </a:extLst>
          </p:cNvPr>
          <p:cNvSpPr txBox="1"/>
          <p:nvPr/>
        </p:nvSpPr>
        <p:spPr>
          <a:xfrm>
            <a:off x="8412933" y="1723751"/>
            <a:ext cx="2970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void* </a:t>
            </a:r>
            <a:r>
              <a:rPr lang="en-US" dirty="0" err="1">
                <a:latin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</a:rPr>
              <a:t> = malloc(x);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AD313F-B255-4745-8EFD-13B514359903}"/>
              </a:ext>
            </a:extLst>
          </p:cNvPr>
          <p:cNvSpPr txBox="1"/>
          <p:nvPr/>
        </p:nvSpPr>
        <p:spPr>
          <a:xfrm>
            <a:off x="7669482" y="2938641"/>
            <a:ext cx="596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ptr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0DA317F-22B0-C708-D5AD-082F58591367}"/>
              </a:ext>
            </a:extLst>
          </p:cNvPr>
          <p:cNvSpPr/>
          <p:nvPr/>
        </p:nvSpPr>
        <p:spPr>
          <a:xfrm>
            <a:off x="8486567" y="2693302"/>
            <a:ext cx="3174726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chunk_prev_size</a:t>
            </a:r>
            <a:r>
              <a:rPr lang="ru-RU" b="1" dirty="0">
                <a:solidFill>
                  <a:schemeClr val="tx1"/>
                </a:solidFill>
              </a:rPr>
              <a:t>/</a:t>
            </a:r>
            <a:r>
              <a:rPr lang="en-US" b="1" dirty="0">
                <a:solidFill>
                  <a:schemeClr val="tx1"/>
                </a:solidFill>
              </a:rPr>
              <a:t>[</a:t>
            </a:r>
            <a:r>
              <a:rPr lang="en-US" b="1" dirty="0" err="1">
                <a:solidFill>
                  <a:schemeClr val="tx1"/>
                </a:solidFill>
              </a:rPr>
              <a:t>prev</a:t>
            </a:r>
            <a:r>
              <a:rPr lang="en-US" b="1" dirty="0">
                <a:solidFill>
                  <a:schemeClr val="tx1"/>
                </a:solidFill>
              </a:rPr>
              <a:t> data]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7D993C3-3657-2339-E452-16A7E4FE421B}"/>
              </a:ext>
            </a:extLst>
          </p:cNvPr>
          <p:cNvSpPr/>
          <p:nvPr/>
        </p:nvSpPr>
        <p:spPr>
          <a:xfrm>
            <a:off x="8487108" y="2982607"/>
            <a:ext cx="2310642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chunk_size</a:t>
            </a:r>
            <a:r>
              <a:rPr lang="en-US" b="1" dirty="0">
                <a:solidFill>
                  <a:schemeClr val="tx1"/>
                </a:solidFill>
              </a:rPr>
              <a:t> [/8]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4BBA5CD-1167-ACD9-5F19-76D1A5B81F89}"/>
              </a:ext>
            </a:extLst>
          </p:cNvPr>
          <p:cNvSpPr/>
          <p:nvPr/>
        </p:nvSpPr>
        <p:spPr>
          <a:xfrm>
            <a:off x="8486567" y="3265815"/>
            <a:ext cx="3174726" cy="15329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[data]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D332020-3F92-4134-369A-8A385B6EC800}"/>
              </a:ext>
            </a:extLst>
          </p:cNvPr>
          <p:cNvSpPr/>
          <p:nvPr/>
        </p:nvSpPr>
        <p:spPr>
          <a:xfrm>
            <a:off x="10796757" y="2983084"/>
            <a:ext cx="288235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6104535-BD46-EA38-A78A-B1A2A8C73D60}"/>
              </a:ext>
            </a:extLst>
          </p:cNvPr>
          <p:cNvSpPr/>
          <p:nvPr/>
        </p:nvSpPr>
        <p:spPr>
          <a:xfrm>
            <a:off x="11086399" y="2983084"/>
            <a:ext cx="288235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8C4C28F-5479-F88F-6660-ED5454E3204E}"/>
              </a:ext>
            </a:extLst>
          </p:cNvPr>
          <p:cNvSpPr/>
          <p:nvPr/>
        </p:nvSpPr>
        <p:spPr>
          <a:xfrm>
            <a:off x="11372729" y="2983084"/>
            <a:ext cx="288235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21359234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Свободные блоки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33</a:t>
            </a:fld>
            <a:endParaRPr lang="en-US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DA196DDE-2B0D-46C7-A402-DB44ADAEF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47328"/>
            <a:ext cx="6945172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Если блок данных свободен, то в части бывших данных располагаются 2 поля: указатель на предыдущий свободный блок (</a:t>
            </a:r>
            <a:r>
              <a:rPr lang="en-US" sz="2000" b="1" dirty="0" err="1">
                <a:solidFill>
                  <a:schemeClr val="tx1"/>
                </a:solidFill>
              </a:rPr>
              <a:t>forward_block_ptr</a:t>
            </a:r>
            <a:r>
              <a:rPr lang="ru-RU" sz="2000" dirty="0"/>
              <a:t>) и следующий свободный блок (</a:t>
            </a:r>
            <a:r>
              <a:rPr lang="en-US" sz="2000" b="1" dirty="0" err="1">
                <a:solidFill>
                  <a:schemeClr val="tx1"/>
                </a:solidFill>
              </a:rPr>
              <a:t>backward_block_ptr</a:t>
            </a:r>
            <a:r>
              <a:rPr lang="ru-RU" sz="2000" dirty="0"/>
              <a:t>)</a:t>
            </a:r>
            <a:r>
              <a:rPr lang="en-US" sz="2000" dirty="0"/>
              <a:t> 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Функция </a:t>
            </a:r>
            <a:r>
              <a:rPr lang="en-US" sz="2000" dirty="0"/>
              <a:t>free</a:t>
            </a:r>
            <a:r>
              <a:rPr lang="ru-RU" sz="2000" dirty="0"/>
              <a:t>()</a:t>
            </a:r>
            <a:r>
              <a:rPr lang="en-US" sz="2000" dirty="0"/>
              <a:t> </a:t>
            </a:r>
            <a:r>
              <a:rPr lang="ru-RU" sz="2000" dirty="0"/>
              <a:t>заполняет эти поля при освобождении блока.</a:t>
            </a:r>
          </a:p>
          <a:p>
            <a:pPr marL="0" indent="0">
              <a:buNone/>
            </a:pPr>
            <a:r>
              <a:rPr lang="ru-RU" sz="2000" dirty="0"/>
              <a:t>Если освобождается блок данных, перед которым уже есть свободный блок, они объединяются в один =</a:t>
            </a:r>
            <a:r>
              <a:rPr lang="en-US" sz="2000" dirty="0"/>
              <a:t>&gt; </a:t>
            </a:r>
            <a:r>
              <a:rPr lang="ru-RU" sz="2000" dirty="0"/>
              <a:t>перед свободным блоком и после свободного блока не может находиться другой свободный блок</a:t>
            </a:r>
            <a:r>
              <a:rPr lang="en-US" sz="2000" dirty="0"/>
              <a:t> </a:t>
            </a:r>
            <a:r>
              <a:rPr lang="ru-RU" sz="2000" dirty="0"/>
              <a:t>=</a:t>
            </a:r>
            <a:r>
              <a:rPr lang="en-US" sz="2000" dirty="0"/>
              <a:t>&gt; </a:t>
            </a:r>
            <a:r>
              <a:rPr lang="ru-RU" sz="2000" dirty="0"/>
              <a:t>флаг </a:t>
            </a:r>
            <a:r>
              <a:rPr lang="en-US" sz="2000" dirty="0"/>
              <a:t>P=1</a:t>
            </a:r>
            <a:r>
              <a:rPr lang="ru-RU" sz="2000" dirty="0"/>
              <a:t>.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DABAC2D-3AE1-9135-73F8-E9A0ACB22B24}"/>
              </a:ext>
            </a:extLst>
          </p:cNvPr>
          <p:cNvSpPr/>
          <p:nvPr/>
        </p:nvSpPr>
        <p:spPr>
          <a:xfrm>
            <a:off x="8722211" y="1803399"/>
            <a:ext cx="3174726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[</a:t>
            </a:r>
            <a:r>
              <a:rPr lang="en-US" b="1" dirty="0" err="1">
                <a:solidFill>
                  <a:schemeClr val="tx1"/>
                </a:solidFill>
              </a:rPr>
              <a:t>prev</a:t>
            </a:r>
            <a:r>
              <a:rPr lang="en-US" b="1" dirty="0">
                <a:solidFill>
                  <a:schemeClr val="tx1"/>
                </a:solidFill>
              </a:rPr>
              <a:t> data]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8397FC2-8938-3E43-ED08-4F9554141561}"/>
              </a:ext>
            </a:extLst>
          </p:cNvPr>
          <p:cNvSpPr/>
          <p:nvPr/>
        </p:nvSpPr>
        <p:spPr>
          <a:xfrm>
            <a:off x="8722211" y="2949062"/>
            <a:ext cx="3174726" cy="9436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[freed data]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236B421-E050-E5B9-2EAD-ECD8215E0877}"/>
              </a:ext>
            </a:extLst>
          </p:cNvPr>
          <p:cNvSpPr/>
          <p:nvPr/>
        </p:nvSpPr>
        <p:spPr>
          <a:xfrm>
            <a:off x="8722211" y="2377118"/>
            <a:ext cx="31752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forward_block_ptr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AAFA72A-1119-6E35-A127-303A5CDF6F75}"/>
              </a:ext>
            </a:extLst>
          </p:cNvPr>
          <p:cNvSpPr/>
          <p:nvPr/>
        </p:nvSpPr>
        <p:spPr>
          <a:xfrm>
            <a:off x="8722211" y="2663090"/>
            <a:ext cx="3174726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backward_block_ptr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B865BA0-8C24-AFA8-BE83-0601EAE15982}"/>
              </a:ext>
            </a:extLst>
          </p:cNvPr>
          <p:cNvSpPr/>
          <p:nvPr/>
        </p:nvSpPr>
        <p:spPr>
          <a:xfrm>
            <a:off x="8722211" y="2087812"/>
            <a:ext cx="2305468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chunk_size</a:t>
            </a:r>
            <a:r>
              <a:rPr lang="en-US" b="1" dirty="0">
                <a:solidFill>
                  <a:schemeClr val="tx1"/>
                </a:solidFill>
              </a:rPr>
              <a:t> [/8]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D88F059-3EE1-A7E9-389F-770864DCAE21}"/>
              </a:ext>
            </a:extLst>
          </p:cNvPr>
          <p:cNvSpPr/>
          <p:nvPr/>
        </p:nvSpPr>
        <p:spPr>
          <a:xfrm>
            <a:off x="11036211" y="2087875"/>
            <a:ext cx="288235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31C7B9E-36AE-3FEA-85E8-5A5E3BA642DB}"/>
              </a:ext>
            </a:extLst>
          </p:cNvPr>
          <p:cNvSpPr/>
          <p:nvPr/>
        </p:nvSpPr>
        <p:spPr>
          <a:xfrm>
            <a:off x="11329663" y="2087875"/>
            <a:ext cx="288235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4C97F86-6F58-6AFB-BFE5-31D306F02FA0}"/>
              </a:ext>
            </a:extLst>
          </p:cNvPr>
          <p:cNvSpPr/>
          <p:nvPr/>
        </p:nvSpPr>
        <p:spPr>
          <a:xfrm>
            <a:off x="11619802" y="2087812"/>
            <a:ext cx="277463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958034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C7DFE-1A30-AB37-1A8E-FCB2F1DB8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2BEFE4-DD71-0E36-23BC-CEC34D9B8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кучи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FC11D89-7817-3EED-F915-4231B592B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34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E1B082-EAD7-8048-BAE9-A90D9C237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941700"/>
              </p:ext>
            </p:extLst>
          </p:nvPr>
        </p:nvGraphicFramePr>
        <p:xfrm>
          <a:off x="5278610" y="573895"/>
          <a:ext cx="3165408" cy="12203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8922">
                  <a:extLst>
                    <a:ext uri="{9D8B030D-6E8A-4147-A177-3AD203B41FA5}">
                      <a16:colId xmlns:a16="http://schemas.microsoft.com/office/drawing/2014/main" val="2912927024"/>
                    </a:ext>
                  </a:extLst>
                </a:gridCol>
                <a:gridCol w="251182">
                  <a:extLst>
                    <a:ext uri="{9D8B030D-6E8A-4147-A177-3AD203B41FA5}">
                      <a16:colId xmlns:a16="http://schemas.microsoft.com/office/drawing/2014/main" val="1597183080"/>
                    </a:ext>
                  </a:extLst>
                </a:gridCol>
                <a:gridCol w="244572">
                  <a:extLst>
                    <a:ext uri="{9D8B030D-6E8A-4147-A177-3AD203B41FA5}">
                      <a16:colId xmlns:a16="http://schemas.microsoft.com/office/drawing/2014/main" val="1819341939"/>
                    </a:ext>
                  </a:extLst>
                </a:gridCol>
                <a:gridCol w="230732">
                  <a:extLst>
                    <a:ext uri="{9D8B030D-6E8A-4147-A177-3AD203B41FA5}">
                      <a16:colId xmlns:a16="http://schemas.microsoft.com/office/drawing/2014/main" val="2245450058"/>
                    </a:ext>
                  </a:extLst>
                </a:gridCol>
              </a:tblGrid>
              <a:tr h="305076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[data end]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rgbClr val="87B6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241103"/>
                  </a:ext>
                </a:extLst>
              </a:tr>
              <a:tr h="305076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chunk_size</a:t>
                      </a:r>
                      <a:r>
                        <a:rPr lang="en-US" dirty="0"/>
                        <a:t>=32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rgbClr val="87B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rgbClr val="87B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rgbClr val="87B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rgbClr val="87B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087210"/>
                  </a:ext>
                </a:extLst>
              </a:tr>
              <a:tr h="305076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forward_block_ptr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rgbClr val="87B6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356869"/>
                  </a:ext>
                </a:extLst>
              </a:tr>
              <a:tr h="305076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backward_block_ptr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rgbClr val="87B6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92259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3094C0-C764-0983-1260-4194C03BCB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841151"/>
              </p:ext>
            </p:extLst>
          </p:nvPr>
        </p:nvGraphicFramePr>
        <p:xfrm>
          <a:off x="5278610" y="1794199"/>
          <a:ext cx="3165408" cy="18304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8922">
                  <a:extLst>
                    <a:ext uri="{9D8B030D-6E8A-4147-A177-3AD203B41FA5}">
                      <a16:colId xmlns:a16="http://schemas.microsoft.com/office/drawing/2014/main" val="2912927024"/>
                    </a:ext>
                  </a:extLst>
                </a:gridCol>
                <a:gridCol w="251182">
                  <a:extLst>
                    <a:ext uri="{9D8B030D-6E8A-4147-A177-3AD203B41FA5}">
                      <a16:colId xmlns:a16="http://schemas.microsoft.com/office/drawing/2014/main" val="1597183080"/>
                    </a:ext>
                  </a:extLst>
                </a:gridCol>
                <a:gridCol w="244572">
                  <a:extLst>
                    <a:ext uri="{9D8B030D-6E8A-4147-A177-3AD203B41FA5}">
                      <a16:colId xmlns:a16="http://schemas.microsoft.com/office/drawing/2014/main" val="1819341939"/>
                    </a:ext>
                  </a:extLst>
                </a:gridCol>
                <a:gridCol w="230732">
                  <a:extLst>
                    <a:ext uri="{9D8B030D-6E8A-4147-A177-3AD203B41FA5}">
                      <a16:colId xmlns:a16="http://schemas.microsoft.com/office/drawing/2014/main" val="2245450058"/>
                    </a:ext>
                  </a:extLst>
                </a:gridCol>
              </a:tblGrid>
              <a:tr h="305076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prev_data_size</a:t>
                      </a:r>
                      <a:r>
                        <a:rPr lang="en-US" dirty="0"/>
                        <a:t>=32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241103"/>
                  </a:ext>
                </a:extLst>
              </a:tr>
              <a:tr h="305076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chunk_size</a:t>
                      </a:r>
                      <a:r>
                        <a:rPr lang="en-US" dirty="0"/>
                        <a:t>=128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087210"/>
                  </a:ext>
                </a:extLst>
              </a:tr>
              <a:tr h="1220304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[data]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16367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9212650-822B-518A-3028-2D5FDE3591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477760"/>
              </p:ext>
            </p:extLst>
          </p:nvPr>
        </p:nvGraphicFramePr>
        <p:xfrm>
          <a:off x="5278610" y="4844959"/>
          <a:ext cx="3165408" cy="15253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8922">
                  <a:extLst>
                    <a:ext uri="{9D8B030D-6E8A-4147-A177-3AD203B41FA5}">
                      <a16:colId xmlns:a16="http://schemas.microsoft.com/office/drawing/2014/main" val="2912927024"/>
                    </a:ext>
                  </a:extLst>
                </a:gridCol>
                <a:gridCol w="251182">
                  <a:extLst>
                    <a:ext uri="{9D8B030D-6E8A-4147-A177-3AD203B41FA5}">
                      <a16:colId xmlns:a16="http://schemas.microsoft.com/office/drawing/2014/main" val="1597183080"/>
                    </a:ext>
                  </a:extLst>
                </a:gridCol>
                <a:gridCol w="244572">
                  <a:extLst>
                    <a:ext uri="{9D8B030D-6E8A-4147-A177-3AD203B41FA5}">
                      <a16:colId xmlns:a16="http://schemas.microsoft.com/office/drawing/2014/main" val="1819341939"/>
                    </a:ext>
                  </a:extLst>
                </a:gridCol>
                <a:gridCol w="230732">
                  <a:extLst>
                    <a:ext uri="{9D8B030D-6E8A-4147-A177-3AD203B41FA5}">
                      <a16:colId xmlns:a16="http://schemas.microsoft.com/office/drawing/2014/main" val="2245450058"/>
                    </a:ext>
                  </a:extLst>
                </a:gridCol>
              </a:tblGrid>
              <a:tr h="305076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[data end]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241103"/>
                  </a:ext>
                </a:extLst>
              </a:tr>
              <a:tr h="305076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chunk_size</a:t>
                      </a:r>
                      <a:r>
                        <a:rPr lang="en-US" dirty="0"/>
                        <a:t>=32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rgbClr val="87B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rgbClr val="87B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rgbClr val="87B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rgbClr val="87B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087210"/>
                  </a:ext>
                </a:extLst>
              </a:tr>
              <a:tr h="305076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forward_block_ptr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rgbClr val="87B6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356869"/>
                  </a:ext>
                </a:extLst>
              </a:tr>
              <a:tr h="305076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backward_block_ptr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rgbClr val="87B6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922593"/>
                  </a:ext>
                </a:extLst>
              </a:tr>
              <a:tr h="305076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[free area]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rgbClr val="87B6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37229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E9E61CB-CD65-557C-FD1E-160A35271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706808"/>
              </p:ext>
            </p:extLst>
          </p:nvPr>
        </p:nvGraphicFramePr>
        <p:xfrm>
          <a:off x="5278610" y="3624655"/>
          <a:ext cx="3165408" cy="12203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8922">
                  <a:extLst>
                    <a:ext uri="{9D8B030D-6E8A-4147-A177-3AD203B41FA5}">
                      <a16:colId xmlns:a16="http://schemas.microsoft.com/office/drawing/2014/main" val="2912927024"/>
                    </a:ext>
                  </a:extLst>
                </a:gridCol>
                <a:gridCol w="251182">
                  <a:extLst>
                    <a:ext uri="{9D8B030D-6E8A-4147-A177-3AD203B41FA5}">
                      <a16:colId xmlns:a16="http://schemas.microsoft.com/office/drawing/2014/main" val="1597183080"/>
                    </a:ext>
                  </a:extLst>
                </a:gridCol>
                <a:gridCol w="244572">
                  <a:extLst>
                    <a:ext uri="{9D8B030D-6E8A-4147-A177-3AD203B41FA5}">
                      <a16:colId xmlns:a16="http://schemas.microsoft.com/office/drawing/2014/main" val="1819341939"/>
                    </a:ext>
                  </a:extLst>
                </a:gridCol>
                <a:gridCol w="230732">
                  <a:extLst>
                    <a:ext uri="{9D8B030D-6E8A-4147-A177-3AD203B41FA5}">
                      <a16:colId xmlns:a16="http://schemas.microsoft.com/office/drawing/2014/main" val="2245450058"/>
                    </a:ext>
                  </a:extLst>
                </a:gridCol>
              </a:tblGrid>
              <a:tr h="305076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[data end]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241103"/>
                  </a:ext>
                </a:extLst>
              </a:tr>
              <a:tr h="305076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chunk_size</a:t>
                      </a:r>
                      <a:r>
                        <a:rPr lang="en-US" dirty="0"/>
                        <a:t>=32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087210"/>
                  </a:ext>
                </a:extLst>
              </a:tr>
              <a:tr h="610152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[data]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356869"/>
                  </a:ext>
                </a:extLst>
              </a:tr>
            </a:tbl>
          </a:graphicData>
        </a:graphic>
      </p:graphicFrame>
      <p:sp>
        <p:nvSpPr>
          <p:cNvPr id="9" name="Right Brace 8">
            <a:extLst>
              <a:ext uri="{FF2B5EF4-FFF2-40B4-BE49-F238E27FC236}">
                <a16:creationId xmlns:a16="http://schemas.microsoft.com/office/drawing/2014/main" id="{CCC2644F-8E5B-9913-8A0C-AD70AD6F142F}"/>
              </a:ext>
            </a:extLst>
          </p:cNvPr>
          <p:cNvSpPr/>
          <p:nvPr/>
        </p:nvSpPr>
        <p:spPr>
          <a:xfrm>
            <a:off x="8444018" y="573895"/>
            <a:ext cx="252000" cy="1220304"/>
          </a:xfrm>
          <a:prstGeom prst="righ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CAF78A99-F444-D7AB-65A0-9A99FA70430F}"/>
              </a:ext>
            </a:extLst>
          </p:cNvPr>
          <p:cNvSpPr/>
          <p:nvPr/>
        </p:nvSpPr>
        <p:spPr>
          <a:xfrm>
            <a:off x="8444018" y="1794198"/>
            <a:ext cx="252000" cy="1830455"/>
          </a:xfrm>
          <a:prstGeom prst="righ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00B7199E-9093-5221-EA36-50150C06D704}"/>
              </a:ext>
            </a:extLst>
          </p:cNvPr>
          <p:cNvSpPr/>
          <p:nvPr/>
        </p:nvSpPr>
        <p:spPr>
          <a:xfrm>
            <a:off x="8444018" y="3624654"/>
            <a:ext cx="252000" cy="1220304"/>
          </a:xfrm>
          <a:prstGeom prst="righ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Right Brace 40">
            <a:extLst>
              <a:ext uri="{FF2B5EF4-FFF2-40B4-BE49-F238E27FC236}">
                <a16:creationId xmlns:a16="http://schemas.microsoft.com/office/drawing/2014/main" id="{0B77B4A7-8534-15CE-D0D2-42DD0B01655E}"/>
              </a:ext>
            </a:extLst>
          </p:cNvPr>
          <p:cNvSpPr/>
          <p:nvPr/>
        </p:nvSpPr>
        <p:spPr>
          <a:xfrm>
            <a:off x="8463039" y="4844958"/>
            <a:ext cx="232979" cy="1511392"/>
          </a:xfrm>
          <a:prstGeom prst="righ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2" name="Соединитель: уступ 48">
            <a:extLst>
              <a:ext uri="{FF2B5EF4-FFF2-40B4-BE49-F238E27FC236}">
                <a16:creationId xmlns:a16="http://schemas.microsoft.com/office/drawing/2014/main" id="{9A6477B8-A2B1-6FCA-2C16-B1D19D77D4CA}"/>
              </a:ext>
            </a:extLst>
          </p:cNvPr>
          <p:cNvCxnSpPr>
            <a:cxnSpLocks/>
          </p:cNvCxnSpPr>
          <p:nvPr/>
        </p:nvCxnSpPr>
        <p:spPr>
          <a:xfrm rot="10800000" flipH="1">
            <a:off x="5278610" y="567823"/>
            <a:ext cx="10772" cy="5328000"/>
          </a:xfrm>
          <a:prstGeom prst="bentConnector3">
            <a:avLst>
              <a:gd name="adj1" fmla="val -473951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Соединитель: уступ 48">
            <a:extLst>
              <a:ext uri="{FF2B5EF4-FFF2-40B4-BE49-F238E27FC236}">
                <a16:creationId xmlns:a16="http://schemas.microsoft.com/office/drawing/2014/main" id="{6C621FE0-EDFD-0EF3-CBD9-A01E568A4F1F}"/>
              </a:ext>
            </a:extLst>
          </p:cNvPr>
          <p:cNvCxnSpPr>
            <a:cxnSpLocks/>
          </p:cNvCxnSpPr>
          <p:nvPr/>
        </p:nvCxnSpPr>
        <p:spPr>
          <a:xfrm rot="10800000" flipV="1">
            <a:off x="8433246" y="1352958"/>
            <a:ext cx="10772" cy="3492000"/>
          </a:xfrm>
          <a:prstGeom prst="bentConnector3">
            <a:avLst>
              <a:gd name="adj1" fmla="val -12214259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Соединитель: уступ 44">
            <a:extLst>
              <a:ext uri="{FF2B5EF4-FFF2-40B4-BE49-F238E27FC236}">
                <a16:creationId xmlns:a16="http://schemas.microsoft.com/office/drawing/2014/main" id="{85B7E9F6-6096-762D-DC4E-2984CBCB2707}"/>
              </a:ext>
            </a:extLst>
          </p:cNvPr>
          <p:cNvCxnSpPr>
            <a:cxnSpLocks/>
          </p:cNvCxnSpPr>
          <p:nvPr/>
        </p:nvCxnSpPr>
        <p:spPr>
          <a:xfrm rot="10800000">
            <a:off x="4511837" y="567823"/>
            <a:ext cx="756000" cy="10250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Соединитель: уступ 52">
            <a:extLst>
              <a:ext uri="{FF2B5EF4-FFF2-40B4-BE49-F238E27FC236}">
                <a16:creationId xmlns:a16="http://schemas.microsoft.com/office/drawing/2014/main" id="{4E200E43-1B2B-2C29-996A-24D42C74E9AE}"/>
              </a:ext>
            </a:extLst>
          </p:cNvPr>
          <p:cNvCxnSpPr>
            <a:cxnSpLocks/>
          </p:cNvCxnSpPr>
          <p:nvPr/>
        </p:nvCxnSpPr>
        <p:spPr>
          <a:xfrm>
            <a:off x="8444018" y="5668442"/>
            <a:ext cx="549558" cy="9916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0317886-260A-35BF-DDD8-858E809CD265}"/>
              </a:ext>
            </a:extLst>
          </p:cNvPr>
          <p:cNvSpPr txBox="1"/>
          <p:nvPr/>
        </p:nvSpPr>
        <p:spPr>
          <a:xfrm>
            <a:off x="4776631" y="146735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0x0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AF2477-B01A-80A7-6C50-E3FE9CCB1840}"/>
              </a:ext>
            </a:extLst>
          </p:cNvPr>
          <p:cNvSpPr txBox="1"/>
          <p:nvPr/>
        </p:nvSpPr>
        <p:spPr>
          <a:xfrm>
            <a:off x="4504154" y="6308209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0xF…F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16685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ru-RU" dirty="0"/>
              <a:t>Слияние свободных блоков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35</a:t>
            </a:fld>
            <a:endParaRPr lang="en-US" dirty="0"/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2F3CFC66-DB11-4947-B12F-E46364A72B1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7FBA2B-964F-4C4D-AAF7-5A8399264638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144" name="Прямоугольник 143">
            <a:extLst>
              <a:ext uri="{FF2B5EF4-FFF2-40B4-BE49-F238E27FC236}">
                <a16:creationId xmlns:a16="http://schemas.microsoft.com/office/drawing/2014/main" id="{29CEA1AD-993F-4F40-915E-17EAB7061EA2}"/>
              </a:ext>
            </a:extLst>
          </p:cNvPr>
          <p:cNvSpPr/>
          <p:nvPr/>
        </p:nvSpPr>
        <p:spPr>
          <a:xfrm>
            <a:off x="1651865" y="2963621"/>
            <a:ext cx="2196000" cy="54920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non_free_block1</a:t>
            </a:r>
          </a:p>
        </p:txBody>
      </p:sp>
      <p:sp>
        <p:nvSpPr>
          <p:cNvPr id="147" name="Прямоугольник 146">
            <a:extLst>
              <a:ext uri="{FF2B5EF4-FFF2-40B4-BE49-F238E27FC236}">
                <a16:creationId xmlns:a16="http://schemas.microsoft.com/office/drawing/2014/main" id="{85C61A1E-43BE-4AF6-B321-979D824D3887}"/>
              </a:ext>
            </a:extLst>
          </p:cNvPr>
          <p:cNvSpPr/>
          <p:nvPr/>
        </p:nvSpPr>
        <p:spPr>
          <a:xfrm>
            <a:off x="1651863" y="4742384"/>
            <a:ext cx="2196000" cy="5492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non_free_block3</a:t>
            </a:r>
          </a:p>
        </p:txBody>
      </p:sp>
      <p:sp>
        <p:nvSpPr>
          <p:cNvPr id="150" name="Прямоугольник 149">
            <a:extLst>
              <a:ext uri="{FF2B5EF4-FFF2-40B4-BE49-F238E27FC236}">
                <a16:creationId xmlns:a16="http://schemas.microsoft.com/office/drawing/2014/main" id="{706C977D-1F27-4AF6-AD0B-C14B2F6CF822}"/>
              </a:ext>
            </a:extLst>
          </p:cNvPr>
          <p:cNvSpPr/>
          <p:nvPr/>
        </p:nvSpPr>
        <p:spPr>
          <a:xfrm>
            <a:off x="1651864" y="1738079"/>
            <a:ext cx="2196000" cy="1218890"/>
          </a:xfrm>
          <a:prstGeom prst="rect">
            <a:avLst/>
          </a:prstGeom>
          <a:solidFill>
            <a:srgbClr val="87B6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free_block0</a:t>
            </a:r>
          </a:p>
        </p:txBody>
      </p:sp>
      <p:sp>
        <p:nvSpPr>
          <p:cNvPr id="151" name="Прямоугольник 150">
            <a:extLst>
              <a:ext uri="{FF2B5EF4-FFF2-40B4-BE49-F238E27FC236}">
                <a16:creationId xmlns:a16="http://schemas.microsoft.com/office/drawing/2014/main" id="{95C129FC-4479-42DA-B4C1-5401EF3A0893}"/>
              </a:ext>
            </a:extLst>
          </p:cNvPr>
          <p:cNvSpPr/>
          <p:nvPr/>
        </p:nvSpPr>
        <p:spPr>
          <a:xfrm>
            <a:off x="1842384" y="2053432"/>
            <a:ext cx="1907469" cy="3703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err="1">
                <a:solidFill>
                  <a:schemeClr val="tx1"/>
                </a:solidFill>
              </a:rPr>
              <a:t>fp</a:t>
            </a:r>
            <a:r>
              <a:rPr lang="en-US" b="1" dirty="0">
                <a:solidFill>
                  <a:schemeClr val="tx1"/>
                </a:solidFill>
              </a:rPr>
              <a:t>: free_block1</a:t>
            </a: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5332F581-41E7-43DA-8103-957F2158A231}"/>
              </a:ext>
            </a:extLst>
          </p:cNvPr>
          <p:cNvSpPr/>
          <p:nvPr/>
        </p:nvSpPr>
        <p:spPr>
          <a:xfrm>
            <a:off x="1842383" y="2432071"/>
            <a:ext cx="1907469" cy="3703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bp: ???</a:t>
            </a: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C279CE61-CEFA-40B3-985F-B307AC69ECB5}"/>
              </a:ext>
            </a:extLst>
          </p:cNvPr>
          <p:cNvSpPr/>
          <p:nvPr/>
        </p:nvSpPr>
        <p:spPr>
          <a:xfrm>
            <a:off x="1651864" y="3519475"/>
            <a:ext cx="2196000" cy="12188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free_block1</a:t>
            </a:r>
          </a:p>
        </p:txBody>
      </p:sp>
      <p:sp>
        <p:nvSpPr>
          <p:cNvPr id="154" name="Прямоугольник 153">
            <a:extLst>
              <a:ext uri="{FF2B5EF4-FFF2-40B4-BE49-F238E27FC236}">
                <a16:creationId xmlns:a16="http://schemas.microsoft.com/office/drawing/2014/main" id="{5797C2D0-08C7-4890-B137-339B229CBB86}"/>
              </a:ext>
            </a:extLst>
          </p:cNvPr>
          <p:cNvSpPr/>
          <p:nvPr/>
        </p:nvSpPr>
        <p:spPr>
          <a:xfrm>
            <a:off x="1842384" y="3838638"/>
            <a:ext cx="1907469" cy="3703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err="1">
                <a:solidFill>
                  <a:schemeClr val="tx1"/>
                </a:solidFill>
              </a:rPr>
              <a:t>fp</a:t>
            </a:r>
            <a:r>
              <a:rPr lang="en-US" b="1" dirty="0">
                <a:solidFill>
                  <a:schemeClr val="tx1"/>
                </a:solidFill>
              </a:rPr>
              <a:t>: &amp;free_block2</a:t>
            </a: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A27C9AD8-AAF1-4FA5-903D-AD107F704A58}"/>
              </a:ext>
            </a:extLst>
          </p:cNvPr>
          <p:cNvSpPr/>
          <p:nvPr/>
        </p:nvSpPr>
        <p:spPr>
          <a:xfrm>
            <a:off x="1842383" y="4205085"/>
            <a:ext cx="1907469" cy="3703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bp: &amp;free_block0</a:t>
            </a: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FAEDF86F-FB03-43BE-821B-9B99F98FE7AE}"/>
              </a:ext>
            </a:extLst>
          </p:cNvPr>
          <p:cNvSpPr/>
          <p:nvPr/>
        </p:nvSpPr>
        <p:spPr>
          <a:xfrm>
            <a:off x="1651863" y="5296328"/>
            <a:ext cx="2196000" cy="121889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free_block2</a:t>
            </a: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4686A085-FA09-4E22-805A-A312EE0D6DE2}"/>
              </a:ext>
            </a:extLst>
          </p:cNvPr>
          <p:cNvSpPr/>
          <p:nvPr/>
        </p:nvSpPr>
        <p:spPr>
          <a:xfrm>
            <a:off x="1842383" y="5610157"/>
            <a:ext cx="1907469" cy="3703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err="1">
                <a:solidFill>
                  <a:schemeClr val="tx1"/>
                </a:solidFill>
              </a:rPr>
              <a:t>fp</a:t>
            </a:r>
            <a:r>
              <a:rPr lang="en-US" b="1" dirty="0">
                <a:solidFill>
                  <a:schemeClr val="tx1"/>
                </a:solidFill>
              </a:rPr>
              <a:t>: ???</a:t>
            </a:r>
          </a:p>
        </p:txBody>
      </p:sp>
      <p:sp>
        <p:nvSpPr>
          <p:cNvPr id="158" name="Прямоугольник 157">
            <a:extLst>
              <a:ext uri="{FF2B5EF4-FFF2-40B4-BE49-F238E27FC236}">
                <a16:creationId xmlns:a16="http://schemas.microsoft.com/office/drawing/2014/main" id="{6AA1D708-BE43-49C1-9B8A-60BD1DC21A0D}"/>
              </a:ext>
            </a:extLst>
          </p:cNvPr>
          <p:cNvSpPr/>
          <p:nvPr/>
        </p:nvSpPr>
        <p:spPr>
          <a:xfrm>
            <a:off x="1842382" y="5988796"/>
            <a:ext cx="1907469" cy="3703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bp: &amp;</a:t>
            </a:r>
            <a:r>
              <a:rPr lang="en-US" b="1" dirty="0" err="1">
                <a:solidFill>
                  <a:schemeClr val="tx1"/>
                </a:solidFill>
              </a:rPr>
              <a:t>free_block</a:t>
            </a:r>
            <a:r>
              <a:rPr lang="ru-RU" b="1" dirty="0">
                <a:solidFill>
                  <a:schemeClr val="tx1"/>
                </a:solidFill>
              </a:rPr>
              <a:t>1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73" name="Соединитель: уступ 172">
            <a:extLst>
              <a:ext uri="{FF2B5EF4-FFF2-40B4-BE49-F238E27FC236}">
                <a16:creationId xmlns:a16="http://schemas.microsoft.com/office/drawing/2014/main" id="{98368F8C-2B53-4C35-A755-E2246CD45271}"/>
              </a:ext>
            </a:extLst>
          </p:cNvPr>
          <p:cNvCxnSpPr>
            <a:cxnSpLocks/>
          </p:cNvCxnSpPr>
          <p:nvPr/>
        </p:nvCxnSpPr>
        <p:spPr>
          <a:xfrm>
            <a:off x="3742431" y="2212417"/>
            <a:ext cx="93162" cy="1296000"/>
          </a:xfrm>
          <a:prstGeom prst="bentConnector3">
            <a:avLst>
              <a:gd name="adj1" fmla="val 3453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Соединитель: уступ 173">
            <a:extLst>
              <a:ext uri="{FF2B5EF4-FFF2-40B4-BE49-F238E27FC236}">
                <a16:creationId xmlns:a16="http://schemas.microsoft.com/office/drawing/2014/main" id="{8CEC96E4-B70B-4382-A1FA-894BE2233BE7}"/>
              </a:ext>
            </a:extLst>
          </p:cNvPr>
          <p:cNvCxnSpPr>
            <a:cxnSpLocks/>
          </p:cNvCxnSpPr>
          <p:nvPr/>
        </p:nvCxnSpPr>
        <p:spPr>
          <a:xfrm>
            <a:off x="3742431" y="4072738"/>
            <a:ext cx="93162" cy="1224000"/>
          </a:xfrm>
          <a:prstGeom prst="bentConnector3">
            <a:avLst>
              <a:gd name="adj1" fmla="val 3453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Соединитель: уступ 174">
            <a:extLst>
              <a:ext uri="{FF2B5EF4-FFF2-40B4-BE49-F238E27FC236}">
                <a16:creationId xmlns:a16="http://schemas.microsoft.com/office/drawing/2014/main" id="{FC772EF7-42C3-4858-83D6-285B68F2FB09}"/>
              </a:ext>
            </a:extLst>
          </p:cNvPr>
          <p:cNvCxnSpPr>
            <a:cxnSpLocks/>
          </p:cNvCxnSpPr>
          <p:nvPr/>
        </p:nvCxnSpPr>
        <p:spPr>
          <a:xfrm>
            <a:off x="1651864" y="1729487"/>
            <a:ext cx="180000" cy="2880000"/>
          </a:xfrm>
          <a:prstGeom prst="bentConnector3">
            <a:avLst>
              <a:gd name="adj1" fmla="val -241397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Соединитель: уступ 177">
            <a:extLst>
              <a:ext uri="{FF2B5EF4-FFF2-40B4-BE49-F238E27FC236}">
                <a16:creationId xmlns:a16="http://schemas.microsoft.com/office/drawing/2014/main" id="{71E5B107-A34A-4687-B111-CD31BBBDA5A6}"/>
              </a:ext>
            </a:extLst>
          </p:cNvPr>
          <p:cNvCxnSpPr>
            <a:cxnSpLocks/>
          </p:cNvCxnSpPr>
          <p:nvPr/>
        </p:nvCxnSpPr>
        <p:spPr>
          <a:xfrm>
            <a:off x="1649837" y="3508963"/>
            <a:ext cx="180000" cy="2700000"/>
          </a:xfrm>
          <a:prstGeom prst="bentConnector3">
            <a:avLst>
              <a:gd name="adj1" fmla="val -445702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Прямая со стрелкой 180">
            <a:extLst>
              <a:ext uri="{FF2B5EF4-FFF2-40B4-BE49-F238E27FC236}">
                <a16:creationId xmlns:a16="http://schemas.microsoft.com/office/drawing/2014/main" id="{C4975D16-193B-4CEE-AF4D-C5063788F87E}"/>
              </a:ext>
            </a:extLst>
          </p:cNvPr>
          <p:cNvCxnSpPr/>
          <p:nvPr/>
        </p:nvCxnSpPr>
        <p:spPr>
          <a:xfrm>
            <a:off x="5193792" y="3977305"/>
            <a:ext cx="12688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CEE2E1D9-2911-4D1C-A11F-FF422AAD8B9C}"/>
              </a:ext>
            </a:extLst>
          </p:cNvPr>
          <p:cNvSpPr txBox="1"/>
          <p:nvPr/>
        </p:nvSpPr>
        <p:spPr>
          <a:xfrm>
            <a:off x="4940721" y="3244642"/>
            <a:ext cx="1775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Free </a:t>
            </a:r>
            <a:br>
              <a:rPr lang="en-US" dirty="0"/>
            </a:br>
            <a:r>
              <a:rPr lang="en-US" dirty="0"/>
              <a:t>non_free_block1</a:t>
            </a:r>
          </a:p>
        </p:txBody>
      </p:sp>
      <p:sp>
        <p:nvSpPr>
          <p:cNvPr id="184" name="Прямоугольник 183">
            <a:extLst>
              <a:ext uri="{FF2B5EF4-FFF2-40B4-BE49-F238E27FC236}">
                <a16:creationId xmlns:a16="http://schemas.microsoft.com/office/drawing/2014/main" id="{F3A4140B-C9D3-456B-BE17-2A5BCC20CBBE}"/>
              </a:ext>
            </a:extLst>
          </p:cNvPr>
          <p:cNvSpPr/>
          <p:nvPr/>
        </p:nvSpPr>
        <p:spPr>
          <a:xfrm>
            <a:off x="8137370" y="4750514"/>
            <a:ext cx="2196000" cy="5492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non_free_block2</a:t>
            </a:r>
          </a:p>
        </p:txBody>
      </p:sp>
      <p:sp>
        <p:nvSpPr>
          <p:cNvPr id="185" name="Прямоугольник 184">
            <a:extLst>
              <a:ext uri="{FF2B5EF4-FFF2-40B4-BE49-F238E27FC236}">
                <a16:creationId xmlns:a16="http://schemas.microsoft.com/office/drawing/2014/main" id="{2C24F4F8-6FE1-4739-93A7-EDEA6526E545}"/>
              </a:ext>
            </a:extLst>
          </p:cNvPr>
          <p:cNvSpPr/>
          <p:nvPr/>
        </p:nvSpPr>
        <p:spPr>
          <a:xfrm>
            <a:off x="8137370" y="1733552"/>
            <a:ext cx="2196000" cy="3004813"/>
          </a:xfrm>
          <a:prstGeom prst="rect">
            <a:avLst/>
          </a:prstGeom>
          <a:solidFill>
            <a:srgbClr val="87B6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free_block0</a:t>
            </a:r>
          </a:p>
        </p:txBody>
      </p:sp>
      <p:sp>
        <p:nvSpPr>
          <p:cNvPr id="186" name="Прямоугольник 185">
            <a:extLst>
              <a:ext uri="{FF2B5EF4-FFF2-40B4-BE49-F238E27FC236}">
                <a16:creationId xmlns:a16="http://schemas.microsoft.com/office/drawing/2014/main" id="{7A7284F5-7A41-4773-81BF-B944E81A8356}"/>
              </a:ext>
            </a:extLst>
          </p:cNvPr>
          <p:cNvSpPr/>
          <p:nvPr/>
        </p:nvSpPr>
        <p:spPr>
          <a:xfrm>
            <a:off x="8305102" y="2129698"/>
            <a:ext cx="1907469" cy="3703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err="1">
                <a:solidFill>
                  <a:schemeClr val="tx1"/>
                </a:solidFill>
              </a:rPr>
              <a:t>fp</a:t>
            </a:r>
            <a:r>
              <a:rPr lang="en-US" b="1" dirty="0">
                <a:solidFill>
                  <a:schemeClr val="tx1"/>
                </a:solidFill>
              </a:rPr>
              <a:t>: free_block2</a:t>
            </a:r>
          </a:p>
        </p:txBody>
      </p:sp>
      <p:sp>
        <p:nvSpPr>
          <p:cNvPr id="187" name="Прямоугольник 186">
            <a:extLst>
              <a:ext uri="{FF2B5EF4-FFF2-40B4-BE49-F238E27FC236}">
                <a16:creationId xmlns:a16="http://schemas.microsoft.com/office/drawing/2014/main" id="{E8D7742C-907E-4F97-8E0E-57270D141B38}"/>
              </a:ext>
            </a:extLst>
          </p:cNvPr>
          <p:cNvSpPr/>
          <p:nvPr/>
        </p:nvSpPr>
        <p:spPr>
          <a:xfrm>
            <a:off x="8305101" y="2514433"/>
            <a:ext cx="1907469" cy="3703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bp: ???</a:t>
            </a:r>
          </a:p>
        </p:txBody>
      </p:sp>
      <p:sp>
        <p:nvSpPr>
          <p:cNvPr id="191" name="Прямоугольник 190">
            <a:extLst>
              <a:ext uri="{FF2B5EF4-FFF2-40B4-BE49-F238E27FC236}">
                <a16:creationId xmlns:a16="http://schemas.microsoft.com/office/drawing/2014/main" id="{85BAD0AB-CB78-4875-A74A-52BC10CFF3F7}"/>
              </a:ext>
            </a:extLst>
          </p:cNvPr>
          <p:cNvSpPr/>
          <p:nvPr/>
        </p:nvSpPr>
        <p:spPr>
          <a:xfrm>
            <a:off x="8137370" y="5308095"/>
            <a:ext cx="2196000" cy="121889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free_block2</a:t>
            </a:r>
          </a:p>
        </p:txBody>
      </p:sp>
      <p:sp>
        <p:nvSpPr>
          <p:cNvPr id="192" name="Прямоугольник 191">
            <a:extLst>
              <a:ext uri="{FF2B5EF4-FFF2-40B4-BE49-F238E27FC236}">
                <a16:creationId xmlns:a16="http://schemas.microsoft.com/office/drawing/2014/main" id="{63F04FEA-9C9B-4E99-8E70-0AFE502C280E}"/>
              </a:ext>
            </a:extLst>
          </p:cNvPr>
          <p:cNvSpPr/>
          <p:nvPr/>
        </p:nvSpPr>
        <p:spPr>
          <a:xfrm>
            <a:off x="8317137" y="5681056"/>
            <a:ext cx="1907469" cy="3703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err="1">
                <a:solidFill>
                  <a:schemeClr val="tx1"/>
                </a:solidFill>
              </a:rPr>
              <a:t>fp</a:t>
            </a:r>
            <a:r>
              <a:rPr lang="en-US" b="1" dirty="0">
                <a:solidFill>
                  <a:schemeClr val="tx1"/>
                </a:solidFill>
              </a:rPr>
              <a:t>: ???</a:t>
            </a:r>
          </a:p>
        </p:txBody>
      </p:sp>
      <p:sp>
        <p:nvSpPr>
          <p:cNvPr id="193" name="Прямоугольник 192">
            <a:extLst>
              <a:ext uri="{FF2B5EF4-FFF2-40B4-BE49-F238E27FC236}">
                <a16:creationId xmlns:a16="http://schemas.microsoft.com/office/drawing/2014/main" id="{E7266159-0D7E-4037-8928-D4B95AE88C4F}"/>
              </a:ext>
            </a:extLst>
          </p:cNvPr>
          <p:cNvSpPr/>
          <p:nvPr/>
        </p:nvSpPr>
        <p:spPr>
          <a:xfrm>
            <a:off x="8317136" y="6065791"/>
            <a:ext cx="1907469" cy="3703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bp: &amp;free_block0</a:t>
            </a:r>
          </a:p>
        </p:txBody>
      </p:sp>
      <p:cxnSp>
        <p:nvCxnSpPr>
          <p:cNvPr id="194" name="Соединитель: уступ 193">
            <a:extLst>
              <a:ext uri="{FF2B5EF4-FFF2-40B4-BE49-F238E27FC236}">
                <a16:creationId xmlns:a16="http://schemas.microsoft.com/office/drawing/2014/main" id="{FBD0278A-B4B4-4550-AAAE-2047A00843FF}"/>
              </a:ext>
            </a:extLst>
          </p:cNvPr>
          <p:cNvCxnSpPr>
            <a:cxnSpLocks/>
          </p:cNvCxnSpPr>
          <p:nvPr/>
        </p:nvCxnSpPr>
        <p:spPr>
          <a:xfrm>
            <a:off x="10212571" y="2275101"/>
            <a:ext cx="108000" cy="3024000"/>
          </a:xfrm>
          <a:prstGeom prst="bentConnector3">
            <a:avLst>
              <a:gd name="adj1" fmla="val 3453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Соединитель: уступ 196">
            <a:extLst>
              <a:ext uri="{FF2B5EF4-FFF2-40B4-BE49-F238E27FC236}">
                <a16:creationId xmlns:a16="http://schemas.microsoft.com/office/drawing/2014/main" id="{9FD23E40-6431-4693-8179-B9453D104C67}"/>
              </a:ext>
            </a:extLst>
          </p:cNvPr>
          <p:cNvCxnSpPr>
            <a:cxnSpLocks/>
          </p:cNvCxnSpPr>
          <p:nvPr/>
        </p:nvCxnSpPr>
        <p:spPr>
          <a:xfrm>
            <a:off x="8125100" y="1729487"/>
            <a:ext cx="180000" cy="4500000"/>
          </a:xfrm>
          <a:prstGeom prst="bentConnector3">
            <a:avLst>
              <a:gd name="adj1" fmla="val -445702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D0566A83-ACA7-492E-899B-2548A76B76F8}"/>
              </a:ext>
            </a:extLst>
          </p:cNvPr>
          <p:cNvSpPr txBox="1"/>
          <p:nvPr/>
        </p:nvSpPr>
        <p:spPr>
          <a:xfrm>
            <a:off x="5034539" y="4471484"/>
            <a:ext cx="17750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Menlo"/>
              </a:rPr>
              <a:t>*(</a:t>
            </a:r>
            <a:r>
              <a:rPr lang="en-US" b="0" i="0" dirty="0" err="1">
                <a:effectLst/>
                <a:latin typeface="Menlo"/>
              </a:rPr>
              <a:t>fp</a:t>
            </a:r>
            <a:r>
              <a:rPr lang="en-US" b="0" i="0" dirty="0">
                <a:effectLst/>
                <a:latin typeface="Menlo"/>
              </a:rPr>
              <a:t> + 24) = bp</a:t>
            </a:r>
            <a:br>
              <a:rPr lang="en-US" b="0" i="0" dirty="0">
                <a:effectLst/>
                <a:latin typeface="Menlo"/>
              </a:rPr>
            </a:br>
            <a:r>
              <a:rPr lang="en-US" b="0" i="0" dirty="0">
                <a:effectLst/>
                <a:latin typeface="Menlo"/>
              </a:rPr>
              <a:t>*(bp + 16) = </a:t>
            </a:r>
            <a:r>
              <a:rPr lang="en-US" b="0" i="0" dirty="0" err="1">
                <a:effectLst/>
                <a:latin typeface="Menlo"/>
              </a:rPr>
              <a:t>fp</a:t>
            </a:r>
            <a:endParaRPr lang="en-US" dirty="0"/>
          </a:p>
        </p:txBody>
      </p:sp>
      <p:cxnSp>
        <p:nvCxnSpPr>
          <p:cNvPr id="35" name="Соединитель: уступ 34">
            <a:extLst>
              <a:ext uri="{FF2B5EF4-FFF2-40B4-BE49-F238E27FC236}">
                <a16:creationId xmlns:a16="http://schemas.microsoft.com/office/drawing/2014/main" id="{44FFB1F3-1B44-4462-B673-FF2C880E6AF7}"/>
              </a:ext>
            </a:extLst>
          </p:cNvPr>
          <p:cNvCxnSpPr>
            <a:cxnSpLocks/>
            <a:stCxn id="152" idx="3"/>
          </p:cNvCxnSpPr>
          <p:nvPr/>
        </p:nvCxnSpPr>
        <p:spPr>
          <a:xfrm flipV="1">
            <a:off x="3749852" y="1520054"/>
            <a:ext cx="676868" cy="10971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Соединитель: уступ 35">
            <a:extLst>
              <a:ext uri="{FF2B5EF4-FFF2-40B4-BE49-F238E27FC236}">
                <a16:creationId xmlns:a16="http://schemas.microsoft.com/office/drawing/2014/main" id="{19734DD3-3B37-48AF-B606-76745FE33307}"/>
              </a:ext>
            </a:extLst>
          </p:cNvPr>
          <p:cNvCxnSpPr>
            <a:cxnSpLocks/>
          </p:cNvCxnSpPr>
          <p:nvPr/>
        </p:nvCxnSpPr>
        <p:spPr>
          <a:xfrm>
            <a:off x="3737306" y="5779302"/>
            <a:ext cx="576000" cy="504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Соединитель: уступ 40">
            <a:extLst>
              <a:ext uri="{FF2B5EF4-FFF2-40B4-BE49-F238E27FC236}">
                <a16:creationId xmlns:a16="http://schemas.microsoft.com/office/drawing/2014/main" id="{AF8FDA5A-72CF-49F7-A608-D6778195D21E}"/>
              </a:ext>
            </a:extLst>
          </p:cNvPr>
          <p:cNvCxnSpPr>
            <a:cxnSpLocks/>
          </p:cNvCxnSpPr>
          <p:nvPr/>
        </p:nvCxnSpPr>
        <p:spPr>
          <a:xfrm flipV="1">
            <a:off x="10224605" y="1655660"/>
            <a:ext cx="676868" cy="10971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Соединитель: уступ 41">
            <a:extLst>
              <a:ext uri="{FF2B5EF4-FFF2-40B4-BE49-F238E27FC236}">
                <a16:creationId xmlns:a16="http://schemas.microsoft.com/office/drawing/2014/main" id="{F0039823-348A-41F9-BF03-BE6B7CD50EDD}"/>
              </a:ext>
            </a:extLst>
          </p:cNvPr>
          <p:cNvCxnSpPr>
            <a:cxnSpLocks/>
          </p:cNvCxnSpPr>
          <p:nvPr/>
        </p:nvCxnSpPr>
        <p:spPr>
          <a:xfrm>
            <a:off x="10212570" y="5854216"/>
            <a:ext cx="576000" cy="504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5513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Переполнение в куче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36</a:t>
            </a:fld>
            <a:endParaRPr lang="en-US" dirty="0"/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2F3CFC66-DB11-4947-B12F-E46364A72B1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7FBA2B-964F-4C4D-AAF7-5A8399264638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B03FCEC4-94A7-413D-856E-0C8CDC618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47328"/>
            <a:ext cx="5674832" cy="5085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Если буфер данных в куче будет переполнен, то лишние данные будут записаны в управляющие структуры следующего блока.</a:t>
            </a:r>
          </a:p>
          <a:p>
            <a:pPr marL="0" indent="0">
              <a:buNone/>
            </a:pPr>
            <a:r>
              <a:rPr lang="ru-RU" sz="2000" dirty="0"/>
              <a:t>Если переполненный блок находится между 2 свободными блоками, то при его освобождении произойдет слияние 3 свободных блоков. </a:t>
            </a:r>
          </a:p>
          <a:p>
            <a:pPr marL="0" indent="0">
              <a:buNone/>
            </a:pPr>
            <a:r>
              <a:rPr lang="ru-RU" sz="2000" dirty="0"/>
              <a:t>Поскольку указатели в нижнем свободном блоке перезаписаны, при попытке слияния блоков произойдут 2 операции записи по заданным адресам.</a:t>
            </a:r>
          </a:p>
          <a:p>
            <a:pPr marL="0" indent="0">
              <a:buNone/>
            </a:pPr>
            <a:r>
              <a:rPr lang="ru-RU" sz="2000" dirty="0"/>
              <a:t>В отличие от переполнения буфера на стеке, данный метод позволяет перезаписывать </a:t>
            </a:r>
            <a:r>
              <a:rPr lang="ru-RU" sz="2000" i="1" dirty="0"/>
              <a:t>произвольные</a:t>
            </a:r>
            <a:r>
              <a:rPr lang="ru-RU" sz="2000" dirty="0"/>
              <a:t> адреса. </a:t>
            </a:r>
          </a:p>
          <a:p>
            <a:pPr marL="0" indent="0">
              <a:buNone/>
            </a:pPr>
            <a:r>
              <a:rPr lang="ru-RU" sz="2000" dirty="0"/>
              <a:t>Изменение размера блока или флагов также позволяют изменить поведение последующих </a:t>
            </a:r>
            <a:r>
              <a:rPr lang="en-US" sz="2000" dirty="0"/>
              <a:t>malloc/free().</a:t>
            </a: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3" name="Прямоугольник 143">
            <a:extLst>
              <a:ext uri="{FF2B5EF4-FFF2-40B4-BE49-F238E27FC236}">
                <a16:creationId xmlns:a16="http://schemas.microsoft.com/office/drawing/2014/main" id="{B71C9476-9B19-1DFC-CD13-B845E33DEAB9}"/>
              </a:ext>
            </a:extLst>
          </p:cNvPr>
          <p:cNvSpPr/>
          <p:nvPr/>
        </p:nvSpPr>
        <p:spPr>
          <a:xfrm>
            <a:off x="7881261" y="2451042"/>
            <a:ext cx="2196000" cy="549202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non_free_block1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0xFF </a:t>
            </a:r>
            <a:r>
              <a:rPr lang="en-US" dirty="0" err="1">
                <a:solidFill>
                  <a:schemeClr val="tx1"/>
                </a:solidFill>
              </a:rPr>
              <a:t>0xFF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0xFF</a:t>
            </a:r>
            <a:r>
              <a:rPr lang="en-US" dirty="0">
                <a:solidFill>
                  <a:schemeClr val="tx1"/>
                </a:solidFill>
              </a:rPr>
              <a:t> 0x FF</a:t>
            </a:r>
          </a:p>
        </p:txBody>
      </p:sp>
      <p:sp>
        <p:nvSpPr>
          <p:cNvPr id="4" name="Прямоугольник 146">
            <a:extLst>
              <a:ext uri="{FF2B5EF4-FFF2-40B4-BE49-F238E27FC236}">
                <a16:creationId xmlns:a16="http://schemas.microsoft.com/office/drawing/2014/main" id="{72F3B675-0A7A-7D6A-AEB0-6CCB53E5774B}"/>
              </a:ext>
            </a:extLst>
          </p:cNvPr>
          <p:cNvSpPr/>
          <p:nvPr/>
        </p:nvSpPr>
        <p:spPr>
          <a:xfrm>
            <a:off x="7881259" y="4217067"/>
            <a:ext cx="2196000" cy="5492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non_free_block2</a:t>
            </a:r>
          </a:p>
        </p:txBody>
      </p:sp>
      <p:sp>
        <p:nvSpPr>
          <p:cNvPr id="7" name="Прямоугольник 149">
            <a:extLst>
              <a:ext uri="{FF2B5EF4-FFF2-40B4-BE49-F238E27FC236}">
                <a16:creationId xmlns:a16="http://schemas.microsoft.com/office/drawing/2014/main" id="{9ADDA0F8-DD8A-2DD9-40B4-837C25EDBB5C}"/>
              </a:ext>
            </a:extLst>
          </p:cNvPr>
          <p:cNvSpPr/>
          <p:nvPr/>
        </p:nvSpPr>
        <p:spPr>
          <a:xfrm>
            <a:off x="7881260" y="1225500"/>
            <a:ext cx="2196000" cy="1218890"/>
          </a:xfrm>
          <a:prstGeom prst="rect">
            <a:avLst/>
          </a:prstGeom>
          <a:solidFill>
            <a:srgbClr val="87B6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free_block0</a:t>
            </a:r>
          </a:p>
        </p:txBody>
      </p:sp>
      <p:sp>
        <p:nvSpPr>
          <p:cNvPr id="8" name="Прямоугольник 150">
            <a:extLst>
              <a:ext uri="{FF2B5EF4-FFF2-40B4-BE49-F238E27FC236}">
                <a16:creationId xmlns:a16="http://schemas.microsoft.com/office/drawing/2014/main" id="{73EE6BEC-9B66-929E-847A-9247A56930FF}"/>
              </a:ext>
            </a:extLst>
          </p:cNvPr>
          <p:cNvSpPr/>
          <p:nvPr/>
        </p:nvSpPr>
        <p:spPr>
          <a:xfrm>
            <a:off x="8071780" y="1540853"/>
            <a:ext cx="1907469" cy="3703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err="1">
                <a:solidFill>
                  <a:schemeClr val="tx1"/>
                </a:solidFill>
              </a:rPr>
              <a:t>fp</a:t>
            </a:r>
            <a:r>
              <a:rPr lang="en-US" b="1" dirty="0">
                <a:solidFill>
                  <a:schemeClr val="tx1"/>
                </a:solidFill>
              </a:rPr>
              <a:t>: free_block1</a:t>
            </a:r>
          </a:p>
        </p:txBody>
      </p:sp>
      <p:sp>
        <p:nvSpPr>
          <p:cNvPr id="10" name="Прямоугольник 151">
            <a:extLst>
              <a:ext uri="{FF2B5EF4-FFF2-40B4-BE49-F238E27FC236}">
                <a16:creationId xmlns:a16="http://schemas.microsoft.com/office/drawing/2014/main" id="{FD27D520-0A78-911A-F127-B8CDE3970EAA}"/>
              </a:ext>
            </a:extLst>
          </p:cNvPr>
          <p:cNvSpPr/>
          <p:nvPr/>
        </p:nvSpPr>
        <p:spPr>
          <a:xfrm>
            <a:off x="8071779" y="1919492"/>
            <a:ext cx="1907469" cy="3703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bp: ???</a:t>
            </a:r>
          </a:p>
        </p:txBody>
      </p:sp>
      <p:sp>
        <p:nvSpPr>
          <p:cNvPr id="11" name="Прямоугольник 152">
            <a:extLst>
              <a:ext uri="{FF2B5EF4-FFF2-40B4-BE49-F238E27FC236}">
                <a16:creationId xmlns:a16="http://schemas.microsoft.com/office/drawing/2014/main" id="{3A637AA6-3F2E-4128-01B1-F2895A2553BB}"/>
              </a:ext>
            </a:extLst>
          </p:cNvPr>
          <p:cNvSpPr/>
          <p:nvPr/>
        </p:nvSpPr>
        <p:spPr>
          <a:xfrm>
            <a:off x="7881260" y="3006350"/>
            <a:ext cx="2196000" cy="1218890"/>
          </a:xfrm>
          <a:prstGeom prst="rect">
            <a:avLst/>
          </a:prstGeom>
          <a:solidFill>
            <a:srgbClr val="FF757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free_block1</a:t>
            </a:r>
          </a:p>
        </p:txBody>
      </p:sp>
      <p:sp>
        <p:nvSpPr>
          <p:cNvPr id="12" name="Прямоугольник 153">
            <a:extLst>
              <a:ext uri="{FF2B5EF4-FFF2-40B4-BE49-F238E27FC236}">
                <a16:creationId xmlns:a16="http://schemas.microsoft.com/office/drawing/2014/main" id="{71CCE749-74AA-C8A1-D320-586906417DAE}"/>
              </a:ext>
            </a:extLst>
          </p:cNvPr>
          <p:cNvSpPr/>
          <p:nvPr/>
        </p:nvSpPr>
        <p:spPr>
          <a:xfrm>
            <a:off x="8071780" y="3325513"/>
            <a:ext cx="1907469" cy="370317"/>
          </a:xfrm>
          <a:prstGeom prst="rect">
            <a:avLst/>
          </a:prstGeom>
          <a:solidFill>
            <a:srgbClr val="FFB7B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err="1">
                <a:solidFill>
                  <a:schemeClr val="tx1"/>
                </a:solidFill>
              </a:rPr>
              <a:t>fp</a:t>
            </a:r>
            <a:r>
              <a:rPr lang="en-US" b="1" dirty="0">
                <a:solidFill>
                  <a:schemeClr val="tx1"/>
                </a:solidFill>
              </a:rPr>
              <a:t>: &lt;what&gt;</a:t>
            </a:r>
          </a:p>
        </p:txBody>
      </p:sp>
      <p:sp>
        <p:nvSpPr>
          <p:cNvPr id="13" name="Прямоугольник 154">
            <a:extLst>
              <a:ext uri="{FF2B5EF4-FFF2-40B4-BE49-F238E27FC236}">
                <a16:creationId xmlns:a16="http://schemas.microsoft.com/office/drawing/2014/main" id="{D5EA6563-FE27-7D4E-9881-83094BC099FD}"/>
              </a:ext>
            </a:extLst>
          </p:cNvPr>
          <p:cNvSpPr/>
          <p:nvPr/>
        </p:nvSpPr>
        <p:spPr>
          <a:xfrm>
            <a:off x="8071779" y="3691960"/>
            <a:ext cx="1907469" cy="370317"/>
          </a:xfrm>
          <a:prstGeom prst="rect">
            <a:avLst/>
          </a:prstGeom>
          <a:solidFill>
            <a:srgbClr val="FFB7B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bp: &lt;where-16&gt;</a:t>
            </a:r>
          </a:p>
        </p:txBody>
      </p:sp>
      <p:sp>
        <p:nvSpPr>
          <p:cNvPr id="14" name="Прямоугольник 155">
            <a:extLst>
              <a:ext uri="{FF2B5EF4-FFF2-40B4-BE49-F238E27FC236}">
                <a16:creationId xmlns:a16="http://schemas.microsoft.com/office/drawing/2014/main" id="{38D264D0-0188-EB87-7731-D16657175EBA}"/>
              </a:ext>
            </a:extLst>
          </p:cNvPr>
          <p:cNvSpPr/>
          <p:nvPr/>
        </p:nvSpPr>
        <p:spPr>
          <a:xfrm>
            <a:off x="7881259" y="4777107"/>
            <a:ext cx="2196000" cy="121889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free_block2</a:t>
            </a:r>
          </a:p>
        </p:txBody>
      </p:sp>
      <p:sp>
        <p:nvSpPr>
          <p:cNvPr id="15" name="Прямоугольник 156">
            <a:extLst>
              <a:ext uri="{FF2B5EF4-FFF2-40B4-BE49-F238E27FC236}">
                <a16:creationId xmlns:a16="http://schemas.microsoft.com/office/drawing/2014/main" id="{72364884-E6DF-1995-8705-CB732F753E6F}"/>
              </a:ext>
            </a:extLst>
          </p:cNvPr>
          <p:cNvSpPr/>
          <p:nvPr/>
        </p:nvSpPr>
        <p:spPr>
          <a:xfrm>
            <a:off x="8071779" y="5090936"/>
            <a:ext cx="1907469" cy="3703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err="1">
                <a:solidFill>
                  <a:schemeClr val="tx1"/>
                </a:solidFill>
              </a:rPr>
              <a:t>fp</a:t>
            </a:r>
            <a:r>
              <a:rPr lang="en-US" b="1" dirty="0">
                <a:solidFill>
                  <a:schemeClr val="tx1"/>
                </a:solidFill>
              </a:rPr>
              <a:t>: ???</a:t>
            </a:r>
          </a:p>
        </p:txBody>
      </p:sp>
      <p:sp>
        <p:nvSpPr>
          <p:cNvPr id="16" name="Прямоугольник 157">
            <a:extLst>
              <a:ext uri="{FF2B5EF4-FFF2-40B4-BE49-F238E27FC236}">
                <a16:creationId xmlns:a16="http://schemas.microsoft.com/office/drawing/2014/main" id="{1CCF1785-4DD1-D29A-93B5-4C4B4A4139D0}"/>
              </a:ext>
            </a:extLst>
          </p:cNvPr>
          <p:cNvSpPr/>
          <p:nvPr/>
        </p:nvSpPr>
        <p:spPr>
          <a:xfrm>
            <a:off x="8071778" y="5469575"/>
            <a:ext cx="1907469" cy="3703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bp: &amp;</a:t>
            </a:r>
            <a:r>
              <a:rPr lang="en-US" b="1" dirty="0" err="1">
                <a:solidFill>
                  <a:schemeClr val="tx1"/>
                </a:solidFill>
              </a:rPr>
              <a:t>free_block</a:t>
            </a:r>
            <a:r>
              <a:rPr lang="ru-RU" b="1" dirty="0">
                <a:solidFill>
                  <a:schemeClr val="tx1"/>
                </a:solidFill>
              </a:rPr>
              <a:t>1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7" name="Соединитель: уступ 172">
            <a:extLst>
              <a:ext uri="{FF2B5EF4-FFF2-40B4-BE49-F238E27FC236}">
                <a16:creationId xmlns:a16="http://schemas.microsoft.com/office/drawing/2014/main" id="{277B3161-9C57-BCD8-1B70-214BB8023D84}"/>
              </a:ext>
            </a:extLst>
          </p:cNvPr>
          <p:cNvCxnSpPr>
            <a:cxnSpLocks/>
          </p:cNvCxnSpPr>
          <p:nvPr/>
        </p:nvCxnSpPr>
        <p:spPr>
          <a:xfrm>
            <a:off x="9971827" y="1699838"/>
            <a:ext cx="93162" cy="1296000"/>
          </a:xfrm>
          <a:prstGeom prst="bentConnector3">
            <a:avLst>
              <a:gd name="adj1" fmla="val 22730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: уступ 177">
            <a:extLst>
              <a:ext uri="{FF2B5EF4-FFF2-40B4-BE49-F238E27FC236}">
                <a16:creationId xmlns:a16="http://schemas.microsoft.com/office/drawing/2014/main" id="{0D1B9D3F-ED67-A817-7784-D2E9B3F9D418}"/>
              </a:ext>
            </a:extLst>
          </p:cNvPr>
          <p:cNvCxnSpPr>
            <a:cxnSpLocks/>
          </p:cNvCxnSpPr>
          <p:nvPr/>
        </p:nvCxnSpPr>
        <p:spPr>
          <a:xfrm>
            <a:off x="7879233" y="2995838"/>
            <a:ext cx="180000" cy="2700000"/>
          </a:xfrm>
          <a:prstGeom prst="bentConnector3">
            <a:avLst>
              <a:gd name="adj1" fmla="val -121040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Соединитель: уступ 34">
            <a:extLst>
              <a:ext uri="{FF2B5EF4-FFF2-40B4-BE49-F238E27FC236}">
                <a16:creationId xmlns:a16="http://schemas.microsoft.com/office/drawing/2014/main" id="{2C2FD1D3-A572-D007-C204-0186B73F578A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9979248" y="1007475"/>
            <a:ext cx="252000" cy="10971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Соединитель: уступ 35">
            <a:extLst>
              <a:ext uri="{FF2B5EF4-FFF2-40B4-BE49-F238E27FC236}">
                <a16:creationId xmlns:a16="http://schemas.microsoft.com/office/drawing/2014/main" id="{1F72A6BF-CBB3-3008-7F81-A0829F283E48}"/>
              </a:ext>
            </a:extLst>
          </p:cNvPr>
          <p:cNvCxnSpPr>
            <a:cxnSpLocks/>
          </p:cNvCxnSpPr>
          <p:nvPr/>
        </p:nvCxnSpPr>
        <p:spPr>
          <a:xfrm>
            <a:off x="9966702" y="5260081"/>
            <a:ext cx="216000" cy="504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: уступ 173">
            <a:extLst>
              <a:ext uri="{FF2B5EF4-FFF2-40B4-BE49-F238E27FC236}">
                <a16:creationId xmlns:a16="http://schemas.microsoft.com/office/drawing/2014/main" id="{35DE8C39-FF0F-9147-8102-2EF6446A87D2}"/>
              </a:ext>
            </a:extLst>
          </p:cNvPr>
          <p:cNvCxnSpPr>
            <a:cxnSpLocks/>
          </p:cNvCxnSpPr>
          <p:nvPr/>
        </p:nvCxnSpPr>
        <p:spPr>
          <a:xfrm>
            <a:off x="9979247" y="3522115"/>
            <a:ext cx="900000" cy="1327334"/>
          </a:xfrm>
          <a:prstGeom prst="bentConnector3">
            <a:avLst>
              <a:gd name="adj1" fmla="val 40069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Соединитель: уступ 44">
            <a:extLst>
              <a:ext uri="{FF2B5EF4-FFF2-40B4-BE49-F238E27FC236}">
                <a16:creationId xmlns:a16="http://schemas.microsoft.com/office/drawing/2014/main" id="{87F551D3-1D2D-1E76-FB4A-80E57BF6D339}"/>
              </a:ext>
            </a:extLst>
          </p:cNvPr>
          <p:cNvCxnSpPr>
            <a:cxnSpLocks/>
          </p:cNvCxnSpPr>
          <p:nvPr/>
        </p:nvCxnSpPr>
        <p:spPr>
          <a:xfrm flipV="1">
            <a:off x="9975895" y="2785238"/>
            <a:ext cx="1044000" cy="1080000"/>
          </a:xfrm>
          <a:prstGeom prst="bentConnector3">
            <a:avLst>
              <a:gd name="adj1" fmla="val 2765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44E802A-F2C5-18EF-FD69-AA97DEA64354}"/>
              </a:ext>
            </a:extLst>
          </p:cNvPr>
          <p:cNvSpPr txBox="1"/>
          <p:nvPr/>
        </p:nvSpPr>
        <p:spPr>
          <a:xfrm>
            <a:off x="10962354" y="2551024"/>
            <a:ext cx="789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where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4FB2FC-5DF4-0C4F-C945-7BA8D6C23CBA}"/>
              </a:ext>
            </a:extLst>
          </p:cNvPr>
          <p:cNvSpPr txBox="1"/>
          <p:nvPr/>
        </p:nvSpPr>
        <p:spPr>
          <a:xfrm>
            <a:off x="10251852" y="2431587"/>
            <a:ext cx="972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&lt;</a:t>
            </a:r>
            <a:r>
              <a:rPr lang="en-US" b="1" dirty="0">
                <a:solidFill>
                  <a:schemeClr val="tx1"/>
                </a:solidFill>
              </a:rPr>
              <a:t>what&gt;</a:t>
            </a:r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7B7734-946F-CB52-30B4-C1CF0AC38B8E}"/>
              </a:ext>
            </a:extLst>
          </p:cNvPr>
          <p:cNvSpPr txBox="1"/>
          <p:nvPr/>
        </p:nvSpPr>
        <p:spPr>
          <a:xfrm>
            <a:off x="10288788" y="4061959"/>
            <a:ext cx="1462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&lt;where-16&gt; 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2E154A-1E38-8F31-4F4F-73EBF55BEC4F}"/>
              </a:ext>
            </a:extLst>
          </p:cNvPr>
          <p:cNvSpPr txBox="1"/>
          <p:nvPr/>
        </p:nvSpPr>
        <p:spPr>
          <a:xfrm>
            <a:off x="10814108" y="4651388"/>
            <a:ext cx="1102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what+</a:t>
            </a:r>
            <a:r>
              <a:rPr lang="en-US" b="1" dirty="0"/>
              <a:t>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0943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7C335-0DA1-2B2B-15E5-3E4E72532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DD6026-994E-F6CC-5E23-502F368A5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Переполнение в куче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B578590-530D-0B60-BDD7-F3115124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37</a:t>
            </a:fld>
            <a:endParaRPr lang="en-US" dirty="0"/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7713D526-4662-24DE-1B7B-94C9798AB12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7FBA2B-964F-4C4D-AAF7-5A8399264638}" type="slidenum">
              <a:rPr lang="en-US" smtClean="0"/>
              <a:pPr/>
              <a:t>37</a:t>
            </a:fld>
            <a:endParaRPr lang="en-US" dirty="0"/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86D9B83B-1FFF-7DF8-ACDF-FF1F6E99CBFD}"/>
              </a:ext>
            </a:extLst>
          </p:cNvPr>
          <p:cNvCxnSpPr/>
          <p:nvPr/>
        </p:nvCxnSpPr>
        <p:spPr>
          <a:xfrm>
            <a:off x="3026495" y="2828165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Прямая со стрелкой 76">
            <a:extLst>
              <a:ext uri="{FF2B5EF4-FFF2-40B4-BE49-F238E27FC236}">
                <a16:creationId xmlns:a16="http://schemas.microsoft.com/office/drawing/2014/main" id="{0425A61F-624D-EF88-C5BA-C5788BB0CDC7}"/>
              </a:ext>
            </a:extLst>
          </p:cNvPr>
          <p:cNvCxnSpPr/>
          <p:nvPr/>
        </p:nvCxnSpPr>
        <p:spPr>
          <a:xfrm>
            <a:off x="6720001" y="2828165"/>
            <a:ext cx="12301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A4B7DCE1-8EA1-E059-4BD0-EF43D69DE048}"/>
              </a:ext>
            </a:extLst>
          </p:cNvPr>
          <p:cNvSpPr txBox="1"/>
          <p:nvPr/>
        </p:nvSpPr>
        <p:spPr>
          <a:xfrm>
            <a:off x="6526239" y="2281051"/>
            <a:ext cx="15974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Free </a:t>
            </a:r>
            <a:br>
              <a:rPr lang="ru-RU" sz="1600" dirty="0"/>
            </a:br>
            <a:r>
              <a:rPr lang="en-US" sz="1600" dirty="0"/>
              <a:t>non_free_block1</a:t>
            </a:r>
          </a:p>
        </p:txBody>
      </p:sp>
      <p:sp>
        <p:nvSpPr>
          <p:cNvPr id="3" name="Прямоугольник 143">
            <a:extLst>
              <a:ext uri="{FF2B5EF4-FFF2-40B4-BE49-F238E27FC236}">
                <a16:creationId xmlns:a16="http://schemas.microsoft.com/office/drawing/2014/main" id="{9B1CA533-D3F3-70D3-4BD0-FF9020AAE5CF}"/>
              </a:ext>
            </a:extLst>
          </p:cNvPr>
          <p:cNvSpPr/>
          <p:nvPr/>
        </p:nvSpPr>
        <p:spPr>
          <a:xfrm>
            <a:off x="400078" y="2712299"/>
            <a:ext cx="2196000" cy="54920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non_free_block1</a:t>
            </a:r>
          </a:p>
        </p:txBody>
      </p:sp>
      <p:sp>
        <p:nvSpPr>
          <p:cNvPr id="4" name="Прямоугольник 146">
            <a:extLst>
              <a:ext uri="{FF2B5EF4-FFF2-40B4-BE49-F238E27FC236}">
                <a16:creationId xmlns:a16="http://schemas.microsoft.com/office/drawing/2014/main" id="{8BE9F4BD-AC2F-C624-CB21-83AEEBB64F2E}"/>
              </a:ext>
            </a:extLst>
          </p:cNvPr>
          <p:cNvSpPr/>
          <p:nvPr/>
        </p:nvSpPr>
        <p:spPr>
          <a:xfrm>
            <a:off x="400076" y="4478324"/>
            <a:ext cx="2196000" cy="5492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non_free_block2</a:t>
            </a:r>
          </a:p>
        </p:txBody>
      </p:sp>
      <p:sp>
        <p:nvSpPr>
          <p:cNvPr id="7" name="Прямоугольник 149">
            <a:extLst>
              <a:ext uri="{FF2B5EF4-FFF2-40B4-BE49-F238E27FC236}">
                <a16:creationId xmlns:a16="http://schemas.microsoft.com/office/drawing/2014/main" id="{97BB6A57-1989-23D2-989B-2F46D4DE7B37}"/>
              </a:ext>
            </a:extLst>
          </p:cNvPr>
          <p:cNvSpPr/>
          <p:nvPr/>
        </p:nvSpPr>
        <p:spPr>
          <a:xfrm>
            <a:off x="400077" y="1486757"/>
            <a:ext cx="2196000" cy="1218890"/>
          </a:xfrm>
          <a:prstGeom prst="rect">
            <a:avLst/>
          </a:prstGeom>
          <a:solidFill>
            <a:srgbClr val="87B6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free_block0</a:t>
            </a:r>
          </a:p>
        </p:txBody>
      </p:sp>
      <p:sp>
        <p:nvSpPr>
          <p:cNvPr id="8" name="Прямоугольник 150">
            <a:extLst>
              <a:ext uri="{FF2B5EF4-FFF2-40B4-BE49-F238E27FC236}">
                <a16:creationId xmlns:a16="http://schemas.microsoft.com/office/drawing/2014/main" id="{0BA593A8-7C15-F41A-AA7F-1CB0A23FD5D8}"/>
              </a:ext>
            </a:extLst>
          </p:cNvPr>
          <p:cNvSpPr/>
          <p:nvPr/>
        </p:nvSpPr>
        <p:spPr>
          <a:xfrm>
            <a:off x="590597" y="1802110"/>
            <a:ext cx="1907469" cy="3703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err="1">
                <a:solidFill>
                  <a:schemeClr val="tx1"/>
                </a:solidFill>
              </a:rPr>
              <a:t>fp</a:t>
            </a:r>
            <a:r>
              <a:rPr lang="en-US" b="1" dirty="0">
                <a:solidFill>
                  <a:schemeClr val="tx1"/>
                </a:solidFill>
              </a:rPr>
              <a:t>: free_block1</a:t>
            </a:r>
          </a:p>
        </p:txBody>
      </p:sp>
      <p:sp>
        <p:nvSpPr>
          <p:cNvPr id="10" name="Прямоугольник 151">
            <a:extLst>
              <a:ext uri="{FF2B5EF4-FFF2-40B4-BE49-F238E27FC236}">
                <a16:creationId xmlns:a16="http://schemas.microsoft.com/office/drawing/2014/main" id="{02AE070E-8897-54B7-BFA5-51C74EEC0F74}"/>
              </a:ext>
            </a:extLst>
          </p:cNvPr>
          <p:cNvSpPr/>
          <p:nvPr/>
        </p:nvSpPr>
        <p:spPr>
          <a:xfrm>
            <a:off x="590596" y="2180749"/>
            <a:ext cx="1907469" cy="3703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bp: ???</a:t>
            </a:r>
          </a:p>
        </p:txBody>
      </p:sp>
      <p:sp>
        <p:nvSpPr>
          <p:cNvPr id="11" name="Прямоугольник 152">
            <a:extLst>
              <a:ext uri="{FF2B5EF4-FFF2-40B4-BE49-F238E27FC236}">
                <a16:creationId xmlns:a16="http://schemas.microsoft.com/office/drawing/2014/main" id="{6B4323D0-5EAC-2ADE-9E74-339726979BFA}"/>
              </a:ext>
            </a:extLst>
          </p:cNvPr>
          <p:cNvSpPr/>
          <p:nvPr/>
        </p:nvSpPr>
        <p:spPr>
          <a:xfrm>
            <a:off x="400077" y="3267607"/>
            <a:ext cx="2196000" cy="12188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free_block1</a:t>
            </a:r>
          </a:p>
        </p:txBody>
      </p:sp>
      <p:sp>
        <p:nvSpPr>
          <p:cNvPr id="12" name="Прямоугольник 153">
            <a:extLst>
              <a:ext uri="{FF2B5EF4-FFF2-40B4-BE49-F238E27FC236}">
                <a16:creationId xmlns:a16="http://schemas.microsoft.com/office/drawing/2014/main" id="{AEA9167B-7487-A828-9CC6-4C895B9E5B48}"/>
              </a:ext>
            </a:extLst>
          </p:cNvPr>
          <p:cNvSpPr/>
          <p:nvPr/>
        </p:nvSpPr>
        <p:spPr>
          <a:xfrm>
            <a:off x="590597" y="3586770"/>
            <a:ext cx="1907469" cy="3703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err="1">
                <a:solidFill>
                  <a:schemeClr val="tx1"/>
                </a:solidFill>
              </a:rPr>
              <a:t>fp</a:t>
            </a:r>
            <a:r>
              <a:rPr lang="en-US" b="1" dirty="0">
                <a:solidFill>
                  <a:schemeClr val="tx1"/>
                </a:solidFill>
              </a:rPr>
              <a:t>: &amp;free_block2</a:t>
            </a:r>
          </a:p>
        </p:txBody>
      </p:sp>
      <p:sp>
        <p:nvSpPr>
          <p:cNvPr id="13" name="Прямоугольник 154">
            <a:extLst>
              <a:ext uri="{FF2B5EF4-FFF2-40B4-BE49-F238E27FC236}">
                <a16:creationId xmlns:a16="http://schemas.microsoft.com/office/drawing/2014/main" id="{4AB4705A-88E1-8DE5-3595-0EB0C3577275}"/>
              </a:ext>
            </a:extLst>
          </p:cNvPr>
          <p:cNvSpPr/>
          <p:nvPr/>
        </p:nvSpPr>
        <p:spPr>
          <a:xfrm>
            <a:off x="590596" y="3953217"/>
            <a:ext cx="1907469" cy="3703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bp: &amp;free_block0</a:t>
            </a:r>
          </a:p>
        </p:txBody>
      </p:sp>
      <p:sp>
        <p:nvSpPr>
          <p:cNvPr id="14" name="Прямоугольник 155">
            <a:extLst>
              <a:ext uri="{FF2B5EF4-FFF2-40B4-BE49-F238E27FC236}">
                <a16:creationId xmlns:a16="http://schemas.microsoft.com/office/drawing/2014/main" id="{C0D23C23-3406-8D32-24D3-3B2D58689E0F}"/>
              </a:ext>
            </a:extLst>
          </p:cNvPr>
          <p:cNvSpPr/>
          <p:nvPr/>
        </p:nvSpPr>
        <p:spPr>
          <a:xfrm>
            <a:off x="400076" y="5038364"/>
            <a:ext cx="2196000" cy="121889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free_block2</a:t>
            </a:r>
          </a:p>
        </p:txBody>
      </p:sp>
      <p:sp>
        <p:nvSpPr>
          <p:cNvPr id="15" name="Прямоугольник 156">
            <a:extLst>
              <a:ext uri="{FF2B5EF4-FFF2-40B4-BE49-F238E27FC236}">
                <a16:creationId xmlns:a16="http://schemas.microsoft.com/office/drawing/2014/main" id="{4943030B-7CD3-1D6A-FA25-2CF39B931190}"/>
              </a:ext>
            </a:extLst>
          </p:cNvPr>
          <p:cNvSpPr/>
          <p:nvPr/>
        </p:nvSpPr>
        <p:spPr>
          <a:xfrm>
            <a:off x="590596" y="5352193"/>
            <a:ext cx="1907469" cy="3703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err="1">
                <a:solidFill>
                  <a:schemeClr val="tx1"/>
                </a:solidFill>
              </a:rPr>
              <a:t>fp</a:t>
            </a:r>
            <a:r>
              <a:rPr lang="en-US" b="1" dirty="0">
                <a:solidFill>
                  <a:schemeClr val="tx1"/>
                </a:solidFill>
              </a:rPr>
              <a:t>: ???</a:t>
            </a:r>
          </a:p>
        </p:txBody>
      </p:sp>
      <p:sp>
        <p:nvSpPr>
          <p:cNvPr id="16" name="Прямоугольник 157">
            <a:extLst>
              <a:ext uri="{FF2B5EF4-FFF2-40B4-BE49-F238E27FC236}">
                <a16:creationId xmlns:a16="http://schemas.microsoft.com/office/drawing/2014/main" id="{CEDD4163-6920-0E42-4896-D2C406991D52}"/>
              </a:ext>
            </a:extLst>
          </p:cNvPr>
          <p:cNvSpPr/>
          <p:nvPr/>
        </p:nvSpPr>
        <p:spPr>
          <a:xfrm>
            <a:off x="590595" y="5730832"/>
            <a:ext cx="1907469" cy="3703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bp: &amp;</a:t>
            </a:r>
            <a:r>
              <a:rPr lang="en-US" b="1" dirty="0" err="1">
                <a:solidFill>
                  <a:schemeClr val="tx1"/>
                </a:solidFill>
              </a:rPr>
              <a:t>free_block</a:t>
            </a:r>
            <a:r>
              <a:rPr lang="ru-RU" b="1" dirty="0">
                <a:solidFill>
                  <a:schemeClr val="tx1"/>
                </a:solidFill>
              </a:rPr>
              <a:t>1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7" name="Соединитель: уступ 172">
            <a:extLst>
              <a:ext uri="{FF2B5EF4-FFF2-40B4-BE49-F238E27FC236}">
                <a16:creationId xmlns:a16="http://schemas.microsoft.com/office/drawing/2014/main" id="{FC47A5B6-3722-371B-355D-5C3A498A6287}"/>
              </a:ext>
            </a:extLst>
          </p:cNvPr>
          <p:cNvCxnSpPr>
            <a:cxnSpLocks/>
          </p:cNvCxnSpPr>
          <p:nvPr/>
        </p:nvCxnSpPr>
        <p:spPr>
          <a:xfrm>
            <a:off x="2490644" y="1961095"/>
            <a:ext cx="93162" cy="1296000"/>
          </a:xfrm>
          <a:prstGeom prst="bentConnector3">
            <a:avLst>
              <a:gd name="adj1" fmla="val 2937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: уступ 173">
            <a:extLst>
              <a:ext uri="{FF2B5EF4-FFF2-40B4-BE49-F238E27FC236}">
                <a16:creationId xmlns:a16="http://schemas.microsoft.com/office/drawing/2014/main" id="{524A065E-0EB3-34E6-6B57-8AFB6117781D}"/>
              </a:ext>
            </a:extLst>
          </p:cNvPr>
          <p:cNvCxnSpPr>
            <a:cxnSpLocks/>
          </p:cNvCxnSpPr>
          <p:nvPr/>
        </p:nvCxnSpPr>
        <p:spPr>
          <a:xfrm>
            <a:off x="2490644" y="3793370"/>
            <a:ext cx="108000" cy="1224000"/>
          </a:xfrm>
          <a:prstGeom prst="bentConnector3">
            <a:avLst>
              <a:gd name="adj1" fmla="val 24989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Соединитель: уступ 174">
            <a:extLst>
              <a:ext uri="{FF2B5EF4-FFF2-40B4-BE49-F238E27FC236}">
                <a16:creationId xmlns:a16="http://schemas.microsoft.com/office/drawing/2014/main" id="{83C19B6A-D6A4-D20C-2C15-B40C5FFC58ED}"/>
              </a:ext>
            </a:extLst>
          </p:cNvPr>
          <p:cNvCxnSpPr>
            <a:cxnSpLocks/>
          </p:cNvCxnSpPr>
          <p:nvPr/>
        </p:nvCxnSpPr>
        <p:spPr>
          <a:xfrm>
            <a:off x="400077" y="1478165"/>
            <a:ext cx="180000" cy="2700000"/>
          </a:xfrm>
          <a:prstGeom prst="bentConnector3">
            <a:avLst>
              <a:gd name="adj1" fmla="val -84796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: уступ 177">
            <a:extLst>
              <a:ext uri="{FF2B5EF4-FFF2-40B4-BE49-F238E27FC236}">
                <a16:creationId xmlns:a16="http://schemas.microsoft.com/office/drawing/2014/main" id="{3DE8E50F-B252-9570-8D23-ACB4121E17C0}"/>
              </a:ext>
            </a:extLst>
          </p:cNvPr>
          <p:cNvCxnSpPr>
            <a:cxnSpLocks/>
          </p:cNvCxnSpPr>
          <p:nvPr/>
        </p:nvCxnSpPr>
        <p:spPr>
          <a:xfrm>
            <a:off x="398050" y="3257095"/>
            <a:ext cx="180000" cy="2700000"/>
          </a:xfrm>
          <a:prstGeom prst="bentConnector3">
            <a:avLst>
              <a:gd name="adj1" fmla="val -147777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Соединитель: уступ 34">
            <a:extLst>
              <a:ext uri="{FF2B5EF4-FFF2-40B4-BE49-F238E27FC236}">
                <a16:creationId xmlns:a16="http://schemas.microsoft.com/office/drawing/2014/main" id="{1CDFA2A9-A8AD-9015-1D76-85B6AA4FE98C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498065" y="1268732"/>
            <a:ext cx="324000" cy="10971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Соединитель: уступ 35">
            <a:extLst>
              <a:ext uri="{FF2B5EF4-FFF2-40B4-BE49-F238E27FC236}">
                <a16:creationId xmlns:a16="http://schemas.microsoft.com/office/drawing/2014/main" id="{3A092833-7B71-7188-76C9-0DB5B1FFDC42}"/>
              </a:ext>
            </a:extLst>
          </p:cNvPr>
          <p:cNvCxnSpPr>
            <a:cxnSpLocks/>
          </p:cNvCxnSpPr>
          <p:nvPr/>
        </p:nvCxnSpPr>
        <p:spPr>
          <a:xfrm>
            <a:off x="2485519" y="5521338"/>
            <a:ext cx="288000" cy="504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143">
            <a:extLst>
              <a:ext uri="{FF2B5EF4-FFF2-40B4-BE49-F238E27FC236}">
                <a16:creationId xmlns:a16="http://schemas.microsoft.com/office/drawing/2014/main" id="{469F9949-B5FE-D120-1A51-864719F36CF9}"/>
              </a:ext>
            </a:extLst>
          </p:cNvPr>
          <p:cNvSpPr/>
          <p:nvPr/>
        </p:nvSpPr>
        <p:spPr>
          <a:xfrm>
            <a:off x="4284251" y="2718405"/>
            <a:ext cx="2196000" cy="549202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non_free_block1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0xFF </a:t>
            </a:r>
            <a:r>
              <a:rPr lang="en-US" dirty="0" err="1">
                <a:solidFill>
                  <a:schemeClr val="tx1"/>
                </a:solidFill>
              </a:rPr>
              <a:t>0xFF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0xFF</a:t>
            </a:r>
            <a:r>
              <a:rPr lang="en-US" dirty="0">
                <a:solidFill>
                  <a:schemeClr val="tx1"/>
                </a:solidFill>
              </a:rPr>
              <a:t> 0x FF</a:t>
            </a:r>
          </a:p>
        </p:txBody>
      </p:sp>
      <p:sp>
        <p:nvSpPr>
          <p:cNvPr id="29" name="Прямоугольник 146">
            <a:extLst>
              <a:ext uri="{FF2B5EF4-FFF2-40B4-BE49-F238E27FC236}">
                <a16:creationId xmlns:a16="http://schemas.microsoft.com/office/drawing/2014/main" id="{0A400823-96A1-684C-D8F1-75BF17C582C6}"/>
              </a:ext>
            </a:extLst>
          </p:cNvPr>
          <p:cNvSpPr/>
          <p:nvPr/>
        </p:nvSpPr>
        <p:spPr>
          <a:xfrm>
            <a:off x="4284249" y="4484430"/>
            <a:ext cx="2196000" cy="5492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non_free_block2</a:t>
            </a:r>
          </a:p>
        </p:txBody>
      </p:sp>
      <p:sp>
        <p:nvSpPr>
          <p:cNvPr id="30" name="Прямоугольник 149">
            <a:extLst>
              <a:ext uri="{FF2B5EF4-FFF2-40B4-BE49-F238E27FC236}">
                <a16:creationId xmlns:a16="http://schemas.microsoft.com/office/drawing/2014/main" id="{E21853DA-CF29-F164-F16D-CFF9E6372CD7}"/>
              </a:ext>
            </a:extLst>
          </p:cNvPr>
          <p:cNvSpPr/>
          <p:nvPr/>
        </p:nvSpPr>
        <p:spPr>
          <a:xfrm>
            <a:off x="4284250" y="1492863"/>
            <a:ext cx="2196000" cy="1218890"/>
          </a:xfrm>
          <a:prstGeom prst="rect">
            <a:avLst/>
          </a:prstGeom>
          <a:solidFill>
            <a:srgbClr val="87B6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free_block0</a:t>
            </a:r>
          </a:p>
        </p:txBody>
      </p:sp>
      <p:sp>
        <p:nvSpPr>
          <p:cNvPr id="31" name="Прямоугольник 150">
            <a:extLst>
              <a:ext uri="{FF2B5EF4-FFF2-40B4-BE49-F238E27FC236}">
                <a16:creationId xmlns:a16="http://schemas.microsoft.com/office/drawing/2014/main" id="{E45B34A1-33B2-8C30-2738-5855784DB4D7}"/>
              </a:ext>
            </a:extLst>
          </p:cNvPr>
          <p:cNvSpPr/>
          <p:nvPr/>
        </p:nvSpPr>
        <p:spPr>
          <a:xfrm>
            <a:off x="4474770" y="1808216"/>
            <a:ext cx="1907469" cy="3703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err="1">
                <a:solidFill>
                  <a:schemeClr val="tx1"/>
                </a:solidFill>
              </a:rPr>
              <a:t>fp</a:t>
            </a:r>
            <a:r>
              <a:rPr lang="en-US" b="1" dirty="0">
                <a:solidFill>
                  <a:schemeClr val="tx1"/>
                </a:solidFill>
              </a:rPr>
              <a:t>: free_block1</a:t>
            </a:r>
          </a:p>
        </p:txBody>
      </p:sp>
      <p:sp>
        <p:nvSpPr>
          <p:cNvPr id="32" name="Прямоугольник 151">
            <a:extLst>
              <a:ext uri="{FF2B5EF4-FFF2-40B4-BE49-F238E27FC236}">
                <a16:creationId xmlns:a16="http://schemas.microsoft.com/office/drawing/2014/main" id="{C82536BE-EC6F-AABE-1563-B61313299D22}"/>
              </a:ext>
            </a:extLst>
          </p:cNvPr>
          <p:cNvSpPr/>
          <p:nvPr/>
        </p:nvSpPr>
        <p:spPr>
          <a:xfrm>
            <a:off x="4474769" y="2186855"/>
            <a:ext cx="1907469" cy="3703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bp: ???</a:t>
            </a:r>
          </a:p>
        </p:txBody>
      </p:sp>
      <p:sp>
        <p:nvSpPr>
          <p:cNvPr id="33" name="Прямоугольник 152">
            <a:extLst>
              <a:ext uri="{FF2B5EF4-FFF2-40B4-BE49-F238E27FC236}">
                <a16:creationId xmlns:a16="http://schemas.microsoft.com/office/drawing/2014/main" id="{986063C4-8D77-CD33-E432-964561624C24}"/>
              </a:ext>
            </a:extLst>
          </p:cNvPr>
          <p:cNvSpPr/>
          <p:nvPr/>
        </p:nvSpPr>
        <p:spPr>
          <a:xfrm>
            <a:off x="4284250" y="3273713"/>
            <a:ext cx="2196000" cy="1218890"/>
          </a:xfrm>
          <a:prstGeom prst="rect">
            <a:avLst/>
          </a:prstGeom>
          <a:solidFill>
            <a:srgbClr val="FF757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free_block1</a:t>
            </a:r>
          </a:p>
        </p:txBody>
      </p:sp>
      <p:sp>
        <p:nvSpPr>
          <p:cNvPr id="34" name="Прямоугольник 153">
            <a:extLst>
              <a:ext uri="{FF2B5EF4-FFF2-40B4-BE49-F238E27FC236}">
                <a16:creationId xmlns:a16="http://schemas.microsoft.com/office/drawing/2014/main" id="{94A755C8-BFC1-0BB9-9848-68F34A371EF1}"/>
              </a:ext>
            </a:extLst>
          </p:cNvPr>
          <p:cNvSpPr/>
          <p:nvPr/>
        </p:nvSpPr>
        <p:spPr>
          <a:xfrm>
            <a:off x="4474770" y="3592876"/>
            <a:ext cx="1907469" cy="370317"/>
          </a:xfrm>
          <a:prstGeom prst="rect">
            <a:avLst/>
          </a:prstGeom>
          <a:solidFill>
            <a:srgbClr val="FFB7B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err="1">
                <a:solidFill>
                  <a:schemeClr val="tx1"/>
                </a:solidFill>
              </a:rPr>
              <a:t>fp</a:t>
            </a:r>
            <a:r>
              <a:rPr lang="en-US" b="1" dirty="0">
                <a:solidFill>
                  <a:schemeClr val="tx1"/>
                </a:solidFill>
              </a:rPr>
              <a:t>: &lt;what&gt;</a:t>
            </a:r>
          </a:p>
        </p:txBody>
      </p:sp>
      <p:sp>
        <p:nvSpPr>
          <p:cNvPr id="35" name="Прямоугольник 154">
            <a:extLst>
              <a:ext uri="{FF2B5EF4-FFF2-40B4-BE49-F238E27FC236}">
                <a16:creationId xmlns:a16="http://schemas.microsoft.com/office/drawing/2014/main" id="{C0548D4C-D391-8CFE-0EB0-5EB663D18512}"/>
              </a:ext>
            </a:extLst>
          </p:cNvPr>
          <p:cNvSpPr/>
          <p:nvPr/>
        </p:nvSpPr>
        <p:spPr>
          <a:xfrm>
            <a:off x="4474769" y="3959323"/>
            <a:ext cx="1907469" cy="370317"/>
          </a:xfrm>
          <a:prstGeom prst="rect">
            <a:avLst/>
          </a:prstGeom>
          <a:solidFill>
            <a:srgbClr val="FFB7B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bp: &lt;where-16&gt;</a:t>
            </a:r>
          </a:p>
        </p:txBody>
      </p:sp>
      <p:sp>
        <p:nvSpPr>
          <p:cNvPr id="36" name="Прямоугольник 155">
            <a:extLst>
              <a:ext uri="{FF2B5EF4-FFF2-40B4-BE49-F238E27FC236}">
                <a16:creationId xmlns:a16="http://schemas.microsoft.com/office/drawing/2014/main" id="{B846DFE9-4A41-BF18-6F06-D21718B3BA0C}"/>
              </a:ext>
            </a:extLst>
          </p:cNvPr>
          <p:cNvSpPr/>
          <p:nvPr/>
        </p:nvSpPr>
        <p:spPr>
          <a:xfrm>
            <a:off x="4284249" y="5044470"/>
            <a:ext cx="2196000" cy="121889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free_block2</a:t>
            </a:r>
          </a:p>
        </p:txBody>
      </p:sp>
      <p:sp>
        <p:nvSpPr>
          <p:cNvPr id="37" name="Прямоугольник 156">
            <a:extLst>
              <a:ext uri="{FF2B5EF4-FFF2-40B4-BE49-F238E27FC236}">
                <a16:creationId xmlns:a16="http://schemas.microsoft.com/office/drawing/2014/main" id="{5A2EA2A9-D01B-B23A-8BBB-FFE44BF28827}"/>
              </a:ext>
            </a:extLst>
          </p:cNvPr>
          <p:cNvSpPr/>
          <p:nvPr/>
        </p:nvSpPr>
        <p:spPr>
          <a:xfrm>
            <a:off x="4474769" y="5358299"/>
            <a:ext cx="1907469" cy="3703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err="1">
                <a:solidFill>
                  <a:schemeClr val="tx1"/>
                </a:solidFill>
              </a:rPr>
              <a:t>fp</a:t>
            </a:r>
            <a:r>
              <a:rPr lang="en-US" b="1" dirty="0">
                <a:solidFill>
                  <a:schemeClr val="tx1"/>
                </a:solidFill>
              </a:rPr>
              <a:t>: ???</a:t>
            </a:r>
          </a:p>
        </p:txBody>
      </p:sp>
      <p:sp>
        <p:nvSpPr>
          <p:cNvPr id="38" name="Прямоугольник 157">
            <a:extLst>
              <a:ext uri="{FF2B5EF4-FFF2-40B4-BE49-F238E27FC236}">
                <a16:creationId xmlns:a16="http://schemas.microsoft.com/office/drawing/2014/main" id="{BCABD57F-22EA-66F3-7A98-60A89DD20B92}"/>
              </a:ext>
            </a:extLst>
          </p:cNvPr>
          <p:cNvSpPr/>
          <p:nvPr/>
        </p:nvSpPr>
        <p:spPr>
          <a:xfrm>
            <a:off x="4474768" y="5736938"/>
            <a:ext cx="1907469" cy="3703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bp: &amp;</a:t>
            </a:r>
            <a:r>
              <a:rPr lang="en-US" b="1" dirty="0" err="1">
                <a:solidFill>
                  <a:schemeClr val="tx1"/>
                </a:solidFill>
              </a:rPr>
              <a:t>free_block</a:t>
            </a:r>
            <a:r>
              <a:rPr lang="ru-RU" b="1" dirty="0">
                <a:solidFill>
                  <a:schemeClr val="tx1"/>
                </a:solidFill>
              </a:rPr>
              <a:t>1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39" name="Соединитель: уступ 172">
            <a:extLst>
              <a:ext uri="{FF2B5EF4-FFF2-40B4-BE49-F238E27FC236}">
                <a16:creationId xmlns:a16="http://schemas.microsoft.com/office/drawing/2014/main" id="{2A2AAABB-3784-1654-84E8-77CA848D9E84}"/>
              </a:ext>
            </a:extLst>
          </p:cNvPr>
          <p:cNvCxnSpPr>
            <a:cxnSpLocks/>
          </p:cNvCxnSpPr>
          <p:nvPr/>
        </p:nvCxnSpPr>
        <p:spPr>
          <a:xfrm>
            <a:off x="6374817" y="1967201"/>
            <a:ext cx="93162" cy="1296000"/>
          </a:xfrm>
          <a:prstGeom prst="bentConnector3">
            <a:avLst>
              <a:gd name="adj1" fmla="val 256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Соединитель: уступ 177">
            <a:extLst>
              <a:ext uri="{FF2B5EF4-FFF2-40B4-BE49-F238E27FC236}">
                <a16:creationId xmlns:a16="http://schemas.microsoft.com/office/drawing/2014/main" id="{114C072E-B2AE-6EAE-DDC3-81F695223FC4}"/>
              </a:ext>
            </a:extLst>
          </p:cNvPr>
          <p:cNvCxnSpPr>
            <a:cxnSpLocks/>
          </p:cNvCxnSpPr>
          <p:nvPr/>
        </p:nvCxnSpPr>
        <p:spPr>
          <a:xfrm>
            <a:off x="4282223" y="3263201"/>
            <a:ext cx="180000" cy="2700000"/>
          </a:xfrm>
          <a:prstGeom prst="bentConnector3">
            <a:avLst>
              <a:gd name="adj1" fmla="val -128679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Соединитель: уступ 34">
            <a:extLst>
              <a:ext uri="{FF2B5EF4-FFF2-40B4-BE49-F238E27FC236}">
                <a16:creationId xmlns:a16="http://schemas.microsoft.com/office/drawing/2014/main" id="{12FFB868-7D0D-0AE9-F493-C85E286EDC48}"/>
              </a:ext>
            </a:extLst>
          </p:cNvPr>
          <p:cNvCxnSpPr>
            <a:cxnSpLocks/>
            <a:stCxn id="32" idx="3"/>
          </p:cNvCxnSpPr>
          <p:nvPr/>
        </p:nvCxnSpPr>
        <p:spPr>
          <a:xfrm flipV="1">
            <a:off x="6382238" y="1274838"/>
            <a:ext cx="360000" cy="10971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Соединитель: уступ 35">
            <a:extLst>
              <a:ext uri="{FF2B5EF4-FFF2-40B4-BE49-F238E27FC236}">
                <a16:creationId xmlns:a16="http://schemas.microsoft.com/office/drawing/2014/main" id="{CDE026A6-C4A5-71D7-1FC1-99F9A3072F82}"/>
              </a:ext>
            </a:extLst>
          </p:cNvPr>
          <p:cNvCxnSpPr>
            <a:cxnSpLocks/>
          </p:cNvCxnSpPr>
          <p:nvPr/>
        </p:nvCxnSpPr>
        <p:spPr>
          <a:xfrm>
            <a:off x="6369692" y="5527444"/>
            <a:ext cx="216000" cy="504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4CADB40D-819F-0295-AC8E-7A86CD36EC11}"/>
              </a:ext>
            </a:extLst>
          </p:cNvPr>
          <p:cNvSpPr txBox="1"/>
          <p:nvPr/>
        </p:nvSpPr>
        <p:spPr>
          <a:xfrm>
            <a:off x="3664475" y="25510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E1AAB42-0822-98C3-6AD2-AD81A56DA715}"/>
              </a:ext>
            </a:extLst>
          </p:cNvPr>
          <p:cNvSpPr txBox="1"/>
          <p:nvPr/>
        </p:nvSpPr>
        <p:spPr>
          <a:xfrm>
            <a:off x="2701337" y="2262152"/>
            <a:ext cx="15974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Overflow </a:t>
            </a:r>
            <a:br>
              <a:rPr lang="ru-RU" sz="1600" dirty="0"/>
            </a:br>
            <a:r>
              <a:rPr lang="en-US" sz="1600" dirty="0"/>
              <a:t>non_free_block1</a:t>
            </a:r>
          </a:p>
        </p:txBody>
      </p:sp>
      <p:sp>
        <p:nvSpPr>
          <p:cNvPr id="80" name="Прямоугольник 143">
            <a:extLst>
              <a:ext uri="{FF2B5EF4-FFF2-40B4-BE49-F238E27FC236}">
                <a16:creationId xmlns:a16="http://schemas.microsoft.com/office/drawing/2014/main" id="{05987E99-274C-3327-A4BA-9D924B32E5CB}"/>
              </a:ext>
            </a:extLst>
          </p:cNvPr>
          <p:cNvSpPr/>
          <p:nvPr/>
        </p:nvSpPr>
        <p:spPr>
          <a:xfrm>
            <a:off x="8115017" y="2712299"/>
            <a:ext cx="2196000" cy="549202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non_free_block1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0xFF </a:t>
            </a:r>
            <a:r>
              <a:rPr lang="en-US" dirty="0" err="1">
                <a:solidFill>
                  <a:schemeClr val="tx1"/>
                </a:solidFill>
              </a:rPr>
              <a:t>0xFF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0xFF</a:t>
            </a:r>
            <a:r>
              <a:rPr lang="en-US" dirty="0">
                <a:solidFill>
                  <a:schemeClr val="tx1"/>
                </a:solidFill>
              </a:rPr>
              <a:t> 0x FF</a:t>
            </a:r>
          </a:p>
        </p:txBody>
      </p:sp>
      <p:sp>
        <p:nvSpPr>
          <p:cNvPr id="81" name="Прямоугольник 146">
            <a:extLst>
              <a:ext uri="{FF2B5EF4-FFF2-40B4-BE49-F238E27FC236}">
                <a16:creationId xmlns:a16="http://schemas.microsoft.com/office/drawing/2014/main" id="{4BA66A2A-0F67-B033-CEC6-9E6790399A5B}"/>
              </a:ext>
            </a:extLst>
          </p:cNvPr>
          <p:cNvSpPr/>
          <p:nvPr/>
        </p:nvSpPr>
        <p:spPr>
          <a:xfrm>
            <a:off x="8115015" y="4478324"/>
            <a:ext cx="2196000" cy="5492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non_free_block2</a:t>
            </a:r>
          </a:p>
        </p:txBody>
      </p:sp>
      <p:sp>
        <p:nvSpPr>
          <p:cNvPr id="82" name="Прямоугольник 149">
            <a:extLst>
              <a:ext uri="{FF2B5EF4-FFF2-40B4-BE49-F238E27FC236}">
                <a16:creationId xmlns:a16="http://schemas.microsoft.com/office/drawing/2014/main" id="{9EEB94C2-5EC3-5DB6-7049-FEBD0F96B802}"/>
              </a:ext>
            </a:extLst>
          </p:cNvPr>
          <p:cNvSpPr/>
          <p:nvPr/>
        </p:nvSpPr>
        <p:spPr>
          <a:xfrm>
            <a:off x="8115016" y="1486757"/>
            <a:ext cx="2196000" cy="1218890"/>
          </a:xfrm>
          <a:prstGeom prst="rect">
            <a:avLst/>
          </a:prstGeom>
          <a:solidFill>
            <a:srgbClr val="87B6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free_block0</a:t>
            </a:r>
          </a:p>
        </p:txBody>
      </p:sp>
      <p:sp>
        <p:nvSpPr>
          <p:cNvPr id="83" name="Прямоугольник 150">
            <a:extLst>
              <a:ext uri="{FF2B5EF4-FFF2-40B4-BE49-F238E27FC236}">
                <a16:creationId xmlns:a16="http://schemas.microsoft.com/office/drawing/2014/main" id="{22AA4DF8-F61A-450D-7276-47C3DDA2F031}"/>
              </a:ext>
            </a:extLst>
          </p:cNvPr>
          <p:cNvSpPr/>
          <p:nvPr/>
        </p:nvSpPr>
        <p:spPr>
          <a:xfrm>
            <a:off x="8305536" y="1802110"/>
            <a:ext cx="1907469" cy="3703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err="1">
                <a:solidFill>
                  <a:schemeClr val="tx1"/>
                </a:solidFill>
              </a:rPr>
              <a:t>fp</a:t>
            </a:r>
            <a:r>
              <a:rPr lang="en-US" b="1" dirty="0">
                <a:solidFill>
                  <a:schemeClr val="tx1"/>
                </a:solidFill>
              </a:rPr>
              <a:t>: free_block1</a:t>
            </a:r>
          </a:p>
        </p:txBody>
      </p:sp>
      <p:sp>
        <p:nvSpPr>
          <p:cNvPr id="84" name="Прямоугольник 151">
            <a:extLst>
              <a:ext uri="{FF2B5EF4-FFF2-40B4-BE49-F238E27FC236}">
                <a16:creationId xmlns:a16="http://schemas.microsoft.com/office/drawing/2014/main" id="{EF5F3CA2-799F-D8FB-B065-3F0A63152097}"/>
              </a:ext>
            </a:extLst>
          </p:cNvPr>
          <p:cNvSpPr/>
          <p:nvPr/>
        </p:nvSpPr>
        <p:spPr>
          <a:xfrm>
            <a:off x="8305535" y="2180749"/>
            <a:ext cx="1907469" cy="3703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bp: ???</a:t>
            </a:r>
          </a:p>
        </p:txBody>
      </p:sp>
      <p:sp>
        <p:nvSpPr>
          <p:cNvPr id="85" name="Прямоугольник 152">
            <a:extLst>
              <a:ext uri="{FF2B5EF4-FFF2-40B4-BE49-F238E27FC236}">
                <a16:creationId xmlns:a16="http://schemas.microsoft.com/office/drawing/2014/main" id="{FA39234F-0047-79C0-A3C7-F06229F46FDA}"/>
              </a:ext>
            </a:extLst>
          </p:cNvPr>
          <p:cNvSpPr/>
          <p:nvPr/>
        </p:nvSpPr>
        <p:spPr>
          <a:xfrm>
            <a:off x="8115016" y="3267607"/>
            <a:ext cx="2196000" cy="1218890"/>
          </a:xfrm>
          <a:prstGeom prst="rect">
            <a:avLst/>
          </a:prstGeom>
          <a:solidFill>
            <a:srgbClr val="FF757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free_block1</a:t>
            </a:r>
          </a:p>
        </p:txBody>
      </p:sp>
      <p:sp>
        <p:nvSpPr>
          <p:cNvPr id="86" name="Прямоугольник 153">
            <a:extLst>
              <a:ext uri="{FF2B5EF4-FFF2-40B4-BE49-F238E27FC236}">
                <a16:creationId xmlns:a16="http://schemas.microsoft.com/office/drawing/2014/main" id="{B5D81A92-9205-B09C-67D9-D2394147BF57}"/>
              </a:ext>
            </a:extLst>
          </p:cNvPr>
          <p:cNvSpPr/>
          <p:nvPr/>
        </p:nvSpPr>
        <p:spPr>
          <a:xfrm>
            <a:off x="8305536" y="3586770"/>
            <a:ext cx="1907469" cy="370317"/>
          </a:xfrm>
          <a:prstGeom prst="rect">
            <a:avLst/>
          </a:prstGeom>
          <a:solidFill>
            <a:srgbClr val="FFB7B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err="1">
                <a:solidFill>
                  <a:schemeClr val="tx1"/>
                </a:solidFill>
              </a:rPr>
              <a:t>fp</a:t>
            </a:r>
            <a:r>
              <a:rPr lang="en-US" b="1" dirty="0">
                <a:solidFill>
                  <a:schemeClr val="tx1"/>
                </a:solidFill>
              </a:rPr>
              <a:t>: &lt;what&gt;</a:t>
            </a:r>
          </a:p>
        </p:txBody>
      </p:sp>
      <p:sp>
        <p:nvSpPr>
          <p:cNvPr id="87" name="Прямоугольник 154">
            <a:extLst>
              <a:ext uri="{FF2B5EF4-FFF2-40B4-BE49-F238E27FC236}">
                <a16:creationId xmlns:a16="http://schemas.microsoft.com/office/drawing/2014/main" id="{5FB99665-0751-2F40-CF80-D34EE27EA08D}"/>
              </a:ext>
            </a:extLst>
          </p:cNvPr>
          <p:cNvSpPr/>
          <p:nvPr/>
        </p:nvSpPr>
        <p:spPr>
          <a:xfrm>
            <a:off x="8305535" y="3953217"/>
            <a:ext cx="1907469" cy="370317"/>
          </a:xfrm>
          <a:prstGeom prst="rect">
            <a:avLst/>
          </a:prstGeom>
          <a:solidFill>
            <a:srgbClr val="FFB7B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bp: &lt;where-16&gt;</a:t>
            </a:r>
          </a:p>
        </p:txBody>
      </p:sp>
      <p:sp>
        <p:nvSpPr>
          <p:cNvPr id="88" name="Прямоугольник 155">
            <a:extLst>
              <a:ext uri="{FF2B5EF4-FFF2-40B4-BE49-F238E27FC236}">
                <a16:creationId xmlns:a16="http://schemas.microsoft.com/office/drawing/2014/main" id="{07C9A539-3124-4A82-5E7B-71D0C56057F7}"/>
              </a:ext>
            </a:extLst>
          </p:cNvPr>
          <p:cNvSpPr/>
          <p:nvPr/>
        </p:nvSpPr>
        <p:spPr>
          <a:xfrm>
            <a:off x="8115015" y="5038364"/>
            <a:ext cx="2196000" cy="121889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free_block2</a:t>
            </a:r>
          </a:p>
        </p:txBody>
      </p:sp>
      <p:sp>
        <p:nvSpPr>
          <p:cNvPr id="89" name="Прямоугольник 156">
            <a:extLst>
              <a:ext uri="{FF2B5EF4-FFF2-40B4-BE49-F238E27FC236}">
                <a16:creationId xmlns:a16="http://schemas.microsoft.com/office/drawing/2014/main" id="{C86B49D7-04A3-4C81-66D0-C4C6B9A30CF1}"/>
              </a:ext>
            </a:extLst>
          </p:cNvPr>
          <p:cNvSpPr/>
          <p:nvPr/>
        </p:nvSpPr>
        <p:spPr>
          <a:xfrm>
            <a:off x="8305535" y="5352193"/>
            <a:ext cx="1907469" cy="3703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err="1">
                <a:solidFill>
                  <a:schemeClr val="tx1"/>
                </a:solidFill>
              </a:rPr>
              <a:t>fp</a:t>
            </a:r>
            <a:r>
              <a:rPr lang="en-US" b="1" dirty="0">
                <a:solidFill>
                  <a:schemeClr val="tx1"/>
                </a:solidFill>
              </a:rPr>
              <a:t>: ???</a:t>
            </a:r>
          </a:p>
        </p:txBody>
      </p:sp>
      <p:sp>
        <p:nvSpPr>
          <p:cNvPr id="90" name="Прямоугольник 157">
            <a:extLst>
              <a:ext uri="{FF2B5EF4-FFF2-40B4-BE49-F238E27FC236}">
                <a16:creationId xmlns:a16="http://schemas.microsoft.com/office/drawing/2014/main" id="{1389BE4E-C93C-5358-48EB-07890796C5E2}"/>
              </a:ext>
            </a:extLst>
          </p:cNvPr>
          <p:cNvSpPr/>
          <p:nvPr/>
        </p:nvSpPr>
        <p:spPr>
          <a:xfrm>
            <a:off x="8305534" y="5730832"/>
            <a:ext cx="1907469" cy="3703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bp: &amp;</a:t>
            </a:r>
            <a:r>
              <a:rPr lang="en-US" b="1" dirty="0" err="1">
                <a:solidFill>
                  <a:schemeClr val="tx1"/>
                </a:solidFill>
              </a:rPr>
              <a:t>free_block</a:t>
            </a:r>
            <a:r>
              <a:rPr lang="ru-RU" b="1" dirty="0">
                <a:solidFill>
                  <a:schemeClr val="tx1"/>
                </a:solidFill>
              </a:rPr>
              <a:t>1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91" name="Соединитель: уступ 172">
            <a:extLst>
              <a:ext uri="{FF2B5EF4-FFF2-40B4-BE49-F238E27FC236}">
                <a16:creationId xmlns:a16="http://schemas.microsoft.com/office/drawing/2014/main" id="{B815A100-B478-56EE-0B4A-74734C56BB24}"/>
              </a:ext>
            </a:extLst>
          </p:cNvPr>
          <p:cNvCxnSpPr>
            <a:cxnSpLocks/>
          </p:cNvCxnSpPr>
          <p:nvPr/>
        </p:nvCxnSpPr>
        <p:spPr>
          <a:xfrm>
            <a:off x="10205583" y="1961095"/>
            <a:ext cx="93162" cy="1296000"/>
          </a:xfrm>
          <a:prstGeom prst="bentConnector3">
            <a:avLst>
              <a:gd name="adj1" fmla="val 22730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Соединитель: уступ 177">
            <a:extLst>
              <a:ext uri="{FF2B5EF4-FFF2-40B4-BE49-F238E27FC236}">
                <a16:creationId xmlns:a16="http://schemas.microsoft.com/office/drawing/2014/main" id="{8A0E4CD4-362A-8715-9886-55B905EA7F76}"/>
              </a:ext>
            </a:extLst>
          </p:cNvPr>
          <p:cNvCxnSpPr>
            <a:cxnSpLocks/>
          </p:cNvCxnSpPr>
          <p:nvPr/>
        </p:nvCxnSpPr>
        <p:spPr>
          <a:xfrm>
            <a:off x="8112989" y="3257095"/>
            <a:ext cx="180000" cy="2700000"/>
          </a:xfrm>
          <a:prstGeom prst="bentConnector3">
            <a:avLst>
              <a:gd name="adj1" fmla="val -121040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Соединитель: уступ 34">
            <a:extLst>
              <a:ext uri="{FF2B5EF4-FFF2-40B4-BE49-F238E27FC236}">
                <a16:creationId xmlns:a16="http://schemas.microsoft.com/office/drawing/2014/main" id="{2E95F633-CA73-3D31-E663-9068BF448032}"/>
              </a:ext>
            </a:extLst>
          </p:cNvPr>
          <p:cNvCxnSpPr>
            <a:cxnSpLocks/>
            <a:stCxn id="84" idx="3"/>
          </p:cNvCxnSpPr>
          <p:nvPr/>
        </p:nvCxnSpPr>
        <p:spPr>
          <a:xfrm flipV="1">
            <a:off x="10213004" y="1268732"/>
            <a:ext cx="252000" cy="10971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Соединитель: уступ 35">
            <a:extLst>
              <a:ext uri="{FF2B5EF4-FFF2-40B4-BE49-F238E27FC236}">
                <a16:creationId xmlns:a16="http://schemas.microsoft.com/office/drawing/2014/main" id="{F8A6DDF7-F187-E95A-F2AF-BDAADD7E3A68}"/>
              </a:ext>
            </a:extLst>
          </p:cNvPr>
          <p:cNvCxnSpPr>
            <a:cxnSpLocks/>
          </p:cNvCxnSpPr>
          <p:nvPr/>
        </p:nvCxnSpPr>
        <p:spPr>
          <a:xfrm>
            <a:off x="10200458" y="5521338"/>
            <a:ext cx="216000" cy="504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Соединитель: уступ 173">
            <a:extLst>
              <a:ext uri="{FF2B5EF4-FFF2-40B4-BE49-F238E27FC236}">
                <a16:creationId xmlns:a16="http://schemas.microsoft.com/office/drawing/2014/main" id="{092AD4D5-B1D9-F324-FBCF-DC0AAEAA3C6A}"/>
              </a:ext>
            </a:extLst>
          </p:cNvPr>
          <p:cNvCxnSpPr>
            <a:cxnSpLocks/>
          </p:cNvCxnSpPr>
          <p:nvPr/>
        </p:nvCxnSpPr>
        <p:spPr>
          <a:xfrm>
            <a:off x="10213003" y="3783372"/>
            <a:ext cx="900000" cy="1327334"/>
          </a:xfrm>
          <a:prstGeom prst="bentConnector3">
            <a:avLst>
              <a:gd name="adj1" fmla="val 40069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4" name="Соединитель: уступ 44">
            <a:extLst>
              <a:ext uri="{FF2B5EF4-FFF2-40B4-BE49-F238E27FC236}">
                <a16:creationId xmlns:a16="http://schemas.microsoft.com/office/drawing/2014/main" id="{321D3007-33BA-8C7C-47E7-E1CD2C1735AE}"/>
              </a:ext>
            </a:extLst>
          </p:cNvPr>
          <p:cNvCxnSpPr>
            <a:cxnSpLocks/>
          </p:cNvCxnSpPr>
          <p:nvPr/>
        </p:nvCxnSpPr>
        <p:spPr>
          <a:xfrm flipV="1">
            <a:off x="10209651" y="3046495"/>
            <a:ext cx="1044000" cy="1080000"/>
          </a:xfrm>
          <a:prstGeom prst="bentConnector3">
            <a:avLst>
              <a:gd name="adj1" fmla="val 2765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8893E149-AE02-5830-5312-9A49BF6318C0}"/>
              </a:ext>
            </a:extLst>
          </p:cNvPr>
          <p:cNvSpPr txBox="1"/>
          <p:nvPr/>
        </p:nvSpPr>
        <p:spPr>
          <a:xfrm>
            <a:off x="11196110" y="2812281"/>
            <a:ext cx="789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where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8886E60-BCA4-2B84-E8B7-DA2937B40A84}"/>
              </a:ext>
            </a:extLst>
          </p:cNvPr>
          <p:cNvSpPr txBox="1"/>
          <p:nvPr/>
        </p:nvSpPr>
        <p:spPr>
          <a:xfrm>
            <a:off x="10485608" y="2692844"/>
            <a:ext cx="972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&lt;</a:t>
            </a:r>
            <a:r>
              <a:rPr lang="en-US" b="1" dirty="0">
                <a:solidFill>
                  <a:schemeClr val="tx1"/>
                </a:solidFill>
              </a:rPr>
              <a:t>what&gt;</a:t>
            </a:r>
            <a:endParaRPr lang="ru-RU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338D5C3-2A14-2A04-C047-D0DBD8F1E07E}"/>
              </a:ext>
            </a:extLst>
          </p:cNvPr>
          <p:cNvSpPr txBox="1"/>
          <p:nvPr/>
        </p:nvSpPr>
        <p:spPr>
          <a:xfrm>
            <a:off x="10522544" y="4323216"/>
            <a:ext cx="1462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&lt;where-16&gt; </a:t>
            </a:r>
            <a:endParaRPr lang="ru-RU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795D99C-C401-BB80-3CC5-E53D8C1BC1BB}"/>
              </a:ext>
            </a:extLst>
          </p:cNvPr>
          <p:cNvSpPr txBox="1"/>
          <p:nvPr/>
        </p:nvSpPr>
        <p:spPr>
          <a:xfrm>
            <a:off x="11047864" y="4912645"/>
            <a:ext cx="1102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what+</a:t>
            </a:r>
            <a:r>
              <a:rPr lang="en-US" b="1" dirty="0"/>
              <a:t>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1756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962A9-50BD-2E87-84DF-11BF8FA01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8C54C5-AFEA-CAC0-B566-4759370B7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Обход «канареек» через переполнение в куче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7D05BE7-EE18-DDF9-C64A-7E59917FB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38</a:t>
            </a:fld>
            <a:endParaRPr lang="en-US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3F21FDB6-6003-0812-EAF5-1FF5EFA3D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8893"/>
            <a:ext cx="10869166" cy="2658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Поскольку переполнение в куче предоставляет возможность произвольной записи, эту уязвимость можно использовать для обхода канареек.</a:t>
            </a:r>
            <a:r>
              <a:rPr lang="en-US" sz="2000" dirty="0"/>
              <a:t> 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В таком случае значение в </a:t>
            </a:r>
            <a:r>
              <a:rPr lang="en-US" sz="2000" dirty="0" err="1">
                <a:latin typeface="Consolas" panose="020B0609020204030204" pitchFamily="49" charset="0"/>
              </a:rPr>
              <a:t>backward_block_ptr</a:t>
            </a:r>
            <a:r>
              <a:rPr lang="ru-RU" sz="2000" dirty="0"/>
              <a:t> в этом случае нацеливается на адрес возврата или его часть. </a:t>
            </a:r>
          </a:p>
          <a:p>
            <a:pPr marL="0" indent="0">
              <a:buNone/>
            </a:pPr>
            <a:r>
              <a:rPr lang="ru-RU" sz="2000" dirty="0"/>
              <a:t>Значение в </a:t>
            </a:r>
            <a:r>
              <a:rPr lang="en-US" sz="2000" dirty="0" err="1">
                <a:latin typeface="Consolas" panose="020B0609020204030204" pitchFamily="49" charset="0"/>
              </a:rPr>
              <a:t>forward_block_ptr</a:t>
            </a:r>
            <a:r>
              <a:rPr lang="en-US" sz="2000" dirty="0"/>
              <a:t> </a:t>
            </a:r>
            <a:r>
              <a:rPr lang="ru-RU" sz="2000" dirty="0"/>
              <a:t>подбирается так, чтобы вторая операция записи не вызвала </a:t>
            </a:r>
            <a:r>
              <a:rPr lang="en-US" sz="2000" dirty="0"/>
              <a:t>SIGSEGV</a:t>
            </a:r>
            <a:r>
              <a:rPr lang="ru-RU" sz="2000" dirty="0"/>
              <a:t> и при этом адрес возврата изменился на нужный атакующему. </a:t>
            </a:r>
            <a:br>
              <a:rPr lang="ru-RU" sz="2000" dirty="0"/>
            </a:br>
            <a:endParaRPr lang="en-US" sz="2000" dirty="0"/>
          </a:p>
        </p:txBody>
      </p:sp>
      <p:sp>
        <p:nvSpPr>
          <p:cNvPr id="6" name="Прямоугольник 8">
            <a:extLst>
              <a:ext uri="{FF2B5EF4-FFF2-40B4-BE49-F238E27FC236}">
                <a16:creationId xmlns:a16="http://schemas.microsoft.com/office/drawing/2014/main" id="{FF2B5062-8892-89D3-AEE6-E03995BD0E29}"/>
              </a:ext>
            </a:extLst>
          </p:cNvPr>
          <p:cNvSpPr/>
          <p:nvPr/>
        </p:nvSpPr>
        <p:spPr>
          <a:xfrm>
            <a:off x="484634" y="4576391"/>
            <a:ext cx="2196000" cy="549202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BUFFER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19">
            <a:extLst>
              <a:ext uri="{FF2B5EF4-FFF2-40B4-BE49-F238E27FC236}">
                <a16:creationId xmlns:a16="http://schemas.microsoft.com/office/drawing/2014/main" id="{E7A99734-FBD5-2A75-A0E1-8BCD6110E3BF}"/>
              </a:ext>
            </a:extLst>
          </p:cNvPr>
          <p:cNvSpPr/>
          <p:nvPr/>
        </p:nvSpPr>
        <p:spPr>
          <a:xfrm>
            <a:off x="485772" y="5131189"/>
            <a:ext cx="2196000" cy="1218890"/>
          </a:xfrm>
          <a:prstGeom prst="rect">
            <a:avLst/>
          </a:prstGeom>
          <a:solidFill>
            <a:srgbClr val="FF757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free_block1</a:t>
            </a:r>
          </a:p>
        </p:txBody>
      </p:sp>
      <p:sp>
        <p:nvSpPr>
          <p:cNvPr id="8" name="Прямоугольник 20">
            <a:extLst>
              <a:ext uri="{FF2B5EF4-FFF2-40B4-BE49-F238E27FC236}">
                <a16:creationId xmlns:a16="http://schemas.microsoft.com/office/drawing/2014/main" id="{681C7A16-58C0-716B-9397-A877772C75F0}"/>
              </a:ext>
            </a:extLst>
          </p:cNvPr>
          <p:cNvSpPr/>
          <p:nvPr/>
        </p:nvSpPr>
        <p:spPr>
          <a:xfrm>
            <a:off x="676292" y="5438922"/>
            <a:ext cx="1907469" cy="370317"/>
          </a:xfrm>
          <a:prstGeom prst="rect">
            <a:avLst/>
          </a:prstGeom>
          <a:solidFill>
            <a:srgbClr val="FFB7B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err="1">
                <a:solidFill>
                  <a:schemeClr val="tx1"/>
                </a:solidFill>
              </a:rPr>
              <a:t>fp</a:t>
            </a:r>
            <a:r>
              <a:rPr lang="en-US" b="1" dirty="0">
                <a:solidFill>
                  <a:schemeClr val="tx1"/>
                </a:solidFill>
              </a:rPr>
              <a:t>: &amp;something</a:t>
            </a:r>
          </a:p>
        </p:txBody>
      </p:sp>
      <p:sp>
        <p:nvSpPr>
          <p:cNvPr id="10" name="Прямоугольник 21">
            <a:extLst>
              <a:ext uri="{FF2B5EF4-FFF2-40B4-BE49-F238E27FC236}">
                <a16:creationId xmlns:a16="http://schemas.microsoft.com/office/drawing/2014/main" id="{15016934-2D71-AB40-29AF-A6EE8AA10A45}"/>
              </a:ext>
            </a:extLst>
          </p:cNvPr>
          <p:cNvSpPr/>
          <p:nvPr/>
        </p:nvSpPr>
        <p:spPr>
          <a:xfrm>
            <a:off x="676291" y="5823657"/>
            <a:ext cx="1907469" cy="370317"/>
          </a:xfrm>
          <a:prstGeom prst="rect">
            <a:avLst/>
          </a:prstGeom>
          <a:solidFill>
            <a:srgbClr val="FFB7B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bp:&amp;ret_addr+20</a:t>
            </a:r>
          </a:p>
        </p:txBody>
      </p:sp>
      <p:cxnSp>
        <p:nvCxnSpPr>
          <p:cNvPr id="11" name="Соединитель: уступ 22">
            <a:extLst>
              <a:ext uri="{FF2B5EF4-FFF2-40B4-BE49-F238E27FC236}">
                <a16:creationId xmlns:a16="http://schemas.microsoft.com/office/drawing/2014/main" id="{2AB50AEC-6320-CE48-A197-C1347B127C08}"/>
              </a:ext>
            </a:extLst>
          </p:cNvPr>
          <p:cNvCxnSpPr>
            <a:cxnSpLocks/>
            <a:endCxn id="13" idx="0"/>
          </p:cNvCxnSpPr>
          <p:nvPr/>
        </p:nvCxnSpPr>
        <p:spPr>
          <a:xfrm flipV="1">
            <a:off x="2680634" y="4704389"/>
            <a:ext cx="3299403" cy="889739"/>
          </a:xfrm>
          <a:prstGeom prst="bentConnector4">
            <a:avLst>
              <a:gd name="adj1" fmla="val 33633"/>
              <a:gd name="adj2" fmla="val 12569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Прямоугольник 25">
            <a:extLst>
              <a:ext uri="{FF2B5EF4-FFF2-40B4-BE49-F238E27FC236}">
                <a16:creationId xmlns:a16="http://schemas.microsoft.com/office/drawing/2014/main" id="{1813EB0F-CC73-766F-2F61-332EAC8728DD}"/>
              </a:ext>
            </a:extLst>
          </p:cNvPr>
          <p:cNvSpPr/>
          <p:nvPr/>
        </p:nvSpPr>
        <p:spPr>
          <a:xfrm>
            <a:off x="4900037" y="4710160"/>
            <a:ext cx="2160000" cy="20430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Прямоугольник 28">
            <a:extLst>
              <a:ext uri="{FF2B5EF4-FFF2-40B4-BE49-F238E27FC236}">
                <a16:creationId xmlns:a16="http://schemas.microsoft.com/office/drawing/2014/main" id="{625039C9-B92F-77CB-2D04-2C5AA2B8828C}"/>
              </a:ext>
            </a:extLst>
          </p:cNvPr>
          <p:cNvSpPr/>
          <p:nvPr/>
        </p:nvSpPr>
        <p:spPr>
          <a:xfrm>
            <a:off x="4900037" y="4704389"/>
            <a:ext cx="2160000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address</a:t>
            </a:r>
          </a:p>
        </p:txBody>
      </p:sp>
      <p:sp>
        <p:nvSpPr>
          <p:cNvPr id="15" name="Прямоугольник 29">
            <a:extLst>
              <a:ext uri="{FF2B5EF4-FFF2-40B4-BE49-F238E27FC236}">
                <a16:creationId xmlns:a16="http://schemas.microsoft.com/office/drawing/2014/main" id="{CC5BC6E9-28D1-0685-B94D-96063293B68C}"/>
              </a:ext>
            </a:extLst>
          </p:cNvPr>
          <p:cNvSpPr/>
          <p:nvPr/>
        </p:nvSpPr>
        <p:spPr>
          <a:xfrm>
            <a:off x="4900037" y="5807277"/>
            <a:ext cx="2160000" cy="8759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locals</a:t>
            </a:r>
          </a:p>
        </p:txBody>
      </p:sp>
      <p:sp>
        <p:nvSpPr>
          <p:cNvPr id="16" name="Прямоугольник 30">
            <a:extLst>
              <a:ext uri="{FF2B5EF4-FFF2-40B4-BE49-F238E27FC236}">
                <a16:creationId xmlns:a16="http://schemas.microsoft.com/office/drawing/2014/main" id="{C745B701-A758-6C6A-3D64-7054D2547794}"/>
              </a:ext>
            </a:extLst>
          </p:cNvPr>
          <p:cNvSpPr/>
          <p:nvPr/>
        </p:nvSpPr>
        <p:spPr>
          <a:xfrm>
            <a:off x="4900037" y="5066695"/>
            <a:ext cx="2160000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Prev. RBP</a:t>
            </a:r>
          </a:p>
        </p:txBody>
      </p:sp>
      <p:sp>
        <p:nvSpPr>
          <p:cNvPr id="17" name="Прямоугольник 33">
            <a:extLst>
              <a:ext uri="{FF2B5EF4-FFF2-40B4-BE49-F238E27FC236}">
                <a16:creationId xmlns:a16="http://schemas.microsoft.com/office/drawing/2014/main" id="{64DFC521-3AEE-6BCF-57D2-3ABEDC55DBD8}"/>
              </a:ext>
            </a:extLst>
          </p:cNvPr>
          <p:cNvSpPr/>
          <p:nvPr/>
        </p:nvSpPr>
        <p:spPr>
          <a:xfrm>
            <a:off x="4900037" y="5438922"/>
            <a:ext cx="2160000" cy="3684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canary</a:t>
            </a:r>
          </a:p>
        </p:txBody>
      </p:sp>
      <p:sp>
        <p:nvSpPr>
          <p:cNvPr id="18" name="Прямоугольник 48">
            <a:extLst>
              <a:ext uri="{FF2B5EF4-FFF2-40B4-BE49-F238E27FC236}">
                <a16:creationId xmlns:a16="http://schemas.microsoft.com/office/drawing/2014/main" id="{9BE39D73-4A00-C6A4-4201-96CEFFAD77AC}"/>
              </a:ext>
            </a:extLst>
          </p:cNvPr>
          <p:cNvSpPr/>
          <p:nvPr/>
        </p:nvSpPr>
        <p:spPr>
          <a:xfrm>
            <a:off x="8158249" y="4706352"/>
            <a:ext cx="2160000" cy="20430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Прямоугольник 49">
            <a:extLst>
              <a:ext uri="{FF2B5EF4-FFF2-40B4-BE49-F238E27FC236}">
                <a16:creationId xmlns:a16="http://schemas.microsoft.com/office/drawing/2014/main" id="{C03E128D-808E-9EFD-EC65-969EFC9B5AEC}"/>
              </a:ext>
            </a:extLst>
          </p:cNvPr>
          <p:cNvSpPr/>
          <p:nvPr/>
        </p:nvSpPr>
        <p:spPr>
          <a:xfrm>
            <a:off x="8158249" y="4700581"/>
            <a:ext cx="2160000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address</a:t>
            </a:r>
          </a:p>
        </p:txBody>
      </p:sp>
      <p:sp>
        <p:nvSpPr>
          <p:cNvPr id="25" name="Прямоугольник 50">
            <a:extLst>
              <a:ext uri="{FF2B5EF4-FFF2-40B4-BE49-F238E27FC236}">
                <a16:creationId xmlns:a16="http://schemas.microsoft.com/office/drawing/2014/main" id="{C36F5886-9B95-1C05-2B0D-6A22F60EAD7A}"/>
              </a:ext>
            </a:extLst>
          </p:cNvPr>
          <p:cNvSpPr/>
          <p:nvPr/>
        </p:nvSpPr>
        <p:spPr>
          <a:xfrm>
            <a:off x="8158249" y="5803469"/>
            <a:ext cx="2160000" cy="8759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locals</a:t>
            </a:r>
          </a:p>
        </p:txBody>
      </p:sp>
      <p:sp>
        <p:nvSpPr>
          <p:cNvPr id="27" name="Прямоугольник 51">
            <a:extLst>
              <a:ext uri="{FF2B5EF4-FFF2-40B4-BE49-F238E27FC236}">
                <a16:creationId xmlns:a16="http://schemas.microsoft.com/office/drawing/2014/main" id="{941E542A-B2F4-3A67-CA39-9903901772D3}"/>
              </a:ext>
            </a:extLst>
          </p:cNvPr>
          <p:cNvSpPr/>
          <p:nvPr/>
        </p:nvSpPr>
        <p:spPr>
          <a:xfrm>
            <a:off x="8158249" y="5062887"/>
            <a:ext cx="2160000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Prev. RBP</a:t>
            </a:r>
          </a:p>
        </p:txBody>
      </p:sp>
      <p:sp>
        <p:nvSpPr>
          <p:cNvPr id="28" name="Прямоугольник 52">
            <a:extLst>
              <a:ext uri="{FF2B5EF4-FFF2-40B4-BE49-F238E27FC236}">
                <a16:creationId xmlns:a16="http://schemas.microsoft.com/office/drawing/2014/main" id="{71EBC8E7-6A34-2586-6BE4-ABBD0883CD3D}"/>
              </a:ext>
            </a:extLst>
          </p:cNvPr>
          <p:cNvSpPr/>
          <p:nvPr/>
        </p:nvSpPr>
        <p:spPr>
          <a:xfrm>
            <a:off x="8158249" y="5435114"/>
            <a:ext cx="2160000" cy="3684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canary</a:t>
            </a:r>
          </a:p>
        </p:txBody>
      </p:sp>
      <p:sp>
        <p:nvSpPr>
          <p:cNvPr id="32" name="Прямоугольник 53">
            <a:extLst>
              <a:ext uri="{FF2B5EF4-FFF2-40B4-BE49-F238E27FC236}">
                <a16:creationId xmlns:a16="http://schemas.microsoft.com/office/drawing/2014/main" id="{8B001227-8B79-4D96-AD69-96351557B50F}"/>
              </a:ext>
            </a:extLst>
          </p:cNvPr>
          <p:cNvSpPr/>
          <p:nvPr/>
        </p:nvSpPr>
        <p:spPr>
          <a:xfrm>
            <a:off x="9238249" y="4701428"/>
            <a:ext cx="1080000" cy="35765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some</a:t>
            </a:r>
          </a:p>
        </p:txBody>
      </p:sp>
      <p:sp>
        <p:nvSpPr>
          <p:cNvPr id="33" name="Прямоугольник 54">
            <a:extLst>
              <a:ext uri="{FF2B5EF4-FFF2-40B4-BE49-F238E27FC236}">
                <a16:creationId xmlns:a16="http://schemas.microsoft.com/office/drawing/2014/main" id="{C178E0EC-8DF2-04A4-2708-1822C3A39996}"/>
              </a:ext>
            </a:extLst>
          </p:cNvPr>
          <p:cNvSpPr/>
          <p:nvPr/>
        </p:nvSpPr>
        <p:spPr>
          <a:xfrm>
            <a:off x="8158249" y="5062142"/>
            <a:ext cx="1080000" cy="37297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thing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F5E07C58-2C42-F825-261D-9F6BB35C7C16}"/>
              </a:ext>
            </a:extLst>
          </p:cNvPr>
          <p:cNvCxnSpPr/>
          <p:nvPr/>
        </p:nvCxnSpPr>
        <p:spPr>
          <a:xfrm>
            <a:off x="2680634" y="6008815"/>
            <a:ext cx="1135095" cy="53009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9956A60-B484-85F7-494B-19E85B5ECE7F}"/>
              </a:ext>
            </a:extLst>
          </p:cNvPr>
          <p:cNvSpPr txBox="1"/>
          <p:nvPr/>
        </p:nvSpPr>
        <p:spPr>
          <a:xfrm>
            <a:off x="3779984" y="635424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8782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Перезапись </a:t>
            </a:r>
            <a:r>
              <a:rPr lang="en-US" dirty="0"/>
              <a:t>GOT </a:t>
            </a:r>
            <a:r>
              <a:rPr lang="ru-RU" dirty="0"/>
              <a:t>через переполнение в куче</a:t>
            </a:r>
            <a:r>
              <a:rPr lang="ru-RU" sz="2400" dirty="0"/>
              <a:t>(</a:t>
            </a:r>
            <a:r>
              <a:rPr lang="en-US" sz="2400" dirty="0"/>
              <a:t>Linux</a:t>
            </a:r>
            <a:r>
              <a:rPr lang="ru-RU" sz="2400" dirty="0"/>
              <a:t>)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39</a:t>
            </a:fld>
            <a:endParaRPr lang="en-US" dirty="0"/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2F3CFC66-DB11-4947-B12F-E46364A72B1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7FBA2B-964F-4C4D-AAF7-5A8399264638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144" name="Прямоугольник 143">
            <a:extLst>
              <a:ext uri="{FF2B5EF4-FFF2-40B4-BE49-F238E27FC236}">
                <a16:creationId xmlns:a16="http://schemas.microsoft.com/office/drawing/2014/main" id="{29CEA1AD-993F-4F40-915E-17EAB7061EA2}"/>
              </a:ext>
            </a:extLst>
          </p:cNvPr>
          <p:cNvSpPr/>
          <p:nvPr/>
        </p:nvSpPr>
        <p:spPr>
          <a:xfrm>
            <a:off x="975994" y="2922714"/>
            <a:ext cx="2196000" cy="549202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BUFFER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&lt;shell code&gt;</a:t>
            </a:r>
          </a:p>
        </p:txBody>
      </p:sp>
      <p:sp>
        <p:nvSpPr>
          <p:cNvPr id="147" name="Прямоугольник 146">
            <a:extLst>
              <a:ext uri="{FF2B5EF4-FFF2-40B4-BE49-F238E27FC236}">
                <a16:creationId xmlns:a16="http://schemas.microsoft.com/office/drawing/2014/main" id="{85C61A1E-43BE-4AF6-B321-979D824D3887}"/>
              </a:ext>
            </a:extLst>
          </p:cNvPr>
          <p:cNvSpPr/>
          <p:nvPr/>
        </p:nvSpPr>
        <p:spPr>
          <a:xfrm>
            <a:off x="975994" y="4712332"/>
            <a:ext cx="2196000" cy="5492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non_free_block2</a:t>
            </a:r>
          </a:p>
        </p:txBody>
      </p:sp>
      <p:sp>
        <p:nvSpPr>
          <p:cNvPr id="150" name="Прямоугольник 149">
            <a:extLst>
              <a:ext uri="{FF2B5EF4-FFF2-40B4-BE49-F238E27FC236}">
                <a16:creationId xmlns:a16="http://schemas.microsoft.com/office/drawing/2014/main" id="{706C977D-1F27-4AF6-AD0B-C14B2F6CF822}"/>
              </a:ext>
            </a:extLst>
          </p:cNvPr>
          <p:cNvSpPr/>
          <p:nvPr/>
        </p:nvSpPr>
        <p:spPr>
          <a:xfrm>
            <a:off x="975994" y="1694749"/>
            <a:ext cx="2196000" cy="1218890"/>
          </a:xfrm>
          <a:prstGeom prst="rect">
            <a:avLst/>
          </a:prstGeom>
          <a:solidFill>
            <a:srgbClr val="87B6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free_block0</a:t>
            </a:r>
          </a:p>
        </p:txBody>
      </p:sp>
      <p:sp>
        <p:nvSpPr>
          <p:cNvPr id="151" name="Прямоугольник 150">
            <a:extLst>
              <a:ext uri="{FF2B5EF4-FFF2-40B4-BE49-F238E27FC236}">
                <a16:creationId xmlns:a16="http://schemas.microsoft.com/office/drawing/2014/main" id="{95C129FC-4479-42DA-B4C1-5401EF3A0893}"/>
              </a:ext>
            </a:extLst>
          </p:cNvPr>
          <p:cNvSpPr/>
          <p:nvPr/>
        </p:nvSpPr>
        <p:spPr>
          <a:xfrm>
            <a:off x="1166514" y="2002482"/>
            <a:ext cx="1907469" cy="3703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err="1">
                <a:solidFill>
                  <a:schemeClr val="tx1"/>
                </a:solidFill>
              </a:rPr>
              <a:t>fp</a:t>
            </a:r>
            <a:r>
              <a:rPr lang="en-US" b="1" dirty="0">
                <a:solidFill>
                  <a:schemeClr val="tx1"/>
                </a:solidFill>
              </a:rPr>
              <a:t>: &amp;free_block1</a:t>
            </a: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5332F581-41E7-43DA-8103-957F2158A231}"/>
              </a:ext>
            </a:extLst>
          </p:cNvPr>
          <p:cNvSpPr/>
          <p:nvPr/>
        </p:nvSpPr>
        <p:spPr>
          <a:xfrm>
            <a:off x="1166513" y="2387217"/>
            <a:ext cx="1907469" cy="3703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bp: ???</a:t>
            </a: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C279CE61-CEFA-40B3-985F-B307AC69ECB5}"/>
              </a:ext>
            </a:extLst>
          </p:cNvPr>
          <p:cNvSpPr/>
          <p:nvPr/>
        </p:nvSpPr>
        <p:spPr>
          <a:xfrm>
            <a:off x="975994" y="3480991"/>
            <a:ext cx="2196000" cy="1218890"/>
          </a:xfrm>
          <a:prstGeom prst="rect">
            <a:avLst/>
          </a:prstGeom>
          <a:solidFill>
            <a:srgbClr val="FF757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free_block1</a:t>
            </a:r>
          </a:p>
        </p:txBody>
      </p:sp>
      <p:sp>
        <p:nvSpPr>
          <p:cNvPr id="154" name="Прямоугольник 153">
            <a:extLst>
              <a:ext uri="{FF2B5EF4-FFF2-40B4-BE49-F238E27FC236}">
                <a16:creationId xmlns:a16="http://schemas.microsoft.com/office/drawing/2014/main" id="{5797C2D0-08C7-4890-B137-339B229CBB86}"/>
              </a:ext>
            </a:extLst>
          </p:cNvPr>
          <p:cNvSpPr/>
          <p:nvPr/>
        </p:nvSpPr>
        <p:spPr>
          <a:xfrm>
            <a:off x="1166514" y="3788724"/>
            <a:ext cx="1907469" cy="370317"/>
          </a:xfrm>
          <a:prstGeom prst="rect">
            <a:avLst/>
          </a:prstGeom>
          <a:solidFill>
            <a:srgbClr val="FFB7B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err="1">
                <a:solidFill>
                  <a:schemeClr val="tx1"/>
                </a:solidFill>
              </a:rPr>
              <a:t>fp</a:t>
            </a:r>
            <a:r>
              <a:rPr lang="en-US" b="1" dirty="0">
                <a:solidFill>
                  <a:schemeClr val="tx1"/>
                </a:solidFill>
              </a:rPr>
              <a:t>: &amp;</a:t>
            </a:r>
            <a:r>
              <a:rPr lang="en-US" b="1" dirty="0" err="1">
                <a:solidFill>
                  <a:schemeClr val="tx1"/>
                </a:solidFill>
              </a:rPr>
              <a:t>shell_code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A27C9AD8-AAF1-4FA5-903D-AD107F704A58}"/>
              </a:ext>
            </a:extLst>
          </p:cNvPr>
          <p:cNvSpPr/>
          <p:nvPr/>
        </p:nvSpPr>
        <p:spPr>
          <a:xfrm>
            <a:off x="1166513" y="4173459"/>
            <a:ext cx="1907469" cy="370317"/>
          </a:xfrm>
          <a:prstGeom prst="rect">
            <a:avLst/>
          </a:prstGeom>
          <a:solidFill>
            <a:srgbClr val="FFB7B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bp:&amp;printf-16</a:t>
            </a: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FAEDF86F-FB03-43BE-821B-9B99F98FE7AE}"/>
              </a:ext>
            </a:extLst>
          </p:cNvPr>
          <p:cNvSpPr/>
          <p:nvPr/>
        </p:nvSpPr>
        <p:spPr>
          <a:xfrm>
            <a:off x="975994" y="5273985"/>
            <a:ext cx="2196000" cy="121889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free_block2</a:t>
            </a: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4686A085-FA09-4E22-805A-A312EE0D6DE2}"/>
              </a:ext>
            </a:extLst>
          </p:cNvPr>
          <p:cNvSpPr/>
          <p:nvPr/>
        </p:nvSpPr>
        <p:spPr>
          <a:xfrm>
            <a:off x="1166514" y="5581718"/>
            <a:ext cx="1907469" cy="3703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err="1">
                <a:solidFill>
                  <a:schemeClr val="tx1"/>
                </a:solidFill>
              </a:rPr>
              <a:t>fp</a:t>
            </a:r>
            <a:r>
              <a:rPr lang="en-US" b="1" dirty="0">
                <a:solidFill>
                  <a:schemeClr val="tx1"/>
                </a:solidFill>
              </a:rPr>
              <a:t>: ???</a:t>
            </a:r>
          </a:p>
        </p:txBody>
      </p:sp>
      <p:sp>
        <p:nvSpPr>
          <p:cNvPr id="158" name="Прямоугольник 157">
            <a:extLst>
              <a:ext uri="{FF2B5EF4-FFF2-40B4-BE49-F238E27FC236}">
                <a16:creationId xmlns:a16="http://schemas.microsoft.com/office/drawing/2014/main" id="{6AA1D708-BE43-49C1-9B8A-60BD1DC21A0D}"/>
              </a:ext>
            </a:extLst>
          </p:cNvPr>
          <p:cNvSpPr/>
          <p:nvPr/>
        </p:nvSpPr>
        <p:spPr>
          <a:xfrm>
            <a:off x="1166513" y="5966453"/>
            <a:ext cx="1907469" cy="3703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bp: &amp;</a:t>
            </a:r>
            <a:r>
              <a:rPr lang="en-US" b="1" dirty="0" err="1">
                <a:solidFill>
                  <a:schemeClr val="tx1"/>
                </a:solidFill>
              </a:rPr>
              <a:t>free_block</a:t>
            </a:r>
            <a:r>
              <a:rPr lang="ru-RU" b="1" dirty="0">
                <a:solidFill>
                  <a:schemeClr val="tx1"/>
                </a:solidFill>
              </a:rPr>
              <a:t>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574318-BC44-46E0-9DA3-D5AFD910EE3D}"/>
              </a:ext>
            </a:extLst>
          </p:cNvPr>
          <p:cNvSpPr txBox="1"/>
          <p:nvPr/>
        </p:nvSpPr>
        <p:spPr>
          <a:xfrm>
            <a:off x="6392702" y="1914726"/>
            <a:ext cx="39407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enlo"/>
              </a:rPr>
              <a:t>*(&amp;</a:t>
            </a:r>
            <a:r>
              <a:rPr lang="en-US" dirty="0" err="1">
                <a:latin typeface="Menlo"/>
              </a:rPr>
              <a:t>printf@GOT</a:t>
            </a:r>
            <a:r>
              <a:rPr lang="en-US" dirty="0">
                <a:latin typeface="Menlo"/>
              </a:rPr>
              <a:t>) = &amp;</a:t>
            </a:r>
            <a:r>
              <a:rPr lang="en-US" dirty="0" err="1">
                <a:latin typeface="Menlo"/>
              </a:rPr>
              <a:t>shell_code</a:t>
            </a:r>
            <a:endParaRPr lang="en-US" b="0" i="0" dirty="0">
              <a:effectLst/>
              <a:latin typeface="Menlo"/>
            </a:endParaRPr>
          </a:p>
          <a:p>
            <a:r>
              <a:rPr lang="en-US" b="0" i="0" dirty="0">
                <a:effectLst/>
                <a:latin typeface="Menlo"/>
              </a:rPr>
              <a:t>*(&amp;</a:t>
            </a:r>
            <a:r>
              <a:rPr lang="en-US" dirty="0" err="1">
                <a:latin typeface="Menlo"/>
              </a:rPr>
              <a:t>shell_code</a:t>
            </a:r>
            <a:r>
              <a:rPr lang="en-US" dirty="0">
                <a:latin typeface="Menlo"/>
              </a:rPr>
              <a:t> +</a:t>
            </a:r>
            <a:r>
              <a:rPr lang="en-US" b="0" i="0" dirty="0">
                <a:effectLst/>
                <a:latin typeface="Menlo"/>
              </a:rPr>
              <a:t> 24) = &amp;printf@GOT-16</a:t>
            </a:r>
            <a:br>
              <a:rPr lang="en-US" b="0" i="0" dirty="0">
                <a:effectLst/>
                <a:latin typeface="Menlo"/>
              </a:rPr>
            </a:b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149407-8477-45AD-9881-CC8D4773DBAD}"/>
              </a:ext>
            </a:extLst>
          </p:cNvPr>
          <p:cNvSpPr txBox="1"/>
          <p:nvPr/>
        </p:nvSpPr>
        <p:spPr>
          <a:xfrm>
            <a:off x="4321640" y="1897830"/>
            <a:ext cx="17750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Menlo"/>
              </a:rPr>
              <a:t>*(</a:t>
            </a:r>
            <a:r>
              <a:rPr lang="en-US" b="0" i="0" dirty="0" err="1">
                <a:effectLst/>
                <a:latin typeface="Menlo"/>
              </a:rPr>
              <a:t>fp</a:t>
            </a:r>
            <a:r>
              <a:rPr lang="en-US" b="0" i="0" dirty="0">
                <a:effectLst/>
                <a:latin typeface="Menlo"/>
              </a:rPr>
              <a:t> + </a:t>
            </a:r>
            <a:r>
              <a:rPr lang="en-US" dirty="0">
                <a:latin typeface="Menlo"/>
              </a:rPr>
              <a:t>24</a:t>
            </a:r>
            <a:r>
              <a:rPr lang="en-US" b="0" i="0" dirty="0">
                <a:effectLst/>
                <a:latin typeface="Menlo"/>
              </a:rPr>
              <a:t>) = bp</a:t>
            </a:r>
            <a:br>
              <a:rPr lang="en-US" b="0" i="0" dirty="0">
                <a:effectLst/>
                <a:latin typeface="Menlo"/>
              </a:rPr>
            </a:br>
            <a:r>
              <a:rPr lang="en-US" b="0" i="0" dirty="0">
                <a:effectLst/>
                <a:latin typeface="Menlo"/>
              </a:rPr>
              <a:t>*(bp + 16) = </a:t>
            </a:r>
            <a:r>
              <a:rPr lang="en-US" b="0" i="0" dirty="0" err="1">
                <a:effectLst/>
                <a:latin typeface="Menlo"/>
              </a:rPr>
              <a:t>fp</a:t>
            </a:r>
            <a:endParaRPr lang="en-US" dirty="0"/>
          </a:p>
        </p:txBody>
      </p:sp>
      <p:cxnSp>
        <p:nvCxnSpPr>
          <p:cNvPr id="7" name="Соединитель: уступ 6">
            <a:extLst>
              <a:ext uri="{FF2B5EF4-FFF2-40B4-BE49-F238E27FC236}">
                <a16:creationId xmlns:a16="http://schemas.microsoft.com/office/drawing/2014/main" id="{20162ADC-7B88-4933-8431-A3CED01E7417}"/>
              </a:ext>
            </a:extLst>
          </p:cNvPr>
          <p:cNvCxnSpPr>
            <a:cxnSpLocks/>
          </p:cNvCxnSpPr>
          <p:nvPr/>
        </p:nvCxnSpPr>
        <p:spPr>
          <a:xfrm>
            <a:off x="3070271" y="4325599"/>
            <a:ext cx="2502737" cy="1080000"/>
          </a:xfrm>
          <a:prstGeom prst="bentConnector3">
            <a:avLst>
              <a:gd name="adj1" fmla="val 2425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Соединитель: уступ 22">
            <a:extLst>
              <a:ext uri="{FF2B5EF4-FFF2-40B4-BE49-F238E27FC236}">
                <a16:creationId xmlns:a16="http://schemas.microsoft.com/office/drawing/2014/main" id="{6B28A347-6242-432E-81B0-69D6C8DACFCB}"/>
              </a:ext>
            </a:extLst>
          </p:cNvPr>
          <p:cNvCxnSpPr>
            <a:cxnSpLocks/>
            <a:endCxn id="144" idx="3"/>
          </p:cNvCxnSpPr>
          <p:nvPr/>
        </p:nvCxnSpPr>
        <p:spPr>
          <a:xfrm rot="5400000" flipH="1" flipV="1">
            <a:off x="2516436" y="3754861"/>
            <a:ext cx="1213104" cy="98012"/>
          </a:xfrm>
          <a:prstGeom prst="bentConnector4">
            <a:avLst>
              <a:gd name="adj1" fmla="val 38682"/>
              <a:gd name="adj2" fmla="val 33323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92B63A5-5E51-4731-9980-737F2E420C3D}"/>
              </a:ext>
            </a:extLst>
          </p:cNvPr>
          <p:cNvSpPr txBox="1"/>
          <p:nvPr/>
        </p:nvSpPr>
        <p:spPr>
          <a:xfrm>
            <a:off x="3822327" y="5076868"/>
            <a:ext cx="1333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Menlo"/>
              </a:rPr>
              <a:t>&amp;</a:t>
            </a:r>
            <a:r>
              <a:rPr lang="en-US" dirty="0" err="1">
                <a:latin typeface="Menlo"/>
              </a:rPr>
              <a:t>shell_code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0320D2-6351-C945-5774-A57FD839E92A}"/>
              </a:ext>
            </a:extLst>
          </p:cNvPr>
          <p:cNvSpPr txBox="1"/>
          <p:nvPr/>
        </p:nvSpPr>
        <p:spPr>
          <a:xfrm>
            <a:off x="3308103" y="2912484"/>
            <a:ext cx="5889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&amp;</a:t>
            </a:r>
            <a:r>
              <a:rPr lang="en-US" dirty="0">
                <a:latin typeface="Menlo"/>
              </a:rPr>
              <a:t>printf@GOT</a:t>
            </a:r>
            <a:r>
              <a:rPr lang="en-US" dirty="0">
                <a:solidFill>
                  <a:schemeClr val="tx1"/>
                </a:solidFill>
              </a:rPr>
              <a:t>-16 =&gt; </a:t>
            </a:r>
            <a:r>
              <a:rPr lang="ru-RU" i="1" dirty="0">
                <a:solidFill>
                  <a:schemeClr val="tx1"/>
                </a:solidFill>
              </a:rPr>
              <a:t>часть буфера </a:t>
            </a:r>
            <a:r>
              <a:rPr lang="ru-RU" i="1" dirty="0" err="1">
                <a:solidFill>
                  <a:schemeClr val="tx1"/>
                </a:solidFill>
              </a:rPr>
              <a:t>перезапишется</a:t>
            </a:r>
            <a:endParaRPr lang="ru-RU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2805C1-4D66-CD74-49E5-7111E8F94666}"/>
              </a:ext>
            </a:extLst>
          </p:cNvPr>
          <p:cNvSpPr txBox="1"/>
          <p:nvPr/>
        </p:nvSpPr>
        <p:spPr>
          <a:xfrm>
            <a:off x="5153416" y="4935561"/>
            <a:ext cx="58657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GOT: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        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dq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&amp;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shell_code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__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stack_chck_fail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dq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cudaMalloc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     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dq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filter2D:        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dq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   </a:t>
            </a:r>
          </a:p>
        </p:txBody>
      </p:sp>
    </p:spTree>
    <p:extLst>
      <p:ext uri="{BB962C8B-B14F-4D97-AF65-F5344CB8AC3E}">
        <p14:creationId xmlns:p14="http://schemas.microsoft.com/office/powerpoint/2010/main" val="16757673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Space Layout Randomization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40</a:t>
            </a:fld>
            <a:endParaRPr lang="en-US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DA196DDE-2B0D-46C7-A402-DB44ADAEF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47328"/>
            <a:ext cx="7245096" cy="50253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Для эксплуатации многих уязвимостей необходимо точно знать адреса, по которым происходит запись</a:t>
            </a:r>
            <a:r>
              <a:rPr lang="en-US" sz="2000" dirty="0"/>
              <a:t>/</a:t>
            </a:r>
            <a:r>
              <a:rPr lang="ru-RU" sz="2000" dirty="0"/>
              <a:t>передача управления. Если адрес неизвестен, вероятность успешной эксплуатации крайне мала. На этом принципе основан защитный механизм </a:t>
            </a:r>
            <a:r>
              <a:rPr lang="en-US" sz="2000" dirty="0"/>
              <a:t>ASLR. 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При включенном </a:t>
            </a:r>
            <a:r>
              <a:rPr lang="en-US" sz="2000" dirty="0"/>
              <a:t>ASLR</a:t>
            </a:r>
            <a:r>
              <a:rPr lang="ru-RU" sz="2000" dirty="0"/>
              <a:t> адреса стека и кучи, а также адреса загрузки библиотек изменяются при каждом запуске программы.  </a:t>
            </a:r>
          </a:p>
          <a:p>
            <a:pPr marL="0" indent="0">
              <a:buNone/>
            </a:pPr>
            <a:r>
              <a:rPr lang="ru-RU" sz="2000" dirty="0"/>
              <a:t>Сама программа загружается по случайному адресу, если она была собрана с поддержкой </a:t>
            </a:r>
            <a:r>
              <a:rPr lang="en-US" sz="2000" dirty="0"/>
              <a:t>Position Independent Code (</a:t>
            </a:r>
            <a:r>
              <a:rPr lang="ru-RU" sz="2000" dirty="0"/>
              <a:t>см. лекцию 5). При этом как в </a:t>
            </a:r>
            <a:r>
              <a:rPr lang="en-US" sz="2000" dirty="0"/>
              <a:t>Windows, </a:t>
            </a:r>
            <a:r>
              <a:rPr lang="ru-RU" sz="2000" dirty="0"/>
              <a:t>так и в </a:t>
            </a:r>
            <a:r>
              <a:rPr lang="en-US" sz="2000" dirty="0"/>
              <a:t>Linux </a:t>
            </a:r>
            <a:r>
              <a:rPr lang="ru-RU" sz="2000" dirty="0"/>
              <a:t>можно включить принудительную рандомизацию адресов ценой усложнения процесса загрузки.</a:t>
            </a:r>
          </a:p>
          <a:p>
            <a:pPr marL="0" indent="0">
              <a:buNone/>
            </a:pPr>
            <a:r>
              <a:rPr lang="ru-RU" sz="2000" dirty="0"/>
              <a:t>Если без </a:t>
            </a:r>
            <a:r>
              <a:rPr lang="en-US" sz="2000" dirty="0"/>
              <a:t>ASLR </a:t>
            </a:r>
            <a:r>
              <a:rPr lang="ru-RU" sz="2000" dirty="0"/>
              <a:t>атакующий может позволить себе  «уронить» программу, чтобы узнать адрес и провести атаку позже, то с </a:t>
            </a:r>
            <a:r>
              <a:rPr lang="en-US" sz="2000" dirty="0"/>
              <a:t>ASLR </a:t>
            </a:r>
            <a:r>
              <a:rPr lang="ru-RU" sz="2000" dirty="0"/>
              <a:t>такой подход становится невозможным.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0EAD660-B854-450E-90C3-3C7D5DDF9400}"/>
              </a:ext>
            </a:extLst>
          </p:cNvPr>
          <p:cNvSpPr/>
          <p:nvPr/>
        </p:nvSpPr>
        <p:spPr>
          <a:xfrm>
            <a:off x="9528913" y="2189778"/>
            <a:ext cx="1440000" cy="3651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.stack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6AC8ED3-B92C-48C5-B708-86AC1331BC7C}"/>
              </a:ext>
            </a:extLst>
          </p:cNvPr>
          <p:cNvSpPr/>
          <p:nvPr/>
        </p:nvSpPr>
        <p:spPr>
          <a:xfrm>
            <a:off x="9530129" y="4584129"/>
            <a:ext cx="1440000" cy="4089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lib2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374066-2B2A-41FF-9C60-C756018F4BEF}"/>
              </a:ext>
            </a:extLst>
          </p:cNvPr>
          <p:cNvSpPr txBox="1"/>
          <p:nvPr/>
        </p:nvSpPr>
        <p:spPr>
          <a:xfrm>
            <a:off x="9047691" y="5990016"/>
            <a:ext cx="481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0x0</a:t>
            </a:r>
            <a:endParaRPr lang="ru-RU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4A9FCA-5B1D-4E89-B98F-6C5DFC25BBEB}"/>
              </a:ext>
            </a:extLst>
          </p:cNvPr>
          <p:cNvSpPr txBox="1"/>
          <p:nvPr/>
        </p:nvSpPr>
        <p:spPr>
          <a:xfrm>
            <a:off x="8821668" y="1379914"/>
            <a:ext cx="7072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0xF…F</a:t>
            </a:r>
            <a:endParaRPr lang="ru-RU" sz="160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CC58102-C988-4217-9C5D-2CDE0F6964EA}"/>
              </a:ext>
            </a:extLst>
          </p:cNvPr>
          <p:cNvSpPr/>
          <p:nvPr/>
        </p:nvSpPr>
        <p:spPr>
          <a:xfrm>
            <a:off x="9530129" y="2965437"/>
            <a:ext cx="1440000" cy="5761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.heap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76B16DC-32A0-468D-8F6F-37A6FC642879}"/>
              </a:ext>
            </a:extLst>
          </p:cNvPr>
          <p:cNvSpPr/>
          <p:nvPr/>
        </p:nvSpPr>
        <p:spPr>
          <a:xfrm>
            <a:off x="9528913" y="5357075"/>
            <a:ext cx="1440000" cy="4089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exe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09D986E-9B17-4A7D-BF0B-B1ACC1EB313F}"/>
              </a:ext>
            </a:extLst>
          </p:cNvPr>
          <p:cNvSpPr/>
          <p:nvPr/>
        </p:nvSpPr>
        <p:spPr>
          <a:xfrm>
            <a:off x="9530129" y="3819061"/>
            <a:ext cx="1440000" cy="4089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lib1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A18EAFE1-8D37-424D-A739-A24ADC0D667F}"/>
              </a:ext>
            </a:extLst>
          </p:cNvPr>
          <p:cNvCxnSpPr/>
          <p:nvPr/>
        </p:nvCxnSpPr>
        <p:spPr>
          <a:xfrm>
            <a:off x="9455942" y="2000041"/>
            <a:ext cx="0" cy="7467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E60A8F1D-F8D8-472D-AE4A-34B1B39D0133}"/>
              </a:ext>
            </a:extLst>
          </p:cNvPr>
          <p:cNvCxnSpPr/>
          <p:nvPr/>
        </p:nvCxnSpPr>
        <p:spPr>
          <a:xfrm>
            <a:off x="9447844" y="2862487"/>
            <a:ext cx="0" cy="7467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982296E8-7067-45D1-945A-E762619ADC9A}"/>
              </a:ext>
            </a:extLst>
          </p:cNvPr>
          <p:cNvCxnSpPr>
            <a:cxnSpLocks/>
          </p:cNvCxnSpPr>
          <p:nvPr/>
        </p:nvCxnSpPr>
        <p:spPr>
          <a:xfrm>
            <a:off x="9455942" y="3712045"/>
            <a:ext cx="0" cy="6323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B3435557-9609-4D55-9DFA-5DBA96CC3FEC}"/>
              </a:ext>
            </a:extLst>
          </p:cNvPr>
          <p:cNvCxnSpPr>
            <a:cxnSpLocks/>
          </p:cNvCxnSpPr>
          <p:nvPr/>
        </p:nvCxnSpPr>
        <p:spPr>
          <a:xfrm>
            <a:off x="9455942" y="4476418"/>
            <a:ext cx="0" cy="6323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5B68ADCA-B966-47F7-9EFB-21F88FB709E9}"/>
              </a:ext>
            </a:extLst>
          </p:cNvPr>
          <p:cNvCxnSpPr>
            <a:cxnSpLocks/>
          </p:cNvCxnSpPr>
          <p:nvPr/>
        </p:nvCxnSpPr>
        <p:spPr>
          <a:xfrm>
            <a:off x="9455942" y="5261457"/>
            <a:ext cx="0" cy="6323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3931725-29D2-DDC5-CA53-4715A5241F3C}"/>
              </a:ext>
            </a:extLst>
          </p:cNvPr>
          <p:cNvSpPr txBox="1"/>
          <p:nvPr/>
        </p:nvSpPr>
        <p:spPr>
          <a:xfrm>
            <a:off x="7729027" y="5441025"/>
            <a:ext cx="1503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опционально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C7C3C3-629E-4A88-9659-616692607079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9232965" y="5561533"/>
            <a:ext cx="214879" cy="641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33506656-6226-4620-8246-5706D700A477}"/>
              </a:ext>
            </a:extLst>
          </p:cNvPr>
          <p:cNvCxnSpPr>
            <a:cxnSpLocks/>
          </p:cNvCxnSpPr>
          <p:nvPr/>
        </p:nvCxnSpPr>
        <p:spPr>
          <a:xfrm>
            <a:off x="9529478" y="2025518"/>
            <a:ext cx="0" cy="3996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F6C5A9E1-2E60-4724-A5ED-1B08CD803F10}"/>
              </a:ext>
            </a:extLst>
          </p:cNvPr>
          <p:cNvCxnSpPr>
            <a:cxnSpLocks/>
          </p:cNvCxnSpPr>
          <p:nvPr/>
        </p:nvCxnSpPr>
        <p:spPr>
          <a:xfrm>
            <a:off x="10972723" y="2025518"/>
            <a:ext cx="0" cy="3996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64667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ASLR </a:t>
            </a:r>
            <a:r>
              <a:rPr lang="ru-RU" dirty="0"/>
              <a:t>и </a:t>
            </a:r>
            <a:r>
              <a:rPr lang="en-US" dirty="0"/>
              <a:t>Windows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41</a:t>
            </a:fld>
            <a:endParaRPr lang="en-US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DA196DDE-2B0D-46C7-A402-DB44ADAEF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328"/>
            <a:ext cx="7425775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</a:t>
            </a:r>
            <a:r>
              <a:rPr lang="en-US" sz="2000" dirty="0"/>
              <a:t>Windows</a:t>
            </a:r>
            <a:r>
              <a:rPr lang="ru-RU" sz="2000" dirty="0"/>
              <a:t> рандомизация адресов загрузки разделяемых библиотек производится при первой загрузке библиотеки. </a:t>
            </a:r>
            <a:r>
              <a:rPr lang="ru-RU" sz="2000" i="1" dirty="0"/>
              <a:t>До следующей перезагрузки системы </a:t>
            </a:r>
            <a:r>
              <a:rPr lang="ru-RU" sz="2000" dirty="0"/>
              <a:t>разделяемые библиотеки будут загружаться по одним и тем же адресам в силу необходимости релокации при загрузке по новому адресу. </a:t>
            </a:r>
          </a:p>
          <a:p>
            <a:pPr marL="0" indent="0">
              <a:buNone/>
            </a:pPr>
            <a:r>
              <a:rPr lang="ru-RU" sz="2000" dirty="0"/>
              <a:t>Стек и куча имеют каждый раз случайный адрес.</a:t>
            </a:r>
          </a:p>
          <a:p>
            <a:pPr marL="0" indent="0">
              <a:buNone/>
            </a:pPr>
            <a:r>
              <a:rPr lang="ru-RU" sz="2000" dirty="0"/>
              <a:t>Программы, собранные с поддержкой </a:t>
            </a:r>
            <a:r>
              <a:rPr lang="en-US" sz="2000" dirty="0"/>
              <a:t>ASLR (</a:t>
            </a:r>
            <a:r>
              <a:rPr lang="ru-RU" sz="2000" dirty="0"/>
              <a:t>флаг</a:t>
            </a:r>
            <a:r>
              <a:rPr lang="ru-RU" sz="2000" i="1" dirty="0"/>
              <a:t> </a:t>
            </a:r>
            <a:r>
              <a:rPr lang="en-US" sz="2000" i="1" dirty="0"/>
              <a:t>/DYNAMICBASE</a:t>
            </a:r>
            <a:r>
              <a:rPr lang="en-US" sz="2000" dirty="0"/>
              <a:t>)</a:t>
            </a:r>
            <a:r>
              <a:rPr lang="ru-RU" sz="2000" dirty="0"/>
              <a:t>, загружаются по случайному адресу при каждом запуске.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0EAD660-B854-450E-90C3-3C7D5DDF9400}"/>
              </a:ext>
            </a:extLst>
          </p:cNvPr>
          <p:cNvSpPr/>
          <p:nvPr/>
        </p:nvSpPr>
        <p:spPr>
          <a:xfrm>
            <a:off x="9528913" y="2197905"/>
            <a:ext cx="1440000" cy="3651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.stack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6AC8ED3-B92C-48C5-B708-86AC1331BC7C}"/>
              </a:ext>
            </a:extLst>
          </p:cNvPr>
          <p:cNvSpPr/>
          <p:nvPr/>
        </p:nvSpPr>
        <p:spPr>
          <a:xfrm>
            <a:off x="9528913" y="4591258"/>
            <a:ext cx="1440000" cy="4089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lib2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374066-2B2A-41FF-9C60-C756018F4BEF}"/>
              </a:ext>
            </a:extLst>
          </p:cNvPr>
          <p:cNvSpPr txBox="1"/>
          <p:nvPr/>
        </p:nvSpPr>
        <p:spPr>
          <a:xfrm>
            <a:off x="9047691" y="5990016"/>
            <a:ext cx="481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0x0</a:t>
            </a:r>
            <a:endParaRPr lang="ru-RU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4A9FCA-5B1D-4E89-B98F-6C5DFC25BBEB}"/>
              </a:ext>
            </a:extLst>
          </p:cNvPr>
          <p:cNvSpPr txBox="1"/>
          <p:nvPr/>
        </p:nvSpPr>
        <p:spPr>
          <a:xfrm>
            <a:off x="8821668" y="1379914"/>
            <a:ext cx="7072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0xF…F</a:t>
            </a:r>
            <a:endParaRPr lang="ru-RU" sz="160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CC58102-C988-4217-9C5D-2CDE0F6964EA}"/>
              </a:ext>
            </a:extLst>
          </p:cNvPr>
          <p:cNvSpPr/>
          <p:nvPr/>
        </p:nvSpPr>
        <p:spPr>
          <a:xfrm>
            <a:off x="9528913" y="2969646"/>
            <a:ext cx="1440000" cy="5761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.heap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76B16DC-32A0-468D-8F6F-37A6FC642879}"/>
              </a:ext>
            </a:extLst>
          </p:cNvPr>
          <p:cNvSpPr/>
          <p:nvPr/>
        </p:nvSpPr>
        <p:spPr>
          <a:xfrm>
            <a:off x="9528913" y="5384410"/>
            <a:ext cx="1440000" cy="4089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exe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09D986E-9B17-4A7D-BF0B-B1ACC1EB313F}"/>
              </a:ext>
            </a:extLst>
          </p:cNvPr>
          <p:cNvSpPr/>
          <p:nvPr/>
        </p:nvSpPr>
        <p:spPr>
          <a:xfrm>
            <a:off x="9528913" y="3823776"/>
            <a:ext cx="1440000" cy="4089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lib1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A18EAFE1-8D37-424D-A739-A24ADC0D667F}"/>
              </a:ext>
            </a:extLst>
          </p:cNvPr>
          <p:cNvCxnSpPr/>
          <p:nvPr/>
        </p:nvCxnSpPr>
        <p:spPr>
          <a:xfrm>
            <a:off x="9455942" y="2000041"/>
            <a:ext cx="0" cy="7467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E60A8F1D-F8D8-472D-AE4A-34B1B39D0133}"/>
              </a:ext>
            </a:extLst>
          </p:cNvPr>
          <p:cNvCxnSpPr/>
          <p:nvPr/>
        </p:nvCxnSpPr>
        <p:spPr>
          <a:xfrm>
            <a:off x="9447844" y="2862487"/>
            <a:ext cx="0" cy="7467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33506656-6226-4620-8246-5706D700A477}"/>
              </a:ext>
            </a:extLst>
          </p:cNvPr>
          <p:cNvCxnSpPr>
            <a:cxnSpLocks/>
          </p:cNvCxnSpPr>
          <p:nvPr/>
        </p:nvCxnSpPr>
        <p:spPr>
          <a:xfrm>
            <a:off x="9528913" y="1994016"/>
            <a:ext cx="0" cy="3996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F6C5A9E1-2E60-4724-A5ED-1B08CD803F10}"/>
              </a:ext>
            </a:extLst>
          </p:cNvPr>
          <p:cNvCxnSpPr>
            <a:cxnSpLocks/>
          </p:cNvCxnSpPr>
          <p:nvPr/>
        </p:nvCxnSpPr>
        <p:spPr>
          <a:xfrm>
            <a:off x="10968913" y="1994016"/>
            <a:ext cx="0" cy="3996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Прямая со стрелкой 29">
            <a:extLst>
              <a:ext uri="{FF2B5EF4-FFF2-40B4-BE49-F238E27FC236}">
                <a16:creationId xmlns:a16="http://schemas.microsoft.com/office/drawing/2014/main" id="{41A7DA05-44D1-D606-BDBC-1FAD68A29069}"/>
              </a:ext>
            </a:extLst>
          </p:cNvPr>
          <p:cNvCxnSpPr>
            <a:cxnSpLocks/>
          </p:cNvCxnSpPr>
          <p:nvPr/>
        </p:nvCxnSpPr>
        <p:spPr>
          <a:xfrm>
            <a:off x="9455942" y="5261457"/>
            <a:ext cx="0" cy="6323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ADF94-62A6-F512-D33F-7E36BE0A883F}"/>
              </a:ext>
            </a:extLst>
          </p:cNvPr>
          <p:cNvSpPr txBox="1"/>
          <p:nvPr/>
        </p:nvSpPr>
        <p:spPr>
          <a:xfrm>
            <a:off x="7355819" y="5729577"/>
            <a:ext cx="1503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опционально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FC943DC-FB5C-D640-B09C-62E9206FD1A5}"/>
              </a:ext>
            </a:extLst>
          </p:cNvPr>
          <p:cNvCxnSpPr>
            <a:stCxn id="4" idx="3"/>
          </p:cNvCxnSpPr>
          <p:nvPr/>
        </p:nvCxnSpPr>
        <p:spPr>
          <a:xfrm flipV="1">
            <a:off x="8859757" y="5577645"/>
            <a:ext cx="588087" cy="3365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2148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BBB191-996B-F4B3-8171-970DA6197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Меры защиты на уровне компилятора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45FFE8-DE2B-CDAB-4991-D7D8D233B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Многие уязвимости являются следствием ошибок, на которые компилятор реагирует предупреждениями </a:t>
            </a:r>
            <a:r>
              <a:rPr lang="en-US" sz="2000" dirty="0"/>
              <a:t>=&gt; </a:t>
            </a:r>
            <a:r>
              <a:rPr lang="ru-RU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читайте предупреждения компилятора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Многие дистрибутивы</a:t>
            </a:r>
            <a:r>
              <a:rPr lang="en-US" sz="2000" dirty="0"/>
              <a:t> Linux </a:t>
            </a:r>
            <a:r>
              <a:rPr lang="ru-RU" sz="2000" dirty="0"/>
              <a:t>устанавливают флаги, неявно посылаемые системному компилятору при сборке программ</a:t>
            </a:r>
            <a:r>
              <a:rPr lang="en-US" sz="2000" dirty="0"/>
              <a:t>. </a:t>
            </a:r>
            <a:r>
              <a:rPr lang="ru-RU" sz="2000" dirty="0"/>
              <a:t>Обычно эти флаги включают в себя вышеупомянутые «канарейки» и </a:t>
            </a:r>
            <a:r>
              <a:rPr lang="en-US" sz="2000" dirty="0"/>
              <a:t>Intel IBT</a:t>
            </a:r>
            <a:r>
              <a:rPr lang="ru-RU" sz="2000" dirty="0"/>
              <a:t>. Как следствие, собираемые программы будут защищены автоматически.</a:t>
            </a:r>
          </a:p>
          <a:p>
            <a:pPr marL="0" indent="0">
              <a:buNone/>
            </a:pPr>
            <a:r>
              <a:rPr lang="ru-RU" sz="2000" dirty="0"/>
              <a:t>Кроме того, при включенной оптимизации (а иногда и без нее) компиляторы могут располагать переменные после буферов, чтобы защитить их от перезаписи.</a:t>
            </a:r>
          </a:p>
          <a:p>
            <a:pPr marL="0" indent="0">
              <a:buNone/>
            </a:pPr>
            <a:r>
              <a:rPr lang="en-US" sz="2000" dirty="0"/>
              <a:t>GCC/clang </a:t>
            </a:r>
            <a:r>
              <a:rPr lang="ru-RU" sz="2000" dirty="0"/>
              <a:t>поддерживают макрос </a:t>
            </a:r>
            <a:r>
              <a:rPr lang="en-US" sz="2000" dirty="0">
                <a:hlinkClick r:id="rId2"/>
              </a:rPr>
              <a:t>_FORTIFY_SOURCE</a:t>
            </a:r>
            <a:r>
              <a:rPr lang="ru-RU" sz="2000" dirty="0"/>
              <a:t>. Если этот макрос определен и его</a:t>
            </a:r>
            <a:r>
              <a:rPr lang="en-US" sz="2000" dirty="0"/>
              <a:t> </a:t>
            </a:r>
            <a:r>
              <a:rPr lang="ru-RU" sz="2000" dirty="0"/>
              <a:t>значение не равно 0, то компилятор может вставлять дополнительные проверки границ буферов и автоматически заменять небезопасные функции ввода/вывода на безопасные.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8F3AF78-3614-664A-4731-19CE7AC2B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6117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Полезные ссылки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43</a:t>
            </a:fld>
            <a:endParaRPr lang="en-US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DA196DDE-2B0D-46C7-A402-DB44ADAEF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328"/>
            <a:ext cx="9697277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Простые задачи на эксплуатацию уязвимостей:</a:t>
            </a:r>
            <a:br>
              <a:rPr lang="en-US" dirty="0">
                <a:hlinkClick r:id="rId2"/>
              </a:rPr>
            </a:br>
            <a:r>
              <a:rPr lang="en-US" dirty="0">
                <a:hlinkClick r:id="rId2"/>
              </a:rPr>
              <a:t>https://exploit.education/protostar/</a:t>
            </a:r>
            <a:r>
              <a:rPr lang="ru-RU" dirty="0"/>
              <a:t> 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Канал с неплохими обучающими видео</a:t>
            </a:r>
            <a:br>
              <a:rPr lang="en-US" dirty="0">
                <a:hlinkClick r:id="rId3"/>
              </a:rPr>
            </a:br>
            <a:r>
              <a:rPr lang="en-US" dirty="0">
                <a:hlinkClick r:id="rId3"/>
              </a:rPr>
              <a:t>https://www.youtube.com/channel/UClcE-kVhqyiHCcjYwcpfj9w</a:t>
            </a:r>
            <a:r>
              <a:rPr lang="ru-RU" dirty="0"/>
              <a:t> 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Реализация </a:t>
            </a:r>
            <a:r>
              <a:rPr lang="en-US" dirty="0"/>
              <a:t>malloc:</a:t>
            </a:r>
            <a:br>
              <a:rPr lang="en-US" dirty="0"/>
            </a:br>
            <a:r>
              <a:rPr lang="en-US" dirty="0">
                <a:hlinkClick r:id="rId4"/>
              </a:rPr>
              <a:t>https://code.woboq.org/userspace/glibc/malloc/malloc.c.html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Эксплуатация </a:t>
            </a:r>
            <a:r>
              <a:rPr lang="en-US" dirty="0"/>
              <a:t>heap3 (</a:t>
            </a:r>
            <a:r>
              <a:rPr lang="ru-RU" dirty="0"/>
              <a:t>переполнение в куче для </a:t>
            </a:r>
            <a:r>
              <a:rPr lang="en-US" dirty="0"/>
              <a:t>x86):</a:t>
            </a:r>
            <a:br>
              <a:rPr lang="ru-RU" dirty="0"/>
            </a:br>
            <a:r>
              <a:rPr lang="en-US" dirty="0">
                <a:hlinkClick r:id="rId5"/>
              </a:rPr>
              <a:t>https://airman604.medium.com/protostar-heap-3-walkthrough-56d9334bcd13</a:t>
            </a:r>
            <a:r>
              <a:rPr lang="ru-RU" dirty="0"/>
              <a:t>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9269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13793</TotalTime>
  <Words>4205</Words>
  <Application>Microsoft Office PowerPoint</Application>
  <PresentationFormat>Widescreen</PresentationFormat>
  <Paragraphs>732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Calibri</vt:lpstr>
      <vt:lpstr>Calibri Light</vt:lpstr>
      <vt:lpstr>Consolas</vt:lpstr>
      <vt:lpstr>Courier New</vt:lpstr>
      <vt:lpstr>Menlo</vt:lpstr>
      <vt:lpstr>Тема Office</vt:lpstr>
      <vt:lpstr>Низкоуровневое программирование</vt:lpstr>
      <vt:lpstr>Буферы</vt:lpstr>
      <vt:lpstr>Уязвимости форматной строки</vt:lpstr>
      <vt:lpstr>Уязвимости форматной строки</vt:lpstr>
      <vt:lpstr>Уязвимости форматной строки</vt:lpstr>
      <vt:lpstr>Уязвимости форматной строки</vt:lpstr>
      <vt:lpstr>Уязвимости форматной строки</vt:lpstr>
      <vt:lpstr>Защита от уязвимостей форматной строки</vt:lpstr>
      <vt:lpstr>Переполнение буфера</vt:lpstr>
      <vt:lpstr>Переполнение буфера</vt:lpstr>
      <vt:lpstr>Возможные цели переполнения буфера на стеке</vt:lpstr>
      <vt:lpstr>Изменение адреса возврата</vt:lpstr>
      <vt:lpstr>Изменение адреса возврата</vt:lpstr>
      <vt:lpstr>Исполнение произвольного кода</vt:lpstr>
      <vt:lpstr>Исполнение произвольного кода</vt:lpstr>
      <vt:lpstr>Исполнение произвольного кода</vt:lpstr>
      <vt:lpstr>Об аргументах и переменных среды (Linux)</vt:lpstr>
      <vt:lpstr>Защита от выполнения</vt:lpstr>
      <vt:lpstr>Return Oriented Programming</vt:lpstr>
      <vt:lpstr>Return Oriented Programming</vt:lpstr>
      <vt:lpstr>Поиск гаджетов</vt:lpstr>
      <vt:lpstr>Защита от изменения адреса возврата</vt:lpstr>
      <vt:lpstr>Защита от изменения адреса возврата</vt:lpstr>
      <vt:lpstr>Защита от изменения адреса возврата</vt:lpstr>
      <vt:lpstr>Обход «канареек» 1 (Linux)</vt:lpstr>
      <vt:lpstr>Защита на аппаратном уровне : Intel Indirect Branch Tracking</vt:lpstr>
      <vt:lpstr>Защита на аппаратном уровне: Shadow Stack</vt:lpstr>
      <vt:lpstr>Перезапись GOT (Linux)</vt:lpstr>
      <vt:lpstr>Обход «канареек» 2 (Linux)</vt:lpstr>
      <vt:lpstr>Защита от перезаписи GOT</vt:lpstr>
      <vt:lpstr>Структура кучи</vt:lpstr>
      <vt:lpstr>Занятые блоки</vt:lpstr>
      <vt:lpstr>Свободные блоки</vt:lpstr>
      <vt:lpstr>Структура кучи</vt:lpstr>
      <vt:lpstr> Слияние свободных блоков</vt:lpstr>
      <vt:lpstr>Переполнение в куче</vt:lpstr>
      <vt:lpstr>Переполнение в куче</vt:lpstr>
      <vt:lpstr>Обход «канареек» через переполнение в куче</vt:lpstr>
      <vt:lpstr>Перезапись GOT через переполнение в куче(Linux)</vt:lpstr>
      <vt:lpstr>Address Space Layout Randomization</vt:lpstr>
      <vt:lpstr>ASLR и Windows</vt:lpstr>
      <vt:lpstr>Меры защиты на уровне компилятора</vt:lpstr>
      <vt:lpstr>Полезные ссылки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Низкоуровневое программирование</dc:title>
  <dc:creator>Алексей Борисов</dc:creator>
  <cp:lastModifiedBy>Alexey</cp:lastModifiedBy>
  <cp:revision>260</cp:revision>
  <dcterms:created xsi:type="dcterms:W3CDTF">2021-02-27T16:04:41Z</dcterms:created>
  <dcterms:modified xsi:type="dcterms:W3CDTF">2025-12-01T14:48:23Z</dcterms:modified>
</cp:coreProperties>
</file>