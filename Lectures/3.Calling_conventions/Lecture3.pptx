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348" r:id="rId3"/>
    <p:sldId id="324" r:id="rId4"/>
    <p:sldId id="332" r:id="rId5"/>
    <p:sldId id="395" r:id="rId6"/>
    <p:sldId id="397" r:id="rId7"/>
    <p:sldId id="398" r:id="rId8"/>
    <p:sldId id="396" r:id="rId9"/>
    <p:sldId id="419" r:id="rId10"/>
    <p:sldId id="393" r:id="rId11"/>
    <p:sldId id="344" r:id="rId12"/>
    <p:sldId id="345" r:id="rId13"/>
    <p:sldId id="306" r:id="rId14"/>
    <p:sldId id="343" r:id="rId15"/>
    <p:sldId id="417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371" r:id="rId31"/>
    <p:sldId id="413" r:id="rId32"/>
    <p:sldId id="414" r:id="rId33"/>
    <p:sldId id="415" r:id="rId34"/>
    <p:sldId id="416" r:id="rId35"/>
    <p:sldId id="375" r:id="rId36"/>
    <p:sldId id="268" r:id="rId37"/>
    <p:sldId id="325" r:id="rId38"/>
    <p:sldId id="429" r:id="rId39"/>
    <p:sldId id="352" r:id="rId40"/>
    <p:sldId id="356" r:id="rId41"/>
    <p:sldId id="360" r:id="rId42"/>
    <p:sldId id="358" r:id="rId43"/>
    <p:sldId id="307" r:id="rId44"/>
    <p:sldId id="427" r:id="rId45"/>
    <p:sldId id="420" r:id="rId46"/>
    <p:sldId id="421" r:id="rId47"/>
    <p:sldId id="422" r:id="rId48"/>
    <p:sldId id="423" r:id="rId49"/>
    <p:sldId id="424" r:id="rId50"/>
    <p:sldId id="425" r:id="rId51"/>
    <p:sldId id="426" r:id="rId52"/>
    <p:sldId id="364" r:id="rId53"/>
    <p:sldId id="365" r:id="rId54"/>
    <p:sldId id="368" r:id="rId55"/>
    <p:sldId id="309" r:id="rId56"/>
    <p:sldId id="373" r:id="rId57"/>
    <p:sldId id="349" r:id="rId58"/>
    <p:sldId id="370" r:id="rId59"/>
    <p:sldId id="351" r:id="rId60"/>
    <p:sldId id="428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808080"/>
    <a:srgbClr val="5B9BD5"/>
    <a:srgbClr val="00FFFF"/>
    <a:srgbClr val="A5A5A5"/>
    <a:srgbClr val="0000FF"/>
    <a:srgbClr val="0094C8"/>
    <a:srgbClr val="FBE5D6"/>
    <a:srgbClr val="FF8B8B"/>
    <a:srgbClr val="87B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92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4128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BD9B47-28F7-8A90-5188-89A3C9ACB6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A791A8-0A3E-311C-275C-F2634B0A17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D9C96-3C9F-4AF7-A03A-A3B359459C9F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4137A1-4FA4-0833-168A-BB7CFE6D8A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D8678E-3DDC-9374-5F82-8C38F079C1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63E8F-C8B5-4AA2-BB51-3DB3E7BFB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288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0136C-4900-4139-A65E-0FFE21BA86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ru-RU" dirty="0" err="1"/>
              <a:t>вр</a:t>
            </a:r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5C656-B1C2-48D6-B4C0-50C1DF62A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6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24B42-0E25-4A7E-B7D6-9674B89D9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85556B-B022-443D-83AC-7485A88B8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99A08A-18EF-4E21-A894-034E4294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8A281-9EB8-427F-B1A2-BB5CDB83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9546A-E21B-4819-8351-F094DB6B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82607-438D-4515-8271-35633FBF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F9345-D2D0-4359-93FF-C2809BBC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4B98D-193A-4E7E-9BEA-6F3C2EE7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r>
              <a:rPr lang="ru-RU"/>
              <a:t>Функции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A8E53-6AB8-45F5-8458-43FBA3AB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4BB97-026A-4EB6-8279-BE4B55CA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A6FBF6-4F3F-41E8-A64F-B8A683F4B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354DB5-B3D6-4EDB-9909-40D48A81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F0C955-1908-48B6-9150-7193ED69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C7563E-18B2-410D-9817-3B879AA1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6DCC4-014E-47CE-BFF3-EAE9564A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66D607-FBCA-4B15-B062-E45AA60CE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FB3B74-1388-436C-BC7D-DF0753585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44EB42-FC5E-4732-8D39-85BD7D44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5D3CDC-636C-432D-83AE-143CB5C2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C6E501-E3A1-4D96-B216-FC76395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6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AB106-F335-4889-B133-0215C057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DF2971-2E9F-4E0E-810D-844904D83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3F5027-2511-41F9-8706-0B42FF723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181A99-0161-4256-9FC3-ECBEBC06F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359298-1003-4941-8DDA-BB77D8FF8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6DAD6F-6ACC-4778-851E-7C2FC7C9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17DBD-1FD5-4A1F-8EEF-54F2CDFB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A5F785-F625-4B7D-A6D0-1866E6A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0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D0865-6E6F-4F6C-9ADB-8490153D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807B0F-2182-4083-AEF4-15492FFA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D1E51B-05BC-4B55-9EDB-412577C2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EF8A98-69E1-4575-9608-425E1EF6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FF670A-5F4C-4552-80BC-36BE7A0D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1FE3E8-94B9-4A2A-9DE6-43C4AB55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634DB-486D-4D74-8F97-5FDA68E8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1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AC518-993C-4EF2-9F29-9B2181CF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D7AD4-B430-4725-AB1E-7F24CD1F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8E3CAB-7D42-44CD-B5A0-13B27A565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C79307-2068-4CD8-96B1-D6EA12DD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6925D-4A53-4B35-9542-25F6E3F1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A61258-9615-4E73-B2A0-2BDE6E7D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4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776D7-0540-4DA6-AAE2-F391FD56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CA0F336-6616-474B-A11B-02EE61C0A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BFBC25-939E-4FBB-86C3-85F5F655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EB1EFF-DD78-4110-90B6-F4ECA9D8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B72029-FB69-40F6-9351-634C607F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13307-0790-4F95-A50A-E421528D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3C619-5DB0-420B-8DA6-C9D70844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727C8C-5D04-41CC-9119-BCAE9D984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8D7C69-F24E-42E8-B75E-4AB73C8E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273778-3D61-4FF5-91E9-8EED986B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DDFBA-D1D6-4FBE-8BA5-EE146371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160B9B-068E-45FF-ABF1-517456125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BDE121-1D3C-4DCA-8A26-7C9E0B901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384099-E0F3-46A0-9264-BAE732E9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B4418-B1EA-4AE6-AEBE-953C1C7E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Функции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22D353-A0CE-474D-80EB-75A67EDB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8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C333E-9900-4FCD-A4BE-6E7C7524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E0A9C9-CCCA-434F-A14F-8416DC5D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A36A1B-5D5B-4687-941C-4A2CC1780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Функции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CF36F-C4AB-4875-86C3-377938959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8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gner.org/optimize/calling_conventions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KrdnWz4o" TargetMode="External"/><Relationship Id="rId2" Type="http://schemas.openxmlformats.org/officeDocument/2006/relationships/hyperlink" Target="https://godbolt.org/z/qWc4YjPc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dbolt.org/z/MYE7he3x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B0387-A424-4232-B826-E72B79246B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Низкоуровневое программирование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0B0FE4-1541-4C22-BC3D-263F41B28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84462"/>
          </a:xfrm>
        </p:spPr>
        <p:txBody>
          <a:bodyPr>
            <a:normAutofit/>
          </a:bodyPr>
          <a:lstStyle/>
          <a:p>
            <a:r>
              <a:rPr lang="ru-RU" dirty="0"/>
              <a:t>Лекция 3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Процедуры и функции</a:t>
            </a:r>
            <a:endParaRPr lang="en-US" dirty="0"/>
          </a:p>
          <a:p>
            <a:r>
              <a:rPr lang="ru-RU" dirty="0"/>
              <a:t>Соглашения о вызовах</a:t>
            </a:r>
          </a:p>
        </p:txBody>
      </p:sp>
    </p:spTree>
    <p:extLst>
      <p:ext uri="{BB962C8B-B14F-4D97-AF65-F5344CB8AC3E}">
        <p14:creationId xmlns:p14="http://schemas.microsoft.com/office/powerpoint/2010/main" val="21164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в языке ассемблера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5846686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языке ассемблера нет явного определения понятия функции. Де-факто, функция – это участок кода, который начинается с метки, и заканчивается инструкцией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ru-RU" sz="2000" baseline="30000" dirty="0">
                <a:cs typeface="Courier New" panose="02070309020205020404" pitchFamily="49" charset="0"/>
              </a:rPr>
              <a:t>1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Для вызова функции используется инструкция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sz="2000" dirty="0"/>
              <a:t>. </a:t>
            </a:r>
            <a:r>
              <a:rPr lang="ru-RU" sz="2000" dirty="0"/>
              <a:t>Инструкция сохраняет в стек текущее значение регистра </a:t>
            </a:r>
            <a:r>
              <a:rPr lang="en-US" sz="2000" dirty="0"/>
              <a:t>RIP </a:t>
            </a:r>
            <a:r>
              <a:rPr lang="ru-RU" sz="2000" dirty="0"/>
              <a:t>и затем производит переход на указанный адрес.</a:t>
            </a:r>
          </a:p>
          <a:p>
            <a:pPr marL="0" indent="0">
              <a:buNone/>
            </a:pPr>
            <a:r>
              <a:rPr lang="ru-RU" sz="2000" dirty="0"/>
              <a:t>Для возврата из функции используется инструкция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2000" dirty="0"/>
              <a:t> (return). </a:t>
            </a:r>
            <a:r>
              <a:rPr lang="ru-RU" sz="2000" dirty="0"/>
              <a:t>Она достает из вершины стека значение и сохраняет его в </a:t>
            </a:r>
            <a:r>
              <a:rPr lang="en-US" sz="2000" dirty="0"/>
              <a:t>RIP</a:t>
            </a:r>
            <a:r>
              <a:rPr lang="ru-RU" sz="2000" dirty="0"/>
              <a:t> (прыжок обратно в место вызова функции)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i="1" dirty="0"/>
              <a:t>Кроме инструкций перехода 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j*</a:t>
            </a:r>
            <a:r>
              <a:rPr lang="ru-RU" sz="2000" i="1" dirty="0"/>
              <a:t> и 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2000" i="1" dirty="0"/>
              <a:t>, </a:t>
            </a:r>
            <a:r>
              <a:rPr lang="ru-RU" sz="2000" i="1" dirty="0"/>
              <a:t>нет никакого иного способа изменить значение </a:t>
            </a:r>
            <a:r>
              <a:rPr lang="en-US" sz="2000" i="1" dirty="0"/>
              <a:t>RIP </a:t>
            </a:r>
            <a:r>
              <a:rPr lang="ru-RU" sz="2000" i="1" dirty="0"/>
              <a:t>из программы!</a:t>
            </a:r>
            <a:r>
              <a:rPr lang="en-US" sz="2000" i="1" dirty="0"/>
              <a:t> </a:t>
            </a:r>
            <a:endParaRPr lang="ru-RU" sz="2000" i="1" dirty="0"/>
          </a:p>
          <a:p>
            <a:pPr marL="0" indent="0">
              <a:buNone/>
            </a:pPr>
            <a:endParaRPr lang="ru-RU" sz="2000" i="1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15877-D299-EF68-B703-BF7EF325C52E}"/>
              </a:ext>
            </a:extLst>
          </p:cNvPr>
          <p:cNvSpPr txBox="1"/>
          <p:nvPr/>
        </p:nvSpPr>
        <p:spPr>
          <a:xfrm>
            <a:off x="8117147" y="1473200"/>
            <a:ext cx="26455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add rcx,1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  <a:p>
            <a:b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rcx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rcx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ru-RU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9C4C2-105E-5D34-38F9-8152714253A3}"/>
              </a:ext>
            </a:extLst>
          </p:cNvPr>
          <p:cNvSpPr txBox="1"/>
          <p:nvPr/>
        </p:nvSpPr>
        <p:spPr>
          <a:xfrm>
            <a:off x="838200" y="63030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ru-RU" sz="1400" i="1" dirty="0"/>
              <a:t>технически, функция может также заканчиваться на </a:t>
            </a:r>
            <a:r>
              <a:rPr lang="en-US" sz="1400" i="1" dirty="0"/>
              <a:t>JMP </a:t>
            </a:r>
            <a:r>
              <a:rPr lang="ru-RU" sz="1400" i="1" dirty="0"/>
              <a:t>или системный вызов завершения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2508431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</a:t>
            </a:r>
            <a:r>
              <a:rPr lang="en-US" dirty="0"/>
              <a:t> </a:t>
            </a:r>
            <a:r>
              <a:rPr lang="ru-RU" dirty="0"/>
              <a:t>вызовов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318" y="1442687"/>
            <a:ext cx="5741639" cy="5138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Стек вызовов </a:t>
            </a:r>
            <a:r>
              <a:rPr lang="ru-RU" sz="2000" dirty="0"/>
              <a:t>(программный стек или просто стек) – область памяти, предназначенная для хранения </a:t>
            </a:r>
            <a:r>
              <a:rPr lang="ru-RU" sz="2000" i="1" dirty="0"/>
              <a:t>локальных переменных</a:t>
            </a:r>
            <a:r>
              <a:rPr lang="ru-RU" sz="2000" dirty="0"/>
              <a:t> и вспомогательных данных, необходимых для осуществления вызовов функций. </a:t>
            </a:r>
          </a:p>
          <a:p>
            <a:pPr marL="0" indent="0">
              <a:buNone/>
            </a:pPr>
            <a:r>
              <a:rPr lang="ru-RU" sz="2000" dirty="0"/>
              <a:t>Указатель на вершину стека хранится в регистре </a:t>
            </a:r>
            <a:r>
              <a:rPr lang="en-US" sz="2000" b="1" dirty="0"/>
              <a:t>RSP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b="1" i="1" dirty="0"/>
              <a:t>Стек растет вниз. </a:t>
            </a:r>
            <a:br>
              <a:rPr lang="ru-RU" sz="2000" b="1" i="1" dirty="0"/>
            </a:br>
            <a:r>
              <a:rPr lang="ru-RU" sz="2000" i="1" dirty="0"/>
              <a:t>Вычитание из </a:t>
            </a:r>
            <a:r>
              <a:rPr lang="en-US" sz="2000" i="1" dirty="0"/>
              <a:t>RSP </a:t>
            </a:r>
            <a:r>
              <a:rPr lang="ru-RU" sz="2000" i="1" dirty="0"/>
              <a:t>увеличивает стек. Прибавление к </a:t>
            </a:r>
            <a:r>
              <a:rPr lang="en-US" sz="2000" i="1" dirty="0"/>
              <a:t>RSP </a:t>
            </a:r>
            <a:r>
              <a:rPr lang="ru-RU" sz="2000" i="1" dirty="0"/>
              <a:t>уменьшает стек.</a:t>
            </a:r>
            <a:endParaRPr lang="en-US" sz="2000" i="1" dirty="0"/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ru-RU" sz="2000" dirty="0"/>
              <a:t>Прибавление/убавление значения к </a:t>
            </a:r>
            <a:r>
              <a:rPr lang="en-US" sz="2000" dirty="0"/>
              <a:t>RSP </a:t>
            </a:r>
            <a:r>
              <a:rPr lang="ru-RU" sz="2000" dirty="0"/>
              <a:t>не означает, что предыдущие значения будут стерты из памяти, но </a:t>
            </a:r>
            <a:r>
              <a:rPr lang="ru-RU" sz="2000" i="1" dirty="0"/>
              <a:t>память ниже </a:t>
            </a:r>
            <a:r>
              <a:rPr lang="en-US" sz="2000" i="1" dirty="0"/>
              <a:t>RSP</a:t>
            </a:r>
            <a:r>
              <a:rPr lang="ru-RU" sz="2000" i="1" dirty="0"/>
              <a:t> может быть изменена</a:t>
            </a:r>
            <a:r>
              <a:rPr lang="ru-RU" sz="2000" dirty="0"/>
              <a:t> ОС или средой выполнения (см. след. лекции).</a:t>
            </a:r>
          </a:p>
          <a:p>
            <a:pPr marL="0" indent="0">
              <a:buNone/>
            </a:pPr>
            <a:endParaRPr lang="en-US" sz="2000" i="1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5562C31-50CB-4C5D-90B1-7D86F7BD8736}"/>
              </a:ext>
            </a:extLst>
          </p:cNvPr>
          <p:cNvCxnSpPr>
            <a:cxnSpLocks/>
          </p:cNvCxnSpPr>
          <p:nvPr/>
        </p:nvCxnSpPr>
        <p:spPr>
          <a:xfrm>
            <a:off x="7758253" y="4748065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819042E-62F5-47E3-9A8A-B20070393565}"/>
              </a:ext>
            </a:extLst>
          </p:cNvPr>
          <p:cNvSpPr txBox="1"/>
          <p:nvPr/>
        </p:nvSpPr>
        <p:spPr>
          <a:xfrm>
            <a:off x="7691471" y="4352787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72D8FDE-648A-E2E4-A7AB-7CBB2D9690F6}"/>
              </a:ext>
            </a:extLst>
          </p:cNvPr>
          <p:cNvCxnSpPr/>
          <p:nvPr/>
        </p:nvCxnSpPr>
        <p:spPr>
          <a:xfrm>
            <a:off x="8364591" y="4352787"/>
            <a:ext cx="0" cy="812528"/>
          </a:xfrm>
          <a:prstGeom prst="straightConnector1">
            <a:avLst/>
          </a:prstGeom>
          <a:ln w="3175">
            <a:prstDash val="lgDash"/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5C8354-1161-BF1A-4C06-EBD66A858BD7}"/>
              </a:ext>
            </a:extLst>
          </p:cNvPr>
          <p:cNvSpPr/>
          <p:nvPr/>
        </p:nvSpPr>
        <p:spPr>
          <a:xfrm>
            <a:off x="834319" y="3671455"/>
            <a:ext cx="4562026" cy="928254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C4F71A-A882-06D3-6F26-939ECAA9F749}"/>
              </a:ext>
            </a:extLst>
          </p:cNvPr>
          <p:cNvSpPr/>
          <p:nvPr/>
        </p:nvSpPr>
        <p:spPr>
          <a:xfrm>
            <a:off x="8653817" y="2944857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808BCDA-D6E1-2BE9-0E14-D924FD7E0AAC}"/>
              </a:ext>
            </a:extLst>
          </p:cNvPr>
          <p:cNvSpPr/>
          <p:nvPr/>
        </p:nvSpPr>
        <p:spPr>
          <a:xfrm>
            <a:off x="8653817" y="3665660"/>
            <a:ext cx="2396971" cy="1082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Локальные переменные</a:t>
            </a:r>
            <a:endParaRPr lang="en-US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946C40B-A027-A417-E2E6-024C675BFA24}"/>
              </a:ext>
            </a:extLst>
          </p:cNvPr>
          <p:cNvSpPr/>
          <p:nvPr/>
        </p:nvSpPr>
        <p:spPr>
          <a:xfrm>
            <a:off x="8653817" y="3303188"/>
            <a:ext cx="2396971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Копии регистров</a:t>
            </a:r>
            <a:endParaRPr lang="en-US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B4CE3DF-84F6-BE2F-328F-D1B33817C028}"/>
              </a:ext>
            </a:extLst>
          </p:cNvPr>
          <p:cNvSpPr/>
          <p:nvPr/>
        </p:nvSpPr>
        <p:spPr>
          <a:xfrm>
            <a:off x="8653806" y="750423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F60EFA6-39EC-2C95-B677-EC0D3F1E7EC3}"/>
              </a:ext>
            </a:extLst>
          </p:cNvPr>
          <p:cNvSpPr/>
          <p:nvPr/>
        </p:nvSpPr>
        <p:spPr>
          <a:xfrm>
            <a:off x="8653806" y="1108754"/>
            <a:ext cx="2396971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Копии регистров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C61F169-8AB1-55A1-2F4B-270CCB21048B}"/>
              </a:ext>
            </a:extLst>
          </p:cNvPr>
          <p:cNvSpPr/>
          <p:nvPr/>
        </p:nvSpPr>
        <p:spPr>
          <a:xfrm>
            <a:off x="8653801" y="2206571"/>
            <a:ext cx="2396971" cy="73198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Аргументы</a:t>
            </a:r>
            <a:endParaRPr lang="en-US" dirty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E4717317-76D4-75EE-4AFE-49489EC863AC}"/>
              </a:ext>
            </a:extLst>
          </p:cNvPr>
          <p:cNvCxnSpPr>
            <a:cxnSpLocks/>
          </p:cNvCxnSpPr>
          <p:nvPr/>
        </p:nvCxnSpPr>
        <p:spPr>
          <a:xfrm>
            <a:off x="8653783" y="2201010"/>
            <a:ext cx="239697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6CA0B21-5C71-8143-676F-7368E551AFE1}"/>
              </a:ext>
            </a:extLst>
          </p:cNvPr>
          <p:cNvSpPr/>
          <p:nvPr/>
        </p:nvSpPr>
        <p:spPr>
          <a:xfrm>
            <a:off x="8653827" y="750916"/>
            <a:ext cx="2396971" cy="4770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F3715DF-8F40-75E4-0CDB-A2AA0A25772F}"/>
              </a:ext>
            </a:extLst>
          </p:cNvPr>
          <p:cNvSpPr/>
          <p:nvPr/>
        </p:nvSpPr>
        <p:spPr>
          <a:xfrm>
            <a:off x="8653783" y="1481943"/>
            <a:ext cx="2396971" cy="7127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Локальные переменные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8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Локальные переменные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04999"/>
            <a:ext cx="10720527" cy="2253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Локальные переменные (не поместившиеся в регистры) хранятся на стеке. Выделение и освобождение памяти для локальных переменных производится путем вычитания/прибавления к </a:t>
            </a:r>
            <a:r>
              <a:rPr lang="en-US" sz="2000" dirty="0"/>
              <a:t>RSP</a:t>
            </a:r>
            <a:r>
              <a:rPr lang="ru-RU" sz="2000" dirty="0"/>
              <a:t> соответствующего значения.</a:t>
            </a:r>
            <a:endParaRPr lang="en-US" sz="2000" dirty="0"/>
          </a:p>
          <a:p>
            <a:pPr marL="0" indent="0">
              <a:buNone/>
            </a:pPr>
            <a:r>
              <a:rPr lang="ru-RU" sz="2000" i="1" dirty="0"/>
              <a:t>Примечание: обычно вместо выделения памяти под каждую переменную по отдельности, </a:t>
            </a:r>
            <a:r>
              <a:rPr lang="ru-RU" sz="2000" i="1" u="sng" dirty="0"/>
              <a:t>суммарный</a:t>
            </a:r>
            <a:r>
              <a:rPr lang="ru-RU" sz="2000" i="1" dirty="0"/>
              <a:t> размер локальных переменных вычитается из </a:t>
            </a:r>
            <a:r>
              <a:rPr lang="en-US" sz="2000" i="1" dirty="0"/>
              <a:t>RSP </a:t>
            </a:r>
            <a:r>
              <a:rPr lang="ru-RU" sz="2000" i="1" dirty="0"/>
              <a:t>при входе в функцию и прибавляется перед выходом</a:t>
            </a:r>
            <a:r>
              <a:rPr lang="en-US" sz="2000" i="1" dirty="0"/>
              <a:t>.</a:t>
            </a:r>
            <a:r>
              <a:rPr lang="ru-RU" sz="2000" i="1" dirty="0"/>
              <a:t> Этот размер округляется в большую сторону до размера регистра (4 для х86,  8 для х86-64).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81872-4D30-4C4E-B50D-2CF253FFB595}"/>
              </a:ext>
            </a:extLst>
          </p:cNvPr>
          <p:cNvSpPr txBox="1"/>
          <p:nvPr/>
        </p:nvSpPr>
        <p:spPr>
          <a:xfrm>
            <a:off x="838198" y="4169818"/>
            <a:ext cx="2672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int x = 0;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long </a:t>
            </a:r>
            <a:r>
              <a:rPr lang="en-US" dirty="0" err="1">
                <a:latin typeface="Consolas" panose="020B0609020204030204" pitchFamily="49" charset="0"/>
              </a:rPr>
              <a:t>long</a:t>
            </a:r>
            <a:r>
              <a:rPr lang="en-US" dirty="0">
                <a:latin typeface="Consolas" panose="020B0609020204030204" pitchFamily="49" charset="0"/>
              </a:rPr>
              <a:t> y = 1;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double z = 1.0;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F22C8-2ACE-4C02-AE68-B889D8FD24AD}"/>
              </a:ext>
            </a:extLst>
          </p:cNvPr>
          <p:cNvSpPr txBox="1"/>
          <p:nvPr/>
        </p:nvSpPr>
        <p:spPr>
          <a:xfrm>
            <a:off x="4504183" y="4169818"/>
            <a:ext cx="294183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</a:t>
            </a:r>
            <a:r>
              <a:rPr lang="ru-RU" u="sng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[rsp+16], 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qword[rsp+8], 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fld1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fstp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qword[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101067A-CDA4-4A28-870F-CBF74A399C58}"/>
              </a:ext>
            </a:extLst>
          </p:cNvPr>
          <p:cNvCxnSpPr>
            <a:cxnSpLocks/>
          </p:cNvCxnSpPr>
          <p:nvPr/>
        </p:nvCxnSpPr>
        <p:spPr>
          <a:xfrm>
            <a:off x="7555050" y="6025819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4F37876-D728-4A1B-B837-390F4AB6FB53}"/>
              </a:ext>
            </a:extLst>
          </p:cNvPr>
          <p:cNvSpPr txBox="1"/>
          <p:nvPr/>
        </p:nvSpPr>
        <p:spPr>
          <a:xfrm>
            <a:off x="7459695" y="5659509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1D9760A-9CE0-4E90-BC42-47A31E45F2A6}"/>
              </a:ext>
            </a:extLst>
          </p:cNvPr>
          <p:cNvCxnSpPr/>
          <p:nvPr/>
        </p:nvCxnSpPr>
        <p:spPr>
          <a:xfrm>
            <a:off x="8313420" y="5302970"/>
            <a:ext cx="0" cy="7260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0A384313-C43A-4C13-BF71-AA38D1E74143}"/>
              </a:ext>
            </a:extLst>
          </p:cNvPr>
          <p:cNvCxnSpPr/>
          <p:nvPr/>
        </p:nvCxnSpPr>
        <p:spPr>
          <a:xfrm>
            <a:off x="8313420" y="4576877"/>
            <a:ext cx="0" cy="7260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78F4F859-4546-419C-9272-60C48C0AF0F0}"/>
              </a:ext>
            </a:extLst>
          </p:cNvPr>
          <p:cNvCxnSpPr>
            <a:cxnSpLocks/>
          </p:cNvCxnSpPr>
          <p:nvPr/>
        </p:nvCxnSpPr>
        <p:spPr>
          <a:xfrm>
            <a:off x="8313420" y="4213830"/>
            <a:ext cx="0" cy="3630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39A00A-98D7-4992-84E0-C7A2E7FAA6A3}"/>
              </a:ext>
            </a:extLst>
          </p:cNvPr>
          <p:cNvSpPr txBox="1"/>
          <p:nvPr/>
        </p:nvSpPr>
        <p:spPr>
          <a:xfrm>
            <a:off x="8044659" y="42235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E3EE11-A1D6-481E-B643-FE69D8B4366B}"/>
              </a:ext>
            </a:extLst>
          </p:cNvPr>
          <p:cNvSpPr txBox="1"/>
          <p:nvPr/>
        </p:nvSpPr>
        <p:spPr>
          <a:xfrm>
            <a:off x="8044659" y="4747785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9AC56D-F35E-440E-8123-17FA84A7DFA9}"/>
              </a:ext>
            </a:extLst>
          </p:cNvPr>
          <p:cNvSpPr txBox="1"/>
          <p:nvPr/>
        </p:nvSpPr>
        <p:spPr>
          <a:xfrm>
            <a:off x="8044659" y="5445964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60F0D8F9-4323-4EB6-B2EC-5E2F25F41644}"/>
              </a:ext>
            </a:extLst>
          </p:cNvPr>
          <p:cNvCxnSpPr>
            <a:cxnSpLocks/>
          </p:cNvCxnSpPr>
          <p:nvPr/>
        </p:nvCxnSpPr>
        <p:spPr>
          <a:xfrm>
            <a:off x="3025140" y="4639684"/>
            <a:ext cx="151047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66DF0F2-96A5-4B34-A2E6-9266F160AD17}"/>
              </a:ext>
            </a:extLst>
          </p:cNvPr>
          <p:cNvCxnSpPr>
            <a:cxnSpLocks/>
          </p:cNvCxnSpPr>
          <p:nvPr/>
        </p:nvCxnSpPr>
        <p:spPr>
          <a:xfrm flipV="1">
            <a:off x="3631785" y="4932451"/>
            <a:ext cx="903825" cy="74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DFDDECA2-0915-46A8-B02B-5CA8DE268523}"/>
              </a:ext>
            </a:extLst>
          </p:cNvPr>
          <p:cNvCxnSpPr>
            <a:cxnSpLocks/>
          </p:cNvCxnSpPr>
          <p:nvPr/>
        </p:nvCxnSpPr>
        <p:spPr>
          <a:xfrm>
            <a:off x="3429395" y="5212820"/>
            <a:ext cx="1106215" cy="2434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Прямая со стрелкой 14">
            <a:extLst>
              <a:ext uri="{FF2B5EF4-FFF2-40B4-BE49-F238E27FC236}">
                <a16:creationId xmlns:a16="http://schemas.microsoft.com/office/drawing/2014/main" id="{F35FB428-59E7-F942-91CA-C98C8A0454EC}"/>
              </a:ext>
            </a:extLst>
          </p:cNvPr>
          <p:cNvCxnSpPr>
            <a:cxnSpLocks/>
          </p:cNvCxnSpPr>
          <p:nvPr/>
        </p:nvCxnSpPr>
        <p:spPr>
          <a:xfrm>
            <a:off x="8313420" y="3859323"/>
            <a:ext cx="0" cy="3630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82DF89-14BB-35CF-DF82-2F106D7AA6AD}"/>
              </a:ext>
            </a:extLst>
          </p:cNvPr>
          <p:cNvSpPr txBox="1"/>
          <p:nvPr/>
        </p:nvSpPr>
        <p:spPr>
          <a:xfrm>
            <a:off x="8044659" y="38690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42E5C8-8EB0-739E-307B-3FC5B8D0EA1B}"/>
              </a:ext>
            </a:extLst>
          </p:cNvPr>
          <p:cNvSpPr/>
          <p:nvPr/>
        </p:nvSpPr>
        <p:spPr>
          <a:xfrm>
            <a:off x="8461277" y="4232889"/>
            <a:ext cx="1949548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ru-R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2E2826-D9D7-ED4C-261C-9ED9B9524692}"/>
              </a:ext>
            </a:extLst>
          </p:cNvPr>
          <p:cNvSpPr/>
          <p:nvPr/>
        </p:nvSpPr>
        <p:spPr>
          <a:xfrm>
            <a:off x="8461277" y="4583364"/>
            <a:ext cx="1949548" cy="719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  <a:endParaRPr lang="ru-RU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4D35-F1F4-6F0D-EDDF-F1BC81445D87}"/>
              </a:ext>
            </a:extLst>
          </p:cNvPr>
          <p:cNvSpPr/>
          <p:nvPr/>
        </p:nvSpPr>
        <p:spPr>
          <a:xfrm>
            <a:off x="8461277" y="5306213"/>
            <a:ext cx="1949548" cy="719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D29666-9C72-8238-B76B-72E6C08B0EA5}"/>
              </a:ext>
            </a:extLst>
          </p:cNvPr>
          <p:cNvSpPr/>
          <p:nvPr/>
        </p:nvSpPr>
        <p:spPr>
          <a:xfrm>
            <a:off x="8461277" y="3876874"/>
            <a:ext cx="1949548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264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 dirty="0"/>
              <a:t>Кадр стека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5882197" cy="4965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Кадром стека </a:t>
            </a:r>
            <a:r>
              <a:rPr lang="ru-RU" sz="2000" dirty="0"/>
              <a:t>называется область, содержащая аргументы, локальные переменные, сохраненные значения регистров и адрес возврата выполняющейся функции.</a:t>
            </a:r>
          </a:p>
          <a:p>
            <a:pPr marL="0" indent="0">
              <a:buNone/>
            </a:pPr>
            <a:r>
              <a:rPr lang="ru-RU" sz="2000" dirty="0"/>
              <a:t>Т.к. значение </a:t>
            </a:r>
            <a:r>
              <a:rPr lang="en-US" sz="2000" dirty="0"/>
              <a:t>RSP </a:t>
            </a:r>
            <a:r>
              <a:rPr lang="ru-RU" sz="2000" dirty="0"/>
              <a:t>может меняться в ходе работы функции, вводится понятие </a:t>
            </a:r>
            <a:r>
              <a:rPr lang="ru-RU" sz="2000" b="1" dirty="0"/>
              <a:t>указателя кадра стека</a:t>
            </a:r>
            <a:r>
              <a:rPr lang="ru-RU" sz="2000" dirty="0"/>
              <a:t>, играющего роль «точки отчета», относительно которой адресуются элементы кадра стека.</a:t>
            </a:r>
          </a:p>
          <a:p>
            <a:pPr marL="0" indent="0">
              <a:buNone/>
            </a:pPr>
            <a:r>
              <a:rPr lang="ru-RU" sz="2000" dirty="0"/>
              <a:t>Для хранения указателя кадра стека используется регистр </a:t>
            </a:r>
            <a:r>
              <a:rPr lang="en-US" sz="2000" b="1" dirty="0"/>
              <a:t>RBP</a:t>
            </a:r>
            <a:r>
              <a:rPr lang="en-US" sz="2000" dirty="0"/>
              <a:t>(Base Pointer).</a:t>
            </a:r>
          </a:p>
          <a:p>
            <a:pPr marL="0" indent="0">
              <a:buNone/>
            </a:pPr>
            <a:r>
              <a:rPr lang="ru-RU" sz="2000" i="1" dirty="0"/>
              <a:t>Обычно </a:t>
            </a:r>
            <a:r>
              <a:rPr lang="en-US" sz="2000" i="1" dirty="0"/>
              <a:t>RBP </a:t>
            </a:r>
            <a:r>
              <a:rPr lang="ru-RU" sz="2000" i="1" dirty="0"/>
              <a:t>указывает на свою сохраненную копию</a:t>
            </a:r>
            <a:r>
              <a:rPr lang="ru-RU" sz="2000" baseline="30000" dirty="0"/>
              <a:t>*</a:t>
            </a:r>
            <a:r>
              <a:rPr lang="ru-RU" sz="2000" i="1" dirty="0"/>
              <a:t>.Цепочка сохраненных указателей кадров организует кадры </a:t>
            </a:r>
            <a:r>
              <a:rPr lang="ru-RU" sz="2000" i="1"/>
              <a:t>стека в </a:t>
            </a:r>
            <a:r>
              <a:rPr lang="ru-RU" sz="2000" i="1" dirty="0"/>
              <a:t>связный список.</a:t>
            </a:r>
            <a:endParaRPr lang="en-US" sz="1600" i="1" dirty="0"/>
          </a:p>
          <a:p>
            <a:pPr marL="0" indent="0">
              <a:buNone/>
            </a:pPr>
            <a:r>
              <a:rPr lang="ru-RU" sz="1600" i="1" dirty="0"/>
              <a:t>*если указатель кадра стека используется</a:t>
            </a:r>
          </a:p>
          <a:p>
            <a:pPr marL="0" indent="0">
              <a:buNone/>
            </a:pPr>
            <a:endParaRPr lang="en-US" sz="2000" i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</a:t>
            </a:fld>
            <a:endParaRPr lang="en-US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FEEC460-D350-4CAC-AC9E-2C6BE9F6BE88}"/>
              </a:ext>
            </a:extLst>
          </p:cNvPr>
          <p:cNvCxnSpPr>
            <a:cxnSpLocks/>
          </p:cNvCxnSpPr>
          <p:nvPr/>
        </p:nvCxnSpPr>
        <p:spPr>
          <a:xfrm>
            <a:off x="7029226" y="5323030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6219D34-622E-414C-B43A-6362EB0337B9}"/>
              </a:ext>
            </a:extLst>
          </p:cNvPr>
          <p:cNvSpPr txBox="1"/>
          <p:nvPr/>
        </p:nvSpPr>
        <p:spPr>
          <a:xfrm>
            <a:off x="6928521" y="4967533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0BCF637-2530-4335-9013-A165FDEDA663}"/>
              </a:ext>
            </a:extLst>
          </p:cNvPr>
          <p:cNvSpPr/>
          <p:nvPr/>
        </p:nvSpPr>
        <p:spPr>
          <a:xfrm>
            <a:off x="7924790" y="3519821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8718EEB-C473-453B-A2BD-19C7A0C1FE9A}"/>
              </a:ext>
            </a:extLst>
          </p:cNvPr>
          <p:cNvSpPr/>
          <p:nvPr/>
        </p:nvSpPr>
        <p:spPr>
          <a:xfrm>
            <a:off x="7924790" y="4240624"/>
            <a:ext cx="2396971" cy="1082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Локальные переменные</a:t>
            </a:r>
            <a:endParaRPr lang="en-US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4512D513-8C80-4CF5-87A1-FBE4D8408C62}"/>
              </a:ext>
            </a:extLst>
          </p:cNvPr>
          <p:cNvCxnSpPr>
            <a:cxnSpLocks/>
          </p:cNvCxnSpPr>
          <p:nvPr/>
        </p:nvCxnSpPr>
        <p:spPr>
          <a:xfrm>
            <a:off x="7029226" y="4251688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A92B09D-3BB5-45CE-AE63-ADD64782BD0C}"/>
              </a:ext>
            </a:extLst>
          </p:cNvPr>
          <p:cNvSpPr/>
          <p:nvPr/>
        </p:nvSpPr>
        <p:spPr>
          <a:xfrm>
            <a:off x="7924790" y="3878152"/>
            <a:ext cx="2396971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RBP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2E1037-DA9F-4BF9-9358-1E534C69B804}"/>
              </a:ext>
            </a:extLst>
          </p:cNvPr>
          <p:cNvSpPr txBox="1"/>
          <p:nvPr/>
        </p:nvSpPr>
        <p:spPr>
          <a:xfrm>
            <a:off x="6928521" y="3913240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RBP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737F352-32B0-4F0D-8B0D-4CA939277618}"/>
              </a:ext>
            </a:extLst>
          </p:cNvPr>
          <p:cNvSpPr/>
          <p:nvPr/>
        </p:nvSpPr>
        <p:spPr>
          <a:xfrm>
            <a:off x="7924795" y="2052258"/>
            <a:ext cx="2396971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5260EAC-BAB4-4E98-95D5-2DF53CE28F22}"/>
              </a:ext>
            </a:extLst>
          </p:cNvPr>
          <p:cNvSpPr/>
          <p:nvPr/>
        </p:nvSpPr>
        <p:spPr>
          <a:xfrm>
            <a:off x="7924795" y="2407555"/>
            <a:ext cx="2396971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C2F2635-370B-45B9-8524-F5949A84E345}"/>
              </a:ext>
            </a:extLst>
          </p:cNvPr>
          <p:cNvSpPr/>
          <p:nvPr/>
        </p:nvSpPr>
        <p:spPr>
          <a:xfrm>
            <a:off x="7924779" y="1325387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6BF2C5F-6806-4D38-83D7-4111609A0C9F}"/>
              </a:ext>
            </a:extLst>
          </p:cNvPr>
          <p:cNvSpPr/>
          <p:nvPr/>
        </p:nvSpPr>
        <p:spPr>
          <a:xfrm>
            <a:off x="7924779" y="1683718"/>
            <a:ext cx="2396971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RBP</a:t>
            </a:r>
          </a:p>
        </p:txBody>
      </p:sp>
      <p:sp>
        <p:nvSpPr>
          <p:cNvPr id="7" name="Правая фигурная скобка 6">
            <a:extLst>
              <a:ext uri="{FF2B5EF4-FFF2-40B4-BE49-F238E27FC236}">
                <a16:creationId xmlns:a16="http://schemas.microsoft.com/office/drawing/2014/main" id="{BED16126-60C3-4C51-9D7A-73E774B730DC}"/>
              </a:ext>
            </a:extLst>
          </p:cNvPr>
          <p:cNvSpPr/>
          <p:nvPr/>
        </p:nvSpPr>
        <p:spPr>
          <a:xfrm>
            <a:off x="10321750" y="1325387"/>
            <a:ext cx="332123" cy="145058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авая фигурная скобка 29">
            <a:extLst>
              <a:ext uri="{FF2B5EF4-FFF2-40B4-BE49-F238E27FC236}">
                <a16:creationId xmlns:a16="http://schemas.microsoft.com/office/drawing/2014/main" id="{A24CF800-4528-4C28-881D-28CB5C9679E9}"/>
              </a:ext>
            </a:extLst>
          </p:cNvPr>
          <p:cNvSpPr/>
          <p:nvPr/>
        </p:nvSpPr>
        <p:spPr>
          <a:xfrm>
            <a:off x="10321750" y="2786750"/>
            <a:ext cx="301826" cy="252910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A82DA75-98E2-4E6E-A1C0-C8DDEF1DCB53}"/>
              </a:ext>
            </a:extLst>
          </p:cNvPr>
          <p:cNvSpPr/>
          <p:nvPr/>
        </p:nvSpPr>
        <p:spPr>
          <a:xfrm>
            <a:off x="7924774" y="2781535"/>
            <a:ext cx="2396971" cy="73198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Аргументы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89161-BDA2-4A08-9626-6604F9096EC9}"/>
              </a:ext>
            </a:extLst>
          </p:cNvPr>
          <p:cNvSpPr txBox="1"/>
          <p:nvPr/>
        </p:nvSpPr>
        <p:spPr>
          <a:xfrm>
            <a:off x="10584138" y="1851139"/>
            <a:ext cx="83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Кадр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CCC770-6241-4A20-862F-16F56703EED3}"/>
              </a:ext>
            </a:extLst>
          </p:cNvPr>
          <p:cNvSpPr txBox="1"/>
          <p:nvPr/>
        </p:nvSpPr>
        <p:spPr>
          <a:xfrm>
            <a:off x="10623576" y="3854836"/>
            <a:ext cx="83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Кадр 2</a:t>
            </a:r>
          </a:p>
        </p:txBody>
      </p:sp>
      <p:cxnSp>
        <p:nvCxnSpPr>
          <p:cNvPr id="2049" name="Прямая соединительная линия 2048">
            <a:extLst>
              <a:ext uri="{FF2B5EF4-FFF2-40B4-BE49-F238E27FC236}">
                <a16:creationId xmlns:a16="http://schemas.microsoft.com/office/drawing/2014/main" id="{8236CD0E-72C4-4BC1-A0DD-DBCE498060EC}"/>
              </a:ext>
            </a:extLst>
          </p:cNvPr>
          <p:cNvCxnSpPr>
            <a:endCxn id="7" idx="2"/>
          </p:cNvCxnSpPr>
          <p:nvPr/>
        </p:nvCxnSpPr>
        <p:spPr>
          <a:xfrm>
            <a:off x="7924756" y="2775974"/>
            <a:ext cx="239697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9A2B314-01B7-43DC-A72E-53D65AB1C395}"/>
              </a:ext>
            </a:extLst>
          </p:cNvPr>
          <p:cNvSpPr/>
          <p:nvPr/>
        </p:nvSpPr>
        <p:spPr>
          <a:xfrm>
            <a:off x="7924800" y="1325880"/>
            <a:ext cx="2396971" cy="4770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2" name="Дуга 2061">
            <a:extLst>
              <a:ext uri="{FF2B5EF4-FFF2-40B4-BE49-F238E27FC236}">
                <a16:creationId xmlns:a16="http://schemas.microsoft.com/office/drawing/2014/main" id="{8A27116C-9AE2-44A3-8BDA-E3ED0D67632D}"/>
              </a:ext>
            </a:extLst>
          </p:cNvPr>
          <p:cNvSpPr/>
          <p:nvPr/>
        </p:nvSpPr>
        <p:spPr>
          <a:xfrm flipH="1">
            <a:off x="7512799" y="2055386"/>
            <a:ext cx="827163" cy="2039701"/>
          </a:xfrm>
          <a:prstGeom prst="arc">
            <a:avLst>
              <a:gd name="adj1" fmla="val 16200000"/>
              <a:gd name="adj2" fmla="val 5344133"/>
            </a:avLst>
          </a:prstGeom>
          <a:ln>
            <a:prstDash val="lg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70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 dirty="0"/>
              <a:t>Адресация относительно </a:t>
            </a:r>
            <a:r>
              <a:rPr lang="en-US" dirty="0"/>
              <a:t>RBP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309BE0C1-1BD2-4AA3-9E50-55B5AC847610}"/>
              </a:ext>
            </a:extLst>
          </p:cNvPr>
          <p:cNvCxnSpPr>
            <a:cxnSpLocks/>
          </p:cNvCxnSpPr>
          <p:nvPr/>
        </p:nvCxnSpPr>
        <p:spPr>
          <a:xfrm>
            <a:off x="7029226" y="4206921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55A60C-A8C4-48E0-89EA-C6A6589DC554}"/>
              </a:ext>
            </a:extLst>
          </p:cNvPr>
          <p:cNvSpPr txBox="1"/>
          <p:nvPr/>
        </p:nvSpPr>
        <p:spPr>
          <a:xfrm>
            <a:off x="6928521" y="3851424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3F5D8DB-7300-493F-8F6A-6763A3ED2338}"/>
              </a:ext>
            </a:extLst>
          </p:cNvPr>
          <p:cNvSpPr/>
          <p:nvPr/>
        </p:nvSpPr>
        <p:spPr>
          <a:xfrm>
            <a:off x="7924790" y="2403712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B4F91D8-58B1-4C50-9026-46E4E6D94CFA}"/>
              </a:ext>
            </a:extLst>
          </p:cNvPr>
          <p:cNvSpPr/>
          <p:nvPr/>
        </p:nvSpPr>
        <p:spPr>
          <a:xfrm>
            <a:off x="7924790" y="3124515"/>
            <a:ext cx="2396971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6EB72F4-ED97-4249-BE6E-B39AF6478095}"/>
              </a:ext>
            </a:extLst>
          </p:cNvPr>
          <p:cNvSpPr/>
          <p:nvPr/>
        </p:nvSpPr>
        <p:spPr>
          <a:xfrm>
            <a:off x="7924790" y="3479812"/>
            <a:ext cx="2396971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8D21E9E-9528-4D4C-B6EA-81AD112A250E}"/>
              </a:ext>
            </a:extLst>
          </p:cNvPr>
          <p:cNvSpPr/>
          <p:nvPr/>
        </p:nvSpPr>
        <p:spPr>
          <a:xfrm>
            <a:off x="7924756" y="3851424"/>
            <a:ext cx="1198800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C38D619-1433-4338-8EC0-B9CD912012BE}"/>
              </a:ext>
            </a:extLst>
          </p:cNvPr>
          <p:cNvCxnSpPr>
            <a:cxnSpLocks/>
          </p:cNvCxnSpPr>
          <p:nvPr/>
        </p:nvCxnSpPr>
        <p:spPr>
          <a:xfrm>
            <a:off x="7029226" y="3135579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3A740A0-E844-4425-AFE4-BF5A96E53250}"/>
              </a:ext>
            </a:extLst>
          </p:cNvPr>
          <p:cNvSpPr/>
          <p:nvPr/>
        </p:nvSpPr>
        <p:spPr>
          <a:xfrm>
            <a:off x="7924790" y="2762043"/>
            <a:ext cx="2396971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RBP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A31511-8E54-44D5-BE17-D007CB6C9737}"/>
              </a:ext>
            </a:extLst>
          </p:cNvPr>
          <p:cNvSpPr txBox="1"/>
          <p:nvPr/>
        </p:nvSpPr>
        <p:spPr>
          <a:xfrm>
            <a:off x="6928521" y="2797131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RBP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326AC40-E2E9-4B4B-94D8-2BF8C1B5290C}"/>
              </a:ext>
            </a:extLst>
          </p:cNvPr>
          <p:cNvSpPr/>
          <p:nvPr/>
        </p:nvSpPr>
        <p:spPr>
          <a:xfrm>
            <a:off x="7924774" y="1665426"/>
            <a:ext cx="2396971" cy="368419"/>
          </a:xfrm>
          <a:prstGeom prst="rect">
            <a:avLst/>
          </a:prstGeom>
          <a:solidFill>
            <a:srgbClr val="A5A5A5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Arg</a:t>
            </a:r>
            <a:r>
              <a:rPr lang="ru-RU" dirty="0"/>
              <a:t>2</a:t>
            </a:r>
            <a:endParaRPr lang="en-US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31559EF-5D67-4116-B4B8-11C0F341ADD0}"/>
              </a:ext>
            </a:extLst>
          </p:cNvPr>
          <p:cNvSpPr/>
          <p:nvPr/>
        </p:nvSpPr>
        <p:spPr>
          <a:xfrm>
            <a:off x="7924756" y="2031186"/>
            <a:ext cx="2396971" cy="368419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Arg</a:t>
            </a:r>
            <a:r>
              <a:rPr lang="ru-RU" dirty="0"/>
              <a:t>1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91CE7D2-EED2-4A31-983E-4A11424D9AE5}"/>
              </a:ext>
            </a:extLst>
          </p:cNvPr>
          <p:cNvSpPr/>
          <p:nvPr/>
        </p:nvSpPr>
        <p:spPr>
          <a:xfrm>
            <a:off x="7924800" y="1664054"/>
            <a:ext cx="2396971" cy="4431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714449D3-68EC-496A-8090-748183078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56" y="1515086"/>
            <a:ext cx="5882197" cy="5206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Адресация локальных переменных и аргументов производится относительно регистра </a:t>
            </a:r>
            <a:r>
              <a:rPr lang="en-US" sz="2000" dirty="0"/>
              <a:t>RBP</a:t>
            </a:r>
            <a:r>
              <a:rPr lang="ru-RU" sz="2000" dirty="0"/>
              <a:t>/</a:t>
            </a:r>
            <a:r>
              <a:rPr lang="en-US" sz="2000" dirty="0"/>
              <a:t>EBP.</a:t>
            </a:r>
          </a:p>
          <a:p>
            <a:pPr marL="0" indent="0">
              <a:buNone/>
            </a:pPr>
            <a:r>
              <a:rPr lang="ru-RU" sz="2000" dirty="0"/>
              <a:t>Обычно: </a:t>
            </a:r>
          </a:p>
          <a:p>
            <a:r>
              <a:rPr lang="ru-RU" sz="2000" dirty="0"/>
              <a:t>локальные переменные располагаются внизу относительно </a:t>
            </a:r>
            <a:r>
              <a:rPr lang="en-US" sz="2000" dirty="0"/>
              <a:t>RBP (</a:t>
            </a:r>
            <a:r>
              <a:rPr lang="ru-RU" sz="2000" b="1" dirty="0"/>
              <a:t>отрицательное смещение</a:t>
            </a:r>
            <a:r>
              <a:rPr lang="en-US" sz="2000" dirty="0"/>
              <a:t>)</a:t>
            </a:r>
            <a:r>
              <a:rPr lang="ru-RU" sz="2000" dirty="0"/>
              <a:t>.</a:t>
            </a:r>
          </a:p>
          <a:p>
            <a:r>
              <a:rPr lang="ru-RU" sz="2000" dirty="0"/>
              <a:t>аргументы располагаются вверху относительно </a:t>
            </a:r>
            <a:r>
              <a:rPr lang="en-US" sz="2000" dirty="0"/>
              <a:t>RBP</a:t>
            </a:r>
            <a:r>
              <a:rPr lang="ru-RU" sz="2000" dirty="0"/>
              <a:t> (</a:t>
            </a:r>
            <a:r>
              <a:rPr lang="ru-RU" sz="2000" b="1" dirty="0"/>
              <a:t>положительное смещение</a:t>
            </a:r>
            <a:r>
              <a:rPr lang="ru-RU" sz="2000" dirty="0"/>
              <a:t>).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B383397C-0303-4B25-AA4D-B9F720C7B622}"/>
              </a:ext>
            </a:extLst>
          </p:cNvPr>
          <p:cNvCxnSpPr/>
          <p:nvPr/>
        </p:nvCxnSpPr>
        <p:spPr>
          <a:xfrm>
            <a:off x="7924756" y="5432612"/>
            <a:ext cx="23969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CD0DE0C-1FFA-4284-97E3-254ACEDF0B33}"/>
              </a:ext>
            </a:extLst>
          </p:cNvPr>
          <p:cNvSpPr txBox="1"/>
          <p:nvPr/>
        </p:nvSpPr>
        <p:spPr>
          <a:xfrm>
            <a:off x="8721528" y="5116435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</a:t>
            </a:r>
            <a:r>
              <a:rPr lang="ru-RU" dirty="0"/>
              <a:t>байт</a:t>
            </a:r>
            <a:endParaRPr lang="en-US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7798E83-E343-561A-0C8D-3C64C0F027CF}"/>
              </a:ext>
            </a:extLst>
          </p:cNvPr>
          <p:cNvSpPr/>
          <p:nvPr/>
        </p:nvSpPr>
        <p:spPr>
          <a:xfrm>
            <a:off x="9122298" y="3851424"/>
            <a:ext cx="1198800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2350968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 dirty="0"/>
              <a:t>Адресация относительно </a:t>
            </a:r>
            <a:r>
              <a:rPr lang="en-US" dirty="0"/>
              <a:t>RBP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7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1DA1D-4A33-43AF-8A8B-0B6E71DECCCA}"/>
              </a:ext>
            </a:extLst>
          </p:cNvPr>
          <p:cNvSpPr txBox="1"/>
          <p:nvPr/>
        </p:nvSpPr>
        <p:spPr>
          <a:xfrm>
            <a:off x="1733704" y="3244284"/>
            <a:ext cx="26455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rbp+16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,[2*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dirty="0">
                <a:highlight>
                  <a:srgbClr val="80808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rbp+24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[</a:t>
            </a:r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rbp-16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DF5F97-3229-496D-BA38-BF572F081422}"/>
              </a:ext>
            </a:extLst>
          </p:cNvPr>
          <p:cNvSpPr txBox="1"/>
          <p:nvPr/>
        </p:nvSpPr>
        <p:spPr>
          <a:xfrm>
            <a:off x="1733704" y="2269503"/>
            <a:ext cx="2645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 2*</a:t>
            </a:r>
            <a:r>
              <a:rPr lang="en-US" dirty="0">
                <a:effectLst/>
                <a:highlight>
                  <a:srgbClr val="C0C0C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arg1</a:t>
            </a:r>
            <a:r>
              <a:rPr lang="en-US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</a:t>
            </a:r>
            <a:r>
              <a:rPr lang="en-US" dirty="0">
                <a:effectLst/>
                <a:highlight>
                  <a:srgbClr val="80808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arg2</a:t>
            </a:r>
            <a:endParaRPr lang="en-US" dirty="0">
              <a:highlight>
                <a:srgbClr val="808080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189EDBC2-B97C-E9D8-9C20-7BC7016C320D}"/>
              </a:ext>
            </a:extLst>
          </p:cNvPr>
          <p:cNvCxnSpPr>
            <a:cxnSpLocks/>
          </p:cNvCxnSpPr>
          <p:nvPr/>
        </p:nvCxnSpPr>
        <p:spPr>
          <a:xfrm>
            <a:off x="7029226" y="4206921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1BD5B31-4246-2C72-2688-D4311F00F1AC}"/>
              </a:ext>
            </a:extLst>
          </p:cNvPr>
          <p:cNvSpPr/>
          <p:nvPr/>
        </p:nvSpPr>
        <p:spPr>
          <a:xfrm>
            <a:off x="7924790" y="2403712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FF32E2-813A-F9F2-057F-0B6535A4BDA2}"/>
              </a:ext>
            </a:extLst>
          </p:cNvPr>
          <p:cNvSpPr/>
          <p:nvPr/>
        </p:nvSpPr>
        <p:spPr>
          <a:xfrm>
            <a:off x="7924790" y="3124515"/>
            <a:ext cx="2396971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C665FC5-D712-8BC5-5E56-8C0FA3B86B36}"/>
              </a:ext>
            </a:extLst>
          </p:cNvPr>
          <p:cNvSpPr/>
          <p:nvPr/>
        </p:nvSpPr>
        <p:spPr>
          <a:xfrm>
            <a:off x="7924790" y="3479812"/>
            <a:ext cx="2396971" cy="3684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606FE73-9372-DB0E-AB0F-FFD3C049AA7E}"/>
              </a:ext>
            </a:extLst>
          </p:cNvPr>
          <p:cNvSpPr/>
          <p:nvPr/>
        </p:nvSpPr>
        <p:spPr>
          <a:xfrm>
            <a:off x="7924756" y="3851424"/>
            <a:ext cx="1198800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1AE4AEAE-DC2A-FD99-5E14-FAD3CB096947}"/>
              </a:ext>
            </a:extLst>
          </p:cNvPr>
          <p:cNvCxnSpPr>
            <a:cxnSpLocks/>
          </p:cNvCxnSpPr>
          <p:nvPr/>
        </p:nvCxnSpPr>
        <p:spPr>
          <a:xfrm>
            <a:off x="7029226" y="3135579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7D442B4-7D0F-EACA-87FA-BE32616933F4}"/>
              </a:ext>
            </a:extLst>
          </p:cNvPr>
          <p:cNvSpPr/>
          <p:nvPr/>
        </p:nvSpPr>
        <p:spPr>
          <a:xfrm>
            <a:off x="7924790" y="2762043"/>
            <a:ext cx="2396971" cy="368419"/>
          </a:xfrm>
          <a:prstGeom prst="rect">
            <a:avLst/>
          </a:prstGeom>
          <a:solidFill>
            <a:srgbClr val="5B9BD5"/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RBP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8E1D24C-6CD7-32B4-DD12-CBD972E9F1A8}"/>
              </a:ext>
            </a:extLst>
          </p:cNvPr>
          <p:cNvSpPr/>
          <p:nvPr/>
        </p:nvSpPr>
        <p:spPr>
          <a:xfrm>
            <a:off x="7924774" y="1665426"/>
            <a:ext cx="2396971" cy="368419"/>
          </a:xfrm>
          <a:prstGeom prst="rect">
            <a:avLst/>
          </a:prstGeom>
          <a:solidFill>
            <a:srgbClr val="808080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Arg</a:t>
            </a:r>
            <a:r>
              <a:rPr lang="ru-RU" dirty="0"/>
              <a:t>2</a:t>
            </a:r>
            <a:endParaRPr lang="en-US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E77F4FB-3CF6-CFD9-CEA5-4F3B5BD7FB1E}"/>
              </a:ext>
            </a:extLst>
          </p:cNvPr>
          <p:cNvSpPr/>
          <p:nvPr/>
        </p:nvSpPr>
        <p:spPr>
          <a:xfrm>
            <a:off x="7924756" y="2031186"/>
            <a:ext cx="2396971" cy="368419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Arg</a:t>
            </a:r>
            <a:r>
              <a:rPr lang="ru-RU" dirty="0"/>
              <a:t>1</a:t>
            </a:r>
            <a:endParaRPr lang="en-US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E31AD93-E54C-3FA4-3BC0-1D3F1BB36D06}"/>
              </a:ext>
            </a:extLst>
          </p:cNvPr>
          <p:cNvSpPr/>
          <p:nvPr/>
        </p:nvSpPr>
        <p:spPr>
          <a:xfrm>
            <a:off x="7924800" y="1664054"/>
            <a:ext cx="2396971" cy="4431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494B76F9-A85B-F8C0-C362-078F21E242B8}"/>
              </a:ext>
            </a:extLst>
          </p:cNvPr>
          <p:cNvCxnSpPr/>
          <p:nvPr/>
        </p:nvCxnSpPr>
        <p:spPr>
          <a:xfrm>
            <a:off x="7924756" y="5432612"/>
            <a:ext cx="23969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164EB25-1219-C09D-A785-83383FC9E663}"/>
              </a:ext>
            </a:extLst>
          </p:cNvPr>
          <p:cNvSpPr txBox="1"/>
          <p:nvPr/>
        </p:nvSpPr>
        <p:spPr>
          <a:xfrm>
            <a:off x="8721528" y="5116435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</a:t>
            </a:r>
            <a:r>
              <a:rPr lang="ru-RU" dirty="0"/>
              <a:t>байт</a:t>
            </a:r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2F79235-D15A-9A48-4D75-067EB2CB1BF6}"/>
              </a:ext>
            </a:extLst>
          </p:cNvPr>
          <p:cNvSpPr/>
          <p:nvPr/>
        </p:nvSpPr>
        <p:spPr>
          <a:xfrm>
            <a:off x="9122298" y="3851424"/>
            <a:ext cx="1198800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E03DC9-6D0D-0724-5F9C-A7246C200253}"/>
              </a:ext>
            </a:extLst>
          </p:cNvPr>
          <p:cNvSpPr txBox="1"/>
          <p:nvPr/>
        </p:nvSpPr>
        <p:spPr>
          <a:xfrm>
            <a:off x="6928521" y="3851424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39217B-B7A6-5D10-FBD5-6944A96FB5F6}"/>
              </a:ext>
            </a:extLst>
          </p:cNvPr>
          <p:cNvSpPr txBox="1"/>
          <p:nvPr/>
        </p:nvSpPr>
        <p:spPr>
          <a:xfrm>
            <a:off x="6928521" y="2797131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RBP</a:t>
            </a:r>
          </a:p>
        </p:txBody>
      </p:sp>
    </p:spTree>
    <p:extLst>
      <p:ext uri="{BB962C8B-B14F-4D97-AF65-F5344CB8AC3E}">
        <p14:creationId xmlns:p14="http://schemas.microsoft.com/office/powerpoint/2010/main" val="267220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 dirty="0"/>
              <a:t>Пролог и эпилог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386951"/>
            <a:ext cx="10934701" cy="4609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Кадр стека  создается перед выполнением тела функции и уничтожается после его завершения.</a:t>
            </a:r>
          </a:p>
          <a:p>
            <a:pPr marL="0" indent="0">
              <a:buNone/>
            </a:pPr>
            <a:r>
              <a:rPr lang="ru-RU" sz="2000" dirty="0"/>
              <a:t>Часть функции, в которой происходит инициализация кадра стека, называется </a:t>
            </a:r>
            <a:r>
              <a:rPr lang="ru-RU" sz="2000" b="1" dirty="0"/>
              <a:t>прологом</a:t>
            </a:r>
            <a:r>
              <a:rPr lang="ru-RU" sz="2000" dirty="0"/>
              <a:t>. В прологе происходит сохранение регистра </a:t>
            </a:r>
            <a:r>
              <a:rPr lang="en-US" sz="2000" dirty="0"/>
              <a:t>RBP </a:t>
            </a:r>
            <a:r>
              <a:rPr lang="ru-RU" sz="2000" dirty="0"/>
              <a:t>на стек, установка нового значения </a:t>
            </a:r>
            <a:r>
              <a:rPr lang="en-US" sz="2000" dirty="0"/>
              <a:t>RBP</a:t>
            </a:r>
            <a:r>
              <a:rPr lang="ru-RU" sz="2000" dirty="0"/>
              <a:t>, сохранение значений других регистров (если необходимо) и выделение места под локальные переменные.</a:t>
            </a:r>
          </a:p>
          <a:p>
            <a:pPr marL="0" indent="0">
              <a:buNone/>
            </a:pPr>
            <a:r>
              <a:rPr lang="ru-RU" sz="2000" dirty="0"/>
              <a:t>Часть, в которой происходит уничтожение кадра стека, называется </a:t>
            </a:r>
            <a:r>
              <a:rPr lang="ru-RU" sz="2000" b="1" dirty="0"/>
              <a:t>эпилогом</a:t>
            </a:r>
            <a:r>
              <a:rPr lang="ru-RU" sz="2000" dirty="0"/>
              <a:t>. В эпилоге происходит освобождение места, занятого локальными переменными, восстановление значений сохраненных регистров (если таковые  были) и выход из функции.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2304769" y="3568641"/>
            <a:ext cx="53768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a:</a:t>
            </a:r>
          </a:p>
          <a:p>
            <a:r>
              <a:rPr lang="ru-RU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Пролог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24 ;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Локальные переменные</a:t>
            </a: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  <a:endParaRPr lang="ru-RU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[rbp-8]</a:t>
            </a:r>
            <a:endParaRPr lang="ru-RU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Эпилог</a:t>
            </a:r>
            <a:endParaRPr lang="en-US" dirty="0">
              <a:effectLst/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pop </a:t>
            </a:r>
            <a:r>
              <a:rPr lang="en-US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r>
              <a:rPr lang="en-US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b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1BCD7-AD8E-9C0C-089F-009116BB3BB0}"/>
              </a:ext>
            </a:extLst>
          </p:cNvPr>
          <p:cNvSpPr txBox="1"/>
          <p:nvPr/>
        </p:nvSpPr>
        <p:spPr>
          <a:xfrm>
            <a:off x="7461356" y="5238244"/>
            <a:ext cx="3366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[rbp-8]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b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AE64201C-B24E-35F7-C2FF-48759651FD33}"/>
              </a:ext>
            </a:extLst>
          </p:cNvPr>
          <p:cNvCxnSpPr/>
          <p:nvPr/>
        </p:nvCxnSpPr>
        <p:spPr>
          <a:xfrm>
            <a:off x="5451021" y="5655377"/>
            <a:ext cx="19812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B99222E-B01A-3927-AEA4-37E9ED036F63}"/>
              </a:ext>
            </a:extLst>
          </p:cNvPr>
          <p:cNvSpPr txBox="1"/>
          <p:nvPr/>
        </p:nvSpPr>
        <p:spPr>
          <a:xfrm>
            <a:off x="838198" y="6519491"/>
            <a:ext cx="945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Примечание: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cs typeface="Courier New" panose="02070309020205020404" pitchFamily="49" charset="0"/>
              </a:rPr>
              <a:t>позволяет не выполнять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7247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E2C87-C7B4-F019-2489-6AD9278A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Примечания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273B2-AABF-3587-C4FA-F1D179DAE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32" y="1440614"/>
            <a:ext cx="5816982" cy="5417386"/>
          </a:xfrm>
        </p:spPr>
        <p:txBody>
          <a:bodyPr>
            <a:normAutofit/>
          </a:bodyPr>
          <a:lstStyle/>
          <a:p>
            <a:r>
              <a:rPr lang="ru-RU" sz="2000" dirty="0"/>
              <a:t>Если функция не работает со стеком, то устанавливать указатель кадра необязательно.</a:t>
            </a:r>
            <a:r>
              <a:rPr lang="en-US" sz="2000" dirty="0"/>
              <a:t> </a:t>
            </a:r>
            <a:r>
              <a:rPr lang="ru-RU" sz="2000" dirty="0"/>
              <a:t>В этом случае </a:t>
            </a:r>
            <a:r>
              <a:rPr lang="en-US" sz="2000" dirty="0"/>
              <a:t>RBP </a:t>
            </a:r>
            <a:r>
              <a:rPr lang="ru-RU" sz="2000" dirty="0"/>
              <a:t>можно рассматривать, как регистр общего назначения.</a:t>
            </a:r>
          </a:p>
          <a:p>
            <a:r>
              <a:rPr lang="ru-RU" sz="2000" dirty="0"/>
              <a:t>Если кадр стека функции фиксирован (не происходит изменения </a:t>
            </a:r>
            <a:r>
              <a:rPr lang="en-US" sz="2000" dirty="0"/>
              <a:t>RSP </a:t>
            </a:r>
            <a:r>
              <a:rPr lang="ru-RU" sz="2000" dirty="0"/>
              <a:t>в середине функции), то устанавливать указатель кадра необязательно.</a:t>
            </a:r>
          </a:p>
          <a:p>
            <a:r>
              <a:rPr lang="ru-RU" sz="2000" dirty="0"/>
              <a:t>Если функции нужно сохранить значения регистров (почему – см. далее), то сохраненные значения могут располагаться как выше, так и ниже копии </a:t>
            </a:r>
            <a:r>
              <a:rPr lang="en-US" sz="2000" dirty="0"/>
              <a:t>RBP</a:t>
            </a:r>
            <a:r>
              <a:rPr lang="ru-RU" sz="2000" dirty="0"/>
              <a:t>.</a:t>
            </a:r>
          </a:p>
          <a:p>
            <a:r>
              <a:rPr lang="ru-RU" sz="2000" i="1" dirty="0"/>
              <a:t>Сохранение регистров ниже копии </a:t>
            </a:r>
            <a:r>
              <a:rPr lang="en-US" sz="2000" i="1" dirty="0"/>
              <a:t>RBP </a:t>
            </a:r>
            <a:r>
              <a:rPr lang="ru-RU" sz="2000" i="1" dirty="0"/>
              <a:t>является более предпочтительным вариантом. </a:t>
            </a:r>
            <a:r>
              <a:rPr lang="ru-RU" sz="2000" dirty="0"/>
              <a:t>В частности, отладчики и анализаторы кода предпочитают, чтобы адрес возврата и сохраненный </a:t>
            </a:r>
            <a:r>
              <a:rPr lang="en-US" sz="2000" dirty="0"/>
              <a:t>RBP </a:t>
            </a:r>
            <a:r>
              <a:rPr lang="ru-RU" sz="2000" dirty="0"/>
              <a:t>находились рядом.</a:t>
            </a:r>
            <a:endParaRPr lang="en-US" sz="2000" dirty="0"/>
          </a:p>
          <a:p>
            <a:endParaRPr lang="ru-RU" sz="2000" dirty="0"/>
          </a:p>
          <a:p>
            <a:endParaRPr lang="en-US" sz="2000" dirty="0"/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31EB57-3C6B-C146-1C0E-162F0841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24F5E-7AC5-8474-A5C6-B11F9B5F63AF}"/>
              </a:ext>
            </a:extLst>
          </p:cNvPr>
          <p:cNvSpPr txBox="1"/>
          <p:nvPr/>
        </p:nvSpPr>
        <p:spPr>
          <a:xfrm>
            <a:off x="6759361" y="658260"/>
            <a:ext cx="211468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r11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LSIZE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r11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3882D-DAFE-4468-5420-645429AB7452}"/>
              </a:ext>
            </a:extLst>
          </p:cNvPr>
          <p:cNvSpPr txBox="1"/>
          <p:nvPr/>
        </p:nvSpPr>
        <p:spPr>
          <a:xfrm>
            <a:off x="9274052" y="658260"/>
            <a:ext cx="252825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LSIZE+16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[rbp-16],r11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[rbp-8],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[rbp-8]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r11, [rbp-16]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84EF0A-A706-281A-3958-FD255A6B5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74142"/>
              </p:ext>
            </p:extLst>
          </p:nvPr>
        </p:nvGraphicFramePr>
        <p:xfrm>
          <a:off x="6759361" y="4345540"/>
          <a:ext cx="183896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8964">
                  <a:extLst>
                    <a:ext uri="{9D8B030D-6E8A-4147-A177-3AD203B41FA5}">
                      <a16:colId xmlns:a16="http://schemas.microsoft.com/office/drawing/2014/main" val="134707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return address</a:t>
                      </a:r>
                      <a:endParaRPr lang="ru-RU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2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rbx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277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r11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817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rbp</a:t>
                      </a:r>
                      <a:endParaRPr lang="ru-RU" dirty="0"/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437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&lt;locals&gt;</a:t>
                      </a:r>
                      <a:endParaRPr lang="ru-RU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153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3AC578-8788-6609-D2BF-9FCCA7433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986494"/>
              </p:ext>
            </p:extLst>
          </p:nvPr>
        </p:nvGraphicFramePr>
        <p:xfrm>
          <a:off x="9274051" y="4345540"/>
          <a:ext cx="183896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8964">
                  <a:extLst>
                    <a:ext uri="{9D8B030D-6E8A-4147-A177-3AD203B41FA5}">
                      <a16:colId xmlns:a16="http://schemas.microsoft.com/office/drawing/2014/main" val="134707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return address</a:t>
                      </a:r>
                      <a:endParaRPr lang="ru-RU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2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rbp</a:t>
                      </a:r>
                      <a:endParaRPr lang="ru-RU" dirty="0"/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277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rbx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817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r11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437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&lt;locals&gt;</a:t>
                      </a:r>
                      <a:endParaRPr lang="ru-RU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15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05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параметров и возврат результата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0456" cy="11600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Передача параметров в функцию может производиться разными способами.</a:t>
            </a:r>
          </a:p>
          <a:p>
            <a:pPr marL="0" indent="0">
              <a:buNone/>
            </a:pPr>
            <a:r>
              <a:rPr lang="ru-RU" sz="2000" dirty="0"/>
              <a:t>Передача параметров и возврат результата могут производиться как в регистрах, так и на стеке.</a:t>
            </a:r>
          </a:p>
          <a:p>
            <a:pPr marL="0" indent="0">
              <a:buNone/>
            </a:pPr>
            <a:r>
              <a:rPr lang="ru-RU" sz="2000" i="1" dirty="0"/>
              <a:t>Сам по себе язык ассемблера не ограничивает программиста в выборе способа передачи.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B321A-D894-407B-8B0E-79CB86E2B92A}"/>
              </a:ext>
            </a:extLst>
          </p:cNvPr>
          <p:cNvSpPr txBox="1"/>
          <p:nvPr/>
        </p:nvSpPr>
        <p:spPr>
          <a:xfrm>
            <a:off x="1612852" y="3120592"/>
            <a:ext cx="271741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 a(int b, int c)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b+c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int x = a(12, 14)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99D2B-2AA1-4A1F-BF27-2B3F1ABF3763}"/>
              </a:ext>
            </a:extLst>
          </p:cNvPr>
          <p:cNvSpPr txBox="1"/>
          <p:nvPr/>
        </p:nvSpPr>
        <p:spPr>
          <a:xfrm>
            <a:off x="6160256" y="3120592"/>
            <a:ext cx="382194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[esp+8]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[esp+12]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mov [esp+4], 14 ; </a:t>
            </a:r>
            <a:r>
              <a:rPr lang="en-US" dirty="0" err="1">
                <a:cs typeface="Courier New" panose="02070309020205020404" pitchFamily="49" charset="0"/>
              </a:rPr>
              <a:t>arg</a:t>
            </a:r>
            <a:r>
              <a:rPr lang="en-US" dirty="0">
                <a:cs typeface="Courier New" panose="02070309020205020404" pitchFamily="49" charset="0"/>
              </a:rPr>
              <a:t> 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mov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12   ; </a:t>
            </a:r>
            <a:r>
              <a:rPr lang="en-US" dirty="0" err="1">
                <a:cs typeface="Courier New" panose="02070309020205020404" pitchFamily="49" charset="0"/>
              </a:rPr>
              <a:t>arg</a:t>
            </a:r>
            <a:r>
              <a:rPr lang="en-US" dirty="0">
                <a:cs typeface="Courier New" panose="02070309020205020404" pitchFamily="49" charset="0"/>
              </a:rPr>
              <a:t> 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call a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</a:t>
            </a:r>
          </a:p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728512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Соглашения о вызовах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80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Соглашение о вызовах</a:t>
            </a:r>
            <a:r>
              <a:rPr lang="ru-RU" sz="2000" dirty="0"/>
              <a:t> (</a:t>
            </a:r>
            <a:r>
              <a:rPr lang="en-US" sz="2000" dirty="0"/>
              <a:t>calling convention</a:t>
            </a:r>
            <a:r>
              <a:rPr lang="ru-RU" sz="2000" dirty="0"/>
              <a:t>)</a:t>
            </a:r>
            <a:r>
              <a:rPr lang="en-US" sz="2000" dirty="0"/>
              <a:t> – </a:t>
            </a:r>
            <a:r>
              <a:rPr lang="ru-RU" sz="2000" dirty="0"/>
              <a:t>набор правил, регламентирующих вызов подпрограммы.</a:t>
            </a:r>
          </a:p>
          <a:p>
            <a:pPr marL="0" indent="0">
              <a:buNone/>
            </a:pPr>
            <a:r>
              <a:rPr lang="ru-RU" sz="2000" dirty="0"/>
              <a:t>Соглашение о вызовах определяет правила передачи аргументов и возврата результата из подпрограммы, а также состояние регистров и стека до и после вызова.</a:t>
            </a:r>
          </a:p>
          <a:p>
            <a:pPr marL="0" indent="0">
              <a:buNone/>
            </a:pPr>
            <a:r>
              <a:rPr lang="ru-RU" sz="2000" dirty="0"/>
              <a:t>Соглашения о вызовах являются частью более широкого набора правил, называемого </a:t>
            </a:r>
            <a:r>
              <a:rPr lang="en-US" sz="2000" b="1" dirty="0"/>
              <a:t>ABI</a:t>
            </a:r>
            <a:r>
              <a:rPr lang="en-US" sz="2000" dirty="0"/>
              <a:t> (Application Binary Interface)</a:t>
            </a:r>
            <a:r>
              <a:rPr lang="ru-RU" sz="2000" dirty="0"/>
              <a:t>, который в настоящее время устанавливается ОС. ABI регламентирует форматы исполняемых файлов, вызовы функций, правила взаимодействия с ОС  и пр.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Т.к. в настоящее время на настольных ПК в основном используются 2 архитектуры набора команд (х86-32 и х86-64) и 2 семейства ОС (</a:t>
            </a:r>
            <a:r>
              <a:rPr lang="en-US" sz="2000" dirty="0"/>
              <a:t>Windows </a:t>
            </a:r>
            <a:r>
              <a:rPr lang="ru-RU" sz="2000" dirty="0"/>
              <a:t>и </a:t>
            </a:r>
            <a:r>
              <a:rPr lang="en-US" sz="2000" dirty="0"/>
              <a:t>UNIX</a:t>
            </a:r>
            <a:r>
              <a:rPr lang="ru-RU" sz="2000" dirty="0"/>
              <a:t>-подобные), возникает 4 возможных комбинации соглашений.</a:t>
            </a: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E3279-C7B2-7A0D-BF90-5F2197C3E90F}"/>
              </a:ext>
            </a:extLst>
          </p:cNvPr>
          <p:cNvSpPr txBox="1"/>
          <p:nvPr/>
        </p:nvSpPr>
        <p:spPr>
          <a:xfrm>
            <a:off x="1198418" y="6082145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hlinkClick r:id="rId2"/>
              </a:rPr>
              <a:t>Подробнее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167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и вызов функции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74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Относительно состояния после вызова функции регистры делятся на изменяемые и неизменяемые.</a:t>
            </a:r>
          </a:p>
          <a:p>
            <a:pPr marL="0" indent="0">
              <a:buNone/>
            </a:pPr>
            <a:r>
              <a:rPr lang="ru-RU" sz="2000" b="1" dirty="0"/>
              <a:t>Изменяемые регистры</a:t>
            </a:r>
            <a:r>
              <a:rPr lang="en-US" sz="2000" b="1" dirty="0"/>
              <a:t> </a:t>
            </a:r>
            <a:r>
              <a:rPr lang="ru-RU" sz="2000" dirty="0"/>
              <a:t>(</a:t>
            </a:r>
            <a:r>
              <a:rPr lang="en-US" sz="2000" dirty="0"/>
              <a:t>volatile, caller-saved</a:t>
            </a:r>
            <a:r>
              <a:rPr lang="ru-RU" sz="2000" dirty="0"/>
              <a:t>) могут свободно изменяться </a:t>
            </a:r>
            <a:r>
              <a:rPr lang="ru-RU" sz="2000" i="1" dirty="0"/>
              <a:t>вызываемой</a:t>
            </a:r>
            <a:r>
              <a:rPr lang="ru-RU" sz="2000" dirty="0"/>
              <a:t> функцией. Значения изменяемых регистров до и после функции может отличаться, поэтому </a:t>
            </a:r>
            <a:r>
              <a:rPr lang="ru-RU" sz="2000" i="1" dirty="0"/>
              <a:t>вызывающая</a:t>
            </a:r>
            <a:r>
              <a:rPr lang="ru-RU" sz="2000" dirty="0"/>
              <a:t> должна сохранить значения  этих регистрах до вызова функции (если эти значения важны). </a:t>
            </a:r>
          </a:p>
          <a:p>
            <a:pPr marL="0" indent="0">
              <a:buNone/>
            </a:pPr>
            <a:r>
              <a:rPr lang="ru-RU" sz="2000" b="1" dirty="0"/>
              <a:t>Неизменяемые</a:t>
            </a:r>
            <a:r>
              <a:rPr lang="en-US" sz="2000" dirty="0"/>
              <a:t> </a:t>
            </a:r>
            <a:r>
              <a:rPr lang="ru-RU" sz="2000" b="1" dirty="0"/>
              <a:t>регистры </a:t>
            </a:r>
            <a:r>
              <a:rPr lang="ru-RU" sz="2000" dirty="0"/>
              <a:t>(</a:t>
            </a:r>
            <a:r>
              <a:rPr lang="en-US" sz="2000" dirty="0"/>
              <a:t>nonvolatile, </a:t>
            </a:r>
            <a:r>
              <a:rPr lang="en-US" sz="2000" dirty="0" err="1"/>
              <a:t>callee</a:t>
            </a:r>
            <a:r>
              <a:rPr lang="en-US" sz="2000" dirty="0"/>
              <a:t>-saved</a:t>
            </a:r>
            <a:r>
              <a:rPr lang="ru-RU" sz="2000" dirty="0"/>
              <a:t>) должны иметь одинаковое значение до и после вызова функции. Если вызываемая функция собирается изменить значение неизменяемого регистра, она должна сохранять его значение в прологе и восстановить его в эпилоге.</a:t>
            </a:r>
          </a:p>
          <a:p>
            <a:pPr marL="0" indent="0">
              <a:buNone/>
            </a:pPr>
            <a:r>
              <a:rPr lang="ru-RU" sz="2000" i="1" dirty="0"/>
              <a:t>Арифметические флаги регистра </a:t>
            </a:r>
            <a:r>
              <a:rPr lang="en-US" sz="2000" i="1" dirty="0"/>
              <a:t>FLAGS – </a:t>
            </a:r>
            <a:r>
              <a:rPr lang="ru-RU" sz="2000" i="1" dirty="0"/>
              <a:t>всегда изменяемые.</a:t>
            </a:r>
            <a:endParaRPr lang="en-US" sz="2000" i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02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Соглашение </a:t>
            </a:r>
            <a:r>
              <a:rPr lang="en-US" dirty="0" err="1"/>
              <a:t>cdecl</a:t>
            </a:r>
            <a:r>
              <a:rPr lang="en-US" dirty="0"/>
              <a:t> </a:t>
            </a:r>
            <a:r>
              <a:rPr lang="en-US" sz="2400" dirty="0"/>
              <a:t>(x86)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278"/>
            <a:ext cx="10515600" cy="5212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Соглашение </a:t>
            </a:r>
            <a:r>
              <a:rPr lang="en-US" sz="2000" b="1" dirty="0" err="1"/>
              <a:t>cdecl</a:t>
            </a:r>
            <a:r>
              <a:rPr lang="en-US" sz="2000" dirty="0"/>
              <a:t> </a:t>
            </a:r>
            <a:r>
              <a:rPr lang="ru-RU" sz="2000" dirty="0"/>
              <a:t>является стандартным при сборке программ для </a:t>
            </a:r>
            <a:r>
              <a:rPr lang="en-US" sz="2000" dirty="0"/>
              <a:t>x86</a:t>
            </a:r>
            <a:r>
              <a:rPr lang="ru-RU" sz="2000" dirty="0"/>
              <a:t>-32.</a:t>
            </a:r>
          </a:p>
          <a:p>
            <a:r>
              <a:rPr lang="ru-RU" sz="2000" dirty="0"/>
              <a:t>Вершина стека выравнивается по 4 байтам.</a:t>
            </a:r>
            <a:r>
              <a:rPr lang="en-US" sz="2000" dirty="0"/>
              <a:t> </a:t>
            </a:r>
            <a:r>
              <a:rPr lang="ru-RU" sz="2000" dirty="0"/>
              <a:t>Если размер аргумента</a:t>
            </a:r>
            <a:r>
              <a:rPr lang="en-US" sz="2000" dirty="0"/>
              <a:t> </a:t>
            </a:r>
            <a:r>
              <a:rPr lang="ru-RU" sz="2000" dirty="0"/>
              <a:t>или переменной не кратен 4, на стеке под него выделяется место, кратное 4 (лишние байты при этом не используются).</a:t>
            </a:r>
            <a:r>
              <a:rPr lang="en-US" sz="2000" dirty="0"/>
              <a:t> </a:t>
            </a:r>
            <a:endParaRPr lang="ru-RU" sz="2000" dirty="0"/>
          </a:p>
          <a:p>
            <a:r>
              <a:rPr lang="ru-RU" sz="2000" dirty="0"/>
              <a:t>Аргументы передаются </a:t>
            </a:r>
            <a:r>
              <a:rPr lang="ru-RU" sz="2000" b="1" dirty="0"/>
              <a:t>на стеке в обратном порядке</a:t>
            </a:r>
            <a:r>
              <a:rPr lang="ru-RU" sz="2000" dirty="0"/>
              <a:t>. </a:t>
            </a:r>
          </a:p>
          <a:p>
            <a:r>
              <a:rPr lang="ru-RU" sz="2000" dirty="0"/>
              <a:t>После завершения вызова аргументы из стека убирает </a:t>
            </a:r>
            <a:r>
              <a:rPr lang="ru-RU" sz="2000" b="1" dirty="0"/>
              <a:t>вызывающая</a:t>
            </a:r>
            <a:r>
              <a:rPr lang="ru-RU" sz="2000" dirty="0"/>
              <a:t> функция.</a:t>
            </a:r>
          </a:p>
          <a:p>
            <a:r>
              <a:rPr lang="ru-RU" sz="2000" dirty="0"/>
              <a:t>Изменяемые регистры: </a:t>
            </a:r>
            <a:r>
              <a:rPr lang="en-US" sz="2000" dirty="0"/>
              <a:t>EAX, ECX, EDX, XMM0-7</a:t>
            </a:r>
            <a:r>
              <a:rPr lang="ru-RU" sz="2000" dirty="0"/>
              <a:t>. Остальные регистры – неизменяемые.</a:t>
            </a:r>
          </a:p>
          <a:p>
            <a:r>
              <a:rPr lang="ru-RU" sz="2000" dirty="0"/>
              <a:t>Стек х87 должен быть пуст в момент входа в функцию, в момент выхода должен содержать только возвращаемое значение, если оно есть.</a:t>
            </a:r>
            <a:endParaRPr lang="en-US" sz="2000" dirty="0"/>
          </a:p>
          <a:p>
            <a:r>
              <a:rPr lang="ru-RU" sz="2000" dirty="0"/>
              <a:t>Целочисленный результат возвращается в</a:t>
            </a:r>
            <a:r>
              <a:rPr lang="en-US" sz="2000" dirty="0"/>
              <a:t> </a:t>
            </a:r>
            <a:r>
              <a:rPr lang="ru-RU" sz="2000" dirty="0"/>
              <a:t>регистре </a:t>
            </a:r>
            <a:r>
              <a:rPr lang="en-US" sz="2000" dirty="0"/>
              <a:t>EAX</a:t>
            </a:r>
            <a:r>
              <a:rPr lang="ru-RU" sz="2000" dirty="0"/>
              <a:t> или паре регистров </a:t>
            </a:r>
            <a:r>
              <a:rPr lang="en-US" sz="2000" dirty="0"/>
              <a:t>EDX:EAX</a:t>
            </a:r>
            <a:r>
              <a:rPr lang="ru-RU" sz="2000" dirty="0"/>
              <a:t>, вещественный – в </a:t>
            </a:r>
            <a:r>
              <a:rPr lang="en-US" sz="2000" dirty="0"/>
              <a:t>ST0</a:t>
            </a:r>
            <a:r>
              <a:rPr lang="ru-RU" sz="2000" dirty="0"/>
              <a:t>.</a:t>
            </a:r>
          </a:p>
          <a:p>
            <a:r>
              <a:rPr lang="ru-RU" sz="2000" i="1" dirty="0"/>
              <a:t>При сборке под </a:t>
            </a:r>
            <a:r>
              <a:rPr lang="en-US" sz="2000" i="1" dirty="0"/>
              <a:t>Windows: </a:t>
            </a:r>
            <a:r>
              <a:rPr lang="ru-RU" sz="2000" dirty="0"/>
              <a:t>к имени функции добавляется префикс _.</a:t>
            </a:r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112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26BC5-320B-43FE-ADF2-267ED3001A19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C4ACFD6-C558-4723-8C1F-C90A5FFDE992}"/>
              </a:ext>
            </a:extLst>
          </p:cNvPr>
          <p:cNvCxnSpPr>
            <a:cxnSpLocks/>
          </p:cNvCxnSpPr>
          <p:nvPr/>
        </p:nvCxnSpPr>
        <p:spPr>
          <a:xfrm>
            <a:off x="8187893" y="2190338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3B5C48-05A4-4E09-8870-6DD16D7E24D4}"/>
              </a:ext>
            </a:extLst>
          </p:cNvPr>
          <p:cNvSpPr txBox="1"/>
          <p:nvPr/>
        </p:nvSpPr>
        <p:spPr>
          <a:xfrm>
            <a:off x="8121111" y="1795060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2D6ED-0C2C-40DD-8303-246777945EDA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E8953-B40C-4CEF-9B1B-40B098337941}"/>
              </a:ext>
            </a:extLst>
          </p:cNvPr>
          <p:cNvSpPr txBox="1"/>
          <p:nvPr/>
        </p:nvSpPr>
        <p:spPr>
          <a:xfrm>
            <a:off x="9753601" y="5176947"/>
            <a:ext cx="755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D57C54-49E6-4361-BFE6-2D8CA1244D10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3F1DA-2581-B456-107A-C3B0326FA379}"/>
              </a:ext>
            </a:extLst>
          </p:cNvPr>
          <p:cNvSpPr txBox="1"/>
          <p:nvPr/>
        </p:nvSpPr>
        <p:spPr>
          <a:xfrm>
            <a:off x="2531717" y="2136338"/>
            <a:ext cx="373050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</a:rPr>
              <a:t>(int a, int b, int c)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a*</a:t>
            </a:r>
            <a:r>
              <a:rPr lang="en-US" dirty="0" err="1">
                <a:latin typeface="Consolas" panose="020B0609020204030204" pitchFamily="49" charset="0"/>
              </a:rPr>
              <a:t>b+c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f()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int x = 16;</a:t>
            </a:r>
          </a:p>
          <a:p>
            <a:r>
              <a:rPr lang="en-US" dirty="0">
                <a:latin typeface="Consolas" panose="020B0609020204030204" pitchFamily="49" charset="0"/>
              </a:rPr>
              <a:t>   int z = </a:t>
            </a:r>
            <a:r>
              <a:rPr lang="en-US" dirty="0" err="1">
                <a:latin typeface="Consolas" panose="020B06090202040302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</a:rPr>
              <a:t>(x, 4, 1);</a:t>
            </a:r>
          </a:p>
          <a:p>
            <a:r>
              <a:rPr lang="en-US" dirty="0">
                <a:latin typeface="Consolas" panose="020B0609020204030204" pitchFamily="49" charset="0"/>
              </a:rPr>
              <a:t>   /*…*/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6800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26BC5-320B-43FE-ADF2-267ED3001A19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C4ACFD6-C558-4723-8C1F-C90A5FFDE992}"/>
              </a:ext>
            </a:extLst>
          </p:cNvPr>
          <p:cNvCxnSpPr>
            <a:cxnSpLocks/>
          </p:cNvCxnSpPr>
          <p:nvPr/>
        </p:nvCxnSpPr>
        <p:spPr>
          <a:xfrm>
            <a:off x="8187893" y="2190338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3B5C48-05A4-4E09-8870-6DD16D7E24D4}"/>
              </a:ext>
            </a:extLst>
          </p:cNvPr>
          <p:cNvSpPr txBox="1"/>
          <p:nvPr/>
        </p:nvSpPr>
        <p:spPr>
          <a:xfrm>
            <a:off x="8121111" y="1795060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2D6ED-0C2C-40DD-8303-246777945EDA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E8953-B40C-4CEF-9B1B-40B098337941}"/>
              </a:ext>
            </a:extLst>
          </p:cNvPr>
          <p:cNvSpPr txBox="1"/>
          <p:nvPr/>
        </p:nvSpPr>
        <p:spPr>
          <a:xfrm>
            <a:off x="9753601" y="5176947"/>
            <a:ext cx="755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3453869" y="1992579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3813309" y="1625704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D57C54-49E6-4361-BFE6-2D8CA1244D10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DDBD1B62-9B09-EB8F-CA51-29D696D0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38647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26BC5-320B-43FE-ADF2-267ED3001A19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C4ACFD6-C558-4723-8C1F-C90A5FFDE992}"/>
              </a:ext>
            </a:extLst>
          </p:cNvPr>
          <p:cNvCxnSpPr>
            <a:cxnSpLocks/>
          </p:cNvCxnSpPr>
          <p:nvPr/>
        </p:nvCxnSpPr>
        <p:spPr>
          <a:xfrm>
            <a:off x="8220182" y="2568945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3B5C48-05A4-4E09-8870-6DD16D7E24D4}"/>
              </a:ext>
            </a:extLst>
          </p:cNvPr>
          <p:cNvSpPr txBox="1"/>
          <p:nvPr/>
        </p:nvSpPr>
        <p:spPr>
          <a:xfrm>
            <a:off x="8153400" y="2173667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2D6ED-0C2C-40DD-8303-246777945EDA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E8953-B40C-4CEF-9B1B-40B098337941}"/>
              </a:ext>
            </a:extLst>
          </p:cNvPr>
          <p:cNvSpPr txBox="1"/>
          <p:nvPr/>
        </p:nvSpPr>
        <p:spPr>
          <a:xfrm>
            <a:off x="9753601" y="5176947"/>
            <a:ext cx="755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3158033" y="2286036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3517473" y="1919161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D57C54-49E6-4361-BFE6-2D8CA1244D10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BEC471-0E83-46E4-BDAC-E2E30AD45083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9A93667-5133-1B34-A8BF-0FCB7C90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95969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26BC5-320B-43FE-ADF2-267ED3001A19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C4ACFD6-C558-4723-8C1F-C90A5FFDE992}"/>
              </a:ext>
            </a:extLst>
          </p:cNvPr>
          <p:cNvCxnSpPr>
            <a:cxnSpLocks/>
          </p:cNvCxnSpPr>
          <p:nvPr/>
        </p:nvCxnSpPr>
        <p:spPr>
          <a:xfrm>
            <a:off x="8220182" y="2568945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3B5C48-05A4-4E09-8870-6DD16D7E24D4}"/>
              </a:ext>
            </a:extLst>
          </p:cNvPr>
          <p:cNvSpPr txBox="1"/>
          <p:nvPr/>
        </p:nvSpPr>
        <p:spPr>
          <a:xfrm>
            <a:off x="8153400" y="2173667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2D6ED-0C2C-40DD-8303-246777945EDA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E8953-B40C-4CEF-9B1B-40B098337941}"/>
              </a:ext>
            </a:extLst>
          </p:cNvPr>
          <p:cNvSpPr txBox="1"/>
          <p:nvPr/>
        </p:nvSpPr>
        <p:spPr>
          <a:xfrm>
            <a:off x="9753601" y="5176947"/>
            <a:ext cx="755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3131139" y="2540542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3490579" y="2173667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D57C54-49E6-4361-BFE6-2D8CA1244D10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BEC471-0E83-46E4-BDAC-E2E30AD45083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374EDD5-1062-4CEE-97F3-02CD2201A451}"/>
              </a:ext>
            </a:extLst>
          </p:cNvPr>
          <p:cNvCxnSpPr>
            <a:cxnSpLocks/>
          </p:cNvCxnSpPr>
          <p:nvPr/>
        </p:nvCxnSpPr>
        <p:spPr>
          <a:xfrm>
            <a:off x="7485076" y="2568945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286FD70-2566-4696-85B0-A5B6BE4BA2AD}"/>
              </a:ext>
            </a:extLst>
          </p:cNvPr>
          <p:cNvSpPr txBox="1"/>
          <p:nvPr/>
        </p:nvSpPr>
        <p:spPr>
          <a:xfrm>
            <a:off x="7418294" y="2173667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6FF3B1E-7C23-A6A9-2143-C378F619B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138"/>
            <a:ext cx="10515600" cy="1325562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58903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26BC5-320B-43FE-ADF2-267ED3001A19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C4ACFD6-C558-4723-8C1F-C90A5FFDE992}"/>
              </a:ext>
            </a:extLst>
          </p:cNvPr>
          <p:cNvCxnSpPr>
            <a:cxnSpLocks/>
          </p:cNvCxnSpPr>
          <p:nvPr/>
        </p:nvCxnSpPr>
        <p:spPr>
          <a:xfrm>
            <a:off x="8220182" y="4416404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3B5C48-05A4-4E09-8870-6DD16D7E24D4}"/>
              </a:ext>
            </a:extLst>
          </p:cNvPr>
          <p:cNvSpPr txBox="1"/>
          <p:nvPr/>
        </p:nvSpPr>
        <p:spPr>
          <a:xfrm>
            <a:off x="8153400" y="4021126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2D6ED-0C2C-40DD-8303-246777945EDA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E8953-B40C-4CEF-9B1B-40B098337941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5070020" y="2822930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5429460" y="2456055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D57C54-49E6-4361-BFE6-2D8CA1244D10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BEC471-0E83-46E4-BDAC-E2E30AD45083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F411575-58DE-404C-A86F-D386061B1B02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9B3F3DA-D5C6-4429-A5C2-BD684584A229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33C8683-6B4C-45C7-B6D6-4A6F7AF3CBB7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70CB4EF-2541-4916-817B-34795A587392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B7A8890-654A-4E7C-A399-784CF6F39F75}"/>
              </a:ext>
            </a:extLst>
          </p:cNvPr>
          <p:cNvSpPr/>
          <p:nvPr/>
        </p:nvSpPr>
        <p:spPr>
          <a:xfrm>
            <a:off x="8956813" y="404221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70F81DD1-5EDA-4CD6-B012-104ED8F3BBED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A8E5CCE-A854-498C-A866-A074293ABBFD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7BEEAF1-BF20-68E5-7B30-151A3127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138"/>
            <a:ext cx="10515600" cy="1325562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48464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26BC5-320B-43FE-ADF2-267ED3001A19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C4ACFD6-C558-4723-8C1F-C90A5FFDE992}"/>
              </a:ext>
            </a:extLst>
          </p:cNvPr>
          <p:cNvCxnSpPr>
            <a:cxnSpLocks/>
          </p:cNvCxnSpPr>
          <p:nvPr/>
        </p:nvCxnSpPr>
        <p:spPr>
          <a:xfrm>
            <a:off x="8220182" y="4416401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3B5C48-05A4-4E09-8870-6DD16D7E24D4}"/>
              </a:ext>
            </a:extLst>
          </p:cNvPr>
          <p:cNvSpPr txBox="1"/>
          <p:nvPr/>
        </p:nvSpPr>
        <p:spPr>
          <a:xfrm>
            <a:off x="8153400" y="4021123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2D6ED-0C2C-40DD-8303-246777945EDA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E8953-B40C-4CEF-9B1B-40B098337941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4881761" y="3067168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5241201" y="2700293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D57C54-49E6-4361-BFE6-2D8CA1244D10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BEC471-0E83-46E4-BDAC-E2E30AD45083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F411575-58DE-404C-A86F-D386061B1B02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9B3F3DA-D5C6-4429-A5C2-BD684584A229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33C8683-6B4C-45C7-B6D6-4A6F7AF3CBB7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70CB4EF-2541-4916-817B-34795A587392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B7A8890-654A-4E7C-A399-784CF6F39F75}"/>
              </a:ext>
            </a:extLst>
          </p:cNvPr>
          <p:cNvSpPr/>
          <p:nvPr/>
        </p:nvSpPr>
        <p:spPr>
          <a:xfrm>
            <a:off x="8956813" y="404221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16D4892E-3E66-42C2-9DF7-46CAD9A17834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4296502-A983-41E0-A3F0-CDEBD0FD563F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EB0947E-D02B-EC9F-D1D9-1D7EADD4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138"/>
            <a:ext cx="10515600" cy="1325562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5133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26BC5-320B-43FE-ADF2-267ED3001A19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C4ACFD6-C558-4723-8C1F-C90A5FFDE992}"/>
              </a:ext>
            </a:extLst>
          </p:cNvPr>
          <p:cNvCxnSpPr>
            <a:cxnSpLocks/>
          </p:cNvCxnSpPr>
          <p:nvPr/>
        </p:nvCxnSpPr>
        <p:spPr>
          <a:xfrm>
            <a:off x="8220182" y="441640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3B5C48-05A4-4E09-8870-6DD16D7E24D4}"/>
              </a:ext>
            </a:extLst>
          </p:cNvPr>
          <p:cNvSpPr txBox="1"/>
          <p:nvPr/>
        </p:nvSpPr>
        <p:spPr>
          <a:xfrm>
            <a:off x="8153400" y="402112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2D6ED-0C2C-40DD-8303-246777945EDA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E8953-B40C-4CEF-9B1B-40B098337941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4668356" y="3334210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5027796" y="2967335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D57C54-49E6-4361-BFE6-2D8CA1244D10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BEC471-0E83-46E4-BDAC-E2E30AD45083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F411575-58DE-404C-A86F-D386061B1B02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9B3F3DA-D5C6-4429-A5C2-BD684584A229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33C8683-6B4C-45C7-B6D6-4A6F7AF3CBB7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70CB4EF-2541-4916-817B-34795A587392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B7A8890-654A-4E7C-A399-784CF6F39F75}"/>
              </a:ext>
            </a:extLst>
          </p:cNvPr>
          <p:cNvSpPr/>
          <p:nvPr/>
        </p:nvSpPr>
        <p:spPr>
          <a:xfrm>
            <a:off x="8956813" y="404221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6F61FDA4-8384-47A8-9784-C60EDDF270A7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F80D4DD-9492-45B2-85AA-56BDF7A4D11C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EAA3453-2430-3514-0308-00D27EA2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138"/>
            <a:ext cx="10515600" cy="1325562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49023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26BC5-320B-43FE-ADF2-267ED3001A19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C4ACFD6-C558-4723-8C1F-C90A5FFDE992}"/>
              </a:ext>
            </a:extLst>
          </p:cNvPr>
          <p:cNvCxnSpPr>
            <a:cxnSpLocks/>
          </p:cNvCxnSpPr>
          <p:nvPr/>
        </p:nvCxnSpPr>
        <p:spPr>
          <a:xfrm>
            <a:off x="8220182" y="4416408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3B5C48-05A4-4E09-8870-6DD16D7E24D4}"/>
              </a:ext>
            </a:extLst>
          </p:cNvPr>
          <p:cNvSpPr txBox="1"/>
          <p:nvPr/>
        </p:nvSpPr>
        <p:spPr>
          <a:xfrm>
            <a:off x="8153400" y="4021130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2D6ED-0C2C-40DD-8303-246777945EDA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E8953-B40C-4CEF-9B1B-40B098337941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4668355" y="3631250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5027795" y="3264375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D57C54-49E6-4361-BFE6-2D8CA1244D10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BEC471-0E83-46E4-BDAC-E2E30AD45083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F411575-58DE-404C-A86F-D386061B1B02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9B3F3DA-D5C6-4429-A5C2-BD684584A229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33C8683-6B4C-45C7-B6D6-4A6F7AF3CBB7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70CB4EF-2541-4916-817B-34795A587392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83BA993-DD6C-4576-A9AC-286634BA46EE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367FBF2-0977-409D-8FBA-4A5B0F4628FC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7B7D85B-4FB1-4927-8545-48AA3723F414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8A9C268F-616F-5944-F063-EEDB631A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138"/>
            <a:ext cx="10515600" cy="1325562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09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4459926" y="3903584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4819366" y="3536709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295937B-8386-4386-A974-9AA107E1810D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3A1EF8E-41FF-4D24-9905-2503849A581B}"/>
              </a:ext>
            </a:extLst>
          </p:cNvPr>
          <p:cNvCxnSpPr>
            <a:cxnSpLocks/>
          </p:cNvCxnSpPr>
          <p:nvPr/>
        </p:nvCxnSpPr>
        <p:spPr>
          <a:xfrm>
            <a:off x="8220182" y="4416408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688344E-69CF-46C1-871A-42973D22FD28}"/>
              </a:ext>
            </a:extLst>
          </p:cNvPr>
          <p:cNvSpPr txBox="1"/>
          <p:nvPr/>
        </p:nvSpPr>
        <p:spPr>
          <a:xfrm>
            <a:off x="8153400" y="4021130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9915BDA5-1DD4-4E73-B9F6-69FCA34324F7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B7FD170-8A53-428B-9EA1-F20312DE1A7A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7562AED-E491-4D68-B611-ADC8388F278C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3D8B697-7CA5-4B15-8C2A-26C39B400CF5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4249E51-BD04-490B-A1DC-FC54583C1BF3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9E9291D-160A-402C-AB6D-17D6CD677A80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E4467ED-4F0F-4D26-B6E1-068E90610B35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72506DF-96EC-466B-AF07-8FD2DE7016A3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FC6C6AF-0983-4E5F-81A8-2190647DA463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84F50115-8BF2-4F51-B5AC-C518D465C6AE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F2058E7-05F6-43AB-BE91-8B4764F0647E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4466347-7692-79EA-FCC6-9A25E9B9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138"/>
            <a:ext cx="10515600" cy="1325562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4037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20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4439755" y="4146245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4799195" y="3779370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416408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021130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08C4FADF-E1EB-4F07-B9F0-50C2512E5916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F20A8C7-5316-403C-8E85-B802C6B3D7C4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1D16EB0-32FA-7FB4-FA7F-C3A4027BF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9628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5446256" y="4502592"/>
            <a:ext cx="896646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5805696" y="4135717"/>
            <a:ext cx="58060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786210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390932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A102C1-63B9-4B2C-91D7-BAE2BB58908C}"/>
              </a:ext>
            </a:extLst>
          </p:cNvPr>
          <p:cNvSpPr/>
          <p:nvPr/>
        </p:nvSpPr>
        <p:spPr>
          <a:xfrm>
            <a:off x="8953736" y="4430285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C257D0D5-0767-4951-BF4C-7F1CF9632A32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>
            <a:off x="6386304" y="4366550"/>
            <a:ext cx="2567432" cy="247945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C302B9AC-E6EC-479B-BC42-913EA8AE4199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B804B43-0674-4EF1-83F2-9126582C27A8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9D144DC-FBAE-0CE8-0F22-96EF4239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138"/>
            <a:ext cx="10515600" cy="1325562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208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cdecl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44798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+ 12]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+ 16]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79965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40437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A102C1-63B9-4B2C-91D7-BAE2BB58908C}"/>
              </a:ext>
            </a:extLst>
          </p:cNvPr>
          <p:cNvSpPr/>
          <p:nvPr/>
        </p:nvSpPr>
        <p:spPr>
          <a:xfrm>
            <a:off x="8953736" y="4430285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1954BE90-90C2-4D58-BE0A-396E2270FDDD}"/>
              </a:ext>
            </a:extLst>
          </p:cNvPr>
          <p:cNvCxnSpPr>
            <a:cxnSpLocks/>
          </p:cNvCxnSpPr>
          <p:nvPr/>
        </p:nvCxnSpPr>
        <p:spPr>
          <a:xfrm flipH="1">
            <a:off x="2590784" y="3334210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FC87E6-2B84-4DD5-9CE5-EFD7E65CC6CB}"/>
              </a:ext>
            </a:extLst>
          </p:cNvPr>
          <p:cNvSpPr txBox="1"/>
          <p:nvPr/>
        </p:nvSpPr>
        <p:spPr>
          <a:xfrm>
            <a:off x="2950224" y="2967335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C9B2C71-7067-4F47-BB83-64CC114F695C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55BAA59-36EC-4DEC-B38C-682FF84C2019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B112B8-28AB-6BB2-D280-E0C5FA25FF5F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</p:spTree>
    <p:extLst>
      <p:ext uri="{BB962C8B-B14F-4D97-AF65-F5344CB8AC3E}">
        <p14:creationId xmlns:p14="http://schemas.microsoft.com/office/powerpoint/2010/main" val="106129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54617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  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+ 12]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+ 16]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516273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76745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c=1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a=16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A102C1-63B9-4B2C-91D7-BAE2BB58908C}"/>
              </a:ext>
            </a:extLst>
          </p:cNvPr>
          <p:cNvSpPr/>
          <p:nvPr/>
        </p:nvSpPr>
        <p:spPr>
          <a:xfrm>
            <a:off x="8953736" y="4430285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7C1011E-6651-420D-AE4B-ED7AEC3D6A70}"/>
              </a:ext>
            </a:extLst>
          </p:cNvPr>
          <p:cNvSpPr/>
          <p:nvPr/>
        </p:nvSpPr>
        <p:spPr>
          <a:xfrm>
            <a:off x="8953735" y="4797773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89F2261D-210D-4952-A2AA-19346363726A}"/>
              </a:ext>
            </a:extLst>
          </p:cNvPr>
          <p:cNvCxnSpPr>
            <a:cxnSpLocks/>
          </p:cNvCxnSpPr>
          <p:nvPr/>
        </p:nvCxnSpPr>
        <p:spPr>
          <a:xfrm>
            <a:off x="7471393" y="516273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A0E92EF-D294-4EB9-8950-3346D37660E6}"/>
              </a:ext>
            </a:extLst>
          </p:cNvPr>
          <p:cNvSpPr txBox="1"/>
          <p:nvPr/>
        </p:nvSpPr>
        <p:spPr>
          <a:xfrm>
            <a:off x="7404611" y="476745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86EFE1D-F337-4D98-B53B-C9F9C57739BC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F7A6432C-1320-498A-B2B0-1A158EB58923}"/>
              </a:ext>
            </a:extLst>
          </p:cNvPr>
          <p:cNvCxnSpPr>
            <a:cxnSpLocks/>
          </p:cNvCxnSpPr>
          <p:nvPr/>
        </p:nvCxnSpPr>
        <p:spPr>
          <a:xfrm flipH="1">
            <a:off x="4632799" y="3864853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7262019-8BCC-486D-8C6E-189B0FD72A70}"/>
              </a:ext>
            </a:extLst>
          </p:cNvPr>
          <p:cNvSpPr txBox="1"/>
          <p:nvPr/>
        </p:nvSpPr>
        <p:spPr>
          <a:xfrm>
            <a:off x="4992239" y="3497978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</p:spTree>
    <p:extLst>
      <p:ext uri="{BB962C8B-B14F-4D97-AF65-F5344CB8AC3E}">
        <p14:creationId xmlns:p14="http://schemas.microsoft.com/office/powerpoint/2010/main" val="144461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66854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+ 8]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;a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+ 12]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;a*b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+ 16]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;a*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b+c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516273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76745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c=1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a=16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A102C1-63B9-4B2C-91D7-BAE2BB58908C}"/>
              </a:ext>
            </a:extLst>
          </p:cNvPr>
          <p:cNvSpPr/>
          <p:nvPr/>
        </p:nvSpPr>
        <p:spPr>
          <a:xfrm>
            <a:off x="8953736" y="4430285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7C1011E-6651-420D-AE4B-ED7AEC3D6A70}"/>
              </a:ext>
            </a:extLst>
          </p:cNvPr>
          <p:cNvSpPr/>
          <p:nvPr/>
        </p:nvSpPr>
        <p:spPr>
          <a:xfrm>
            <a:off x="8953735" y="4797773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434872C2-423D-4CB9-8919-86CBCC844656}"/>
              </a:ext>
            </a:extLst>
          </p:cNvPr>
          <p:cNvCxnSpPr>
            <a:cxnSpLocks/>
          </p:cNvCxnSpPr>
          <p:nvPr/>
        </p:nvCxnSpPr>
        <p:spPr>
          <a:xfrm flipH="1">
            <a:off x="2530272" y="4797160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F94C858-7AE5-41B6-A087-145AE808384C}"/>
              </a:ext>
            </a:extLst>
          </p:cNvPr>
          <p:cNvSpPr txBox="1"/>
          <p:nvPr/>
        </p:nvSpPr>
        <p:spPr>
          <a:xfrm>
            <a:off x="2889712" y="4430285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67C34394-CA9C-4F8F-89E7-3F879A82DF4D}"/>
              </a:ext>
            </a:extLst>
          </p:cNvPr>
          <p:cNvCxnSpPr>
            <a:cxnSpLocks/>
          </p:cNvCxnSpPr>
          <p:nvPr/>
        </p:nvCxnSpPr>
        <p:spPr>
          <a:xfrm>
            <a:off x="7471393" y="516273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30309C6-E013-4F1C-8899-91550622D2CF}"/>
              </a:ext>
            </a:extLst>
          </p:cNvPr>
          <p:cNvSpPr txBox="1"/>
          <p:nvPr/>
        </p:nvSpPr>
        <p:spPr>
          <a:xfrm>
            <a:off x="7404611" y="476745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5E2F95E8-9F17-42AE-BA97-F11548286194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</p:spTree>
    <p:extLst>
      <p:ext uri="{BB962C8B-B14F-4D97-AF65-F5344CB8AC3E}">
        <p14:creationId xmlns:p14="http://schemas.microsoft.com/office/powerpoint/2010/main" val="252037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44798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+ 12]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+ 16]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806378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411100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c=1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a=16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A102C1-63B9-4B2C-91D7-BAE2BB58908C}"/>
              </a:ext>
            </a:extLst>
          </p:cNvPr>
          <p:cNvSpPr/>
          <p:nvPr/>
        </p:nvSpPr>
        <p:spPr>
          <a:xfrm>
            <a:off x="8953736" y="4430285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4ED5CC81-0203-460A-85F7-4A4165CD1211}"/>
              </a:ext>
            </a:extLst>
          </p:cNvPr>
          <p:cNvCxnSpPr>
            <a:cxnSpLocks/>
          </p:cNvCxnSpPr>
          <p:nvPr/>
        </p:nvCxnSpPr>
        <p:spPr>
          <a:xfrm flipH="1">
            <a:off x="2113589" y="4933815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578C76C-404E-49CF-ABB6-047BD47279F6}"/>
              </a:ext>
            </a:extLst>
          </p:cNvPr>
          <p:cNvSpPr txBox="1"/>
          <p:nvPr/>
        </p:nvSpPr>
        <p:spPr>
          <a:xfrm>
            <a:off x="2473029" y="4566940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27A8A520-A2DF-4726-99F4-D23D6A63B7B7}"/>
              </a:ext>
            </a:extLst>
          </p:cNvPr>
          <p:cNvCxnSpPr>
            <a:cxnSpLocks/>
          </p:cNvCxnSpPr>
          <p:nvPr/>
        </p:nvCxnSpPr>
        <p:spPr>
          <a:xfrm>
            <a:off x="8220182" y="2554499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ECF4A5F-753B-483B-AC98-AF4E819A7BB8}"/>
              </a:ext>
            </a:extLst>
          </p:cNvPr>
          <p:cNvSpPr txBox="1"/>
          <p:nvPr/>
        </p:nvSpPr>
        <p:spPr>
          <a:xfrm>
            <a:off x="8153400" y="2159221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B119E3BB-FAA4-4138-8FC4-FC22DB995501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</p:spTree>
    <p:extLst>
      <p:ext uri="{BB962C8B-B14F-4D97-AF65-F5344CB8AC3E}">
        <p14:creationId xmlns:p14="http://schemas.microsoft.com/office/powerpoint/2010/main" val="1596504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44798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+ 12]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+ 16]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результат в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415853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020575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c=1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a=16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AEC5886B-B129-463F-866B-BCA911C8153B}"/>
              </a:ext>
            </a:extLst>
          </p:cNvPr>
          <p:cNvCxnSpPr>
            <a:cxnSpLocks/>
          </p:cNvCxnSpPr>
          <p:nvPr/>
        </p:nvCxnSpPr>
        <p:spPr>
          <a:xfrm>
            <a:off x="8220182" y="2554499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CCD8744-6ED3-4BDF-A0B5-F970AEAAC575}"/>
              </a:ext>
            </a:extLst>
          </p:cNvPr>
          <p:cNvSpPr txBox="1"/>
          <p:nvPr/>
        </p:nvSpPr>
        <p:spPr>
          <a:xfrm>
            <a:off x="8153400" y="2159221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4EFCA15-69CC-44CF-9F83-437C6D3218D7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</p:spTree>
    <p:extLst>
      <p:ext uri="{BB962C8B-B14F-4D97-AF65-F5344CB8AC3E}">
        <p14:creationId xmlns:p14="http://schemas.microsoft.com/office/powerpoint/2010/main" val="3148839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5446256" y="4502592"/>
            <a:ext cx="896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5805696" y="4135717"/>
            <a:ext cx="58060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429900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034622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x=4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CABF84AF-04A9-44C8-A088-4625471FA171}"/>
              </a:ext>
            </a:extLst>
          </p:cNvPr>
          <p:cNvCxnSpPr>
            <a:cxnSpLocks/>
          </p:cNvCxnSpPr>
          <p:nvPr/>
        </p:nvCxnSpPr>
        <p:spPr>
          <a:xfrm>
            <a:off x="8220182" y="2554499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74DE62E-868E-427A-8A4B-ECACE887745F}"/>
              </a:ext>
            </a:extLst>
          </p:cNvPr>
          <p:cNvSpPr txBox="1"/>
          <p:nvPr/>
        </p:nvSpPr>
        <p:spPr>
          <a:xfrm>
            <a:off x="8153400" y="2159221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79C3AA6-8CA6-4F3A-BA35-323E023DAB6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79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4958659" y="4758008"/>
            <a:ext cx="896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5318099" y="4391133"/>
            <a:ext cx="58060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429900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034622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CABF84AF-04A9-44C8-A088-4625471FA171}"/>
              </a:ext>
            </a:extLst>
          </p:cNvPr>
          <p:cNvCxnSpPr>
            <a:cxnSpLocks/>
          </p:cNvCxnSpPr>
          <p:nvPr/>
        </p:nvCxnSpPr>
        <p:spPr>
          <a:xfrm>
            <a:off x="8220182" y="2554499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74DE62E-868E-427A-8A4B-ECACE887745F}"/>
              </a:ext>
            </a:extLst>
          </p:cNvPr>
          <p:cNvSpPr txBox="1"/>
          <p:nvPr/>
        </p:nvSpPr>
        <p:spPr>
          <a:xfrm>
            <a:off x="8153400" y="2159221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5D2FDB8-1ED9-4F8D-A536-B3DDF0841ECA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z=65</a:t>
            </a:r>
          </a:p>
        </p:txBody>
      </p:sp>
    </p:spTree>
    <p:extLst>
      <p:ext uri="{BB962C8B-B14F-4D97-AF65-F5344CB8AC3E}">
        <p14:creationId xmlns:p14="http://schemas.microsoft.com/office/powerpoint/2010/main" val="1883579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3176924" y="5304729"/>
            <a:ext cx="896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3536364" y="4937854"/>
            <a:ext cx="58060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429900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034622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solidFill>
            <a:srgbClr val="5B9BD5"/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z=65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8C674DD-2BE3-4C34-90F7-E777FA8FDFDD}"/>
              </a:ext>
            </a:extLst>
          </p:cNvPr>
          <p:cNvCxnSpPr>
            <a:cxnSpLocks/>
          </p:cNvCxnSpPr>
          <p:nvPr/>
        </p:nvCxnSpPr>
        <p:spPr>
          <a:xfrm>
            <a:off x="8220182" y="2554499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42DED32-1963-439E-9C71-CDF2C46AE201}"/>
              </a:ext>
            </a:extLst>
          </p:cNvPr>
          <p:cNvSpPr txBox="1"/>
          <p:nvPr/>
        </p:nvSpPr>
        <p:spPr>
          <a:xfrm>
            <a:off x="8153400" y="2159221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</p:spTree>
    <p:extLst>
      <p:ext uri="{BB962C8B-B14F-4D97-AF65-F5344CB8AC3E}">
        <p14:creationId xmlns:p14="http://schemas.microsoft.com/office/powerpoint/2010/main" val="646092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2565083" y="5629166"/>
            <a:ext cx="896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2924523" y="5262291"/>
            <a:ext cx="58060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7473870" y="2561573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7407088" y="2166295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8C674DD-2BE3-4C34-90F7-E777FA8FDFDD}"/>
              </a:ext>
            </a:extLst>
          </p:cNvPr>
          <p:cNvCxnSpPr>
            <a:cxnSpLocks/>
          </p:cNvCxnSpPr>
          <p:nvPr/>
        </p:nvCxnSpPr>
        <p:spPr>
          <a:xfrm>
            <a:off x="8220182" y="2554499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42DED32-1963-439E-9C71-CDF2C46AE201}"/>
              </a:ext>
            </a:extLst>
          </p:cNvPr>
          <p:cNvSpPr txBox="1"/>
          <p:nvPr/>
        </p:nvSpPr>
        <p:spPr>
          <a:xfrm>
            <a:off x="8153400" y="2159221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</p:spTree>
    <p:extLst>
      <p:ext uri="{BB962C8B-B14F-4D97-AF65-F5344CB8AC3E}">
        <p14:creationId xmlns:p14="http://schemas.microsoft.com/office/powerpoint/2010/main" val="822569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2188565" y="5863231"/>
            <a:ext cx="896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2548005" y="5496356"/>
            <a:ext cx="58060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2202335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1807057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292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cdecl-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1831884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1436606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79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7835B-35A6-4D29-8978-63AB85E7D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 в ассемблере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778C5A-D129-42E7-B0A9-2522FBC57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677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С точки зрения</a:t>
            </a:r>
            <a:r>
              <a:rPr lang="en-US" sz="2000" dirty="0"/>
              <a:t> </a:t>
            </a:r>
            <a:r>
              <a:rPr lang="ru-RU" sz="2000" dirty="0"/>
              <a:t>языка ассемблера структура эквивалентна группе переменных. Объекты эквивалентны структурам.</a:t>
            </a:r>
          </a:p>
          <a:p>
            <a:pPr marL="0" indent="0">
              <a:buNone/>
            </a:pPr>
            <a:r>
              <a:rPr lang="ru-RU" sz="2000" dirty="0"/>
              <a:t>Адресация полей структуры осуществляется путем смещения относительно адреса начала структуры.</a:t>
            </a:r>
          </a:p>
          <a:p>
            <a:pPr marL="0" indent="0">
              <a:buNone/>
            </a:pPr>
            <a:r>
              <a:rPr lang="ru-RU" sz="2000" dirty="0"/>
              <a:t>Хотя типов в языке ассемблера нет, для объявления структур есть специальный синтаксис. Данный синтаксис служит для облегчения работы с полями – размер  структуры и смещения полей относительно начала структуры высчитываются автоматически.</a:t>
            </a:r>
            <a:r>
              <a:rPr lang="en-US" sz="2000" dirty="0"/>
              <a:t> </a:t>
            </a:r>
            <a:r>
              <a:rPr lang="ru-RU" sz="2000" i="1" dirty="0"/>
              <a:t>Объявлять структуры таким образом необязательно.</a:t>
            </a:r>
            <a:endParaRPr lang="en-US" sz="2000" i="1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2ED3440-3E17-4D3D-9EE0-18870F591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9C474-140A-4EE6-B2B0-D3EE1D103D7F}"/>
              </a:ext>
            </a:extLst>
          </p:cNvPr>
          <p:cNvSpPr txBox="1"/>
          <p:nvPr/>
        </p:nvSpPr>
        <p:spPr>
          <a:xfrm>
            <a:off x="1450709" y="4784586"/>
            <a:ext cx="21306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/>
                <a:latin typeface="Consolas, 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S{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   </a:t>
            </a:r>
            <a:r>
              <a:rPr lang="en-US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x;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   </a:t>
            </a:r>
            <a:r>
              <a:rPr lang="en-US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y;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};</a:t>
            </a:r>
          </a:p>
          <a:p>
            <a:br>
              <a:rPr lang="en-US" dirty="0">
                <a:solidFill>
                  <a:srgbClr val="000000"/>
                </a:solidFill>
                <a:effectLst/>
                <a:latin typeface="Consolas, "/>
              </a:rPr>
            </a:br>
            <a:endParaRPr lang="en-US" dirty="0">
              <a:solidFill>
                <a:srgbClr val="000000"/>
              </a:solidFill>
              <a:effectLst/>
              <a:latin typeface="Consolas, 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2AEA2-2B9A-297D-123A-316EF6EFA3DF}"/>
              </a:ext>
            </a:extLst>
          </p:cNvPr>
          <p:cNvSpPr txBox="1"/>
          <p:nvPr/>
        </p:nvSpPr>
        <p:spPr>
          <a:xfrm>
            <a:off x="5832764" y="4784586"/>
            <a:ext cx="277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struc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.x: 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resd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.y: 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resd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</a:p>
          <a:p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endstruc</a:t>
            </a:r>
            <a:endParaRPr lang="ru-RU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985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7835B-35A6-4D29-8978-63AB85E7D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 в ассемблере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2ED3440-3E17-4D3D-9EE0-18870F591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37</a:t>
            </a:fld>
            <a:endParaRPr lang="en-US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9ACFB985-D1E7-0788-BADE-6D9BC12F1F5A}"/>
              </a:ext>
            </a:extLst>
          </p:cNvPr>
          <p:cNvCxnSpPr>
            <a:cxnSpLocks/>
          </p:cNvCxnSpPr>
          <p:nvPr/>
        </p:nvCxnSpPr>
        <p:spPr>
          <a:xfrm>
            <a:off x="8600817" y="3347769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67B754-75A6-5B3E-DC66-20E33473C251}"/>
              </a:ext>
            </a:extLst>
          </p:cNvPr>
          <p:cNvSpPr/>
          <p:nvPr/>
        </p:nvSpPr>
        <p:spPr>
          <a:xfrm>
            <a:off x="9496381" y="1606904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737C16E5-202F-D25D-A2CC-6CB3300040E9}"/>
              </a:ext>
            </a:extLst>
          </p:cNvPr>
          <p:cNvCxnSpPr>
            <a:cxnSpLocks/>
          </p:cNvCxnSpPr>
          <p:nvPr/>
        </p:nvCxnSpPr>
        <p:spPr>
          <a:xfrm>
            <a:off x="8600817" y="2338771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C4B853A-0DCA-D1FF-C5F1-C8BFDA5A5E4F}"/>
              </a:ext>
            </a:extLst>
          </p:cNvPr>
          <p:cNvSpPr/>
          <p:nvPr/>
        </p:nvSpPr>
        <p:spPr>
          <a:xfrm>
            <a:off x="9496381" y="1965235"/>
            <a:ext cx="2396971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RBP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6C03D9F-2813-C73A-B58E-8F895F2A3F66}"/>
              </a:ext>
            </a:extLst>
          </p:cNvPr>
          <p:cNvSpPr/>
          <p:nvPr/>
        </p:nvSpPr>
        <p:spPr>
          <a:xfrm>
            <a:off x="9496425" y="1606904"/>
            <a:ext cx="2396971" cy="44319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7BE026A6-7469-0383-D5B0-70DF2E597B0A}"/>
              </a:ext>
            </a:extLst>
          </p:cNvPr>
          <p:cNvCxnSpPr/>
          <p:nvPr/>
        </p:nvCxnSpPr>
        <p:spPr>
          <a:xfrm>
            <a:off x="9496381" y="5375462"/>
            <a:ext cx="23969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B2AE94C-5CE3-AE5E-88C7-02EA17F42C25}"/>
              </a:ext>
            </a:extLst>
          </p:cNvPr>
          <p:cNvSpPr txBox="1"/>
          <p:nvPr/>
        </p:nvSpPr>
        <p:spPr>
          <a:xfrm>
            <a:off x="10293153" y="5059285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</a:t>
            </a:r>
            <a:r>
              <a:rPr lang="ru-RU" dirty="0"/>
              <a:t>байт</a:t>
            </a:r>
            <a:endParaRPr lang="en-US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FB6C4BB-636A-74E0-A54B-797748E5D4E7}"/>
              </a:ext>
            </a:extLst>
          </p:cNvPr>
          <p:cNvSpPr/>
          <p:nvPr/>
        </p:nvSpPr>
        <p:spPr>
          <a:xfrm>
            <a:off x="10693889" y="2334182"/>
            <a:ext cx="1198800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s.y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EF65DC-69CB-21A8-C2FF-970DE0FE1027}"/>
              </a:ext>
            </a:extLst>
          </p:cNvPr>
          <p:cNvSpPr txBox="1"/>
          <p:nvPr/>
        </p:nvSpPr>
        <p:spPr>
          <a:xfrm>
            <a:off x="8500112" y="2992272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A333CE-9E06-F230-9EBD-8B202AC77518}"/>
              </a:ext>
            </a:extLst>
          </p:cNvPr>
          <p:cNvSpPr txBox="1"/>
          <p:nvPr/>
        </p:nvSpPr>
        <p:spPr>
          <a:xfrm>
            <a:off x="8500112" y="2000323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RBP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8817F4F-FB93-41AA-244C-900FCC1EF3C7}"/>
              </a:ext>
            </a:extLst>
          </p:cNvPr>
          <p:cNvSpPr/>
          <p:nvPr/>
        </p:nvSpPr>
        <p:spPr>
          <a:xfrm>
            <a:off x="9496347" y="2334182"/>
            <a:ext cx="1198800" cy="3684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s.x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F12EC2-AD5B-4060-B1FB-179BBBC45D63}"/>
              </a:ext>
            </a:extLst>
          </p:cNvPr>
          <p:cNvSpPr txBox="1"/>
          <p:nvPr/>
        </p:nvSpPr>
        <p:spPr>
          <a:xfrm>
            <a:off x="3535605" y="1608150"/>
            <a:ext cx="50652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struc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.x: 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resd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.y: </a:t>
            </a:r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resd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</a:p>
          <a:p>
            <a:r>
              <a:rPr lang="en-US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endstruc</a:t>
            </a:r>
            <a:endParaRPr lang="ru-RU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8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dirty="0" err="1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endParaRPr lang="en-US" dirty="0">
              <a:solidFill>
                <a:srgbClr val="4864A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US" dirty="0" err="1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rbp</a:t>
            </a:r>
            <a:r>
              <a:rPr lang="en-US" dirty="0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endParaRPr lang="en-US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US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…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     </a:t>
            </a:r>
            <a:r>
              <a:rPr lang="en-US" b="1" dirty="0" err="1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b="1" dirty="0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rbp-</a:t>
            </a:r>
            <a:r>
              <a:rPr lang="en-US" b="1" dirty="0" err="1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S_size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US" b="1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rax+</a:t>
            </a:r>
            <a:r>
              <a:rPr lang="en-US" b="1" dirty="0" err="1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S.x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 </a:t>
            </a:r>
            <a:r>
              <a:rPr lang="en-US" b="1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US" b="1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b="1" dirty="0" err="1">
                <a:solidFill>
                  <a:srgbClr val="4864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1" dirty="0" err="1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S.y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 </a:t>
            </a:r>
            <a:r>
              <a:rPr lang="en-US" b="1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b="1" dirty="0">
                <a:solidFill>
                  <a:srgbClr val="09865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endParaRPr lang="en-US" b="1" dirty="0">
              <a:solidFill>
                <a:srgbClr val="098658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US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solidFill>
                <a:srgbClr val="4864A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endParaRPr lang="en-US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F1051C1-CF93-4474-DFE3-2DD87C5340BB}"/>
              </a:ext>
            </a:extLst>
          </p:cNvPr>
          <p:cNvSpPr/>
          <p:nvPr/>
        </p:nvSpPr>
        <p:spPr>
          <a:xfrm>
            <a:off x="9496381" y="2683004"/>
            <a:ext cx="2396971" cy="65964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…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DAFAF-A78C-1999-CB70-6EB6D45CB231}"/>
              </a:ext>
            </a:extLst>
          </p:cNvPr>
          <p:cNvSpPr txBox="1"/>
          <p:nvPr/>
        </p:nvSpPr>
        <p:spPr>
          <a:xfrm>
            <a:off x="298604" y="1642965"/>
            <a:ext cx="34418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/>
                <a:latin typeface="Consolas, 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S{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   </a:t>
            </a:r>
            <a:r>
              <a:rPr lang="en-US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x;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   </a:t>
            </a:r>
            <a:r>
              <a:rPr lang="en-US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y;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};</a:t>
            </a:r>
          </a:p>
          <a:p>
            <a:br>
              <a:rPr lang="en-US" dirty="0">
                <a:solidFill>
                  <a:srgbClr val="000000"/>
                </a:solidFill>
                <a:effectLst/>
                <a:latin typeface="Consolas, "/>
              </a:rPr>
            </a:br>
            <a:r>
              <a:rPr lang="en-US" dirty="0">
                <a:solidFill>
                  <a:srgbClr val="0000FF"/>
                </a:solidFill>
                <a:effectLst/>
                <a:latin typeface="Consolas, 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main(){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   S s1;</a:t>
            </a:r>
          </a:p>
          <a:p>
            <a:r>
              <a:rPr lang="en-US" dirty="0">
                <a:solidFill>
                  <a:srgbClr val="000000"/>
                </a:solidFill>
                <a:latin typeface="Consolas, 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, "/>
              </a:rPr>
              <a:t>/*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onsolas, "/>
              </a:rPr>
              <a:t>др. локальные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, "/>
              </a:rPr>
              <a:t>*/</a:t>
            </a:r>
            <a:endParaRPr lang="en-US" dirty="0">
              <a:solidFill>
                <a:schemeClr val="accent6">
                  <a:lumMod val="75000"/>
                </a:schemeClr>
              </a:solidFill>
              <a:effectLst/>
              <a:latin typeface="Consolas, 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   s1.x = </a:t>
            </a:r>
            <a:r>
              <a:rPr lang="en-US" dirty="0">
                <a:solidFill>
                  <a:srgbClr val="098658"/>
                </a:solidFill>
                <a:effectLst/>
                <a:latin typeface="Consolas, 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    s2.y = </a:t>
            </a:r>
            <a:r>
              <a:rPr lang="en-US" dirty="0">
                <a:solidFill>
                  <a:srgbClr val="098658"/>
                </a:solidFill>
                <a:effectLst/>
                <a:latin typeface="Consolas, "/>
              </a:rPr>
              <a:t>20</a:t>
            </a:r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, "/>
              </a:rPr>
              <a:t>    …</a:t>
            </a:r>
            <a:endParaRPr lang="en-US" dirty="0">
              <a:solidFill>
                <a:srgbClr val="000000"/>
              </a:solidFill>
              <a:effectLst/>
              <a:latin typeface="Consolas, 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Consolas, 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7542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E0DF-2F90-950B-89FD-0BC0E4C3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Простые структуры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E172A-82F0-1F8E-7CEA-A17282C8F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48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Под простыми структурами в рамках предмета понимаются структуры или объекты:</a:t>
            </a:r>
          </a:p>
          <a:p>
            <a:r>
              <a:rPr lang="ru-RU" sz="2000" dirty="0"/>
              <a:t>объявленные в языке С либо в рамках близкого к С подмножества языка С++;</a:t>
            </a:r>
          </a:p>
          <a:p>
            <a:r>
              <a:rPr lang="ru-RU" sz="2000" dirty="0"/>
              <a:t>имеющие тривиальный конструктор копирования и деструктор, и все поля которых являются фундаментальными типами или простыми структурами.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Копирование простой структуры сводится к побайтовому копированию, а ее уничтожение не требует никаких дополнительных действий.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53D33-7A19-EDF2-872B-74E2FB94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77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45982" cy="1325563"/>
          </a:xfrm>
        </p:spPr>
        <p:txBody>
          <a:bodyPr/>
          <a:lstStyle/>
          <a:p>
            <a:r>
              <a:rPr lang="ru-RU" dirty="0"/>
              <a:t>Возврат структур и объектов в </a:t>
            </a:r>
            <a:r>
              <a:rPr lang="en-US" dirty="0" err="1"/>
              <a:t>cdecl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В случае сборки для </a:t>
            </a:r>
            <a:r>
              <a:rPr lang="en-US" sz="2000" b="1" dirty="0"/>
              <a:t>Windows:</a:t>
            </a:r>
          </a:p>
          <a:p>
            <a:r>
              <a:rPr lang="ru-RU" sz="2000" dirty="0"/>
              <a:t>Если результатом является простая структура размером менее </a:t>
            </a:r>
            <a:r>
              <a:rPr lang="en-US" sz="2000" dirty="0"/>
              <a:t>8 </a:t>
            </a:r>
            <a:r>
              <a:rPr lang="ru-RU" sz="2000" dirty="0"/>
              <a:t>байт с тривиальным обычным конструктором и оператором присваивания</a:t>
            </a:r>
            <a:r>
              <a:rPr lang="en-US" sz="2000" dirty="0"/>
              <a:t>, </a:t>
            </a:r>
            <a:r>
              <a:rPr lang="ru-RU" sz="2000" dirty="0"/>
              <a:t>то результат возвращается в паре регистров </a:t>
            </a:r>
            <a:r>
              <a:rPr lang="en-US" sz="2000" dirty="0"/>
              <a:t>EDX:EAX</a:t>
            </a:r>
            <a:r>
              <a:rPr lang="ru-RU" sz="2000" dirty="0"/>
              <a:t>.</a:t>
            </a:r>
          </a:p>
          <a:p>
            <a:r>
              <a:rPr lang="ru-RU" sz="2000" dirty="0"/>
              <a:t>Иначе, вызывающая функция создает буфер для результата, и передает указатель на буфер, как первый аргумент. Вызываемая функция записывает результат в буфер и возвращает указатель на буфер в </a:t>
            </a:r>
            <a:r>
              <a:rPr lang="en-US" sz="2000" dirty="0"/>
              <a:t>EAX.</a:t>
            </a:r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В случае сборки для </a:t>
            </a:r>
            <a:r>
              <a:rPr lang="en-US" sz="2000" b="1" dirty="0"/>
              <a:t>Linux </a:t>
            </a:r>
            <a:r>
              <a:rPr lang="ru-RU" sz="2000" b="1" dirty="0"/>
              <a:t>и др. </a:t>
            </a:r>
            <a:r>
              <a:rPr lang="en-US" sz="2000" b="1" dirty="0"/>
              <a:t>UNIX-like </a:t>
            </a:r>
            <a:r>
              <a:rPr lang="ru-RU" sz="2000" b="1" dirty="0"/>
              <a:t>систем</a:t>
            </a:r>
            <a:r>
              <a:rPr lang="en-US" sz="2000" b="1" dirty="0"/>
              <a:t>:</a:t>
            </a:r>
          </a:p>
          <a:p>
            <a:r>
              <a:rPr lang="ru-RU" sz="2000" dirty="0"/>
              <a:t>Если результатом является любая структура, то вызывающая функция создает буфер для результата, и передает указатель на буфер, как первый </a:t>
            </a:r>
            <a:r>
              <a:rPr lang="ru-RU" sz="2000" i="1" dirty="0"/>
              <a:t>скрытый</a:t>
            </a:r>
            <a:r>
              <a:rPr lang="ru-RU" sz="2000" dirty="0"/>
              <a:t> аргумент. Вызываемая функция записывает результат в буфер и возвращает указатель на буфер в </a:t>
            </a:r>
            <a:r>
              <a:rPr lang="en-US" sz="2000" dirty="0"/>
              <a:t>EAX.</a:t>
            </a:r>
            <a:r>
              <a:rPr lang="ru-RU" sz="2000" dirty="0"/>
              <a:t> </a:t>
            </a:r>
            <a:r>
              <a:rPr lang="ru-RU" sz="2000" i="1" dirty="0"/>
              <a:t>Указатель на скрытый аргумент убирает со стека вызываемая функция.</a:t>
            </a:r>
            <a:endParaRPr lang="en-US" sz="2000" i="1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972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Соглашение </a:t>
            </a:r>
            <a:r>
              <a:rPr lang="en-US" dirty="0" err="1"/>
              <a:t>cdecl</a:t>
            </a:r>
            <a:r>
              <a:rPr lang="en-US" dirty="0"/>
              <a:t> </a:t>
            </a:r>
            <a:r>
              <a:rPr lang="en-US" sz="2400" dirty="0"/>
              <a:t>(Windows x86)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40</a:t>
            </a:fld>
            <a:endParaRPr lang="en-US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A8185E3-8FA4-4DCD-B2DF-6B61757928F7}"/>
              </a:ext>
            </a:extLst>
          </p:cNvPr>
          <p:cNvSpPr/>
          <p:nvPr/>
        </p:nvSpPr>
        <p:spPr>
          <a:xfrm>
            <a:off x="8344270" y="1401985"/>
            <a:ext cx="2396971" cy="4497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08BD9F2-6C6C-43CE-A7B4-588D3D4374F5}"/>
              </a:ext>
            </a:extLst>
          </p:cNvPr>
          <p:cNvSpPr/>
          <p:nvPr/>
        </p:nvSpPr>
        <p:spPr>
          <a:xfrm>
            <a:off x="8344225" y="1402446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C861FC9-8197-48DF-A685-7113C1AD4B53}"/>
              </a:ext>
            </a:extLst>
          </p:cNvPr>
          <p:cNvCxnSpPr>
            <a:cxnSpLocks/>
          </p:cNvCxnSpPr>
          <p:nvPr/>
        </p:nvCxnSpPr>
        <p:spPr>
          <a:xfrm>
            <a:off x="7448696" y="2507094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081323D-66BA-43CC-A2F7-FAB4E6C86157}"/>
              </a:ext>
            </a:extLst>
          </p:cNvPr>
          <p:cNvSpPr txBox="1"/>
          <p:nvPr/>
        </p:nvSpPr>
        <p:spPr>
          <a:xfrm>
            <a:off x="7347991" y="2151597"/>
            <a:ext cx="64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385AD0-3048-4307-82B0-B15ACE4970FD}"/>
              </a:ext>
            </a:extLst>
          </p:cNvPr>
          <p:cNvSpPr/>
          <p:nvPr/>
        </p:nvSpPr>
        <p:spPr>
          <a:xfrm>
            <a:off x="8344268" y="1771180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CE120D5-ECB6-406C-84D0-04962231ABF4}"/>
              </a:ext>
            </a:extLst>
          </p:cNvPr>
          <p:cNvSpPr/>
          <p:nvPr/>
        </p:nvSpPr>
        <p:spPr>
          <a:xfrm>
            <a:off x="8344260" y="2137833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FE192B-FC0C-4D50-95ED-57E33479AAE7}"/>
              </a:ext>
            </a:extLst>
          </p:cNvPr>
          <p:cNvSpPr txBox="1"/>
          <p:nvPr/>
        </p:nvSpPr>
        <p:spPr>
          <a:xfrm>
            <a:off x="770118" y="4769507"/>
            <a:ext cx="6155226" cy="1219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foo: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result.x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result.y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=y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return result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24B3B-D8BE-4E01-97CA-4E25FCB77DA0}"/>
              </a:ext>
            </a:extLst>
          </p:cNvPr>
          <p:cNvSpPr txBox="1"/>
          <p:nvPr/>
        </p:nvSpPr>
        <p:spPr>
          <a:xfrm>
            <a:off x="896208" y="1586655"/>
            <a:ext cx="6097218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small{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y){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small{x, y};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8800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Соглашение </a:t>
            </a:r>
            <a:r>
              <a:rPr lang="en-US" dirty="0" err="1"/>
              <a:t>cdecl</a:t>
            </a:r>
            <a:r>
              <a:rPr lang="en-US" dirty="0"/>
              <a:t> </a:t>
            </a:r>
            <a:r>
              <a:rPr lang="en-US" sz="2400" dirty="0"/>
              <a:t>(Windows x86)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286761" y="1589554"/>
            <a:ext cx="3136289" cy="337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large{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50000"/>
              </a:lnSpc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bar(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x,</a:t>
            </a:r>
            <a:b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y){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large{x, y};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A8185E3-8FA4-4DCD-B2DF-6B61757928F7}"/>
              </a:ext>
            </a:extLst>
          </p:cNvPr>
          <p:cNvSpPr/>
          <p:nvPr/>
        </p:nvSpPr>
        <p:spPr>
          <a:xfrm>
            <a:off x="9373200" y="1230619"/>
            <a:ext cx="2396971" cy="4497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08BD9F2-6C6C-43CE-A7B4-588D3D4374F5}"/>
              </a:ext>
            </a:extLst>
          </p:cNvPr>
          <p:cNvSpPr/>
          <p:nvPr/>
        </p:nvSpPr>
        <p:spPr>
          <a:xfrm>
            <a:off x="9373190" y="2699468"/>
            <a:ext cx="2396971" cy="729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C861FC9-8197-48DF-A685-7113C1AD4B53}"/>
              </a:ext>
            </a:extLst>
          </p:cNvPr>
          <p:cNvCxnSpPr>
            <a:cxnSpLocks/>
          </p:cNvCxnSpPr>
          <p:nvPr/>
        </p:nvCxnSpPr>
        <p:spPr>
          <a:xfrm>
            <a:off x="8477626" y="4891892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081323D-66BA-43CC-A2F7-FAB4E6C86157}"/>
              </a:ext>
            </a:extLst>
          </p:cNvPr>
          <p:cNvSpPr txBox="1"/>
          <p:nvPr/>
        </p:nvSpPr>
        <p:spPr>
          <a:xfrm>
            <a:off x="8376921" y="4529468"/>
            <a:ext cx="64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385AD0-3048-4307-82B0-B15ACE4970FD}"/>
              </a:ext>
            </a:extLst>
          </p:cNvPr>
          <p:cNvSpPr/>
          <p:nvPr/>
        </p:nvSpPr>
        <p:spPr>
          <a:xfrm>
            <a:off x="9373190" y="3432043"/>
            <a:ext cx="2396971" cy="729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CE120D5-ECB6-406C-84D0-04962231ABF4}"/>
              </a:ext>
            </a:extLst>
          </p:cNvPr>
          <p:cNvSpPr/>
          <p:nvPr/>
        </p:nvSpPr>
        <p:spPr>
          <a:xfrm>
            <a:off x="9373190" y="4529558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58A95AF-3736-497F-B985-EE5FC8D11252}"/>
              </a:ext>
            </a:extLst>
          </p:cNvPr>
          <p:cNvSpPr/>
          <p:nvPr/>
        </p:nvSpPr>
        <p:spPr>
          <a:xfrm>
            <a:off x="11770124" y="1224789"/>
            <a:ext cx="354565" cy="729530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.y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EC9A700-B5A5-431B-AEF3-5FAB2ED1993C}"/>
              </a:ext>
            </a:extLst>
          </p:cNvPr>
          <p:cNvSpPr/>
          <p:nvPr/>
        </p:nvSpPr>
        <p:spPr>
          <a:xfrm>
            <a:off x="11770125" y="1954319"/>
            <a:ext cx="354565" cy="742518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.x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C9B35E1-41A0-4D5A-B467-19F1BA967AD4}"/>
              </a:ext>
            </a:extLst>
          </p:cNvPr>
          <p:cNvSpPr/>
          <p:nvPr/>
        </p:nvSpPr>
        <p:spPr>
          <a:xfrm>
            <a:off x="9373133" y="1231076"/>
            <a:ext cx="2396971" cy="146210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B9BC220-B7C7-4B87-A7E4-4CD431EDBFCC}"/>
              </a:ext>
            </a:extLst>
          </p:cNvPr>
          <p:cNvSpPr/>
          <p:nvPr/>
        </p:nvSpPr>
        <p:spPr>
          <a:xfrm>
            <a:off x="9373133" y="4161573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result_ptr</a:t>
            </a:r>
            <a:endParaRPr lang="en-US" dirty="0"/>
          </a:p>
        </p:txBody>
      </p: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62FF2B82-8ECD-49D8-8311-2612C9F338C3}"/>
              </a:ext>
            </a:extLst>
          </p:cNvPr>
          <p:cNvCxnSpPr>
            <a:cxnSpLocks/>
            <a:stCxn id="22" idx="1"/>
            <a:endCxn id="21" idx="1"/>
          </p:cNvCxnSpPr>
          <p:nvPr/>
        </p:nvCxnSpPr>
        <p:spPr>
          <a:xfrm rot="10800000">
            <a:off x="9373133" y="2699863"/>
            <a:ext cx="12700" cy="1645920"/>
          </a:xfrm>
          <a:prstGeom prst="bentConnector3">
            <a:avLst>
              <a:gd name="adj1" fmla="val 180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32A83D1-E8BD-849D-F878-4A0257EADDF5}"/>
              </a:ext>
            </a:extLst>
          </p:cNvPr>
          <p:cNvSpPr txBox="1"/>
          <p:nvPr/>
        </p:nvSpPr>
        <p:spPr>
          <a:xfrm>
            <a:off x="3595140" y="1639654"/>
            <a:ext cx="55022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bar: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&amp;result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 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[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-&gt;x = 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-&gt;y = y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8373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Соглашение </a:t>
            </a:r>
            <a:r>
              <a:rPr lang="en-US" dirty="0" err="1"/>
              <a:t>cdecl</a:t>
            </a:r>
            <a:r>
              <a:rPr lang="en-US" dirty="0"/>
              <a:t> </a:t>
            </a:r>
            <a:r>
              <a:rPr lang="en-US" sz="2400" dirty="0"/>
              <a:t>(UNIX-like x86)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23821" y="2061205"/>
            <a:ext cx="3252380" cy="295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small{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50000"/>
              </a:lnSpc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y){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small{x, y};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A8185E3-8FA4-4DCD-B2DF-6B61757928F7}"/>
              </a:ext>
            </a:extLst>
          </p:cNvPr>
          <p:cNvSpPr/>
          <p:nvPr/>
        </p:nvSpPr>
        <p:spPr>
          <a:xfrm>
            <a:off x="9606879" y="1363885"/>
            <a:ext cx="2396971" cy="4497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08BD9F2-6C6C-43CE-A7B4-588D3D4374F5}"/>
              </a:ext>
            </a:extLst>
          </p:cNvPr>
          <p:cNvSpPr/>
          <p:nvPr/>
        </p:nvSpPr>
        <p:spPr>
          <a:xfrm>
            <a:off x="9606834" y="2105564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C861FC9-8197-48DF-A685-7113C1AD4B53}"/>
              </a:ext>
            </a:extLst>
          </p:cNvPr>
          <p:cNvCxnSpPr>
            <a:cxnSpLocks/>
          </p:cNvCxnSpPr>
          <p:nvPr/>
        </p:nvCxnSpPr>
        <p:spPr>
          <a:xfrm>
            <a:off x="8711305" y="3570430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081323D-66BA-43CC-A2F7-FAB4E6C86157}"/>
              </a:ext>
            </a:extLst>
          </p:cNvPr>
          <p:cNvSpPr txBox="1"/>
          <p:nvPr/>
        </p:nvSpPr>
        <p:spPr>
          <a:xfrm>
            <a:off x="8610600" y="3214933"/>
            <a:ext cx="64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385AD0-3048-4307-82B0-B15ACE4970FD}"/>
              </a:ext>
            </a:extLst>
          </p:cNvPr>
          <p:cNvSpPr/>
          <p:nvPr/>
        </p:nvSpPr>
        <p:spPr>
          <a:xfrm>
            <a:off x="9606877" y="2474298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CE120D5-ECB6-406C-84D0-04962231ABF4}"/>
              </a:ext>
            </a:extLst>
          </p:cNvPr>
          <p:cNvSpPr/>
          <p:nvPr/>
        </p:nvSpPr>
        <p:spPr>
          <a:xfrm>
            <a:off x="9606869" y="3201169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09633C0-2D5E-41E8-A517-EA06F915FCB2}"/>
              </a:ext>
            </a:extLst>
          </p:cNvPr>
          <p:cNvSpPr/>
          <p:nvPr/>
        </p:nvSpPr>
        <p:spPr>
          <a:xfrm>
            <a:off x="9606834" y="2844013"/>
            <a:ext cx="2396971" cy="3684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hidden_ptr</a:t>
            </a:r>
            <a:endParaRPr lang="en-US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4E6534C-366B-4FF5-B9C0-ADCD5A72C96D}"/>
              </a:ext>
            </a:extLst>
          </p:cNvPr>
          <p:cNvSpPr/>
          <p:nvPr/>
        </p:nvSpPr>
        <p:spPr>
          <a:xfrm>
            <a:off x="9606834" y="1363885"/>
            <a:ext cx="2396971" cy="73748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D42194E1-56FB-4885-97AC-A988E890F01B}"/>
              </a:ext>
            </a:extLst>
          </p:cNvPr>
          <p:cNvCxnSpPr>
            <a:cxnSpLocks/>
            <a:stCxn id="12" idx="1"/>
            <a:endCxn id="14" idx="1"/>
          </p:cNvCxnSpPr>
          <p:nvPr/>
        </p:nvCxnSpPr>
        <p:spPr>
          <a:xfrm rot="10800000">
            <a:off x="9606834" y="2095535"/>
            <a:ext cx="12700" cy="932688"/>
          </a:xfrm>
          <a:prstGeom prst="bentConnector3">
            <a:avLst>
              <a:gd name="adj1" fmla="val 180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2A7541-6DE6-8298-1E2C-6E5499E990A3}"/>
              </a:ext>
            </a:extLst>
          </p:cNvPr>
          <p:cNvSpPr txBox="1"/>
          <p:nvPr/>
        </p:nvSpPr>
        <p:spPr>
          <a:xfrm>
            <a:off x="3581401" y="3815515"/>
            <a:ext cx="5257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foo: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&amp;result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 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-&gt;x = 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-&gt;y = y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1" u="sng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b="1" u="sng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u="sng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b="1" u="sng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0442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Соглашение </a:t>
            </a:r>
            <a:r>
              <a:rPr lang="en-US" dirty="0" err="1"/>
              <a:t>stdcall</a:t>
            </a:r>
            <a:r>
              <a:rPr lang="en-US" dirty="0"/>
              <a:t> </a:t>
            </a:r>
            <a:r>
              <a:rPr lang="en-US" sz="2400" dirty="0">
                <a:solidFill>
                  <a:prstClr val="black"/>
                </a:solidFill>
              </a:rPr>
              <a:t>(x86)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537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43</a:t>
            </a:fld>
            <a:endParaRPr lang="en-US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28B8DC0-6170-48AE-9E3A-4264F5511346}"/>
              </a:ext>
            </a:extLst>
          </p:cNvPr>
          <p:cNvSpPr txBox="1">
            <a:spLocks/>
          </p:cNvSpPr>
          <p:nvPr/>
        </p:nvSpPr>
        <p:spPr>
          <a:xfrm>
            <a:off x="838198" y="1825625"/>
            <a:ext cx="100062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Соглашение </a:t>
            </a:r>
            <a:r>
              <a:rPr lang="en-US" sz="2000" b="1" dirty="0" err="1"/>
              <a:t>stdcall</a:t>
            </a:r>
            <a:r>
              <a:rPr lang="en-US" sz="2000" dirty="0"/>
              <a:t> </a:t>
            </a:r>
            <a:r>
              <a:rPr lang="ru-RU" sz="2000" dirty="0"/>
              <a:t>используется в </a:t>
            </a:r>
            <a:r>
              <a:rPr lang="en-US" sz="2000" dirty="0" err="1"/>
              <a:t>WinAPI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Данное соглашение аналогично </a:t>
            </a:r>
            <a:r>
              <a:rPr lang="en-US" sz="2000" dirty="0" err="1"/>
              <a:t>cdecl</a:t>
            </a:r>
            <a:r>
              <a:rPr lang="en-US" sz="2000" dirty="0"/>
              <a:t>, </a:t>
            </a:r>
            <a:r>
              <a:rPr lang="ru-RU" sz="2000" dirty="0"/>
              <a:t>за исключением того, что </a:t>
            </a:r>
            <a:r>
              <a:rPr lang="ru-RU" sz="2000" i="1" dirty="0"/>
              <a:t>аргументы со стека убирает вызываемая функция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Для удаления аргументов используется инструкция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 N</a:t>
            </a:r>
            <a:r>
              <a:rPr lang="en-US" sz="2000" dirty="0"/>
              <a:t>, </a:t>
            </a:r>
            <a:r>
              <a:rPr lang="ru-RU" sz="2000" dirty="0"/>
              <a:t>где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000" dirty="0"/>
              <a:t> – </a:t>
            </a:r>
            <a:r>
              <a:rPr lang="ru-RU" sz="2000" dirty="0"/>
              <a:t>общий размер аргументов. После восстановления адреса возврата данная инструкция увеличивает значение регистра </a:t>
            </a:r>
            <a:r>
              <a:rPr lang="en-US" sz="2000" dirty="0"/>
              <a:t>ESP </a:t>
            </a:r>
            <a:r>
              <a:rPr lang="ru-RU" sz="2000" dirty="0"/>
              <a:t>на </a:t>
            </a:r>
            <a:r>
              <a:rPr lang="en-US" sz="2000" dirty="0"/>
              <a:t>N.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При использовании этого соглашения</a:t>
            </a:r>
            <a:r>
              <a:rPr lang="en-US" sz="2000" i="1" dirty="0"/>
              <a:t> </a:t>
            </a:r>
            <a:r>
              <a:rPr lang="ru-RU" sz="2000" dirty="0"/>
              <a:t>к имени функции добавляется префикс _ и постфикс </a:t>
            </a:r>
            <a:r>
              <a:rPr lang="en-US" sz="2000" i="1" dirty="0"/>
              <a:t>@&lt;</a:t>
            </a:r>
            <a:r>
              <a:rPr lang="ru-RU" sz="2000" i="1" dirty="0"/>
              <a:t>общий размер аргументов</a:t>
            </a:r>
            <a:r>
              <a:rPr lang="en-US" sz="2000" i="1" dirty="0"/>
              <a:t>&gt; </a:t>
            </a:r>
            <a:r>
              <a:rPr lang="en-US" sz="2000" dirty="0"/>
              <a:t>(</a:t>
            </a:r>
            <a:r>
              <a:rPr lang="ru-RU" sz="2000" dirty="0"/>
              <a:t>исключение – функции </a:t>
            </a:r>
            <a:r>
              <a:rPr lang="en-US" sz="2000" dirty="0" err="1"/>
              <a:t>WinAPI</a:t>
            </a:r>
            <a:r>
              <a:rPr lang="en-US" sz="2000" dirty="0"/>
              <a:t>, </a:t>
            </a:r>
            <a:r>
              <a:rPr lang="ru-RU" sz="2000" dirty="0"/>
              <a:t>у которых отсутствует префикс _</a:t>
            </a:r>
            <a:r>
              <a:rPr lang="en-US" sz="2000" dirty="0"/>
              <a:t>)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endParaRPr lang="ru-RU" sz="20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767217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stdcall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44</a:t>
            </a:fld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26BC5-320B-43FE-ADF2-267ED3001A19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C4ACFD6-C558-4723-8C1F-C90A5FFDE992}"/>
              </a:ext>
            </a:extLst>
          </p:cNvPr>
          <p:cNvCxnSpPr>
            <a:cxnSpLocks/>
          </p:cNvCxnSpPr>
          <p:nvPr/>
        </p:nvCxnSpPr>
        <p:spPr>
          <a:xfrm>
            <a:off x="8187893" y="2190338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3B5C48-05A4-4E09-8870-6DD16D7E24D4}"/>
              </a:ext>
            </a:extLst>
          </p:cNvPr>
          <p:cNvSpPr txBox="1"/>
          <p:nvPr/>
        </p:nvSpPr>
        <p:spPr>
          <a:xfrm>
            <a:off x="8121111" y="1795060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2D6ED-0C2C-40DD-8303-246777945EDA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FE8953-B40C-4CEF-9B1B-40B098337941}"/>
              </a:ext>
            </a:extLst>
          </p:cNvPr>
          <p:cNvSpPr txBox="1"/>
          <p:nvPr/>
        </p:nvSpPr>
        <p:spPr>
          <a:xfrm>
            <a:off x="9753601" y="5176947"/>
            <a:ext cx="755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2D57C54-49E6-4361-BFE6-2D8CA1244D10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3F1DA-2581-B456-107A-C3B0326FA379}"/>
              </a:ext>
            </a:extLst>
          </p:cNvPr>
          <p:cNvSpPr txBox="1"/>
          <p:nvPr/>
        </p:nvSpPr>
        <p:spPr>
          <a:xfrm>
            <a:off x="2531717" y="2136338"/>
            <a:ext cx="499688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 __</a:t>
            </a:r>
            <a:r>
              <a:rPr lang="en-US" dirty="0" err="1">
                <a:latin typeface="Consolas" panose="020B0609020204030204" pitchFamily="49" charset="0"/>
              </a:rPr>
              <a:t>stdcall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</a:rPr>
              <a:t>(int a, int b, int c)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a*</a:t>
            </a:r>
            <a:r>
              <a:rPr lang="en-US" dirty="0" err="1">
                <a:latin typeface="Consolas" panose="020B0609020204030204" pitchFamily="49" charset="0"/>
              </a:rPr>
              <a:t>b+c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__</a:t>
            </a:r>
            <a:r>
              <a:rPr lang="en-US" dirty="0" err="1">
                <a:latin typeface="Consolas" panose="020B0609020204030204" pitchFamily="49" charset="0"/>
              </a:rPr>
              <a:t>stdcall</a:t>
            </a:r>
            <a:r>
              <a:rPr lang="en-US" dirty="0">
                <a:latin typeface="Consolas" panose="020B0609020204030204" pitchFamily="49" charset="0"/>
              </a:rPr>
              <a:t> f()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int x = 16;</a:t>
            </a:r>
          </a:p>
          <a:p>
            <a:r>
              <a:rPr lang="en-US" dirty="0">
                <a:latin typeface="Consolas" panose="020B0609020204030204" pitchFamily="49" charset="0"/>
              </a:rPr>
              <a:t>   int z = </a:t>
            </a:r>
            <a:r>
              <a:rPr lang="en-US" dirty="0" err="1">
                <a:latin typeface="Consolas" panose="020B06090202040302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</a:rPr>
              <a:t>(x, 4, 1);</a:t>
            </a:r>
          </a:p>
          <a:p>
            <a:r>
              <a:rPr lang="en-US" dirty="0">
                <a:latin typeface="Consolas" panose="020B0609020204030204" pitchFamily="49" charset="0"/>
              </a:rPr>
              <a:t>   /*…*/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17512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_f@0: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20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_fma@12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 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4439755" y="4146245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4799195" y="3779370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416408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021130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08C4FADF-E1EB-4F07-B9F0-50C2512E5916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F20A8C7-5316-403C-8E85-B802C6B3D7C4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1D16EB0-32FA-7FB4-FA7F-C3A4027BF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Вызов </a:t>
            </a:r>
            <a:r>
              <a:rPr lang="en-US" dirty="0" err="1"/>
              <a:t>stdcall</a:t>
            </a:r>
            <a:r>
              <a:rPr lang="en-US" dirty="0"/>
              <a:t>-</a:t>
            </a:r>
            <a:r>
              <a:rPr lang="ru-RU" dirty="0"/>
              <a:t>функции </a:t>
            </a:r>
            <a:r>
              <a:rPr lang="ru-RU" sz="1600" dirty="0"/>
              <a:t>(</a:t>
            </a:r>
            <a:r>
              <a:rPr lang="en-US" sz="1600" dirty="0"/>
              <a:t>Windows </a:t>
            </a:r>
            <a:r>
              <a:rPr lang="ru-RU" sz="1600" dirty="0"/>
              <a:t>х86</a:t>
            </a:r>
            <a:r>
              <a:rPr lang="en-US" sz="1600" dirty="0"/>
              <a:t>-32</a:t>
            </a:r>
            <a:r>
              <a:rPr lang="ru-RU" sz="1600" dirty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34020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stdcall-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44798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_fma@12: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+ 12]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+ 16]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 12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79965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40437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A102C1-63B9-4B2C-91D7-BAE2BB58908C}"/>
              </a:ext>
            </a:extLst>
          </p:cNvPr>
          <p:cNvSpPr/>
          <p:nvPr/>
        </p:nvSpPr>
        <p:spPr>
          <a:xfrm>
            <a:off x="8953736" y="4430285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1954BE90-90C2-4D58-BE0A-396E2270FDDD}"/>
              </a:ext>
            </a:extLst>
          </p:cNvPr>
          <p:cNvCxnSpPr>
            <a:cxnSpLocks/>
          </p:cNvCxnSpPr>
          <p:nvPr/>
        </p:nvCxnSpPr>
        <p:spPr>
          <a:xfrm flipH="1">
            <a:off x="2590784" y="3334210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FC87E6-2B84-4DD5-9CE5-EFD7E65CC6CB}"/>
              </a:ext>
            </a:extLst>
          </p:cNvPr>
          <p:cNvSpPr txBox="1"/>
          <p:nvPr/>
        </p:nvSpPr>
        <p:spPr>
          <a:xfrm>
            <a:off x="2950224" y="2967335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C9B2C71-7067-4F47-BB83-64CC114F695C}"/>
              </a:ext>
            </a:extLst>
          </p:cNvPr>
          <p:cNvCxnSpPr>
            <a:cxnSpLocks/>
          </p:cNvCxnSpPr>
          <p:nvPr/>
        </p:nvCxnSpPr>
        <p:spPr>
          <a:xfrm>
            <a:off x="8208048" y="25559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55BAA59-36EC-4DEC-B38C-682FF84C2019}"/>
              </a:ext>
            </a:extLst>
          </p:cNvPr>
          <p:cNvSpPr txBox="1"/>
          <p:nvPr/>
        </p:nvSpPr>
        <p:spPr>
          <a:xfrm>
            <a:off x="8141266" y="21606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B112B8-28AB-6BB2-D280-E0C5FA25FF5F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</p:spTree>
    <p:extLst>
      <p:ext uri="{BB962C8B-B14F-4D97-AF65-F5344CB8AC3E}">
        <p14:creationId xmlns:p14="http://schemas.microsoft.com/office/powerpoint/2010/main" val="3164713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stdcall-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54617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_fma@12 :   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+ 12]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+ 16]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 12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516273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76745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c=1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a=16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A102C1-63B9-4B2C-91D7-BAE2BB58908C}"/>
              </a:ext>
            </a:extLst>
          </p:cNvPr>
          <p:cNvSpPr/>
          <p:nvPr/>
        </p:nvSpPr>
        <p:spPr>
          <a:xfrm>
            <a:off x="8953736" y="4430285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7C1011E-6651-420D-AE4B-ED7AEC3D6A70}"/>
              </a:ext>
            </a:extLst>
          </p:cNvPr>
          <p:cNvSpPr/>
          <p:nvPr/>
        </p:nvSpPr>
        <p:spPr>
          <a:xfrm>
            <a:off x="8953735" y="4797773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89F2261D-210D-4952-A2AA-19346363726A}"/>
              </a:ext>
            </a:extLst>
          </p:cNvPr>
          <p:cNvCxnSpPr>
            <a:cxnSpLocks/>
          </p:cNvCxnSpPr>
          <p:nvPr/>
        </p:nvCxnSpPr>
        <p:spPr>
          <a:xfrm>
            <a:off x="7471393" y="516273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A0E92EF-D294-4EB9-8950-3346D37660E6}"/>
              </a:ext>
            </a:extLst>
          </p:cNvPr>
          <p:cNvSpPr txBox="1"/>
          <p:nvPr/>
        </p:nvSpPr>
        <p:spPr>
          <a:xfrm>
            <a:off x="7404611" y="476745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86EFE1D-F337-4D98-B53B-C9F9C57739BC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F7A6432C-1320-498A-B2B0-1A158EB58923}"/>
              </a:ext>
            </a:extLst>
          </p:cNvPr>
          <p:cNvCxnSpPr>
            <a:cxnSpLocks/>
          </p:cNvCxnSpPr>
          <p:nvPr/>
        </p:nvCxnSpPr>
        <p:spPr>
          <a:xfrm flipH="1">
            <a:off x="4632799" y="3864853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7262019-8BCC-486D-8C6E-189B0FD72A70}"/>
              </a:ext>
            </a:extLst>
          </p:cNvPr>
          <p:cNvSpPr txBox="1"/>
          <p:nvPr/>
        </p:nvSpPr>
        <p:spPr>
          <a:xfrm>
            <a:off x="4992239" y="3497978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</p:spTree>
    <p:extLst>
      <p:ext uri="{BB962C8B-B14F-4D97-AF65-F5344CB8AC3E}">
        <p14:creationId xmlns:p14="http://schemas.microsoft.com/office/powerpoint/2010/main" val="7374594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stdcall-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66854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_fma@12 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+ 8]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;a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+ 12]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;a*b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+ 16]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;a*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b+c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 12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516273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76745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c=1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a=16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A102C1-63B9-4B2C-91D7-BAE2BB58908C}"/>
              </a:ext>
            </a:extLst>
          </p:cNvPr>
          <p:cNvSpPr/>
          <p:nvPr/>
        </p:nvSpPr>
        <p:spPr>
          <a:xfrm>
            <a:off x="8953736" y="4430285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7C1011E-6651-420D-AE4B-ED7AEC3D6A70}"/>
              </a:ext>
            </a:extLst>
          </p:cNvPr>
          <p:cNvSpPr/>
          <p:nvPr/>
        </p:nvSpPr>
        <p:spPr>
          <a:xfrm>
            <a:off x="8953735" y="4797773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434872C2-423D-4CB9-8919-86CBCC844656}"/>
              </a:ext>
            </a:extLst>
          </p:cNvPr>
          <p:cNvCxnSpPr>
            <a:cxnSpLocks/>
          </p:cNvCxnSpPr>
          <p:nvPr/>
        </p:nvCxnSpPr>
        <p:spPr>
          <a:xfrm flipH="1">
            <a:off x="2530272" y="4797160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F94C858-7AE5-41B6-A087-145AE808384C}"/>
              </a:ext>
            </a:extLst>
          </p:cNvPr>
          <p:cNvSpPr txBox="1"/>
          <p:nvPr/>
        </p:nvSpPr>
        <p:spPr>
          <a:xfrm>
            <a:off x="2889712" y="4430285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67C34394-CA9C-4F8F-89E7-3F879A82DF4D}"/>
              </a:ext>
            </a:extLst>
          </p:cNvPr>
          <p:cNvCxnSpPr>
            <a:cxnSpLocks/>
          </p:cNvCxnSpPr>
          <p:nvPr/>
        </p:nvCxnSpPr>
        <p:spPr>
          <a:xfrm>
            <a:off x="7471393" y="516273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30309C6-E013-4F1C-8899-91550622D2CF}"/>
              </a:ext>
            </a:extLst>
          </p:cNvPr>
          <p:cNvSpPr txBox="1"/>
          <p:nvPr/>
        </p:nvSpPr>
        <p:spPr>
          <a:xfrm>
            <a:off x="7404611" y="476745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5E2F95E8-9F17-42AE-BA97-F11548286194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</p:spTree>
    <p:extLst>
      <p:ext uri="{BB962C8B-B14F-4D97-AF65-F5344CB8AC3E}">
        <p14:creationId xmlns:p14="http://schemas.microsoft.com/office/powerpoint/2010/main" val="35953997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stdcall-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44798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_fma@12 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+ 12]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+ 16]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 12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4806378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4411100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923063D-57C5-4AD7-9BC8-91B77585C6E1}"/>
              </a:ext>
            </a:extLst>
          </p:cNvPr>
          <p:cNvSpPr/>
          <p:nvPr/>
        </p:nvSpPr>
        <p:spPr>
          <a:xfrm>
            <a:off x="8956825" y="3311077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c=1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CF9990-DCF7-427C-A0FF-050FF7E309E1}"/>
              </a:ext>
            </a:extLst>
          </p:cNvPr>
          <p:cNvSpPr/>
          <p:nvPr/>
        </p:nvSpPr>
        <p:spPr>
          <a:xfrm>
            <a:off x="8956821" y="3679496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b=4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FBC956E-8FD5-4D0A-8DAC-C67DF2010717}"/>
              </a:ext>
            </a:extLst>
          </p:cNvPr>
          <p:cNvSpPr/>
          <p:nvPr/>
        </p:nvSpPr>
        <p:spPr>
          <a:xfrm>
            <a:off x="8956797" y="405531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a=16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A102C1-63B9-4B2C-91D7-BAE2BB58908C}"/>
              </a:ext>
            </a:extLst>
          </p:cNvPr>
          <p:cNvSpPr/>
          <p:nvPr/>
        </p:nvSpPr>
        <p:spPr>
          <a:xfrm>
            <a:off x="8953736" y="4430285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4ED5CC81-0203-460A-85F7-4A4165CD1211}"/>
              </a:ext>
            </a:extLst>
          </p:cNvPr>
          <p:cNvCxnSpPr>
            <a:cxnSpLocks/>
          </p:cNvCxnSpPr>
          <p:nvPr/>
        </p:nvCxnSpPr>
        <p:spPr>
          <a:xfrm flipH="1">
            <a:off x="2313614" y="4934746"/>
            <a:ext cx="896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578C76C-404E-49CF-ABB6-047BD47279F6}"/>
              </a:ext>
            </a:extLst>
          </p:cNvPr>
          <p:cNvSpPr txBox="1"/>
          <p:nvPr/>
        </p:nvSpPr>
        <p:spPr>
          <a:xfrm>
            <a:off x="2673054" y="4567871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27A8A520-A2DF-4726-99F4-D23D6A63B7B7}"/>
              </a:ext>
            </a:extLst>
          </p:cNvPr>
          <p:cNvCxnSpPr>
            <a:cxnSpLocks/>
          </p:cNvCxnSpPr>
          <p:nvPr/>
        </p:nvCxnSpPr>
        <p:spPr>
          <a:xfrm>
            <a:off x="8220182" y="2554499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ECF4A5F-753B-483B-AC98-AF4E819A7BB8}"/>
              </a:ext>
            </a:extLst>
          </p:cNvPr>
          <p:cNvSpPr txBox="1"/>
          <p:nvPr/>
        </p:nvSpPr>
        <p:spPr>
          <a:xfrm>
            <a:off x="8153400" y="2159221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B119E3BB-FAA4-4138-8FC4-FC22DB995501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</p:spTree>
    <p:extLst>
      <p:ext uri="{BB962C8B-B14F-4D97-AF65-F5344CB8AC3E}">
        <p14:creationId xmlns:p14="http://schemas.microsoft.com/office/powerpoint/2010/main" val="3231229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stdcall-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2856040"/>
            <a:ext cx="44798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_fma@12: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+ 12]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+ 16]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leave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 12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результат в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3311422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2916144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086255D-2633-4FDE-9729-A8AFDBAF69BC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AEC5886B-B129-463F-866B-BCA911C8153B}"/>
              </a:ext>
            </a:extLst>
          </p:cNvPr>
          <p:cNvCxnSpPr>
            <a:cxnSpLocks/>
          </p:cNvCxnSpPr>
          <p:nvPr/>
        </p:nvCxnSpPr>
        <p:spPr>
          <a:xfrm>
            <a:off x="8220182" y="2554499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CCD8744-6ED3-4BDF-A0B5-F970AEAAC575}"/>
              </a:ext>
            </a:extLst>
          </p:cNvPr>
          <p:cNvSpPr txBox="1"/>
          <p:nvPr/>
        </p:nvSpPr>
        <p:spPr>
          <a:xfrm>
            <a:off x="8153400" y="2159221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4EFCA15-69CC-44CF-9F83-437C6D3218D7}"/>
              </a:ext>
            </a:extLst>
          </p:cNvPr>
          <p:cNvSpPr/>
          <p:nvPr/>
        </p:nvSpPr>
        <p:spPr>
          <a:xfrm>
            <a:off x="838200" y="1980308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fma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(int a, int b, int c)</a:t>
            </a:r>
          </a:p>
        </p:txBody>
      </p:sp>
    </p:spTree>
    <p:extLst>
      <p:ext uri="{BB962C8B-B14F-4D97-AF65-F5344CB8AC3E}">
        <p14:creationId xmlns:p14="http://schemas.microsoft.com/office/powerpoint/2010/main" val="341810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/>
          <a:lstStyle/>
          <a:p>
            <a:r>
              <a:rPr lang="ru-RU"/>
              <a:t>Вызов </a:t>
            </a:r>
            <a:r>
              <a:rPr lang="en-US"/>
              <a:t>stdcall-</a:t>
            </a:r>
            <a:r>
              <a:rPr lang="ru-RU"/>
              <a:t>функции </a:t>
            </a:r>
            <a:r>
              <a:rPr lang="ru-RU" sz="1600"/>
              <a:t>(</a:t>
            </a:r>
            <a:r>
              <a:rPr lang="en-US" sz="1600"/>
              <a:t>Windows </a:t>
            </a:r>
            <a:r>
              <a:rPr lang="ru-RU" sz="1600"/>
              <a:t>х86</a:t>
            </a:r>
            <a:r>
              <a:rPr lang="en-US" sz="1600"/>
              <a:t>-32</a:t>
            </a:r>
            <a:r>
              <a:rPr lang="ru-RU" sz="1600"/>
              <a:t>)</a:t>
            </a:r>
            <a:endParaRPr lang="en-US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59CB-0122-4EC7-B162-F4AAB2560163}"/>
              </a:ext>
            </a:extLst>
          </p:cNvPr>
          <p:cNvSpPr txBox="1"/>
          <p:nvPr/>
        </p:nvSpPr>
        <p:spPr>
          <a:xfrm>
            <a:off x="838200" y="1531380"/>
            <a:ext cx="4479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_f@0: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- 4], 16 ;x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- 4]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+ 4], 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+ 8],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 _fma@12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- 8],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; z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 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BBBC2DB-C61C-4D31-ADB7-95D8F691AD72}"/>
              </a:ext>
            </a:extLst>
          </p:cNvPr>
          <p:cNvCxnSpPr>
            <a:cxnSpLocks/>
          </p:cNvCxnSpPr>
          <p:nvPr/>
        </p:nvCxnSpPr>
        <p:spPr>
          <a:xfrm flipH="1">
            <a:off x="4958659" y="4758008"/>
            <a:ext cx="896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AECA33-4D18-46A1-AFC4-62571282EE3C}"/>
              </a:ext>
            </a:extLst>
          </p:cNvPr>
          <p:cNvSpPr txBox="1"/>
          <p:nvPr/>
        </p:nvSpPr>
        <p:spPr>
          <a:xfrm>
            <a:off x="5318099" y="4391133"/>
            <a:ext cx="58060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EIP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4DF4FF3-BD44-4129-BA2D-B2DFC1BA4958}"/>
              </a:ext>
            </a:extLst>
          </p:cNvPr>
          <p:cNvSpPr/>
          <p:nvPr/>
        </p:nvSpPr>
        <p:spPr>
          <a:xfrm>
            <a:off x="8956829" y="1856537"/>
            <a:ext cx="1982353" cy="4101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BCECAEA-7FEE-45DD-A071-46EA1B813FEB}"/>
              </a:ext>
            </a:extLst>
          </p:cNvPr>
          <p:cNvCxnSpPr>
            <a:cxnSpLocks/>
          </p:cNvCxnSpPr>
          <p:nvPr/>
        </p:nvCxnSpPr>
        <p:spPr>
          <a:xfrm>
            <a:off x="8220182" y="3316316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FCBD4F-0473-40E8-8C5C-4F6EF5DC43C3}"/>
              </a:ext>
            </a:extLst>
          </p:cNvPr>
          <p:cNvSpPr txBox="1"/>
          <p:nvPr/>
        </p:nvSpPr>
        <p:spPr>
          <a:xfrm>
            <a:off x="8153400" y="2921038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4983C9D-2BB1-4E17-918A-9CB0B97C81DF}"/>
              </a:ext>
            </a:extLst>
          </p:cNvPr>
          <p:cNvCxnSpPr>
            <a:cxnSpLocks/>
          </p:cNvCxnSpPr>
          <p:nvPr/>
        </p:nvCxnSpPr>
        <p:spPr>
          <a:xfrm>
            <a:off x="8956829" y="5493124"/>
            <a:ext cx="19823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82EC16-0A62-4C65-A19D-762A4B808EA0}"/>
              </a:ext>
            </a:extLst>
          </p:cNvPr>
          <p:cNvSpPr txBox="1"/>
          <p:nvPr/>
        </p:nvSpPr>
        <p:spPr>
          <a:xfrm>
            <a:off x="9473964" y="5178409"/>
            <a:ext cx="94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ru-RU" dirty="0"/>
              <a:t>байта</a:t>
            </a:r>
            <a:endParaRPr lang="en-US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87B235-BBD4-4DD1-AA66-B70C1FE791F8}"/>
              </a:ext>
            </a:extLst>
          </p:cNvPr>
          <p:cNvSpPr/>
          <p:nvPr/>
        </p:nvSpPr>
        <p:spPr>
          <a:xfrm>
            <a:off x="8956829" y="1836916"/>
            <a:ext cx="1982353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459E72-C759-4C37-A40A-204EB5987120}"/>
              </a:ext>
            </a:extLst>
          </p:cNvPr>
          <p:cNvSpPr/>
          <p:nvPr/>
        </p:nvSpPr>
        <p:spPr>
          <a:xfrm>
            <a:off x="8956829" y="2195247"/>
            <a:ext cx="1982353" cy="3684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Сохраненный</a:t>
            </a:r>
            <a:r>
              <a:rPr lang="en-US" dirty="0"/>
              <a:t> EBP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4B19-3224-4B84-BBA3-A1E413EC39DE}"/>
              </a:ext>
            </a:extLst>
          </p:cNvPr>
          <p:cNvSpPr/>
          <p:nvPr/>
        </p:nvSpPr>
        <p:spPr>
          <a:xfrm>
            <a:off x="8956828" y="2562707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ru-RU" dirty="0"/>
              <a:t>16</a:t>
            </a:r>
            <a:endParaRPr lang="en-US" dirty="0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CABF84AF-04A9-44C8-A088-4625471FA171}"/>
              </a:ext>
            </a:extLst>
          </p:cNvPr>
          <p:cNvCxnSpPr>
            <a:cxnSpLocks/>
          </p:cNvCxnSpPr>
          <p:nvPr/>
        </p:nvCxnSpPr>
        <p:spPr>
          <a:xfrm>
            <a:off x="8220182" y="2554499"/>
            <a:ext cx="740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74DE62E-868E-427A-8A4B-ECACE887745F}"/>
              </a:ext>
            </a:extLst>
          </p:cNvPr>
          <p:cNvSpPr txBox="1"/>
          <p:nvPr/>
        </p:nvSpPr>
        <p:spPr>
          <a:xfrm>
            <a:off x="8153400" y="2159221"/>
            <a:ext cx="860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EBP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5D2FDB8-1ED9-4F8D-A536-B3DDF0841ECA}"/>
              </a:ext>
            </a:extLst>
          </p:cNvPr>
          <p:cNvSpPr/>
          <p:nvPr/>
        </p:nvSpPr>
        <p:spPr>
          <a:xfrm>
            <a:off x="8956827" y="2936630"/>
            <a:ext cx="1982353" cy="36841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z=65</a:t>
            </a:r>
          </a:p>
        </p:txBody>
      </p:sp>
    </p:spTree>
    <p:extLst>
      <p:ext uri="{BB962C8B-B14F-4D97-AF65-F5344CB8AC3E}">
        <p14:creationId xmlns:p14="http://schemas.microsoft.com/office/powerpoint/2010/main" val="31306635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методов класса</a:t>
            </a:r>
            <a:r>
              <a:rPr lang="en-US" dirty="0"/>
              <a:t> </a:t>
            </a:r>
            <a:r>
              <a:rPr lang="en-US" sz="2400" dirty="0"/>
              <a:t>(x86)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537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52</a:t>
            </a:fld>
            <a:endParaRPr lang="en-US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28B8DC0-6170-48AE-9E3A-4264F5511346}"/>
              </a:ext>
            </a:extLst>
          </p:cNvPr>
          <p:cNvSpPr txBox="1">
            <a:spLocks/>
          </p:cNvSpPr>
          <p:nvPr/>
        </p:nvSpPr>
        <p:spPr>
          <a:xfrm>
            <a:off x="838198" y="1485900"/>
            <a:ext cx="10372727" cy="51053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i="1" dirty="0"/>
              <a:t>При сборке для </a:t>
            </a:r>
            <a:r>
              <a:rPr lang="en-US" sz="2000" i="1" dirty="0"/>
              <a:t>Windows</a:t>
            </a:r>
            <a:r>
              <a:rPr lang="ru-RU" sz="2000" i="1" dirty="0"/>
              <a:t> </a:t>
            </a:r>
            <a:r>
              <a:rPr lang="ru-RU" sz="2000" dirty="0"/>
              <a:t>для вызова методов</a:t>
            </a:r>
            <a:r>
              <a:rPr lang="en-US" sz="2000" dirty="0"/>
              <a:t> </a:t>
            </a:r>
            <a:r>
              <a:rPr lang="en-US" sz="2000" dirty="0" err="1"/>
              <a:t>класса</a:t>
            </a:r>
            <a:r>
              <a:rPr lang="ru-RU" sz="2000" dirty="0"/>
              <a:t> используется соглашение </a:t>
            </a:r>
            <a:r>
              <a:rPr lang="en-US" sz="2000" dirty="0"/>
              <a:t> </a:t>
            </a:r>
            <a:r>
              <a:rPr lang="en-US" sz="2000" b="1" dirty="0" err="1"/>
              <a:t>thiscall</a:t>
            </a:r>
            <a:r>
              <a:rPr lang="ru-RU" sz="2000" b="1" dirty="0"/>
              <a:t>.</a:t>
            </a:r>
            <a:r>
              <a:rPr lang="en-US" sz="2000" dirty="0"/>
              <a:t> </a:t>
            </a:r>
            <a:r>
              <a:rPr lang="ru-RU" sz="2000" dirty="0"/>
              <a:t>Данное соглашение аналогично </a:t>
            </a:r>
            <a:r>
              <a:rPr lang="en-US" sz="2000" dirty="0" err="1"/>
              <a:t>stdcall</a:t>
            </a:r>
            <a:r>
              <a:rPr lang="en-US" sz="2000" dirty="0"/>
              <a:t>, </a:t>
            </a:r>
            <a:r>
              <a:rPr lang="ru-RU" sz="2000" dirty="0"/>
              <a:t>с той разницей, что</a:t>
            </a:r>
            <a:r>
              <a:rPr lang="ru-RU" sz="2000" i="1" dirty="0"/>
              <a:t> </a:t>
            </a:r>
            <a:r>
              <a:rPr lang="ru-RU" sz="2000" u="sng" dirty="0"/>
              <a:t>указатель </a:t>
            </a:r>
            <a:r>
              <a:rPr lang="en-US" sz="2000" u="sng" dirty="0"/>
              <a:t>this </a:t>
            </a:r>
            <a:r>
              <a:rPr lang="ru-RU" sz="2000" u="sng" dirty="0"/>
              <a:t>передается в регистре </a:t>
            </a:r>
            <a:r>
              <a:rPr lang="en-US" sz="2000" u="sng" dirty="0"/>
              <a:t>ECX</a:t>
            </a:r>
            <a:r>
              <a:rPr lang="en-US" sz="2000" dirty="0"/>
              <a:t>.</a:t>
            </a:r>
            <a:r>
              <a:rPr lang="ru-RU" sz="2000" dirty="0"/>
              <a:t> Кроме того, если метод возвращает структуру, то она всегда возвращается через буфер на стеке (не через регистры).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ru-RU" sz="2000" dirty="0"/>
              <a:t>Если метод класса имеет переменное число аргументов, используется соглашение </a:t>
            </a:r>
            <a:r>
              <a:rPr lang="en-US" sz="2000" dirty="0" err="1"/>
              <a:t>cdecl</a:t>
            </a:r>
            <a:r>
              <a:rPr lang="ru-RU" sz="2000" dirty="0"/>
              <a:t> с </a:t>
            </a:r>
            <a:r>
              <a:rPr lang="en-US" sz="2000" dirty="0"/>
              <a:t>this </a:t>
            </a:r>
            <a:r>
              <a:rPr lang="ru-RU" sz="2000" dirty="0"/>
              <a:t>в качестве первого аргумента.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ru-RU" sz="2000" i="1" dirty="0"/>
              <a:t>При сборке для </a:t>
            </a:r>
            <a:r>
              <a:rPr lang="en-US" sz="2000" i="1" dirty="0"/>
              <a:t>UNIX-like </a:t>
            </a:r>
            <a:r>
              <a:rPr lang="ru-RU" sz="2000" i="1" dirty="0"/>
              <a:t>систем </a:t>
            </a:r>
            <a:r>
              <a:rPr lang="ru-RU" sz="2000" dirty="0"/>
              <a:t>для вызова методов класса используется соглашение </a:t>
            </a:r>
            <a:r>
              <a:rPr lang="en-US" sz="2000" dirty="0" err="1"/>
              <a:t>cdecl</a:t>
            </a:r>
            <a:r>
              <a:rPr lang="en-US" sz="2000" dirty="0"/>
              <a:t>. </a:t>
            </a:r>
            <a:r>
              <a:rPr lang="ru-RU" sz="2000" u="sng" dirty="0"/>
              <a:t>Указатель </a:t>
            </a:r>
            <a:r>
              <a:rPr lang="en-US" sz="2000" u="sng" dirty="0"/>
              <a:t>this </a:t>
            </a:r>
            <a:r>
              <a:rPr lang="ru-RU" sz="2000" u="sng" dirty="0"/>
              <a:t>считается первым аргументом</a:t>
            </a:r>
            <a:r>
              <a:rPr lang="ru-RU" sz="2000" dirty="0"/>
              <a:t>. Если метод возвращает структуру, то указатель на буфер является первым </a:t>
            </a:r>
            <a:r>
              <a:rPr lang="ru-RU" sz="2000" i="1" dirty="0"/>
              <a:t>скрытым </a:t>
            </a:r>
            <a:r>
              <a:rPr lang="ru-RU" sz="2000" dirty="0"/>
              <a:t>аргументом, </a:t>
            </a:r>
            <a:r>
              <a:rPr lang="en-US" sz="2000" dirty="0"/>
              <a:t>this </a:t>
            </a:r>
            <a:r>
              <a:rPr lang="ru-RU" sz="2000" dirty="0"/>
              <a:t>является вторым аргументом. Указатель </a:t>
            </a:r>
            <a:r>
              <a:rPr lang="en-US" sz="2000" dirty="0"/>
              <a:t>this</a:t>
            </a:r>
            <a:r>
              <a:rPr lang="ru-RU" sz="2000" dirty="0"/>
              <a:t>, как </a:t>
            </a:r>
            <a:r>
              <a:rPr lang="ru-RU" sz="2000" dirty="0" err="1"/>
              <a:t>нескрытый</a:t>
            </a:r>
            <a:r>
              <a:rPr lang="ru-RU" sz="2000" dirty="0"/>
              <a:t> параметр, удаляется вызывающей функцией.</a:t>
            </a:r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ru-RU" sz="2000" dirty="0"/>
              <a:t>В любом случае, имя метода подвергается искажению, правила которого – свои для каждого компилятора (см. след. лекцию).</a:t>
            </a:r>
            <a:endParaRPr lang="en-US" sz="2000" dirty="0"/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ru-RU" sz="1600" i="1" dirty="0"/>
              <a:t>Стоит посмотреть: соглашения </a:t>
            </a:r>
            <a:r>
              <a:rPr lang="en-US" sz="1600" i="1" dirty="0" err="1"/>
              <a:t>fastcall</a:t>
            </a:r>
            <a:r>
              <a:rPr lang="en-US" sz="1600" i="1" dirty="0"/>
              <a:t>, pascal, </a:t>
            </a:r>
            <a:r>
              <a:rPr lang="en-US" sz="1600" i="1" dirty="0" err="1"/>
              <a:t>vectorcall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155076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методов класса</a:t>
            </a:r>
            <a:r>
              <a:rPr lang="en-US" dirty="0"/>
              <a:t> </a:t>
            </a:r>
            <a:r>
              <a:rPr lang="en-US" sz="2400" dirty="0">
                <a:solidFill>
                  <a:prstClr val="black"/>
                </a:solidFill>
              </a:rPr>
              <a:t>(Windows x86)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39" y="1401577"/>
            <a:ext cx="36734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small{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Cls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method(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y){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small{x, y};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53</a:t>
            </a:fld>
            <a:endParaRPr lang="en-US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CE45182-BC16-44AF-942F-88F756FB3E6F}"/>
              </a:ext>
            </a:extLst>
          </p:cNvPr>
          <p:cNvSpPr/>
          <p:nvPr/>
        </p:nvSpPr>
        <p:spPr>
          <a:xfrm>
            <a:off x="9268195" y="1403387"/>
            <a:ext cx="2396971" cy="4497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519B498-CA21-4EAA-A961-4B8FA9DF4318}"/>
              </a:ext>
            </a:extLst>
          </p:cNvPr>
          <p:cNvSpPr/>
          <p:nvPr/>
        </p:nvSpPr>
        <p:spPr>
          <a:xfrm>
            <a:off x="9268150" y="3673942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4DA40CDB-6948-4F7B-82FD-336B7F58063C}"/>
              </a:ext>
            </a:extLst>
          </p:cNvPr>
          <p:cNvCxnSpPr>
            <a:cxnSpLocks/>
          </p:cNvCxnSpPr>
          <p:nvPr/>
        </p:nvCxnSpPr>
        <p:spPr>
          <a:xfrm>
            <a:off x="8372621" y="4773047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C3AD503-ED5C-4D3A-9E4C-CB99050DC32F}"/>
              </a:ext>
            </a:extLst>
          </p:cNvPr>
          <p:cNvSpPr txBox="1"/>
          <p:nvPr/>
        </p:nvSpPr>
        <p:spPr>
          <a:xfrm>
            <a:off x="8271916" y="4417550"/>
            <a:ext cx="64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D224967-75C3-4476-BA1B-4F93673AAE96}"/>
              </a:ext>
            </a:extLst>
          </p:cNvPr>
          <p:cNvSpPr/>
          <p:nvPr/>
        </p:nvSpPr>
        <p:spPr>
          <a:xfrm>
            <a:off x="9268185" y="4403786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04010E8-7456-4936-9647-A007BB0AD97D}"/>
              </a:ext>
            </a:extLst>
          </p:cNvPr>
          <p:cNvSpPr/>
          <p:nvPr/>
        </p:nvSpPr>
        <p:spPr>
          <a:xfrm>
            <a:off x="9268150" y="4046630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result_ptr</a:t>
            </a:r>
            <a:endParaRPr lang="en-US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C4BC299-3D9E-4579-8B54-F60A00B67AC4}"/>
              </a:ext>
            </a:extLst>
          </p:cNvPr>
          <p:cNvSpPr/>
          <p:nvPr/>
        </p:nvSpPr>
        <p:spPr>
          <a:xfrm>
            <a:off x="9268150" y="2927228"/>
            <a:ext cx="2396971" cy="74252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12531B46-33DF-43D9-8236-3223DA3357D9}"/>
              </a:ext>
            </a:extLst>
          </p:cNvPr>
          <p:cNvCxnSpPr>
            <a:cxnSpLocks/>
          </p:cNvCxnSpPr>
          <p:nvPr/>
        </p:nvCxnSpPr>
        <p:spPr>
          <a:xfrm rot="10800000">
            <a:off x="9268150" y="3669469"/>
            <a:ext cx="12700" cy="576000"/>
          </a:xfrm>
          <a:prstGeom prst="bentConnector3">
            <a:avLst>
              <a:gd name="adj1" fmla="val 180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46B01EE-DE84-4E4A-BFCB-A1309386158E}"/>
              </a:ext>
            </a:extLst>
          </p:cNvPr>
          <p:cNvSpPr/>
          <p:nvPr/>
        </p:nvSpPr>
        <p:spPr>
          <a:xfrm>
            <a:off x="11665121" y="2928070"/>
            <a:ext cx="354565" cy="365125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.y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D45B2DB-4734-4E17-8DFA-139D1C5C9962}"/>
              </a:ext>
            </a:extLst>
          </p:cNvPr>
          <p:cNvSpPr/>
          <p:nvPr/>
        </p:nvSpPr>
        <p:spPr>
          <a:xfrm>
            <a:off x="11665121" y="3297388"/>
            <a:ext cx="354565" cy="365125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.x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173C2D-A1EB-4F17-BD3B-7137D3F3124F}"/>
              </a:ext>
            </a:extLst>
          </p:cNvPr>
          <p:cNvSpPr/>
          <p:nvPr/>
        </p:nvSpPr>
        <p:spPr>
          <a:xfrm>
            <a:off x="9268149" y="1407424"/>
            <a:ext cx="2396971" cy="3684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91B6E55-A6E1-4367-BE76-C840882E829E}"/>
              </a:ext>
            </a:extLst>
          </p:cNvPr>
          <p:cNvSpPr/>
          <p:nvPr/>
        </p:nvSpPr>
        <p:spPr>
          <a:xfrm>
            <a:off x="11665120" y="1402979"/>
            <a:ext cx="354565" cy="365125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.x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5827A2F7-BA9B-4F36-9A81-169DCC770195}"/>
              </a:ext>
            </a:extLst>
          </p:cNvPr>
          <p:cNvCxnSpPr>
            <a:cxnSpLocks/>
          </p:cNvCxnSpPr>
          <p:nvPr/>
        </p:nvCxnSpPr>
        <p:spPr>
          <a:xfrm>
            <a:off x="8371220" y="1780384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B2CC488-9825-4191-A4E2-BDBA4E2DA67D}"/>
              </a:ext>
            </a:extLst>
          </p:cNvPr>
          <p:cNvSpPr txBox="1"/>
          <p:nvPr/>
        </p:nvSpPr>
        <p:spPr>
          <a:xfrm>
            <a:off x="8270515" y="1424887"/>
            <a:ext cx="664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</a:t>
            </a:r>
            <a:r>
              <a:rPr lang="ru-RU" sz="2400" b="1" dirty="0"/>
              <a:t>CX</a:t>
            </a:r>
            <a:endParaRPr lang="en-US" sz="2400" b="1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06D34A0-B587-4D91-849B-B9537DA31CFB}"/>
              </a:ext>
            </a:extLst>
          </p:cNvPr>
          <p:cNvSpPr/>
          <p:nvPr/>
        </p:nvSpPr>
        <p:spPr>
          <a:xfrm>
            <a:off x="9274498" y="1782852"/>
            <a:ext cx="2390621" cy="113041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F6813-34B1-ACE7-84FF-C46348277B5C}"/>
              </a:ext>
            </a:extLst>
          </p:cNvPr>
          <p:cNvSpPr txBox="1"/>
          <p:nvPr/>
        </p:nvSpPr>
        <p:spPr>
          <a:xfrm>
            <a:off x="3666587" y="2084953"/>
            <a:ext cx="56142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method&gt;: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=&amp;result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(*this).x  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=y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 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1555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методов класса</a:t>
            </a:r>
            <a:r>
              <a:rPr lang="en-US" dirty="0"/>
              <a:t> </a:t>
            </a:r>
            <a:r>
              <a:rPr lang="en-US" sz="2400" dirty="0">
                <a:solidFill>
                  <a:prstClr val="black"/>
                </a:solidFill>
              </a:rPr>
              <a:t>(UNIX-like x86)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" y="1690688"/>
            <a:ext cx="370199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small{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Cls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x;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method(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y){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small{x, y};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54</a:t>
            </a:fld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151A034-2E31-4F13-BD9F-99E0701CC320}"/>
              </a:ext>
            </a:extLst>
          </p:cNvPr>
          <p:cNvSpPr/>
          <p:nvPr/>
        </p:nvSpPr>
        <p:spPr>
          <a:xfrm>
            <a:off x="9410087" y="1544219"/>
            <a:ext cx="2396971" cy="4497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7C535D-50D1-4E51-90A2-FEAFDF46B7A7}"/>
              </a:ext>
            </a:extLst>
          </p:cNvPr>
          <p:cNvSpPr/>
          <p:nvPr/>
        </p:nvSpPr>
        <p:spPr>
          <a:xfrm>
            <a:off x="9410042" y="3807459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FAC41CD-040F-4881-AD29-01CEADDBB422}"/>
              </a:ext>
            </a:extLst>
          </p:cNvPr>
          <p:cNvCxnSpPr>
            <a:cxnSpLocks/>
          </p:cNvCxnSpPr>
          <p:nvPr/>
        </p:nvCxnSpPr>
        <p:spPr>
          <a:xfrm>
            <a:off x="8514513" y="5257695"/>
            <a:ext cx="8933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E8875E-E285-4F90-B3A6-3B21D83288C6}"/>
              </a:ext>
            </a:extLst>
          </p:cNvPr>
          <p:cNvSpPr txBox="1"/>
          <p:nvPr/>
        </p:nvSpPr>
        <p:spPr>
          <a:xfrm>
            <a:off x="8413808" y="4902198"/>
            <a:ext cx="640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ESP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9AD41F6-4FB8-484F-BC0A-44847D81F6F2}"/>
              </a:ext>
            </a:extLst>
          </p:cNvPr>
          <p:cNvSpPr/>
          <p:nvPr/>
        </p:nvSpPr>
        <p:spPr>
          <a:xfrm>
            <a:off x="9410078" y="4888434"/>
            <a:ext cx="2391054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2691BB-37E2-498F-A193-D7ADE20EAFD6}"/>
              </a:ext>
            </a:extLst>
          </p:cNvPr>
          <p:cNvSpPr/>
          <p:nvPr/>
        </p:nvSpPr>
        <p:spPr>
          <a:xfrm>
            <a:off x="9410043" y="4531278"/>
            <a:ext cx="2391054" cy="3684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hidden_ptr</a:t>
            </a:r>
            <a:endParaRPr lang="en-US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418129A-FF2F-4FE8-81EB-D20A4AAE4A98}"/>
              </a:ext>
            </a:extLst>
          </p:cNvPr>
          <p:cNvSpPr/>
          <p:nvPr/>
        </p:nvSpPr>
        <p:spPr>
          <a:xfrm>
            <a:off x="9410042" y="3065078"/>
            <a:ext cx="2396971" cy="74550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E7DA24DF-0770-46AB-9770-18CA350A8C24}"/>
              </a:ext>
            </a:extLst>
          </p:cNvPr>
          <p:cNvCxnSpPr>
            <a:cxnSpLocks/>
          </p:cNvCxnSpPr>
          <p:nvPr/>
        </p:nvCxnSpPr>
        <p:spPr>
          <a:xfrm rot="10800000">
            <a:off x="9410042" y="3800854"/>
            <a:ext cx="12700" cy="900000"/>
          </a:xfrm>
          <a:prstGeom prst="bentConnector3">
            <a:avLst>
              <a:gd name="adj1" fmla="val 180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E905555-C947-498D-AF98-6E1F19403A83}"/>
              </a:ext>
            </a:extLst>
          </p:cNvPr>
          <p:cNvSpPr/>
          <p:nvPr/>
        </p:nvSpPr>
        <p:spPr>
          <a:xfrm>
            <a:off x="11807013" y="3068902"/>
            <a:ext cx="354565" cy="365125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.y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7DE3653-E804-4A3B-8798-7CA75D2C0E97}"/>
              </a:ext>
            </a:extLst>
          </p:cNvPr>
          <p:cNvSpPr/>
          <p:nvPr/>
        </p:nvSpPr>
        <p:spPr>
          <a:xfrm>
            <a:off x="11807013" y="3438220"/>
            <a:ext cx="354565" cy="365125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.x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B56E133-57F9-4E4F-8BCE-C57055AEAE5F}"/>
              </a:ext>
            </a:extLst>
          </p:cNvPr>
          <p:cNvSpPr/>
          <p:nvPr/>
        </p:nvSpPr>
        <p:spPr>
          <a:xfrm>
            <a:off x="9410041" y="1548256"/>
            <a:ext cx="2396971" cy="3684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7F96BBA-6F3B-4416-ABE1-22BAFB043A47}"/>
              </a:ext>
            </a:extLst>
          </p:cNvPr>
          <p:cNvSpPr/>
          <p:nvPr/>
        </p:nvSpPr>
        <p:spPr>
          <a:xfrm>
            <a:off x="11807012" y="1543811"/>
            <a:ext cx="354565" cy="365125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.x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C9A043C-D3B3-4A31-9FCC-BA9438C0555B}"/>
              </a:ext>
            </a:extLst>
          </p:cNvPr>
          <p:cNvSpPr/>
          <p:nvPr/>
        </p:nvSpPr>
        <p:spPr>
          <a:xfrm>
            <a:off x="9416390" y="1908936"/>
            <a:ext cx="2390621" cy="114953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…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8D3703D-880D-40D5-B298-94BDF7003D0F}"/>
              </a:ext>
            </a:extLst>
          </p:cNvPr>
          <p:cNvSpPr/>
          <p:nvPr/>
        </p:nvSpPr>
        <p:spPr>
          <a:xfrm>
            <a:off x="9415958" y="4175385"/>
            <a:ext cx="2391054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this</a:t>
            </a:r>
            <a:endParaRPr lang="en-US" dirty="0"/>
          </a:p>
        </p:txBody>
      </p: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4A38036B-A845-40D1-B87A-2CE20BE64086}"/>
              </a:ext>
            </a:extLst>
          </p:cNvPr>
          <p:cNvCxnSpPr>
            <a:cxnSpLocks/>
          </p:cNvCxnSpPr>
          <p:nvPr/>
        </p:nvCxnSpPr>
        <p:spPr>
          <a:xfrm rot="10800000">
            <a:off x="9370180" y="1933745"/>
            <a:ext cx="36000" cy="2448000"/>
          </a:xfrm>
          <a:prstGeom prst="bentConnector3">
            <a:avLst>
              <a:gd name="adj1" fmla="val 180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00DC00D-1655-064D-930D-347C6B01CDF4}"/>
              </a:ext>
            </a:extLst>
          </p:cNvPr>
          <p:cNvSpPr txBox="1"/>
          <p:nvPr/>
        </p:nvSpPr>
        <p:spPr>
          <a:xfrm>
            <a:off x="3113856" y="1916674"/>
            <a:ext cx="60972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&lt;method&gt;: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&amp;result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this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result.x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=this-&gt;x 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result.y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y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6313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Соглашение</a:t>
            </a:r>
            <a:r>
              <a:rPr lang="en-US" dirty="0"/>
              <a:t> Microsoft x64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53943"/>
            <a:ext cx="12115800" cy="59040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Соглашение используется при построении программ для ОС </a:t>
            </a:r>
            <a:r>
              <a:rPr lang="en-US" sz="2000" dirty="0"/>
              <a:t>Windows.</a:t>
            </a:r>
          </a:p>
          <a:p>
            <a:r>
              <a:rPr lang="ru-RU" sz="2000" dirty="0"/>
              <a:t>Целочисленные аргументы в </a:t>
            </a:r>
            <a:r>
              <a:rPr lang="en-US" sz="2000" dirty="0"/>
              <a:t>RCX, RDX, R8-9; </a:t>
            </a:r>
            <a:r>
              <a:rPr lang="ru-RU" sz="2000" dirty="0"/>
              <a:t>вещественные в </a:t>
            </a:r>
            <a:r>
              <a:rPr lang="en-US" sz="2000" dirty="0"/>
              <a:t>XMM0-3. </a:t>
            </a:r>
            <a:r>
              <a:rPr lang="ru-RU" sz="2000" i="1" dirty="0"/>
              <a:t>Пятый</a:t>
            </a:r>
            <a:r>
              <a:rPr lang="ru-RU" sz="2000" dirty="0"/>
              <a:t> и далее аргументы - через стек в обратном порядке. Если размер аргумента не кратен 8, для него резервируется место, кратное 8.</a:t>
            </a:r>
            <a:r>
              <a:rPr lang="en-US" sz="2000" dirty="0"/>
              <a:t> </a:t>
            </a:r>
            <a:endParaRPr lang="ru-RU" sz="2000" dirty="0"/>
          </a:p>
          <a:p>
            <a:r>
              <a:rPr lang="ru-RU" sz="2000" dirty="0"/>
              <a:t>После завершения вызова аргументы из стека убирает вызывающая функция</a:t>
            </a:r>
            <a:r>
              <a:rPr lang="ru-RU" sz="2000" b="1" dirty="0"/>
              <a:t>.</a:t>
            </a:r>
            <a:endParaRPr lang="en-US" sz="2000" dirty="0"/>
          </a:p>
          <a:p>
            <a:r>
              <a:rPr lang="ru-RU" sz="2000" dirty="0"/>
              <a:t>Если у функции переменное число аргументов, и вещественное значение передается в </a:t>
            </a:r>
            <a:r>
              <a:rPr lang="en-US" sz="2000" dirty="0"/>
              <a:t>XMM-</a:t>
            </a:r>
            <a:r>
              <a:rPr lang="ru-RU" sz="2000" dirty="0"/>
              <a:t>регистре, оно должно также дублироваться в целочисленном регистре </a:t>
            </a:r>
            <a:r>
              <a:rPr lang="ru-RU" sz="2000" i="1" u="sng" dirty="0"/>
              <a:t>без преобразования</a:t>
            </a:r>
            <a:r>
              <a:rPr lang="ru-RU" sz="2000" dirty="0"/>
              <a:t>.</a:t>
            </a:r>
          </a:p>
          <a:p>
            <a:r>
              <a:rPr lang="ru-RU" sz="2000" dirty="0"/>
              <a:t>Простые структуры размером менее 8 байт передаются в регистре общего назначения</a:t>
            </a:r>
            <a:r>
              <a:rPr lang="en-US" sz="2000" dirty="0"/>
              <a:t>.</a:t>
            </a:r>
            <a:r>
              <a:rPr lang="ru-RU" sz="2000" dirty="0"/>
              <a:t> Если нет свободных регистров или структура не является простой – структура копируется отдельно, указатель на нее передается, как аргумент.</a:t>
            </a:r>
          </a:p>
          <a:p>
            <a:r>
              <a:rPr lang="ru-RU" sz="2000" dirty="0"/>
              <a:t>Перед адресом возврата должно резервироваться </a:t>
            </a:r>
            <a:r>
              <a:rPr lang="en-US" sz="2000" b="1" dirty="0"/>
              <a:t>shadow space </a:t>
            </a:r>
            <a:r>
              <a:rPr lang="ru-RU" sz="2000" dirty="0"/>
              <a:t>длиной 32 байта. Аргументы на стеке располагаются после </a:t>
            </a:r>
            <a:r>
              <a:rPr lang="en-US" sz="2000" dirty="0"/>
              <a:t>shadow space.</a:t>
            </a:r>
            <a:endParaRPr lang="ru-RU" sz="2000" dirty="0"/>
          </a:p>
          <a:p>
            <a:r>
              <a:rPr lang="ru-RU" sz="2000" dirty="0"/>
              <a:t>Возвращаемое значение – в </a:t>
            </a:r>
            <a:r>
              <a:rPr lang="en-US" sz="2000" dirty="0"/>
              <a:t>RAX </a:t>
            </a:r>
            <a:r>
              <a:rPr lang="ru-RU" sz="2000" dirty="0"/>
              <a:t>или </a:t>
            </a:r>
            <a:r>
              <a:rPr lang="en-US" sz="2000" dirty="0"/>
              <a:t>XMM0 </a:t>
            </a:r>
            <a:r>
              <a:rPr lang="ru-RU" sz="2000" dirty="0"/>
              <a:t>(если вещественное)</a:t>
            </a:r>
            <a:r>
              <a:rPr lang="en-US" sz="2000" dirty="0"/>
              <a:t>.</a:t>
            </a:r>
            <a:endParaRPr lang="ru-RU" sz="2000" dirty="0"/>
          </a:p>
          <a:p>
            <a:r>
              <a:rPr lang="ru-RU" sz="2000" dirty="0"/>
              <a:t>Простые структуры размером менее 8 байт с тривиальным обычным конструктором возвращаются в </a:t>
            </a:r>
            <a:r>
              <a:rPr lang="en-US" sz="2000" dirty="0"/>
              <a:t>RAX</a:t>
            </a:r>
            <a:r>
              <a:rPr lang="ru-RU" sz="2000" dirty="0"/>
              <a:t>, иначе – через буфер на стеке (передается 1-ым параметром), указатель на буфер возвращается в </a:t>
            </a:r>
            <a:r>
              <a:rPr lang="en-US" sz="2000" dirty="0"/>
              <a:t>RAX</a:t>
            </a:r>
            <a:r>
              <a:rPr lang="ru-RU" sz="2000" dirty="0"/>
              <a:t>.</a:t>
            </a:r>
          </a:p>
          <a:p>
            <a:r>
              <a:rPr lang="ru-RU" sz="2000" dirty="0"/>
              <a:t>Изменяемые</a:t>
            </a:r>
            <a:r>
              <a:rPr lang="en-US" sz="2000" dirty="0"/>
              <a:t> </a:t>
            </a:r>
            <a:r>
              <a:rPr lang="ru-RU" sz="2000" dirty="0"/>
              <a:t>регистры: </a:t>
            </a:r>
            <a:r>
              <a:rPr lang="en-US" sz="2000" dirty="0"/>
              <a:t>RAX, RCX, RDX, R</a:t>
            </a:r>
            <a:r>
              <a:rPr lang="ru-RU" sz="2000" dirty="0"/>
              <a:t>8</a:t>
            </a:r>
            <a:r>
              <a:rPr lang="en-US" sz="2000" dirty="0"/>
              <a:t>-R11, XMM0-5; </a:t>
            </a:r>
            <a:r>
              <a:rPr lang="ru-RU" sz="2000" dirty="0"/>
              <a:t>остальные – неизменяемые</a:t>
            </a:r>
            <a:r>
              <a:rPr lang="en-US" sz="2000" dirty="0"/>
              <a:t>.</a:t>
            </a:r>
            <a:endParaRPr lang="ru-RU" sz="2000" dirty="0"/>
          </a:p>
          <a:p>
            <a:r>
              <a:rPr lang="ru-RU" sz="2000" dirty="0"/>
              <a:t>Вершина стека выравнивается по 8 байтам.</a:t>
            </a:r>
          </a:p>
          <a:p>
            <a:r>
              <a:rPr lang="ru-RU" sz="2000" b="1" dirty="0"/>
              <a:t>При вызове функции вершина стека должна быть выровнена по границе 16 байт</a:t>
            </a:r>
            <a:r>
              <a:rPr lang="ru-RU" sz="2000" dirty="0"/>
              <a:t>. </a:t>
            </a:r>
          </a:p>
          <a:p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568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Соглашение </a:t>
            </a:r>
            <a:r>
              <a:rPr lang="en-US" dirty="0"/>
              <a:t>Microsoft x64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7FBA2B-964F-4C4D-AAF7-5A8399264638}" type="slidenum">
              <a:rPr lang="en-US" smtClean="0"/>
              <a:t>56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3966560" y="1737399"/>
            <a:ext cx="46414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f: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cvtss2sd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xmm2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cvtsi2sd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addsd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mulsd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cvtsi2sd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303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cvtsd2si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xmm3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mulsd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r9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cvtsi2ss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subsd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303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cvtpd2ps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 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cvtss2si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 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5413AFF4-B1CB-4E9C-B0E3-4BFDB1A56D8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7FBA2B-964F-4C4D-AAF7-5A8399264638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1DD6377-8BDE-43A0-BCDA-07475FAB6C8F}"/>
              </a:ext>
            </a:extLst>
          </p:cNvPr>
          <p:cNvSpPr/>
          <p:nvPr/>
        </p:nvSpPr>
        <p:spPr>
          <a:xfrm>
            <a:off x="9721115" y="1223690"/>
            <a:ext cx="2396971" cy="48949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D38F270-5AFD-4908-8017-86F82AFC9D09}"/>
              </a:ext>
            </a:extLst>
          </p:cNvPr>
          <p:cNvSpPr/>
          <p:nvPr/>
        </p:nvSpPr>
        <p:spPr>
          <a:xfrm>
            <a:off x="9720923" y="3433862"/>
            <a:ext cx="2396971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Адрес возврата</a:t>
            </a:r>
            <a:endParaRPr lang="en-US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72F9B79-1867-460F-9C86-137A3FB80030}"/>
              </a:ext>
            </a:extLst>
          </p:cNvPr>
          <p:cNvSpPr/>
          <p:nvPr/>
        </p:nvSpPr>
        <p:spPr>
          <a:xfrm>
            <a:off x="9720922" y="1966483"/>
            <a:ext cx="2396971" cy="1462517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shadow space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7F5A417-B18F-4605-87CD-088FCEA088DF}"/>
              </a:ext>
            </a:extLst>
          </p:cNvPr>
          <p:cNvSpPr/>
          <p:nvPr/>
        </p:nvSpPr>
        <p:spPr>
          <a:xfrm>
            <a:off x="9721093" y="1597299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42628CA-5A06-4CD5-9C8D-400DA37EB098}"/>
              </a:ext>
            </a:extLst>
          </p:cNvPr>
          <p:cNvSpPr/>
          <p:nvPr/>
        </p:nvSpPr>
        <p:spPr>
          <a:xfrm>
            <a:off x="9720922" y="1229383"/>
            <a:ext cx="2396971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1DB08929-D56A-4C94-84D0-CC0EB09D39A2}"/>
              </a:ext>
            </a:extLst>
          </p:cNvPr>
          <p:cNvCxnSpPr>
            <a:cxnSpLocks/>
          </p:cNvCxnSpPr>
          <p:nvPr/>
        </p:nvCxnSpPr>
        <p:spPr>
          <a:xfrm>
            <a:off x="8825392" y="3802281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1D22D05-E094-4A83-81A1-3187D102C259}"/>
              </a:ext>
            </a:extLst>
          </p:cNvPr>
          <p:cNvSpPr txBox="1"/>
          <p:nvPr/>
        </p:nvSpPr>
        <p:spPr>
          <a:xfrm>
            <a:off x="8724687" y="3446784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B9812F99-A253-4FC9-A7BD-2B0079A11214}"/>
              </a:ext>
            </a:extLst>
          </p:cNvPr>
          <p:cNvCxnSpPr>
            <a:cxnSpLocks/>
          </p:cNvCxnSpPr>
          <p:nvPr/>
        </p:nvCxnSpPr>
        <p:spPr>
          <a:xfrm>
            <a:off x="8825297" y="1964840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A5AB522-EDEE-4154-A5E4-0116BB02AFF5}"/>
              </a:ext>
            </a:extLst>
          </p:cNvPr>
          <p:cNvSpPr txBox="1"/>
          <p:nvPr/>
        </p:nvSpPr>
        <p:spPr>
          <a:xfrm>
            <a:off x="8610600" y="1606562"/>
            <a:ext cx="1129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RSP+40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79166-0BEF-B4F0-70BD-784FA155FF2F}"/>
              </a:ext>
            </a:extLst>
          </p:cNvPr>
          <p:cNvSpPr txBox="1"/>
          <p:nvPr/>
        </p:nvSpPr>
        <p:spPr>
          <a:xfrm>
            <a:off x="196511" y="1737399"/>
            <a:ext cx="34470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b,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</a:t>
            </a: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d,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 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l1;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l3;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l1 = (a + b)*c;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l3 = e * (*d) - f;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l1 + l3;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5915F-CC07-0DE8-F828-86C80B3D7943}"/>
              </a:ext>
            </a:extLst>
          </p:cNvPr>
          <p:cNvSpPr txBox="1"/>
          <p:nvPr/>
        </p:nvSpPr>
        <p:spPr>
          <a:xfrm>
            <a:off x="838200" y="4879022"/>
            <a:ext cx="11240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a-&gt;ECX</a:t>
            </a:r>
            <a:br>
              <a:rPr lang="en-US" dirty="0"/>
            </a:br>
            <a:r>
              <a:rPr lang="en-US" dirty="0"/>
              <a:t>b-&gt;XMM1</a:t>
            </a:r>
            <a:br>
              <a:rPr lang="en-US" dirty="0"/>
            </a:br>
            <a:r>
              <a:rPr lang="en-US" dirty="0"/>
              <a:t>c-&gt;XMM2</a:t>
            </a:r>
          </a:p>
          <a:p>
            <a:r>
              <a:rPr lang="en-US" dirty="0"/>
              <a:t>d-&gt;R9, </a:t>
            </a:r>
          </a:p>
          <a:p>
            <a:r>
              <a:rPr lang="en-US" dirty="0"/>
              <a:t>e, f-&gt; </a:t>
            </a:r>
            <a:r>
              <a:rPr lang="ru-RU" dirty="0"/>
              <a:t>стек</a:t>
            </a:r>
          </a:p>
        </p:txBody>
      </p:sp>
    </p:spTree>
    <p:extLst>
      <p:ext uri="{BB962C8B-B14F-4D97-AF65-F5344CB8AC3E}">
        <p14:creationId xmlns:p14="http://schemas.microsoft.com/office/powerpoint/2010/main" val="1227363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Соглашение</a:t>
            </a:r>
            <a:r>
              <a:rPr lang="en-US" dirty="0"/>
              <a:t> System V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098" y="869328"/>
            <a:ext cx="11817804" cy="59432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Соглашение используется при построении программ для</a:t>
            </a:r>
            <a:r>
              <a:rPr lang="en-US" sz="2000" dirty="0"/>
              <a:t> UNIX-like</a:t>
            </a:r>
            <a:r>
              <a:rPr lang="ru-RU" sz="2000" dirty="0"/>
              <a:t> ОС (в т.ч. </a:t>
            </a:r>
            <a:r>
              <a:rPr lang="en-US" sz="2000" dirty="0"/>
              <a:t>Linux</a:t>
            </a:r>
            <a:r>
              <a:rPr lang="ru-RU" sz="2000" dirty="0"/>
              <a:t>)</a:t>
            </a:r>
            <a:r>
              <a:rPr lang="en-US" sz="2000" dirty="0"/>
              <a:t>.</a:t>
            </a:r>
          </a:p>
          <a:p>
            <a:r>
              <a:rPr lang="ru-RU" sz="2000" dirty="0"/>
              <a:t>Целочисленные аргументы передаются в </a:t>
            </a:r>
            <a:r>
              <a:rPr lang="en-US" sz="2000" dirty="0"/>
              <a:t>RDI, RSI, RDX, RCX, R8-9; </a:t>
            </a:r>
            <a:r>
              <a:rPr lang="ru-RU" sz="2000" dirty="0"/>
              <a:t>вещественные в </a:t>
            </a:r>
            <a:r>
              <a:rPr lang="en-US" sz="2000" dirty="0"/>
              <a:t>XMM0-7. </a:t>
            </a:r>
            <a:r>
              <a:rPr lang="ru-RU" sz="2000" dirty="0"/>
              <a:t>Те, что не поместились – через стек в обратном порядке.</a:t>
            </a:r>
            <a:r>
              <a:rPr lang="en-US" sz="2000" dirty="0"/>
              <a:t> </a:t>
            </a:r>
            <a:r>
              <a:rPr lang="ru-RU" sz="2000" dirty="0"/>
              <a:t>Если размер аргумента не кратен 8, для него резервируется место, кратное 8.</a:t>
            </a:r>
            <a:r>
              <a:rPr lang="en-US" sz="2000" dirty="0"/>
              <a:t> </a:t>
            </a:r>
            <a:r>
              <a:rPr lang="ru-RU" sz="2000" dirty="0"/>
              <a:t>Аргументы из стека убирает вызывающая функция</a:t>
            </a:r>
            <a:r>
              <a:rPr lang="ru-RU" sz="2000" b="1" dirty="0"/>
              <a:t>.</a:t>
            </a:r>
            <a:endParaRPr lang="ru-RU" sz="2000" dirty="0"/>
          </a:p>
          <a:p>
            <a:r>
              <a:rPr lang="ru-RU" sz="2000" dirty="0"/>
              <a:t>Если у функции переменное число аргументов, </a:t>
            </a:r>
            <a:r>
              <a:rPr lang="ru-RU" sz="2000" i="1" dirty="0"/>
              <a:t>в регистре </a:t>
            </a:r>
            <a:r>
              <a:rPr lang="en-US" sz="2000" i="1" dirty="0"/>
              <a:t>AL </a:t>
            </a:r>
            <a:r>
              <a:rPr lang="ru-RU" sz="2000" i="1" dirty="0"/>
              <a:t>должно передаваться число занятых </a:t>
            </a:r>
            <a:r>
              <a:rPr lang="en-US" sz="2000" i="1" dirty="0"/>
              <a:t>XMM-</a:t>
            </a:r>
            <a:r>
              <a:rPr lang="ru-RU" sz="2000" i="1" dirty="0"/>
              <a:t>регистров.</a:t>
            </a:r>
          </a:p>
          <a:p>
            <a:r>
              <a:rPr lang="ru-RU" sz="2000" dirty="0"/>
              <a:t>Возвращаемое значение – в </a:t>
            </a:r>
            <a:r>
              <a:rPr lang="en-US" sz="2000" dirty="0"/>
              <a:t>RAX </a:t>
            </a:r>
            <a:r>
              <a:rPr lang="ru-RU" sz="2000" dirty="0"/>
              <a:t>или </a:t>
            </a:r>
            <a:r>
              <a:rPr lang="en-US" sz="2000" dirty="0"/>
              <a:t>XMM0 </a:t>
            </a:r>
            <a:r>
              <a:rPr lang="ru-RU" sz="2000" dirty="0"/>
              <a:t>(если вещественное)</a:t>
            </a:r>
            <a:r>
              <a:rPr lang="en-US" sz="2000" dirty="0"/>
              <a:t>.</a:t>
            </a:r>
            <a:endParaRPr lang="ru-RU" sz="2000" dirty="0"/>
          </a:p>
          <a:p>
            <a:r>
              <a:rPr lang="ru-RU" sz="2000" dirty="0"/>
              <a:t>Неизменяемые регистры: </a:t>
            </a:r>
            <a:r>
              <a:rPr lang="en-US" sz="2000" dirty="0"/>
              <a:t>RBX, RBP, R12-15;</a:t>
            </a:r>
            <a:r>
              <a:rPr lang="ru-RU" sz="2000" dirty="0"/>
              <a:t> остальные – изменяемые</a:t>
            </a:r>
            <a:r>
              <a:rPr lang="en-US" sz="2000" dirty="0"/>
              <a:t>.</a:t>
            </a:r>
            <a:endParaRPr lang="ru-RU" sz="2000" dirty="0"/>
          </a:p>
          <a:p>
            <a:r>
              <a:rPr lang="ru-RU" sz="2000" dirty="0"/>
              <a:t>После </a:t>
            </a:r>
            <a:r>
              <a:rPr lang="en-US" sz="2000" dirty="0"/>
              <a:t>RSP </a:t>
            </a:r>
            <a:r>
              <a:rPr lang="ru-RU" sz="2000" dirty="0"/>
              <a:t>находится </a:t>
            </a:r>
            <a:r>
              <a:rPr lang="ru-RU" sz="2000" b="1" dirty="0"/>
              <a:t>красная зона </a:t>
            </a:r>
            <a:r>
              <a:rPr lang="ru-RU" sz="2000" dirty="0"/>
              <a:t>длиной 128 байт.</a:t>
            </a:r>
          </a:p>
          <a:p>
            <a:r>
              <a:rPr lang="ru-RU" sz="2000" dirty="0"/>
              <a:t>Вершина стека выравнивается по 8 байтам.</a:t>
            </a:r>
          </a:p>
          <a:p>
            <a:r>
              <a:rPr lang="ru-RU" sz="2000" b="1" dirty="0"/>
              <a:t>Вершина стека в момент вызова должна быть выровнена по границе 16 байт</a:t>
            </a:r>
            <a:r>
              <a:rPr lang="en-US" sz="2000" b="1" dirty="0"/>
              <a:t>.</a:t>
            </a:r>
          </a:p>
          <a:p>
            <a:r>
              <a:rPr lang="ru-RU" sz="2000" dirty="0"/>
              <a:t>Простые структуры, размером менее 16 байт, могут передаваться в 1 или 2 регистрах. Часть, имеющая в составе целочисленные поля, передается в регистре общего назначения. Часть, имеющая в составе </a:t>
            </a:r>
            <a:r>
              <a:rPr lang="ru-RU" sz="2000" i="1" dirty="0"/>
              <a:t>только</a:t>
            </a:r>
            <a:r>
              <a:rPr lang="ru-RU" sz="2000" dirty="0"/>
              <a:t> вещественные числа, передается в </a:t>
            </a:r>
            <a:r>
              <a:rPr lang="en-US" sz="2000" dirty="0"/>
              <a:t>XMM-</a:t>
            </a:r>
            <a:r>
              <a:rPr lang="ru-RU" sz="2000" dirty="0"/>
              <a:t>регистре. Если свободных регистров нет, структура передается на стеке</a:t>
            </a:r>
            <a:r>
              <a:rPr lang="en-US" sz="2000" dirty="0"/>
              <a:t>.</a:t>
            </a:r>
            <a:r>
              <a:rPr lang="ru-RU" sz="2000" dirty="0"/>
              <a:t> Если структура не является простой – см. </a:t>
            </a:r>
            <a:r>
              <a:rPr lang="en-US" sz="2000" dirty="0"/>
              <a:t>Microsoft x64.</a:t>
            </a:r>
            <a:endParaRPr lang="ru-RU" sz="2000" dirty="0"/>
          </a:p>
          <a:p>
            <a:r>
              <a:rPr lang="ru-RU" sz="2000" dirty="0"/>
              <a:t>Возврат простых структур производится по тем же правилам, что и передача в роли аргумента</a:t>
            </a:r>
            <a:r>
              <a:rPr lang="en-US" sz="2000" dirty="0"/>
              <a:t> </a:t>
            </a:r>
            <a:r>
              <a:rPr lang="ru-RU" sz="2000" dirty="0"/>
              <a:t>с использованием регистров </a:t>
            </a:r>
            <a:r>
              <a:rPr lang="en-US" sz="2000" dirty="0"/>
              <a:t>RAX, RDX, XMM0 </a:t>
            </a:r>
            <a:r>
              <a:rPr lang="ru-RU" sz="2000" dirty="0"/>
              <a:t>и </a:t>
            </a:r>
            <a:r>
              <a:rPr lang="en-US" sz="2000" dirty="0"/>
              <a:t>XMM1.</a:t>
            </a:r>
            <a:endParaRPr lang="ru-RU" sz="2000" dirty="0"/>
          </a:p>
          <a:p>
            <a:endParaRPr lang="ru-RU" sz="2000" dirty="0"/>
          </a:p>
          <a:p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9686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Красная зона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</a:t>
            </a:r>
            <a:r>
              <a:rPr lang="en-US" sz="2000" dirty="0"/>
              <a:t> ABI</a:t>
            </a:r>
            <a:r>
              <a:rPr lang="ru-RU" sz="2000" dirty="0"/>
              <a:t> </a:t>
            </a:r>
            <a:r>
              <a:rPr lang="en-US" sz="2000" dirty="0"/>
              <a:t>System V </a:t>
            </a:r>
            <a:r>
              <a:rPr lang="ru-RU" sz="2000" dirty="0"/>
              <a:t>128 байт, находящиеся ниже</a:t>
            </a:r>
            <a:r>
              <a:rPr lang="en-US" sz="2000" dirty="0"/>
              <a:t> </a:t>
            </a:r>
            <a:r>
              <a:rPr lang="ru-RU" sz="2000" dirty="0"/>
              <a:t>текущей вершины стека</a:t>
            </a:r>
            <a:r>
              <a:rPr lang="en-US" sz="2000" dirty="0"/>
              <a:t>,</a:t>
            </a:r>
            <a:r>
              <a:rPr lang="ru-RU" sz="2000" dirty="0"/>
              <a:t> являются </a:t>
            </a:r>
            <a:r>
              <a:rPr lang="ru-RU" sz="2000" b="1" dirty="0"/>
              <a:t>красной зоной </a:t>
            </a:r>
            <a:r>
              <a:rPr lang="ru-RU" sz="2000" dirty="0"/>
              <a:t>– ОС не может изменять значения в ней.</a:t>
            </a:r>
          </a:p>
          <a:p>
            <a:pPr marL="0" indent="0">
              <a:buNone/>
            </a:pPr>
            <a:r>
              <a:rPr lang="ru-RU" sz="2000" dirty="0"/>
              <a:t>Если функция не вызывает другие функции (т.н. </a:t>
            </a:r>
            <a:r>
              <a:rPr lang="en-US" sz="2000" b="1" dirty="0"/>
              <a:t>leaf function, </a:t>
            </a:r>
            <a:r>
              <a:rPr lang="ru-RU" sz="2000" b="1" dirty="0"/>
              <a:t>листовая функция</a:t>
            </a:r>
            <a:r>
              <a:rPr lang="ru-RU" sz="2000" dirty="0"/>
              <a:t>), то она может не тратить инструкции на выделение памяти на стеке. Вместо этого данные могут сохраняться в пределах красной зоны.</a:t>
            </a:r>
          </a:p>
          <a:p>
            <a:pPr marL="0" indent="0">
              <a:buNone/>
            </a:pPr>
            <a:r>
              <a:rPr lang="ru-RU" sz="2000" dirty="0"/>
              <a:t>Листовой функции не требуется устанавливать собственный указатель кадра стека </a:t>
            </a:r>
            <a:r>
              <a:rPr lang="en-US" sz="2000" dirty="0"/>
              <a:t>-&gt; </a:t>
            </a:r>
            <a:r>
              <a:rPr lang="ru-RU" sz="2000" dirty="0"/>
              <a:t>отсутствуют пролог и эпилог, а адресация аргументов и локальных переменных происходит относительно </a:t>
            </a:r>
            <a:r>
              <a:rPr lang="en-US" sz="2000" dirty="0"/>
              <a:t>RSP.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 </a:t>
            </a:r>
          </a:p>
          <a:p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1664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A3FB8B2-8650-4938-876C-2482E9A78903}"/>
              </a:ext>
            </a:extLst>
          </p:cNvPr>
          <p:cNvSpPr/>
          <p:nvPr/>
        </p:nvSpPr>
        <p:spPr>
          <a:xfrm>
            <a:off x="1298036" y="2423987"/>
            <a:ext cx="1695080" cy="1982107"/>
          </a:xfrm>
          <a:prstGeom prst="rect">
            <a:avLst/>
          </a:prstGeom>
          <a:solidFill>
            <a:srgbClr val="FF8B8B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 zone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Соглашение </a:t>
            </a:r>
            <a:r>
              <a:rPr lang="en-US" dirty="0"/>
              <a:t>System V x64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B0750-7BB9-4343-8160-96F7FD7FC8F3}"/>
              </a:ext>
            </a:extLst>
          </p:cNvPr>
          <p:cNvSpPr txBox="1"/>
          <p:nvPr/>
        </p:nvSpPr>
        <p:spPr>
          <a:xfrm>
            <a:off x="3744327" y="1540053"/>
            <a:ext cx="468191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d,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f,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f2,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f3,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f4,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f5,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f6,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f7,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f8,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f9</a:t>
            </a: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l1=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a+b+c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-*d-f-g;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l2 =f1+f2+f3-f4-f5-f6;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l3= f7-f8-f9;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l1 -l2 + l3;</a:t>
            </a:r>
          </a:p>
          <a:p>
            <a:pPr>
              <a:spcAft>
                <a:spcPts val="600"/>
              </a:spcAft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A8185E3-8FA4-4DCD-B2DF-6B61757928F7}"/>
              </a:ext>
            </a:extLst>
          </p:cNvPr>
          <p:cNvSpPr/>
          <p:nvPr/>
        </p:nvSpPr>
        <p:spPr>
          <a:xfrm>
            <a:off x="1298129" y="1367451"/>
            <a:ext cx="1695080" cy="4886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C02EF79-A5D1-484D-9DC6-FE598815E7BD}"/>
              </a:ext>
            </a:extLst>
          </p:cNvPr>
          <p:cNvSpPr/>
          <p:nvPr/>
        </p:nvSpPr>
        <p:spPr>
          <a:xfrm>
            <a:off x="1298082" y="1690688"/>
            <a:ext cx="1695080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C861FC9-8197-48DF-A685-7113C1AD4B53}"/>
              </a:ext>
            </a:extLst>
          </p:cNvPr>
          <p:cNvCxnSpPr>
            <a:cxnSpLocks/>
          </p:cNvCxnSpPr>
          <p:nvPr/>
        </p:nvCxnSpPr>
        <p:spPr>
          <a:xfrm>
            <a:off x="402505" y="2393477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081323D-66BA-43CC-A2F7-FAB4E6C86157}"/>
              </a:ext>
            </a:extLst>
          </p:cNvPr>
          <p:cNvSpPr txBox="1"/>
          <p:nvPr/>
        </p:nvSpPr>
        <p:spPr>
          <a:xfrm>
            <a:off x="301800" y="2037980"/>
            <a:ext cx="664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CE120D5-ECB6-406C-84D0-04962231ABF4}"/>
              </a:ext>
            </a:extLst>
          </p:cNvPr>
          <p:cNvSpPr/>
          <p:nvPr/>
        </p:nvSpPr>
        <p:spPr>
          <a:xfrm>
            <a:off x="1298082" y="2061697"/>
            <a:ext cx="1695080" cy="368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7D8B01E-E10F-4229-A3BF-11F79282D9CE}"/>
              </a:ext>
            </a:extLst>
          </p:cNvPr>
          <p:cNvSpPr/>
          <p:nvPr/>
        </p:nvSpPr>
        <p:spPr>
          <a:xfrm>
            <a:off x="1298083" y="1355844"/>
            <a:ext cx="1695080" cy="368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f9</a:t>
            </a:r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3BE0B14-3BA9-4FB9-AEC5-665BE9568F4A}"/>
              </a:ext>
            </a:extLst>
          </p:cNvPr>
          <p:cNvCxnSpPr>
            <a:cxnSpLocks/>
          </p:cNvCxnSpPr>
          <p:nvPr/>
        </p:nvCxnSpPr>
        <p:spPr>
          <a:xfrm>
            <a:off x="402460" y="4403874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6E3A1ED-29D3-4A8F-A0C1-AFD22687B491}"/>
              </a:ext>
            </a:extLst>
          </p:cNvPr>
          <p:cNvSpPr txBox="1"/>
          <p:nvPr/>
        </p:nvSpPr>
        <p:spPr>
          <a:xfrm>
            <a:off x="43216" y="4049186"/>
            <a:ext cx="1284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RSP+128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61E66-D497-0B48-5D04-FE3FA0EE37A3}"/>
              </a:ext>
            </a:extLst>
          </p:cNvPr>
          <p:cNvSpPr txBox="1"/>
          <p:nvPr/>
        </p:nvSpPr>
        <p:spPr>
          <a:xfrm>
            <a:off x="7672947" y="9578"/>
            <a:ext cx="4585728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f: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movaps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movsx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dx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movzx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r9d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r9b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movsx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r9d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r9d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movsx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rcx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edi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esi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pxor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 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cvtsi2ss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xmm8</a:t>
            </a:r>
            <a:endParaRPr lang="en-US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xmm2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xmm3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xmm4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xmm5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xmm0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subsd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xmm7</a:t>
            </a:r>
            <a:endParaRPr lang="en-US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subsd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b="1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cvtsd2ss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xmm6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addss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xmm6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cvttss2si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4864A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xmm1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B4AF37-F65D-BDDC-E55C-AB2924B2C5A2}"/>
              </a:ext>
            </a:extLst>
          </p:cNvPr>
          <p:cNvSpPr txBox="1"/>
          <p:nvPr/>
        </p:nvSpPr>
        <p:spPr>
          <a:xfrm>
            <a:off x="3067050" y="6215746"/>
            <a:ext cx="605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a-&gt;EDI, b-&gt;RSI, c-&gt;DX, d-&gt;RCX, e-&gt;R8d, f-&gt;R9b,  g-&gt;</a:t>
            </a:r>
            <a:r>
              <a:rPr lang="ru-RU" dirty="0"/>
              <a:t>стек,</a:t>
            </a:r>
          </a:p>
          <a:p>
            <a:r>
              <a:rPr lang="en-US" dirty="0"/>
              <a:t>f1-f8 -&gt; XMM0-7, f9-&gt; </a:t>
            </a:r>
            <a:r>
              <a:rPr lang="ru-RU" dirty="0"/>
              <a:t>стек</a:t>
            </a:r>
          </a:p>
        </p:txBody>
      </p:sp>
    </p:spTree>
    <p:extLst>
      <p:ext uri="{BB962C8B-B14F-4D97-AF65-F5344CB8AC3E}">
        <p14:creationId xmlns:p14="http://schemas.microsoft.com/office/powerpoint/2010/main" val="11333177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8025D-5126-2EDB-9AA8-51F98AB8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языка С для функций с переменным числом аргументов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F27A31-9920-2BB0-7155-4B2C9CD26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95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Языки C/C++ предъявляют дополнительные требования к передаче значений в </a:t>
            </a:r>
            <a:r>
              <a:rPr lang="ru-RU" sz="2000" dirty="0" err="1"/>
              <a:t>vararg</a:t>
            </a:r>
            <a:r>
              <a:rPr lang="ru-RU" sz="2000" dirty="0"/>
              <a:t>-функции.</a:t>
            </a:r>
          </a:p>
          <a:p>
            <a:pPr marL="0" indent="0">
              <a:buNone/>
            </a:pPr>
            <a:r>
              <a:rPr lang="ru-RU" sz="2000" dirty="0"/>
              <a:t>• значения (</a:t>
            </a:r>
            <a:r>
              <a:rPr lang="ru-RU" sz="2000" dirty="0" err="1"/>
              <a:t>unsigned</a:t>
            </a:r>
            <a:r>
              <a:rPr lang="ru-RU" sz="2000" dirty="0"/>
              <a:t>) </a:t>
            </a:r>
            <a:r>
              <a:rPr lang="ru-RU" sz="2000" dirty="0" err="1"/>
              <a:t>char</a:t>
            </a:r>
            <a:r>
              <a:rPr lang="ru-RU" sz="2000" dirty="0"/>
              <a:t>/</a:t>
            </a:r>
            <a:r>
              <a:rPr lang="ru-RU" sz="2000" dirty="0" err="1"/>
              <a:t>short</a:t>
            </a:r>
            <a:r>
              <a:rPr lang="ru-RU" sz="2000" dirty="0"/>
              <a:t> расширяются до (</a:t>
            </a:r>
            <a:r>
              <a:rPr lang="ru-RU" sz="2000" dirty="0" err="1"/>
              <a:t>unsigned</a:t>
            </a:r>
            <a:r>
              <a:rPr lang="ru-RU" sz="2000" dirty="0"/>
              <a:t>) </a:t>
            </a:r>
            <a:r>
              <a:rPr lang="ru-RU" sz="2000" dirty="0" err="1"/>
              <a:t>int</a:t>
            </a:r>
            <a:r>
              <a:rPr lang="ru-RU" sz="2000" dirty="0"/>
              <a:t>;</a:t>
            </a:r>
          </a:p>
          <a:p>
            <a:pPr marL="0" indent="0">
              <a:buNone/>
            </a:pPr>
            <a:r>
              <a:rPr lang="ru-RU" sz="2000" dirty="0"/>
              <a:t>• значения типа </a:t>
            </a:r>
            <a:r>
              <a:rPr lang="ru-RU" sz="2000" dirty="0" err="1"/>
              <a:t>float</a:t>
            </a:r>
            <a:r>
              <a:rPr lang="ru-RU" sz="2000" dirty="0"/>
              <a:t> расширяются до </a:t>
            </a:r>
            <a:r>
              <a:rPr lang="ru-RU" sz="2000" dirty="0" err="1"/>
              <a:t>double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Как следствие, вызов </a:t>
            </a:r>
            <a:r>
              <a:rPr lang="ru-RU" sz="2000" dirty="0" err="1"/>
              <a:t>vararg</a:t>
            </a:r>
            <a:r>
              <a:rPr lang="ru-RU" sz="2000" dirty="0"/>
              <a:t>-функций из стандартной библиотеки языка C должен подчиняться данным правилам – </a:t>
            </a:r>
            <a:r>
              <a:rPr lang="ru-RU" sz="2000" b="1" dirty="0"/>
              <a:t>в первую очередь это касается </a:t>
            </a:r>
            <a:r>
              <a:rPr lang="ru-RU" sz="2000" b="1" dirty="0" err="1"/>
              <a:t>printf</a:t>
            </a:r>
            <a:r>
              <a:rPr lang="ru-RU" sz="2000" b="1" dirty="0"/>
              <a:t>()</a:t>
            </a:r>
            <a:r>
              <a:rPr lang="ru-RU" sz="2000" dirty="0"/>
              <a:t>. </a:t>
            </a:r>
          </a:p>
          <a:p>
            <a:pPr marL="0" indent="0">
              <a:buNone/>
            </a:pPr>
            <a:r>
              <a:rPr lang="ru-RU" sz="2000" dirty="0"/>
              <a:t>(</a:t>
            </a:r>
            <a:r>
              <a:rPr lang="ru-RU" sz="2000" dirty="0" err="1"/>
              <a:t>cdecl</a:t>
            </a:r>
            <a:r>
              <a:rPr lang="ru-RU" sz="2000" dirty="0"/>
              <a:t>) </a:t>
            </a:r>
            <a:r>
              <a:rPr lang="ru-RU" sz="2000" dirty="0">
                <a:hlinkClick r:id="rId2"/>
              </a:rPr>
              <a:t>https://godbolt.org/z/qWc4YjPcr</a:t>
            </a:r>
            <a:r>
              <a:rPr lang="ru-RU" sz="2000" dirty="0"/>
              <a:t>;</a:t>
            </a:r>
          </a:p>
          <a:p>
            <a:pPr marL="0" indent="0">
              <a:buNone/>
            </a:pPr>
            <a:r>
              <a:rPr lang="ru-RU" sz="2000" dirty="0"/>
              <a:t>(Win64) </a:t>
            </a:r>
            <a:r>
              <a:rPr lang="ru-RU" sz="2000" dirty="0">
                <a:hlinkClick r:id="rId3"/>
              </a:rPr>
              <a:t>https://godbolt.org/z/6KrdnWz4o</a:t>
            </a:r>
            <a:r>
              <a:rPr lang="ru-RU" sz="2000" dirty="0"/>
              <a:t>; </a:t>
            </a:r>
          </a:p>
          <a:p>
            <a:pPr marL="0" indent="0">
              <a:buNone/>
            </a:pPr>
            <a:r>
              <a:rPr lang="ru-RU" sz="2000" dirty="0"/>
              <a:t>(</a:t>
            </a:r>
            <a:r>
              <a:rPr lang="ru-RU" sz="2000" dirty="0" err="1"/>
              <a:t>Sys</a:t>
            </a:r>
            <a:r>
              <a:rPr lang="ru-RU" sz="2000" dirty="0"/>
              <a:t> V) </a:t>
            </a:r>
            <a:r>
              <a:rPr lang="ru-RU" sz="2000" dirty="0">
                <a:hlinkClick r:id="rId4"/>
              </a:rPr>
              <a:t>https://godbolt.org/z/MYE7he3xq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82B440-9F8D-101B-9C1C-99E83BE0E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930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19130</TotalTime>
  <Words>6623</Words>
  <Application>Microsoft Office PowerPoint</Application>
  <PresentationFormat>Widescreen</PresentationFormat>
  <Paragraphs>1271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Calibri</vt:lpstr>
      <vt:lpstr>Calibri Light</vt:lpstr>
      <vt:lpstr>Consolas</vt:lpstr>
      <vt:lpstr>Consolas, </vt:lpstr>
      <vt:lpstr>Courier New</vt:lpstr>
      <vt:lpstr>Тема Office</vt:lpstr>
      <vt:lpstr>Низкоуровневое программирование</vt:lpstr>
      <vt:lpstr>Функции в языке ассемблера</vt:lpstr>
      <vt:lpstr>Стек вызовов</vt:lpstr>
      <vt:lpstr>Локальные переменные</vt:lpstr>
      <vt:lpstr>Кадр стека</vt:lpstr>
      <vt:lpstr>Адресация относительно RBP</vt:lpstr>
      <vt:lpstr>Адресация относительно RBP</vt:lpstr>
      <vt:lpstr>Пролог и эпилог</vt:lpstr>
      <vt:lpstr>Примечания</vt:lpstr>
      <vt:lpstr>Передача параметров и возврат результата</vt:lpstr>
      <vt:lpstr>Соглашения о вызовах</vt:lpstr>
      <vt:lpstr>Регистры и вызов функции</vt:lpstr>
      <vt:lpstr>Соглашение cdecl (x86)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Вызов cdecl-функции (Windows х86-32)</vt:lpstr>
      <vt:lpstr>Структуры в ассемблере</vt:lpstr>
      <vt:lpstr>Структуры в ассемблере</vt:lpstr>
      <vt:lpstr>Простые структуры</vt:lpstr>
      <vt:lpstr>Возврат структур и объектов в cdecl</vt:lpstr>
      <vt:lpstr>Соглашение cdecl (Windows x86)</vt:lpstr>
      <vt:lpstr>Соглашение cdecl (Windows x86)</vt:lpstr>
      <vt:lpstr>Соглашение cdecl (UNIX-like x86)</vt:lpstr>
      <vt:lpstr>Соглашение stdcall (x86)</vt:lpstr>
      <vt:lpstr>Вызов stdcall-функции (Windows х86-32)</vt:lpstr>
      <vt:lpstr>Вызов stdcall-функции (Windows х86-32)</vt:lpstr>
      <vt:lpstr>Вызов stdcall-функции (Windows х86-32)</vt:lpstr>
      <vt:lpstr>Вызов stdcall-функции (Windows х86-32)</vt:lpstr>
      <vt:lpstr>Вызов stdcall-функции (Windows х86-32)</vt:lpstr>
      <vt:lpstr>Вызов stdcall-функции (Windows х86-32)</vt:lpstr>
      <vt:lpstr>Вызов stdcall-функции (Windows х86-32)</vt:lpstr>
      <vt:lpstr>Вызов stdcall-функции (Windows х86-32)</vt:lpstr>
      <vt:lpstr>Вызов методов класса (x86)</vt:lpstr>
      <vt:lpstr>Вызов методов класса (Windows x86)</vt:lpstr>
      <vt:lpstr>Вызов методов класса (UNIX-like x86)</vt:lpstr>
      <vt:lpstr>Соглашение Microsoft x64 </vt:lpstr>
      <vt:lpstr>Соглашение Microsoft x64 </vt:lpstr>
      <vt:lpstr>Соглашение System V </vt:lpstr>
      <vt:lpstr>Красная зона</vt:lpstr>
      <vt:lpstr>Соглашение System V x64 </vt:lpstr>
      <vt:lpstr>Требования языка С для функций с переменным числом аргументов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Низкоуровневое программирование</dc:title>
  <dc:creator>Алексей Борисов</dc:creator>
  <cp:lastModifiedBy>Alexey</cp:lastModifiedBy>
  <cp:revision>272</cp:revision>
  <dcterms:created xsi:type="dcterms:W3CDTF">2021-02-27T16:04:41Z</dcterms:created>
  <dcterms:modified xsi:type="dcterms:W3CDTF">2026-09-29T11:46:45Z</dcterms:modified>
</cp:coreProperties>
</file>