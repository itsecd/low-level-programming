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0"/>
  </p:notesMasterIdLst>
  <p:sldIdLst>
    <p:sldId id="256" r:id="rId2"/>
    <p:sldId id="341" r:id="rId3"/>
    <p:sldId id="351" r:id="rId4"/>
    <p:sldId id="324" r:id="rId5"/>
    <p:sldId id="298" r:id="rId6"/>
    <p:sldId id="299" r:id="rId7"/>
    <p:sldId id="300" r:id="rId8"/>
    <p:sldId id="357" r:id="rId9"/>
    <p:sldId id="302" r:id="rId10"/>
    <p:sldId id="303" r:id="rId11"/>
    <p:sldId id="305" r:id="rId12"/>
    <p:sldId id="306" r:id="rId13"/>
    <p:sldId id="307" r:id="rId14"/>
    <p:sldId id="325" r:id="rId15"/>
    <p:sldId id="359" r:id="rId16"/>
    <p:sldId id="326" r:id="rId17"/>
    <p:sldId id="354" r:id="rId18"/>
    <p:sldId id="333" r:id="rId19"/>
    <p:sldId id="329" r:id="rId20"/>
    <p:sldId id="327" r:id="rId21"/>
    <p:sldId id="353" r:id="rId22"/>
    <p:sldId id="328" r:id="rId23"/>
    <p:sldId id="355" r:id="rId24"/>
    <p:sldId id="335" r:id="rId25"/>
    <p:sldId id="330" r:id="rId26"/>
    <p:sldId id="358" r:id="rId27"/>
    <p:sldId id="334" r:id="rId28"/>
    <p:sldId id="336" r:id="rId29"/>
    <p:sldId id="345" r:id="rId30"/>
    <p:sldId id="332" r:id="rId31"/>
    <p:sldId id="342" r:id="rId32"/>
    <p:sldId id="331" r:id="rId33"/>
    <p:sldId id="343" r:id="rId34"/>
    <p:sldId id="337" r:id="rId35"/>
    <p:sldId id="352" r:id="rId36"/>
    <p:sldId id="344" r:id="rId37"/>
    <p:sldId id="350" r:id="rId38"/>
    <p:sldId id="34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Алексей Борисов" initials="АБ" lastIdx="2" clrIdx="0">
    <p:extLst>
      <p:ext uri="{19B8F6BF-5375-455C-9EA6-DF929625EA0E}">
        <p15:presenceInfo xmlns:p15="http://schemas.microsoft.com/office/powerpoint/2012/main" userId="faab6e817e357fa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53D2FF"/>
    <a:srgbClr val="87B6E1"/>
    <a:srgbClr val="00729A"/>
    <a:srgbClr val="0094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B1032C-EA38-4F05-BA0D-38AFFFC7BED3}" styleName="Светлый стиль 3 — акцент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Средний стиль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8D230F3-CF80-4859-8CE7-A43EE81993B5}" styleName="Светлый стиль 1 — акцент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Светлый стиль 2 — акцент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Средний стиль 4 — акцент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7CE84F3-28C3-443E-9E96-99CF82512B78}" styleName="Темный стиль 1 — акцент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Темный стиль 1 — акцент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Темный стиль 1 — акцент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0000" autoAdjust="0"/>
  </p:normalViewPr>
  <p:slideViewPr>
    <p:cSldViewPr snapToGrid="0">
      <p:cViewPr varScale="1">
        <p:scale>
          <a:sx n="102" d="100"/>
          <a:sy n="102" d="100"/>
        </p:scale>
        <p:origin x="1142" y="77"/>
      </p:cViewPr>
      <p:guideLst/>
    </p:cSldViewPr>
  </p:slideViewPr>
  <p:notesTextViewPr>
    <p:cViewPr>
      <p:scale>
        <a:sx n="1" d="1"/>
        <a:sy n="1" d="1"/>
      </p:scale>
      <p:origin x="0" y="0"/>
    </p:cViewPr>
  </p:notesTextViewPr>
  <p:sorterViewPr>
    <p:cViewPr>
      <p:scale>
        <a:sx n="200" d="100"/>
        <a:sy n="200" d="100"/>
      </p:scale>
      <p:origin x="0" y="0"/>
    </p:cViewPr>
  </p:sorterViewPr>
  <p:notesViewPr>
    <p:cSldViewPr snapToGrid="0">
      <p:cViewPr varScale="1">
        <p:scale>
          <a:sx n="88" d="100"/>
          <a:sy n="88" d="100"/>
        </p:scale>
        <p:origin x="4128" y="8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6917817338050129E-2"/>
          <c:y val="3.5119203604365906E-2"/>
          <c:w val="0.88550125527787282"/>
          <c:h val="0.72733216092512909"/>
        </c:manualLayout>
      </c:layout>
      <c:scatterChart>
        <c:scatterStyle val="lineMarker"/>
        <c:varyColors val="0"/>
        <c:ser>
          <c:idx val="0"/>
          <c:order val="0"/>
          <c:tx>
            <c:strRef>
              <c:f>Лист3!$B$2</c:f>
              <c:strCache>
                <c:ptCount val="1"/>
                <c:pt idx="0">
                  <c:v>Обход по строкам</c:v>
                </c:pt>
              </c:strCache>
            </c:strRef>
          </c:tx>
          <c:spPr>
            <a:ln w="38100" cap="rnd">
              <a:solidFill>
                <a:schemeClr val="accent1"/>
              </a:solidFill>
              <a:round/>
            </a:ln>
            <a:effectLst/>
          </c:spPr>
          <c:marker>
            <c:symbol val="circle"/>
            <c:size val="5"/>
            <c:spPr>
              <a:solidFill>
                <a:schemeClr val="accent1"/>
              </a:solidFill>
              <a:ln w="38100">
                <a:solidFill>
                  <a:schemeClr val="accent1"/>
                </a:solidFill>
              </a:ln>
              <a:effectLst/>
            </c:spPr>
          </c:marker>
          <c:xVal>
            <c:numRef>
              <c:f>Лист3!$A$3:$A$17</c:f>
              <c:numCache>
                <c:formatCode>General</c:formatCode>
                <c:ptCount val="15"/>
                <c:pt idx="0">
                  <c:v>256</c:v>
                </c:pt>
                <c:pt idx="1">
                  <c:v>512</c:v>
                </c:pt>
                <c:pt idx="2">
                  <c:v>768</c:v>
                </c:pt>
                <c:pt idx="3">
                  <c:v>1024</c:v>
                </c:pt>
                <c:pt idx="4">
                  <c:v>1280</c:v>
                </c:pt>
                <c:pt idx="5">
                  <c:v>1536</c:v>
                </c:pt>
                <c:pt idx="6">
                  <c:v>1792</c:v>
                </c:pt>
                <c:pt idx="7">
                  <c:v>2048</c:v>
                </c:pt>
                <c:pt idx="8">
                  <c:v>2304</c:v>
                </c:pt>
                <c:pt idx="9">
                  <c:v>2560</c:v>
                </c:pt>
                <c:pt idx="10">
                  <c:v>2816</c:v>
                </c:pt>
                <c:pt idx="11">
                  <c:v>3072</c:v>
                </c:pt>
                <c:pt idx="12">
                  <c:v>3328</c:v>
                </c:pt>
                <c:pt idx="13">
                  <c:v>3584</c:v>
                </c:pt>
                <c:pt idx="14">
                  <c:v>3840</c:v>
                </c:pt>
              </c:numCache>
            </c:numRef>
          </c:xVal>
          <c:yVal>
            <c:numRef>
              <c:f>Лист3!$B$3:$B$17</c:f>
              <c:numCache>
                <c:formatCode>General</c:formatCode>
                <c:ptCount val="15"/>
                <c:pt idx="0">
                  <c:v>0.68812499999999999</c:v>
                </c:pt>
                <c:pt idx="1">
                  <c:v>1.37625</c:v>
                </c:pt>
                <c:pt idx="2">
                  <c:v>2.0644399999999998</c:v>
                </c:pt>
                <c:pt idx="3">
                  <c:v>2.8150300000000001</c:v>
                </c:pt>
                <c:pt idx="4">
                  <c:v>3.56576</c:v>
                </c:pt>
                <c:pt idx="5">
                  <c:v>4.2538400000000003</c:v>
                </c:pt>
                <c:pt idx="6">
                  <c:v>4.9420200000000003</c:v>
                </c:pt>
                <c:pt idx="7">
                  <c:v>5.6301600000000001</c:v>
                </c:pt>
                <c:pt idx="8">
                  <c:v>6.3808199999999999</c:v>
                </c:pt>
                <c:pt idx="9">
                  <c:v>7.0689200000000003</c:v>
                </c:pt>
                <c:pt idx="10">
                  <c:v>7.7570899999999998</c:v>
                </c:pt>
                <c:pt idx="11">
                  <c:v>8.5077499999999997</c:v>
                </c:pt>
                <c:pt idx="12">
                  <c:v>9.2584499999999998</c:v>
                </c:pt>
                <c:pt idx="13">
                  <c:v>9.9465800000000009</c:v>
                </c:pt>
                <c:pt idx="14">
                  <c:v>10.572100000000001</c:v>
                </c:pt>
              </c:numCache>
            </c:numRef>
          </c:yVal>
          <c:smooth val="0"/>
          <c:extLst>
            <c:ext xmlns:c16="http://schemas.microsoft.com/office/drawing/2014/chart" uri="{C3380CC4-5D6E-409C-BE32-E72D297353CC}">
              <c16:uniqueId val="{00000000-9BE5-4377-AF8B-28F16F25D287}"/>
            </c:ext>
          </c:extLst>
        </c:ser>
        <c:ser>
          <c:idx val="1"/>
          <c:order val="1"/>
          <c:tx>
            <c:strRef>
              <c:f>Лист3!$C$2</c:f>
              <c:strCache>
                <c:ptCount val="1"/>
                <c:pt idx="0">
                  <c:v>Обход по столбцам</c:v>
                </c:pt>
              </c:strCache>
            </c:strRef>
          </c:tx>
          <c:spPr>
            <a:ln w="38100" cap="rnd">
              <a:solidFill>
                <a:schemeClr val="accent2"/>
              </a:solidFill>
              <a:round/>
            </a:ln>
            <a:effectLst/>
          </c:spPr>
          <c:marker>
            <c:symbol val="circle"/>
            <c:size val="5"/>
            <c:spPr>
              <a:solidFill>
                <a:schemeClr val="accent2"/>
              </a:solidFill>
              <a:ln w="38100">
                <a:solidFill>
                  <a:schemeClr val="accent2"/>
                </a:solidFill>
              </a:ln>
              <a:effectLst/>
            </c:spPr>
          </c:marker>
          <c:xVal>
            <c:numRef>
              <c:f>Лист3!$A$3:$A$17</c:f>
              <c:numCache>
                <c:formatCode>General</c:formatCode>
                <c:ptCount val="15"/>
                <c:pt idx="0">
                  <c:v>256</c:v>
                </c:pt>
                <c:pt idx="1">
                  <c:v>512</c:v>
                </c:pt>
                <c:pt idx="2">
                  <c:v>768</c:v>
                </c:pt>
                <c:pt idx="3">
                  <c:v>1024</c:v>
                </c:pt>
                <c:pt idx="4">
                  <c:v>1280</c:v>
                </c:pt>
                <c:pt idx="5">
                  <c:v>1536</c:v>
                </c:pt>
                <c:pt idx="6">
                  <c:v>1792</c:v>
                </c:pt>
                <c:pt idx="7">
                  <c:v>2048</c:v>
                </c:pt>
                <c:pt idx="8">
                  <c:v>2304</c:v>
                </c:pt>
                <c:pt idx="9">
                  <c:v>2560</c:v>
                </c:pt>
                <c:pt idx="10">
                  <c:v>2816</c:v>
                </c:pt>
                <c:pt idx="11">
                  <c:v>3072</c:v>
                </c:pt>
                <c:pt idx="12">
                  <c:v>3328</c:v>
                </c:pt>
                <c:pt idx="13">
                  <c:v>3584</c:v>
                </c:pt>
                <c:pt idx="14">
                  <c:v>3840</c:v>
                </c:pt>
              </c:numCache>
            </c:numRef>
          </c:xVal>
          <c:yVal>
            <c:numRef>
              <c:f>Лист3!$C$3:$C$17</c:f>
              <c:numCache>
                <c:formatCode>General</c:formatCode>
                <c:ptCount val="15"/>
                <c:pt idx="0">
                  <c:v>0.688106</c:v>
                </c:pt>
                <c:pt idx="1">
                  <c:v>1.3762099999999999</c:v>
                </c:pt>
                <c:pt idx="2">
                  <c:v>2.3771900000000001</c:v>
                </c:pt>
                <c:pt idx="3">
                  <c:v>3.87853</c:v>
                </c:pt>
                <c:pt idx="4">
                  <c:v>7.94475</c:v>
                </c:pt>
                <c:pt idx="5">
                  <c:v>10.446999999999999</c:v>
                </c:pt>
                <c:pt idx="6">
                  <c:v>13.011799999999999</c:v>
                </c:pt>
                <c:pt idx="7">
                  <c:v>15.0762</c:v>
                </c:pt>
                <c:pt idx="8">
                  <c:v>18.2667</c:v>
                </c:pt>
                <c:pt idx="9">
                  <c:v>20.831499999999998</c:v>
                </c:pt>
                <c:pt idx="10">
                  <c:v>24.334599999999998</c:v>
                </c:pt>
                <c:pt idx="11">
                  <c:v>28.4634</c:v>
                </c:pt>
                <c:pt idx="12">
                  <c:v>32.905000000000001</c:v>
                </c:pt>
                <c:pt idx="13">
                  <c:v>37.534199999999998</c:v>
                </c:pt>
                <c:pt idx="14">
                  <c:v>42.1008</c:v>
                </c:pt>
              </c:numCache>
            </c:numRef>
          </c:yVal>
          <c:smooth val="0"/>
          <c:extLst>
            <c:ext xmlns:c16="http://schemas.microsoft.com/office/drawing/2014/chart" uri="{C3380CC4-5D6E-409C-BE32-E72D297353CC}">
              <c16:uniqueId val="{00000001-9BE5-4377-AF8B-28F16F25D287}"/>
            </c:ext>
          </c:extLst>
        </c:ser>
        <c:dLbls>
          <c:showLegendKey val="0"/>
          <c:showVal val="0"/>
          <c:showCatName val="0"/>
          <c:showSerName val="0"/>
          <c:showPercent val="0"/>
          <c:showBubbleSize val="0"/>
        </c:dLbls>
        <c:axId val="684481008"/>
        <c:axId val="684482648"/>
      </c:scatterChart>
      <c:valAx>
        <c:axId val="684481008"/>
        <c:scaling>
          <c:orientation val="minMax"/>
          <c:max val="4096"/>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ru-RU" sz="1800" b="1" baseline="0" dirty="0"/>
                  <a:t>Размер стороны квадратной матрицы</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ru-RU"/>
          </a:p>
        </c:txPr>
        <c:crossAx val="684482648"/>
        <c:crosses val="autoZero"/>
        <c:crossBetween val="midCat"/>
        <c:majorUnit val="256"/>
      </c:valAx>
      <c:valAx>
        <c:axId val="6844826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ru-RU" sz="1800" b="1" baseline="0" dirty="0"/>
                  <a:t>Время подсчета среднего, </a:t>
                </a:r>
                <a:r>
                  <a:rPr lang="ru-RU" sz="1800" b="1" baseline="0" dirty="0" err="1"/>
                  <a:t>мс</a:t>
                </a:r>
                <a:endParaRPr lang="ru-RU" sz="1800" b="1" baseline="0" dirty="0"/>
              </a:p>
            </c:rich>
          </c:tx>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ru-RU"/>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ru-RU"/>
          </a:p>
        </c:txPr>
        <c:crossAx val="68448100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ru-RU"/>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ru-RU"/>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70136C-4900-4139-A65E-0FFE21BA8660}" type="datetimeFigureOut">
              <a:rPr lang="en-US" smtClean="0"/>
              <a:t>12/15/2025</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5C656-B1C2-48D6-B4C0-50C1DF62A042}" type="slidenum">
              <a:rPr lang="en-US" smtClean="0"/>
              <a:t>‹#›</a:t>
            </a:fld>
            <a:endParaRPr lang="en-US"/>
          </a:p>
        </p:txBody>
      </p:sp>
    </p:spTree>
    <p:extLst>
      <p:ext uri="{BB962C8B-B14F-4D97-AF65-F5344CB8AC3E}">
        <p14:creationId xmlns:p14="http://schemas.microsoft.com/office/powerpoint/2010/main" val="3953366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Если изменяемая кэш-линия отсутствовала в кэше, то в обоих случаях она будет считана в кэш.</a:t>
            </a:r>
          </a:p>
        </p:txBody>
      </p:sp>
      <p:sp>
        <p:nvSpPr>
          <p:cNvPr id="4" name="Slide Number Placeholder 3"/>
          <p:cNvSpPr>
            <a:spLocks noGrp="1"/>
          </p:cNvSpPr>
          <p:nvPr>
            <p:ph type="sldNum" sz="quarter" idx="5"/>
          </p:nvPr>
        </p:nvSpPr>
        <p:spPr/>
        <p:txBody>
          <a:bodyPr/>
          <a:lstStyle/>
          <a:p>
            <a:fld id="{A8B5C656-B1C2-48D6-B4C0-50C1DF62A042}" type="slidenum">
              <a:rPr lang="en-US" smtClean="0"/>
              <a:t>8</a:t>
            </a:fld>
            <a:endParaRPr lang="en-US"/>
          </a:p>
        </p:txBody>
      </p:sp>
    </p:spTree>
    <p:extLst>
      <p:ext uri="{BB962C8B-B14F-4D97-AF65-F5344CB8AC3E}">
        <p14:creationId xmlns:p14="http://schemas.microsoft.com/office/powerpoint/2010/main" val="495728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8B5C656-B1C2-48D6-B4C0-50C1DF62A042}" type="slidenum">
              <a:rPr lang="en-US" smtClean="0"/>
              <a:t>25</a:t>
            </a:fld>
            <a:endParaRPr lang="en-US"/>
          </a:p>
        </p:txBody>
      </p:sp>
    </p:spTree>
    <p:extLst>
      <p:ext uri="{BB962C8B-B14F-4D97-AF65-F5344CB8AC3E}">
        <p14:creationId xmlns:p14="http://schemas.microsoft.com/office/powerpoint/2010/main" val="2824927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9B20-C052-E023-7877-943F48E407BF}"/>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962BBF8-1976-30C0-3782-861283A11457}"/>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94A673B8-CA78-44F3-BBB3-A321713F6820}"/>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538FC094-808B-B1CE-C896-469D125A3513}"/>
              </a:ext>
            </a:extLst>
          </p:cNvPr>
          <p:cNvSpPr>
            <a:spLocks noGrp="1"/>
          </p:cNvSpPr>
          <p:nvPr>
            <p:ph type="sldNum" sz="quarter" idx="5"/>
          </p:nvPr>
        </p:nvSpPr>
        <p:spPr/>
        <p:txBody>
          <a:bodyPr/>
          <a:lstStyle/>
          <a:p>
            <a:fld id="{A8B5C656-B1C2-48D6-B4C0-50C1DF62A042}" type="slidenum">
              <a:rPr lang="en-US" smtClean="0"/>
              <a:t>26</a:t>
            </a:fld>
            <a:endParaRPr lang="en-US"/>
          </a:p>
        </p:txBody>
      </p:sp>
    </p:spTree>
    <p:extLst>
      <p:ext uri="{BB962C8B-B14F-4D97-AF65-F5344CB8AC3E}">
        <p14:creationId xmlns:p14="http://schemas.microsoft.com/office/powerpoint/2010/main" val="2319555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8B5C656-B1C2-48D6-B4C0-50C1DF62A042}" type="slidenum">
              <a:rPr lang="en-US" smtClean="0"/>
              <a:t>27</a:t>
            </a:fld>
            <a:endParaRPr lang="en-US"/>
          </a:p>
        </p:txBody>
      </p:sp>
    </p:spTree>
    <p:extLst>
      <p:ext uri="{BB962C8B-B14F-4D97-AF65-F5344CB8AC3E}">
        <p14:creationId xmlns:p14="http://schemas.microsoft.com/office/powerpoint/2010/main" val="2503851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8B5C656-B1C2-48D6-B4C0-50C1DF62A042}" type="slidenum">
              <a:rPr lang="en-US" smtClean="0"/>
              <a:t>29</a:t>
            </a:fld>
            <a:endParaRPr lang="en-US"/>
          </a:p>
        </p:txBody>
      </p:sp>
    </p:spTree>
    <p:extLst>
      <p:ext uri="{BB962C8B-B14F-4D97-AF65-F5344CB8AC3E}">
        <p14:creationId xmlns:p14="http://schemas.microsoft.com/office/powerpoint/2010/main" val="2882329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8B5C656-B1C2-48D6-B4C0-50C1DF62A042}" type="slidenum">
              <a:rPr lang="en-US" smtClean="0"/>
              <a:t>34</a:t>
            </a:fld>
            <a:endParaRPr lang="en-US"/>
          </a:p>
        </p:txBody>
      </p:sp>
    </p:spTree>
    <p:extLst>
      <p:ext uri="{BB962C8B-B14F-4D97-AF65-F5344CB8AC3E}">
        <p14:creationId xmlns:p14="http://schemas.microsoft.com/office/powerpoint/2010/main" val="37575397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a:t>Префикс </a:t>
            </a:r>
            <a:r>
              <a:rPr lang="en-US" dirty="0"/>
              <a:t>LOCK</a:t>
            </a:r>
            <a:r>
              <a:rPr lang="ru-RU" dirty="0"/>
              <a:t> может использоваться с инструкциями </a:t>
            </a:r>
            <a:r>
              <a:rPr lang="en-US" dirty="0"/>
              <a:t>ADD, ADC, AND, BTC, BTR, BTS, CMPXCHG, CMPXCH8B, CMPXCHG16B, DEC, INC, NEG, NOT, OR, SBB, SUB, XOR, XADD, and XCHG</a:t>
            </a:r>
            <a:endParaRPr lang="ru-RU" dirty="0"/>
          </a:p>
        </p:txBody>
      </p:sp>
      <p:sp>
        <p:nvSpPr>
          <p:cNvPr id="4" name="Номер слайда 3"/>
          <p:cNvSpPr>
            <a:spLocks noGrp="1"/>
          </p:cNvSpPr>
          <p:nvPr>
            <p:ph type="sldNum" sz="quarter" idx="5"/>
          </p:nvPr>
        </p:nvSpPr>
        <p:spPr/>
        <p:txBody>
          <a:bodyPr/>
          <a:lstStyle/>
          <a:p>
            <a:fld id="{A8B5C656-B1C2-48D6-B4C0-50C1DF62A042}" type="slidenum">
              <a:rPr lang="en-US" smtClean="0"/>
              <a:t>35</a:t>
            </a:fld>
            <a:endParaRPr lang="en-US"/>
          </a:p>
        </p:txBody>
      </p:sp>
    </p:spTree>
    <p:extLst>
      <p:ext uri="{BB962C8B-B14F-4D97-AF65-F5344CB8AC3E}">
        <p14:creationId xmlns:p14="http://schemas.microsoft.com/office/powerpoint/2010/main" val="4089058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A8B5C656-B1C2-48D6-B4C0-50C1DF62A042}" type="slidenum">
              <a:rPr lang="en-US" smtClean="0"/>
              <a:t>38</a:t>
            </a:fld>
            <a:endParaRPr lang="en-US"/>
          </a:p>
        </p:txBody>
      </p:sp>
    </p:spTree>
    <p:extLst>
      <p:ext uri="{BB962C8B-B14F-4D97-AF65-F5344CB8AC3E}">
        <p14:creationId xmlns:p14="http://schemas.microsoft.com/office/powerpoint/2010/main" val="1275529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F24B42-0E25-4A7E-B7D6-9674B89D9E3B}"/>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C785556B-B022-443D-83AC-7485A88B86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8D99A08A-18EF-4E21-A894-034E4294D4F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Нижний колонтитул 4">
            <a:extLst>
              <a:ext uri="{FF2B5EF4-FFF2-40B4-BE49-F238E27FC236}">
                <a16:creationId xmlns:a16="http://schemas.microsoft.com/office/drawing/2014/main" id="{1928A281-9EB8-427F-B1A2-BB5CDB839608}"/>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419546A-E21B-4819-8351-F094DB6BB42F}"/>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3429065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082607-438D-4515-8271-35633FBFDE50}"/>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1CBF9345-D2D0-4359-93FF-C2809BBCD7E2}"/>
              </a:ext>
            </a:extLst>
          </p:cNvPr>
          <p:cNvSpPr>
            <a:spLocks noGrp="1"/>
          </p:cNvSpPr>
          <p:nvPr>
            <p:ph idx="1"/>
          </p:nvPr>
        </p:nvSpPr>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5" name="Нижний колонтитул 4">
            <a:extLst>
              <a:ext uri="{FF2B5EF4-FFF2-40B4-BE49-F238E27FC236}">
                <a16:creationId xmlns:a16="http://schemas.microsoft.com/office/drawing/2014/main" id="{68C4B98D-193A-4E7E-9BEA-6F3C2EE77762}"/>
              </a:ext>
            </a:extLst>
          </p:cNvPr>
          <p:cNvSpPr>
            <a:spLocks noGrp="1"/>
          </p:cNvSpPr>
          <p:nvPr>
            <p:ph type="ftr" sz="quarter" idx="11"/>
          </p:nvPr>
        </p:nvSpPr>
        <p:spPr/>
        <p:txBody>
          <a:bodyPr/>
          <a:lstStyle>
            <a:lvl1pPr algn="l">
              <a:defRPr sz="1800"/>
            </a:lvl1pPr>
          </a:lstStyle>
          <a:p>
            <a:endParaRPr lang="en-US" dirty="0"/>
          </a:p>
        </p:txBody>
      </p:sp>
      <p:sp>
        <p:nvSpPr>
          <p:cNvPr id="6" name="Номер слайда 5">
            <a:extLst>
              <a:ext uri="{FF2B5EF4-FFF2-40B4-BE49-F238E27FC236}">
                <a16:creationId xmlns:a16="http://schemas.microsoft.com/office/drawing/2014/main" id="{4A8A8E53-6AB8-45F5-8458-43FBA3AB85CC}"/>
              </a:ext>
            </a:extLst>
          </p:cNvPr>
          <p:cNvSpPr>
            <a:spLocks noGrp="1"/>
          </p:cNvSpPr>
          <p:nvPr>
            <p:ph type="sldNum" sz="quarter" idx="12"/>
          </p:nvPr>
        </p:nvSpPr>
        <p:spPr/>
        <p:txBody>
          <a:bodyPr/>
          <a:lstStyle>
            <a:lvl1pPr>
              <a:defRPr sz="1800"/>
            </a:lvl1pPr>
          </a:lstStyle>
          <a:p>
            <a:fld id="{B67FBA2B-964F-4C4D-AAF7-5A8399264638}" type="slidenum">
              <a:rPr lang="en-US" smtClean="0"/>
              <a:pPr/>
              <a:t>‹#›</a:t>
            </a:fld>
            <a:endParaRPr lang="en-US"/>
          </a:p>
        </p:txBody>
      </p:sp>
    </p:spTree>
    <p:extLst>
      <p:ext uri="{BB962C8B-B14F-4D97-AF65-F5344CB8AC3E}">
        <p14:creationId xmlns:p14="http://schemas.microsoft.com/office/powerpoint/2010/main" val="1711108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84BB97-026A-4EB6-8279-BE4B55CA7ED6}"/>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87A6FBF6-4F3F-41E8-A64F-B8A683F4BEE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C8354DB5-B3D6-4EDB-9909-40D48A81AEC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Нижний колонтитул 4">
            <a:extLst>
              <a:ext uri="{FF2B5EF4-FFF2-40B4-BE49-F238E27FC236}">
                <a16:creationId xmlns:a16="http://schemas.microsoft.com/office/drawing/2014/main" id="{E9F0C955-1908-48B6-9150-7193ED69D1D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CC7563E-18B2-410D-9817-3B879AA10634}"/>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2419092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06DCC4-014E-47CE-BFF3-EAE9564A928A}"/>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9B66D607-FBCA-4B15-B062-E45AA60CE0D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12FB3B74-1388-436C-BC7D-DF0753585E6B}"/>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5944EB42-FC5E-4732-8D39-85BD7D44594B}"/>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Нижний колонтитул 5">
            <a:extLst>
              <a:ext uri="{FF2B5EF4-FFF2-40B4-BE49-F238E27FC236}">
                <a16:creationId xmlns:a16="http://schemas.microsoft.com/office/drawing/2014/main" id="{795D3CDC-636C-432D-83AE-143CB5C27DB4}"/>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9CC6E501-E3A1-4D96-B216-FC7639522583}"/>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2558062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AAB106-F335-4889-B133-0215C0577594}"/>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8DF2971-2E9F-4E0E-810D-844904D836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63F5027-2511-41F9-8706-0B42FF723155}"/>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7A181A99-0161-4256-9FC3-ECBEBC06F3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8359298-1003-4941-8DDA-BB77D8FF8F4D}"/>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116DAD6F-6ACC-4778-851E-7C2FC7C990D5}"/>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Нижний колонтитул 7">
            <a:extLst>
              <a:ext uri="{FF2B5EF4-FFF2-40B4-BE49-F238E27FC236}">
                <a16:creationId xmlns:a16="http://schemas.microsoft.com/office/drawing/2014/main" id="{DB817DBD-1FD5-4A1F-8EEF-54F2CDFBC611}"/>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3DA5F785-F625-4B7D-A6D0-1866E6AB9C17}"/>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72990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FD0865-6E6F-4F6C-9ADB-8490153D7964}"/>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AD807B0F-2182-4083-AEF4-15492FFA014B}"/>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Нижний колонтитул 3">
            <a:extLst>
              <a:ext uri="{FF2B5EF4-FFF2-40B4-BE49-F238E27FC236}">
                <a16:creationId xmlns:a16="http://schemas.microsoft.com/office/drawing/2014/main" id="{CBD1E51B-05BC-4B55-9EDB-412577C2FF6E}"/>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27EF8A98-69E1-4575-9608-425E1EF6DEE3}"/>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218939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3EFF670A-5F4C-4552-80BC-36BE7A0D0F6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Нижний колонтитул 2">
            <a:extLst>
              <a:ext uri="{FF2B5EF4-FFF2-40B4-BE49-F238E27FC236}">
                <a16:creationId xmlns:a16="http://schemas.microsoft.com/office/drawing/2014/main" id="{8A1FE3E8-94B9-4A2A-9DE6-43C4AB55D187}"/>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BEB634DB-486D-4D74-8F97-5FDA68E899F4}"/>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1561414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36AC518-993C-4EF2-9F29-9B2181CFB4FE}"/>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D8BD7AD4-B430-4725-AB1E-7F24CD1FE5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B98E3CAB-7D42-44CD-B5A0-13B27A5657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CBC79307-2068-4CD8-96B1-D6EA12DD69F7}"/>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Нижний колонтитул 5">
            <a:extLst>
              <a:ext uri="{FF2B5EF4-FFF2-40B4-BE49-F238E27FC236}">
                <a16:creationId xmlns:a16="http://schemas.microsoft.com/office/drawing/2014/main" id="{5676925D-4A53-4B35-9542-25F6E3F1207A}"/>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D2A61258-9615-4E73-B2A0-2BDE6E7DC433}"/>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92174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1776D7-0540-4DA6-AAE2-F391FD5656F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CCA0F336-6616-474B-A11B-02EE61C0A4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EBBFBC25-939E-4FBB-86C3-85F5F655D9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4BEB1EFF-DD78-4110-90B6-F4ECA9D8DC0E}"/>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Нижний колонтитул 5">
            <a:extLst>
              <a:ext uri="{FF2B5EF4-FFF2-40B4-BE49-F238E27FC236}">
                <a16:creationId xmlns:a16="http://schemas.microsoft.com/office/drawing/2014/main" id="{68B72029-FB69-40F6-9351-634C607F13D3}"/>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6FE13307-0790-4F95-A50A-E421528D5DC4}"/>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390152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283C619-5DB0-420B-8DA6-C9D70844EB86}"/>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AA727C8C-5D04-41CC-9119-BCAE9D9848C7}"/>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358D7C69-F24E-42E8-B75E-4AB73C8E9062}"/>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Нижний колонтитул 4">
            <a:extLst>
              <a:ext uri="{FF2B5EF4-FFF2-40B4-BE49-F238E27FC236}">
                <a16:creationId xmlns:a16="http://schemas.microsoft.com/office/drawing/2014/main" id="{E4273778-3D61-4FF5-91E9-8EED986B3352}"/>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709DDFBA-D1D6-4FBE-8BA5-EE146371CA76}"/>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4146018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FC160B9B-068E-45FF-ABF1-517456125B3D}"/>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87BDE121-1D3C-4DCA-8A26-7C9E0B9019E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18384099-E0F3-46A0-9264-BAE732E93D81}"/>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Нижний колонтитул 4">
            <a:extLst>
              <a:ext uri="{FF2B5EF4-FFF2-40B4-BE49-F238E27FC236}">
                <a16:creationId xmlns:a16="http://schemas.microsoft.com/office/drawing/2014/main" id="{5BFB4418-B1EA-4AE6-AEBE-953C1C7E9CAA}"/>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822D353-A0CE-474D-80EB-75A67EDB5126}"/>
              </a:ext>
            </a:extLst>
          </p:cNvPr>
          <p:cNvSpPr>
            <a:spLocks noGrp="1"/>
          </p:cNvSpPr>
          <p:nvPr>
            <p:ph type="sldNum" sz="quarter" idx="12"/>
          </p:nvPr>
        </p:nvSpPr>
        <p:spPr/>
        <p:txBody>
          <a:bodyPr/>
          <a:lstStyle/>
          <a:p>
            <a:fld id="{B67FBA2B-964F-4C4D-AAF7-5A8399264638}" type="slidenum">
              <a:rPr lang="en-US" smtClean="0"/>
              <a:t>‹#›</a:t>
            </a:fld>
            <a:endParaRPr lang="en-US"/>
          </a:p>
        </p:txBody>
      </p:sp>
    </p:spTree>
    <p:extLst>
      <p:ext uri="{BB962C8B-B14F-4D97-AF65-F5344CB8AC3E}">
        <p14:creationId xmlns:p14="http://schemas.microsoft.com/office/powerpoint/2010/main" val="1579384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09C333E-9900-4FCD-A4BE-6E7C75245A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D3E0A9C9-CCCA-434F-A14F-8416DC5DA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5" name="Нижний колонтитул 4">
            <a:extLst>
              <a:ext uri="{FF2B5EF4-FFF2-40B4-BE49-F238E27FC236}">
                <a16:creationId xmlns:a16="http://schemas.microsoft.com/office/drawing/2014/main" id="{9AA36A1B-5D5B-4687-941C-4A2CC178047A}"/>
              </a:ext>
            </a:extLst>
          </p:cNvPr>
          <p:cNvSpPr>
            <a:spLocks noGrp="1"/>
          </p:cNvSpPr>
          <p:nvPr>
            <p:ph type="ftr" sz="quarter" idx="3"/>
          </p:nvPr>
        </p:nvSpPr>
        <p:spPr>
          <a:xfrm>
            <a:off x="838200" y="6356350"/>
            <a:ext cx="7315200" cy="365125"/>
          </a:xfrm>
          <a:prstGeom prst="rect">
            <a:avLst/>
          </a:prstGeom>
        </p:spPr>
        <p:txBody>
          <a:bodyPr vert="horz" lIns="91440" tIns="45720" rIns="91440" bIns="45720" rtlCol="0" anchor="ctr"/>
          <a:lstStyle>
            <a:lvl1pPr algn="l">
              <a:defRPr sz="18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DB1CF36F-C4AB-4875-86C3-377938959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a:solidFill>
                  <a:schemeClr val="tx1">
                    <a:tint val="75000"/>
                  </a:schemeClr>
                </a:solidFill>
              </a:defRPr>
            </a:lvl1pPr>
          </a:lstStyle>
          <a:p>
            <a:fld id="{B67FBA2B-964F-4C4D-AAF7-5A8399264638}" type="slidenum">
              <a:rPr lang="en-US" smtClean="0"/>
              <a:pPr/>
              <a:t>‹#›</a:t>
            </a:fld>
            <a:endParaRPr lang="en-US"/>
          </a:p>
        </p:txBody>
      </p:sp>
    </p:spTree>
    <p:extLst>
      <p:ext uri="{BB962C8B-B14F-4D97-AF65-F5344CB8AC3E}">
        <p14:creationId xmlns:p14="http://schemas.microsoft.com/office/powerpoint/2010/main" val="25539802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gner.org/optimize/instruction_tables.pd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hyperlink" Target="https://en.wikipedia.org/wiki/MESI_protocol"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en.cppreference.com/w/cpp/thread/hardware_destructive_interference_size"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3B0387-A424-4232-B826-E72B79246BB8}"/>
              </a:ext>
            </a:extLst>
          </p:cNvPr>
          <p:cNvSpPr>
            <a:spLocks noGrp="1"/>
          </p:cNvSpPr>
          <p:nvPr>
            <p:ph type="ctrTitle"/>
          </p:nvPr>
        </p:nvSpPr>
        <p:spPr/>
        <p:txBody>
          <a:bodyPr/>
          <a:lstStyle/>
          <a:p>
            <a:r>
              <a:rPr lang="ru-RU" dirty="0"/>
              <a:t>Низкоуровневое программирование</a:t>
            </a:r>
            <a:endParaRPr lang="en-US" dirty="0"/>
          </a:p>
        </p:txBody>
      </p:sp>
      <p:sp>
        <p:nvSpPr>
          <p:cNvPr id="3" name="Подзаголовок 2">
            <a:extLst>
              <a:ext uri="{FF2B5EF4-FFF2-40B4-BE49-F238E27FC236}">
                <a16:creationId xmlns:a16="http://schemas.microsoft.com/office/drawing/2014/main" id="{7E0B0FE4-1541-4C22-BC3D-263F41B28BF0}"/>
              </a:ext>
            </a:extLst>
          </p:cNvPr>
          <p:cNvSpPr>
            <a:spLocks noGrp="1"/>
          </p:cNvSpPr>
          <p:nvPr>
            <p:ph type="subTitle" idx="1"/>
          </p:nvPr>
        </p:nvSpPr>
        <p:spPr>
          <a:xfrm>
            <a:off x="1524000" y="3602038"/>
            <a:ext cx="9144000" cy="2930436"/>
          </a:xfrm>
        </p:spPr>
        <p:txBody>
          <a:bodyPr>
            <a:normAutofit/>
          </a:bodyPr>
          <a:lstStyle/>
          <a:p>
            <a:r>
              <a:rPr lang="ru-RU" dirty="0"/>
              <a:t>Лекция </a:t>
            </a:r>
            <a:r>
              <a:rPr lang="en-US" dirty="0"/>
              <a:t>7</a:t>
            </a:r>
            <a:br>
              <a:rPr lang="ru-RU" dirty="0"/>
            </a:br>
            <a:br>
              <a:rPr lang="ru-RU" dirty="0"/>
            </a:br>
            <a:r>
              <a:rPr lang="ru-RU" dirty="0"/>
              <a:t>Кэш-память</a:t>
            </a:r>
          </a:p>
          <a:p>
            <a:r>
              <a:rPr lang="ru-RU" dirty="0" err="1"/>
              <a:t>Суперскалярная</a:t>
            </a:r>
            <a:r>
              <a:rPr lang="ru-RU" dirty="0"/>
              <a:t> архитектура ЦП</a:t>
            </a:r>
          </a:p>
          <a:p>
            <a:r>
              <a:rPr lang="ru-RU" dirty="0"/>
              <a:t>Многоядерные ЦП</a:t>
            </a:r>
          </a:p>
        </p:txBody>
      </p:sp>
    </p:spTree>
    <p:extLst>
      <p:ext uri="{BB962C8B-B14F-4D97-AF65-F5344CB8AC3E}">
        <p14:creationId xmlns:p14="http://schemas.microsoft.com/office/powerpoint/2010/main" val="211644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14497D-7966-0E10-D340-88576A53B775}"/>
              </a:ext>
            </a:extLst>
          </p:cNvPr>
          <p:cNvSpPr>
            <a:spLocks noGrp="1"/>
          </p:cNvSpPr>
          <p:nvPr>
            <p:ph type="title"/>
          </p:nvPr>
        </p:nvSpPr>
        <p:spPr/>
        <p:txBody>
          <a:bodyPr/>
          <a:lstStyle/>
          <a:p>
            <a:r>
              <a:rPr lang="ru-RU" dirty="0"/>
              <a:t>Программная модель ЦП</a:t>
            </a:r>
          </a:p>
        </p:txBody>
      </p:sp>
      <p:sp>
        <p:nvSpPr>
          <p:cNvPr id="3" name="Объект 2">
            <a:extLst>
              <a:ext uri="{FF2B5EF4-FFF2-40B4-BE49-F238E27FC236}">
                <a16:creationId xmlns:a16="http://schemas.microsoft.com/office/drawing/2014/main" id="{1543D103-294B-6E90-7A0C-52E5B2C3007A}"/>
              </a:ext>
            </a:extLst>
          </p:cNvPr>
          <p:cNvSpPr>
            <a:spLocks noGrp="1"/>
          </p:cNvSpPr>
          <p:nvPr>
            <p:ph idx="1"/>
          </p:nvPr>
        </p:nvSpPr>
        <p:spPr>
          <a:xfrm>
            <a:off x="838200" y="1690688"/>
            <a:ext cx="10708758" cy="4351338"/>
          </a:xfrm>
        </p:spPr>
        <p:txBody>
          <a:bodyPr>
            <a:normAutofit/>
          </a:bodyPr>
          <a:lstStyle/>
          <a:p>
            <a:pPr marL="0" indent="0">
              <a:buNone/>
            </a:pPr>
            <a:r>
              <a:rPr lang="ru-RU" sz="2000" dirty="0"/>
              <a:t>Под программной моделью ЦП (</a:t>
            </a:r>
            <a:r>
              <a:rPr lang="en-US" sz="2000" dirty="0"/>
              <a:t>programming model, programmer’s model</a:t>
            </a:r>
            <a:r>
              <a:rPr lang="ru-RU" sz="2000" dirty="0"/>
              <a:t>) описание правил функционирования ЦП, задаваемое в </a:t>
            </a:r>
            <a:r>
              <a:rPr lang="en-US" sz="2000" dirty="0"/>
              <a:t>ISA</a:t>
            </a:r>
            <a:r>
              <a:rPr lang="ru-RU" sz="2000" dirty="0"/>
              <a:t>. </a:t>
            </a:r>
          </a:p>
          <a:p>
            <a:pPr marL="0" indent="0">
              <a:buNone/>
            </a:pPr>
            <a:r>
              <a:rPr lang="ru-RU" sz="2000" dirty="0"/>
              <a:t>В программную модель включаются набор регистров ЦП и ограничения на поведение ЦП в различных ситуациях (что должно происходить, и что не должно).</a:t>
            </a:r>
          </a:p>
          <a:p>
            <a:pPr marL="0" indent="0">
              <a:buNone/>
            </a:pPr>
            <a:r>
              <a:rPr lang="ru-RU" sz="2000" dirty="0"/>
              <a:t>Микроархитектура ЦП, определяющая его внутреннее устройство и функционирование, не должна противоречить программной модели. </a:t>
            </a:r>
          </a:p>
          <a:p>
            <a:pPr marL="0" indent="0">
              <a:buNone/>
            </a:pPr>
            <a:r>
              <a:rPr lang="ru-RU" sz="2000" i="1" dirty="0"/>
              <a:t>При этом фактический процесс функционирования ЦП может крайне существенно отличаться от описанного в программной модели – важно, чтобы совпадало видимое поведение ЦП</a:t>
            </a:r>
            <a:r>
              <a:rPr lang="ru-RU" sz="2000" dirty="0"/>
              <a:t>.</a:t>
            </a:r>
          </a:p>
          <a:p>
            <a:pPr marL="0" indent="0">
              <a:buNone/>
            </a:pPr>
            <a:endParaRPr lang="ru-RU" sz="2000" dirty="0"/>
          </a:p>
        </p:txBody>
      </p:sp>
      <p:sp>
        <p:nvSpPr>
          <p:cNvPr id="5" name="Номер слайда 4">
            <a:extLst>
              <a:ext uri="{FF2B5EF4-FFF2-40B4-BE49-F238E27FC236}">
                <a16:creationId xmlns:a16="http://schemas.microsoft.com/office/drawing/2014/main" id="{184F19E7-7119-5039-66D3-E1AA2710D6A7}"/>
              </a:ext>
            </a:extLst>
          </p:cNvPr>
          <p:cNvSpPr>
            <a:spLocks noGrp="1"/>
          </p:cNvSpPr>
          <p:nvPr>
            <p:ph type="sldNum" sz="quarter" idx="12"/>
          </p:nvPr>
        </p:nvSpPr>
        <p:spPr/>
        <p:txBody>
          <a:bodyPr/>
          <a:lstStyle/>
          <a:p>
            <a:fld id="{B67FBA2B-964F-4C4D-AAF7-5A8399264638}" type="slidenum">
              <a:rPr lang="en-US" smtClean="0"/>
              <a:pPr/>
              <a:t>2</a:t>
            </a:fld>
            <a:endParaRPr lang="en-US"/>
          </a:p>
        </p:txBody>
      </p:sp>
    </p:spTree>
    <p:extLst>
      <p:ext uri="{BB962C8B-B14F-4D97-AF65-F5344CB8AC3E}">
        <p14:creationId xmlns:p14="http://schemas.microsoft.com/office/powerpoint/2010/main" val="104115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14497D-7966-0E10-D340-88576A53B775}"/>
              </a:ext>
            </a:extLst>
          </p:cNvPr>
          <p:cNvSpPr>
            <a:spLocks noGrp="1"/>
          </p:cNvSpPr>
          <p:nvPr>
            <p:ph type="title"/>
          </p:nvPr>
        </p:nvSpPr>
        <p:spPr/>
        <p:txBody>
          <a:bodyPr/>
          <a:lstStyle/>
          <a:p>
            <a:r>
              <a:rPr lang="ru-RU" dirty="0"/>
              <a:t>Возможные расхождения с реальностью</a:t>
            </a:r>
          </a:p>
        </p:txBody>
      </p:sp>
      <p:sp>
        <p:nvSpPr>
          <p:cNvPr id="3" name="Объект 2">
            <a:extLst>
              <a:ext uri="{FF2B5EF4-FFF2-40B4-BE49-F238E27FC236}">
                <a16:creationId xmlns:a16="http://schemas.microsoft.com/office/drawing/2014/main" id="{1543D103-294B-6E90-7A0C-52E5B2C3007A}"/>
              </a:ext>
            </a:extLst>
          </p:cNvPr>
          <p:cNvSpPr>
            <a:spLocks noGrp="1"/>
          </p:cNvSpPr>
          <p:nvPr>
            <p:ph idx="1"/>
          </p:nvPr>
        </p:nvSpPr>
        <p:spPr/>
        <p:txBody>
          <a:bodyPr>
            <a:normAutofit/>
          </a:bodyPr>
          <a:lstStyle/>
          <a:p>
            <a:pPr marL="0" indent="0">
              <a:buNone/>
            </a:pPr>
            <a:r>
              <a:rPr lang="ru-RU" sz="2000" dirty="0"/>
              <a:t>К настоящему моменту может сложиться ложная уверенность, что:</a:t>
            </a:r>
            <a:endParaRPr lang="en-US" sz="2000" dirty="0"/>
          </a:p>
          <a:p>
            <a:r>
              <a:rPr lang="ru-RU" sz="2000" dirty="0"/>
              <a:t>У процессора всего 14 регистров общего назначения;</a:t>
            </a:r>
          </a:p>
          <a:p>
            <a:r>
              <a:rPr lang="ru-RU" sz="2000" dirty="0"/>
              <a:t>Инструкции выполняются последовательно;</a:t>
            </a:r>
          </a:p>
          <a:p>
            <a:r>
              <a:rPr lang="ru-RU" sz="2000" dirty="0"/>
              <a:t>В каждый момент времени выполняется только 1 инструкция;</a:t>
            </a:r>
          </a:p>
          <a:p>
            <a:r>
              <a:rPr lang="ru-RU" sz="2000" dirty="0"/>
              <a:t>Операции чтения/записи постоянны по времени;</a:t>
            </a:r>
          </a:p>
          <a:p>
            <a:r>
              <a:rPr lang="ru-RU" sz="2000" dirty="0"/>
              <a:t>Время работы не зависит от обрабатываемых данных;</a:t>
            </a:r>
          </a:p>
          <a:p>
            <a:endParaRPr lang="ru-RU" sz="2000" dirty="0"/>
          </a:p>
          <a:p>
            <a:pPr marL="0" indent="0">
              <a:buNone/>
            </a:pPr>
            <a:r>
              <a:rPr lang="ru-RU" sz="2000" b="1" dirty="0"/>
              <a:t>Любое из этих утверждений может быть ложным </a:t>
            </a:r>
            <a:r>
              <a:rPr lang="ru-RU" sz="2000" b="1" dirty="0">
                <a:sym typeface="Wingdings" panose="05000000000000000000" pitchFamily="2" charset="2"/>
              </a:rPr>
              <a:t>. </a:t>
            </a:r>
          </a:p>
        </p:txBody>
      </p:sp>
      <p:sp>
        <p:nvSpPr>
          <p:cNvPr id="5" name="Номер слайда 4">
            <a:extLst>
              <a:ext uri="{FF2B5EF4-FFF2-40B4-BE49-F238E27FC236}">
                <a16:creationId xmlns:a16="http://schemas.microsoft.com/office/drawing/2014/main" id="{184F19E7-7119-5039-66D3-E1AA2710D6A7}"/>
              </a:ext>
            </a:extLst>
          </p:cNvPr>
          <p:cNvSpPr>
            <a:spLocks noGrp="1"/>
          </p:cNvSpPr>
          <p:nvPr>
            <p:ph type="sldNum" sz="quarter" idx="12"/>
          </p:nvPr>
        </p:nvSpPr>
        <p:spPr/>
        <p:txBody>
          <a:bodyPr/>
          <a:lstStyle/>
          <a:p>
            <a:fld id="{B67FBA2B-964F-4C4D-AAF7-5A8399264638}" type="slidenum">
              <a:rPr lang="en-US" smtClean="0"/>
              <a:pPr/>
              <a:t>3</a:t>
            </a:fld>
            <a:endParaRPr lang="en-US"/>
          </a:p>
        </p:txBody>
      </p:sp>
    </p:spTree>
    <p:extLst>
      <p:ext uri="{BB962C8B-B14F-4D97-AF65-F5344CB8AC3E}">
        <p14:creationId xmlns:p14="http://schemas.microsoft.com/office/powerpoint/2010/main" val="3253184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Производительность памяти</a:t>
            </a:r>
            <a:endParaRPr lang="en-US" dirty="0"/>
          </a:p>
        </p:txBody>
      </p:sp>
      <p:sp>
        <p:nvSpPr>
          <p:cNvPr id="3" name="Объект 2">
            <a:extLst>
              <a:ext uri="{FF2B5EF4-FFF2-40B4-BE49-F238E27FC236}">
                <a16:creationId xmlns:a16="http://schemas.microsoft.com/office/drawing/2014/main" id="{60DA4387-9D83-4785-AE5C-AF82D6401FEF}"/>
              </a:ext>
            </a:extLst>
          </p:cNvPr>
          <p:cNvSpPr>
            <a:spLocks noGrp="1"/>
          </p:cNvSpPr>
          <p:nvPr>
            <p:ph idx="1"/>
          </p:nvPr>
        </p:nvSpPr>
        <p:spPr>
          <a:xfrm>
            <a:off x="838200" y="1825625"/>
            <a:ext cx="6400430" cy="4351338"/>
          </a:xfrm>
        </p:spPr>
        <p:txBody>
          <a:bodyPr>
            <a:normAutofit/>
          </a:bodyPr>
          <a:lstStyle/>
          <a:p>
            <a:pPr marL="0" indent="0">
              <a:buNone/>
            </a:pPr>
            <a:r>
              <a:rPr lang="ru-RU" sz="2000" dirty="0"/>
              <a:t>С точки зрения программиста на ассемблере существует 2 уровня памяти – оперативная память и регистры.</a:t>
            </a:r>
          </a:p>
          <a:p>
            <a:pPr marL="0" indent="0">
              <a:buNone/>
            </a:pPr>
            <a:r>
              <a:rPr lang="ru-RU" sz="2000" dirty="0"/>
              <a:t>Производительность регистров в сотни раз превосходит производительность памяти, но их суммарный объем крайне мал.</a:t>
            </a:r>
          </a:p>
          <a:p>
            <a:pPr marL="0" indent="0">
              <a:buNone/>
            </a:pPr>
            <a:r>
              <a:rPr lang="ru-RU" sz="2000" dirty="0"/>
              <a:t>Оперативная память обладает большим объемом, но обращения к ней существенно «тормозят» процессор.</a:t>
            </a:r>
          </a:p>
          <a:p>
            <a:pPr marL="0" indent="0">
              <a:buNone/>
            </a:pPr>
            <a:endParaRPr lang="en-US" sz="2000"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4</a:t>
            </a:fld>
            <a:endParaRPr lang="en-US"/>
          </a:p>
        </p:txBody>
      </p:sp>
      <p:sp>
        <p:nvSpPr>
          <p:cNvPr id="6" name="Прямоугольник 5">
            <a:extLst>
              <a:ext uri="{FF2B5EF4-FFF2-40B4-BE49-F238E27FC236}">
                <a16:creationId xmlns:a16="http://schemas.microsoft.com/office/drawing/2014/main" id="{B6874278-41D6-482F-ABAC-664D4994B932}"/>
              </a:ext>
            </a:extLst>
          </p:cNvPr>
          <p:cNvSpPr/>
          <p:nvPr/>
        </p:nvSpPr>
        <p:spPr>
          <a:xfrm>
            <a:off x="8368748" y="1918252"/>
            <a:ext cx="2743200"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sp>
        <p:nvSpPr>
          <p:cNvPr id="7" name="Прямоугольник 6">
            <a:extLst>
              <a:ext uri="{FF2B5EF4-FFF2-40B4-BE49-F238E27FC236}">
                <a16:creationId xmlns:a16="http://schemas.microsoft.com/office/drawing/2014/main" id="{E0372578-FE05-4DF8-9AD2-0C074A3E5BBF}"/>
              </a:ext>
            </a:extLst>
          </p:cNvPr>
          <p:cNvSpPr/>
          <p:nvPr/>
        </p:nvSpPr>
        <p:spPr>
          <a:xfrm>
            <a:off x="8368748" y="4001294"/>
            <a:ext cx="2743200" cy="365125"/>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ОЗУ</a:t>
            </a:r>
            <a:endParaRPr lang="en-US" dirty="0"/>
          </a:p>
        </p:txBody>
      </p:sp>
      <p:sp>
        <p:nvSpPr>
          <p:cNvPr id="8" name="Стрелка: вверх-вниз 7">
            <a:extLst>
              <a:ext uri="{FF2B5EF4-FFF2-40B4-BE49-F238E27FC236}">
                <a16:creationId xmlns:a16="http://schemas.microsoft.com/office/drawing/2014/main" id="{4FD5CCAB-A782-4F02-AD37-80D8CCB07806}"/>
              </a:ext>
            </a:extLst>
          </p:cNvPr>
          <p:cNvSpPr/>
          <p:nvPr/>
        </p:nvSpPr>
        <p:spPr>
          <a:xfrm>
            <a:off x="9452113" y="2408927"/>
            <a:ext cx="576470" cy="146681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A8C226F0-408A-434F-98A7-08591D4EFEAA}"/>
              </a:ext>
            </a:extLst>
          </p:cNvPr>
          <p:cNvSpPr txBox="1"/>
          <p:nvPr/>
        </p:nvSpPr>
        <p:spPr>
          <a:xfrm>
            <a:off x="7512423" y="1870075"/>
            <a:ext cx="865943" cy="369332"/>
          </a:xfrm>
          <a:prstGeom prst="rect">
            <a:avLst/>
          </a:prstGeom>
          <a:noFill/>
        </p:spPr>
        <p:txBody>
          <a:bodyPr wrap="none" rtlCol="0">
            <a:spAutoFit/>
          </a:bodyPr>
          <a:lstStyle/>
          <a:p>
            <a:r>
              <a:rPr lang="en-US" dirty="0"/>
              <a:t>&lt;0.</a:t>
            </a:r>
            <a:r>
              <a:rPr lang="ru-RU" dirty="0"/>
              <a:t>2 </a:t>
            </a:r>
            <a:r>
              <a:rPr lang="ru-RU" dirty="0" err="1"/>
              <a:t>нс</a:t>
            </a:r>
            <a:endParaRPr lang="en-US" dirty="0"/>
          </a:p>
        </p:txBody>
      </p:sp>
      <p:sp>
        <p:nvSpPr>
          <p:cNvPr id="10" name="TextBox 9">
            <a:extLst>
              <a:ext uri="{FF2B5EF4-FFF2-40B4-BE49-F238E27FC236}">
                <a16:creationId xmlns:a16="http://schemas.microsoft.com/office/drawing/2014/main" id="{E8EED2DC-6741-4BC1-8AE2-8C6385710940}"/>
              </a:ext>
            </a:extLst>
          </p:cNvPr>
          <p:cNvSpPr txBox="1"/>
          <p:nvPr/>
        </p:nvSpPr>
        <p:spPr>
          <a:xfrm>
            <a:off x="7512422" y="4001294"/>
            <a:ext cx="808235" cy="369332"/>
          </a:xfrm>
          <a:prstGeom prst="rect">
            <a:avLst/>
          </a:prstGeom>
          <a:noFill/>
        </p:spPr>
        <p:txBody>
          <a:bodyPr wrap="none" rtlCol="0">
            <a:spAutoFit/>
          </a:bodyPr>
          <a:lstStyle/>
          <a:p>
            <a:r>
              <a:rPr lang="en-US" dirty="0"/>
              <a:t>&gt;50</a:t>
            </a:r>
            <a:r>
              <a:rPr lang="ru-RU" dirty="0"/>
              <a:t> </a:t>
            </a:r>
            <a:r>
              <a:rPr lang="ru-RU" dirty="0" err="1"/>
              <a:t>нс</a:t>
            </a:r>
            <a:endParaRPr lang="en-US" dirty="0"/>
          </a:p>
        </p:txBody>
      </p:sp>
      <p:sp>
        <p:nvSpPr>
          <p:cNvPr id="11" name="TextBox 10">
            <a:extLst>
              <a:ext uri="{FF2B5EF4-FFF2-40B4-BE49-F238E27FC236}">
                <a16:creationId xmlns:a16="http://schemas.microsoft.com/office/drawing/2014/main" id="{8EB894A9-D59C-4206-ABB7-C5912617C338}"/>
              </a:ext>
            </a:extLst>
          </p:cNvPr>
          <p:cNvSpPr txBox="1"/>
          <p:nvPr/>
        </p:nvSpPr>
        <p:spPr>
          <a:xfrm>
            <a:off x="7238630" y="1579496"/>
            <a:ext cx="1139736" cy="369332"/>
          </a:xfrm>
          <a:prstGeom prst="rect">
            <a:avLst/>
          </a:prstGeom>
          <a:noFill/>
        </p:spPr>
        <p:txBody>
          <a:bodyPr wrap="none" rtlCol="0">
            <a:spAutoFit/>
          </a:bodyPr>
          <a:lstStyle/>
          <a:p>
            <a:r>
              <a:rPr lang="ru-RU" dirty="0"/>
              <a:t>Задержка</a:t>
            </a:r>
            <a:endParaRPr lang="en-US" dirty="0"/>
          </a:p>
        </p:txBody>
      </p:sp>
    </p:spTree>
    <p:extLst>
      <p:ext uri="{BB962C8B-B14F-4D97-AF65-F5344CB8AC3E}">
        <p14:creationId xmlns:p14="http://schemas.microsoft.com/office/powerpoint/2010/main" val="2835330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Локальность данных</a:t>
            </a:r>
            <a:endParaRPr lang="en-US" dirty="0"/>
          </a:p>
        </p:txBody>
      </p:sp>
      <p:sp>
        <p:nvSpPr>
          <p:cNvPr id="3" name="Объект 2">
            <a:extLst>
              <a:ext uri="{FF2B5EF4-FFF2-40B4-BE49-F238E27FC236}">
                <a16:creationId xmlns:a16="http://schemas.microsoft.com/office/drawing/2014/main" id="{60DA4387-9D83-4785-AE5C-AF82D6401FEF}"/>
              </a:ext>
            </a:extLst>
          </p:cNvPr>
          <p:cNvSpPr>
            <a:spLocks noGrp="1"/>
          </p:cNvSpPr>
          <p:nvPr>
            <p:ph idx="1"/>
          </p:nvPr>
        </p:nvSpPr>
        <p:spPr>
          <a:xfrm>
            <a:off x="838200" y="1825625"/>
            <a:ext cx="6137564" cy="4351338"/>
          </a:xfrm>
        </p:spPr>
        <p:txBody>
          <a:bodyPr>
            <a:normAutofit/>
          </a:bodyPr>
          <a:lstStyle/>
          <a:p>
            <a:pPr marL="0" indent="0">
              <a:buNone/>
            </a:pPr>
            <a:r>
              <a:rPr lang="ru-RU" sz="2000" dirty="0"/>
              <a:t>Обычно данные, которые обрабатываются программой, обладают хорошей </a:t>
            </a:r>
            <a:r>
              <a:rPr lang="ru-RU" sz="2000" b="1" dirty="0"/>
              <a:t>локальностью</a:t>
            </a:r>
            <a:r>
              <a:rPr lang="ru-RU" sz="2000" dirty="0"/>
              <a:t>: они сгруппированы, а не разбросаны по адресному пространству.</a:t>
            </a:r>
          </a:p>
          <a:p>
            <a:pPr marL="0" indent="0">
              <a:buNone/>
            </a:pPr>
            <a:r>
              <a:rPr lang="ru-RU" sz="2000" dirty="0"/>
              <a:t>Хорошим примером является стек</a:t>
            </a:r>
            <a:r>
              <a:rPr lang="en-US" sz="2000" dirty="0"/>
              <a:t>:</a:t>
            </a:r>
            <a:r>
              <a:rPr lang="ru-RU" sz="2000" dirty="0"/>
              <a:t> все локальные переменные расположены а текущем кадре стека.</a:t>
            </a:r>
          </a:p>
          <a:p>
            <a:pPr marL="0" indent="0">
              <a:buNone/>
            </a:pPr>
            <a:r>
              <a:rPr lang="ru-RU" sz="2000" dirty="0"/>
              <a:t>Отсюда следует, что </a:t>
            </a:r>
            <a:r>
              <a:rPr lang="ru-RU" sz="2000" i="1" dirty="0"/>
              <a:t>если мы прочитали из памяти одну порцию данных, то скорее всего следующая порция будет прочитана из соседних адресов. </a:t>
            </a:r>
            <a:endParaRPr lang="en-US" sz="2000" i="1"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5</a:t>
            </a:fld>
            <a:endParaRPr lang="en-US"/>
          </a:p>
        </p:txBody>
      </p:sp>
      <p:sp>
        <p:nvSpPr>
          <p:cNvPr id="6" name="Прямоугольник 5">
            <a:extLst>
              <a:ext uri="{FF2B5EF4-FFF2-40B4-BE49-F238E27FC236}">
                <a16:creationId xmlns:a16="http://schemas.microsoft.com/office/drawing/2014/main" id="{CC47B095-1B34-4270-B13D-E5822EE8F946}"/>
              </a:ext>
            </a:extLst>
          </p:cNvPr>
          <p:cNvSpPr/>
          <p:nvPr/>
        </p:nvSpPr>
        <p:spPr>
          <a:xfrm>
            <a:off x="8433723" y="977194"/>
            <a:ext cx="1654495" cy="20270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Прямоугольник 6">
            <a:extLst>
              <a:ext uri="{FF2B5EF4-FFF2-40B4-BE49-F238E27FC236}">
                <a16:creationId xmlns:a16="http://schemas.microsoft.com/office/drawing/2014/main" id="{192F073F-2379-40B9-8E27-25B48BBDFF06}"/>
              </a:ext>
            </a:extLst>
          </p:cNvPr>
          <p:cNvSpPr/>
          <p:nvPr/>
        </p:nvSpPr>
        <p:spPr>
          <a:xfrm>
            <a:off x="8433676" y="1240797"/>
            <a:ext cx="1654495" cy="279392"/>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arg1</a:t>
            </a:r>
          </a:p>
        </p:txBody>
      </p:sp>
      <p:cxnSp>
        <p:nvCxnSpPr>
          <p:cNvPr id="8" name="Прямая со стрелкой 7">
            <a:extLst>
              <a:ext uri="{FF2B5EF4-FFF2-40B4-BE49-F238E27FC236}">
                <a16:creationId xmlns:a16="http://schemas.microsoft.com/office/drawing/2014/main" id="{EC787A1E-FB17-4A3B-A65B-A314CFB3CAC0}"/>
              </a:ext>
            </a:extLst>
          </p:cNvPr>
          <p:cNvCxnSpPr>
            <a:cxnSpLocks/>
          </p:cNvCxnSpPr>
          <p:nvPr/>
        </p:nvCxnSpPr>
        <p:spPr>
          <a:xfrm>
            <a:off x="7815450" y="2662578"/>
            <a:ext cx="61813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FA86F4E-588B-4E69-9ED0-6DF5F9B6D483}"/>
              </a:ext>
            </a:extLst>
          </p:cNvPr>
          <p:cNvSpPr txBox="1"/>
          <p:nvPr/>
        </p:nvSpPr>
        <p:spPr>
          <a:xfrm>
            <a:off x="7714744" y="2342084"/>
            <a:ext cx="718839" cy="369332"/>
          </a:xfrm>
          <a:prstGeom prst="rect">
            <a:avLst/>
          </a:prstGeom>
          <a:noFill/>
        </p:spPr>
        <p:txBody>
          <a:bodyPr wrap="square" rtlCol="0">
            <a:spAutoFit/>
          </a:bodyPr>
          <a:lstStyle/>
          <a:p>
            <a:r>
              <a:rPr lang="en-US" b="1" dirty="0"/>
              <a:t>RSP</a:t>
            </a:r>
            <a:endParaRPr lang="en-US" sz="2400" b="1" dirty="0"/>
          </a:p>
        </p:txBody>
      </p:sp>
      <p:sp>
        <p:nvSpPr>
          <p:cNvPr id="10" name="Прямоугольник 9">
            <a:extLst>
              <a:ext uri="{FF2B5EF4-FFF2-40B4-BE49-F238E27FC236}">
                <a16:creationId xmlns:a16="http://schemas.microsoft.com/office/drawing/2014/main" id="{964880DD-F0F2-4C28-9B8D-6F2310E34743}"/>
              </a:ext>
            </a:extLst>
          </p:cNvPr>
          <p:cNvSpPr/>
          <p:nvPr/>
        </p:nvSpPr>
        <p:spPr>
          <a:xfrm>
            <a:off x="8433676" y="1529282"/>
            <a:ext cx="1654495" cy="279392"/>
          </a:xfrm>
          <a:prstGeom prst="rect">
            <a:avLst/>
          </a:prstGeom>
          <a:solidFill>
            <a:schemeClr val="accent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return address</a:t>
            </a:r>
          </a:p>
        </p:txBody>
      </p:sp>
      <p:sp>
        <p:nvSpPr>
          <p:cNvPr id="11" name="Прямоугольник 10">
            <a:extLst>
              <a:ext uri="{FF2B5EF4-FFF2-40B4-BE49-F238E27FC236}">
                <a16:creationId xmlns:a16="http://schemas.microsoft.com/office/drawing/2014/main" id="{55164E60-30F8-447A-B314-5B4D9EE0EB98}"/>
              </a:ext>
            </a:extLst>
          </p:cNvPr>
          <p:cNvSpPr/>
          <p:nvPr/>
        </p:nvSpPr>
        <p:spPr>
          <a:xfrm>
            <a:off x="8433664" y="1806800"/>
            <a:ext cx="1654495" cy="27939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var1</a:t>
            </a:r>
          </a:p>
        </p:txBody>
      </p:sp>
      <p:sp>
        <p:nvSpPr>
          <p:cNvPr id="12" name="Прямоугольник 11">
            <a:extLst>
              <a:ext uri="{FF2B5EF4-FFF2-40B4-BE49-F238E27FC236}">
                <a16:creationId xmlns:a16="http://schemas.microsoft.com/office/drawing/2014/main" id="{C452BFF5-D97D-43CE-B80E-0C3CB8549D97}"/>
              </a:ext>
            </a:extLst>
          </p:cNvPr>
          <p:cNvSpPr/>
          <p:nvPr/>
        </p:nvSpPr>
        <p:spPr>
          <a:xfrm>
            <a:off x="8433664" y="2086323"/>
            <a:ext cx="1654495" cy="27939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var2</a:t>
            </a:r>
          </a:p>
        </p:txBody>
      </p:sp>
      <p:sp>
        <p:nvSpPr>
          <p:cNvPr id="13" name="Прямоугольник 12">
            <a:extLst>
              <a:ext uri="{FF2B5EF4-FFF2-40B4-BE49-F238E27FC236}">
                <a16:creationId xmlns:a16="http://schemas.microsoft.com/office/drawing/2014/main" id="{41007809-FA75-4B61-9819-710EDDF42AF6}"/>
              </a:ext>
            </a:extLst>
          </p:cNvPr>
          <p:cNvSpPr/>
          <p:nvPr/>
        </p:nvSpPr>
        <p:spPr>
          <a:xfrm>
            <a:off x="8433653" y="2371448"/>
            <a:ext cx="1654495" cy="279392"/>
          </a:xfrm>
          <a:prstGeom prst="rect">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var3</a:t>
            </a:r>
          </a:p>
        </p:txBody>
      </p:sp>
      <p:sp>
        <p:nvSpPr>
          <p:cNvPr id="14" name="Прямоугольник 13">
            <a:extLst>
              <a:ext uri="{FF2B5EF4-FFF2-40B4-BE49-F238E27FC236}">
                <a16:creationId xmlns:a16="http://schemas.microsoft.com/office/drawing/2014/main" id="{679F8072-8F76-400E-83F8-77E33EE31D50}"/>
              </a:ext>
            </a:extLst>
          </p:cNvPr>
          <p:cNvSpPr/>
          <p:nvPr/>
        </p:nvSpPr>
        <p:spPr>
          <a:xfrm>
            <a:off x="8433677" y="965587"/>
            <a:ext cx="1654495" cy="279392"/>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arg2</a:t>
            </a:r>
          </a:p>
        </p:txBody>
      </p:sp>
      <p:graphicFrame>
        <p:nvGraphicFramePr>
          <p:cNvPr id="17" name="Таблица 17">
            <a:extLst>
              <a:ext uri="{FF2B5EF4-FFF2-40B4-BE49-F238E27FC236}">
                <a16:creationId xmlns:a16="http://schemas.microsoft.com/office/drawing/2014/main" id="{71842754-CF2D-4E5E-B323-CD09C0AC7629}"/>
              </a:ext>
            </a:extLst>
          </p:cNvPr>
          <p:cNvGraphicFramePr>
            <a:graphicFrameLocks noGrp="1"/>
          </p:cNvGraphicFramePr>
          <p:nvPr/>
        </p:nvGraphicFramePr>
        <p:xfrm>
          <a:off x="7056384" y="5375015"/>
          <a:ext cx="4724903" cy="409192"/>
        </p:xfrm>
        <a:graphic>
          <a:graphicData uri="http://schemas.openxmlformats.org/drawingml/2006/table">
            <a:tbl>
              <a:tblPr>
                <a:tableStyleId>{37CE84F3-28C3-443E-9E96-99CF82512B78}</a:tableStyleId>
              </a:tblPr>
              <a:tblGrid>
                <a:gridCol w="789977">
                  <a:extLst>
                    <a:ext uri="{9D8B030D-6E8A-4147-A177-3AD203B41FA5}">
                      <a16:colId xmlns:a16="http://schemas.microsoft.com/office/drawing/2014/main" val="549065254"/>
                    </a:ext>
                  </a:extLst>
                </a:gridCol>
                <a:gridCol w="789977">
                  <a:extLst>
                    <a:ext uri="{9D8B030D-6E8A-4147-A177-3AD203B41FA5}">
                      <a16:colId xmlns:a16="http://schemas.microsoft.com/office/drawing/2014/main" val="155058178"/>
                    </a:ext>
                  </a:extLst>
                </a:gridCol>
                <a:gridCol w="789977">
                  <a:extLst>
                    <a:ext uri="{9D8B030D-6E8A-4147-A177-3AD203B41FA5}">
                      <a16:colId xmlns:a16="http://schemas.microsoft.com/office/drawing/2014/main" val="1272368814"/>
                    </a:ext>
                  </a:extLst>
                </a:gridCol>
                <a:gridCol w="789977">
                  <a:extLst>
                    <a:ext uri="{9D8B030D-6E8A-4147-A177-3AD203B41FA5}">
                      <a16:colId xmlns:a16="http://schemas.microsoft.com/office/drawing/2014/main" val="264114361"/>
                    </a:ext>
                  </a:extLst>
                </a:gridCol>
                <a:gridCol w="775018">
                  <a:extLst>
                    <a:ext uri="{9D8B030D-6E8A-4147-A177-3AD203B41FA5}">
                      <a16:colId xmlns:a16="http://schemas.microsoft.com/office/drawing/2014/main" val="2623575708"/>
                    </a:ext>
                  </a:extLst>
                </a:gridCol>
                <a:gridCol w="789977">
                  <a:extLst>
                    <a:ext uri="{9D8B030D-6E8A-4147-A177-3AD203B41FA5}">
                      <a16:colId xmlns:a16="http://schemas.microsoft.com/office/drawing/2014/main" val="445694027"/>
                    </a:ext>
                  </a:extLst>
                </a:gridCol>
              </a:tblGrid>
              <a:tr h="409192">
                <a:tc>
                  <a:txBody>
                    <a:bodyPr/>
                    <a:lstStyle/>
                    <a:p>
                      <a:r>
                        <a:rPr lang="en-US" dirty="0" err="1">
                          <a:solidFill>
                            <a:schemeClr val="bg1"/>
                          </a:solidFill>
                        </a:rPr>
                        <a:t>arr</a:t>
                      </a:r>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187198"/>
                  </a:ext>
                </a:extLst>
              </a:tr>
            </a:tbl>
          </a:graphicData>
        </a:graphic>
      </p:graphicFrame>
      <p:graphicFrame>
        <p:nvGraphicFramePr>
          <p:cNvPr id="18" name="Таблица 17">
            <a:extLst>
              <a:ext uri="{FF2B5EF4-FFF2-40B4-BE49-F238E27FC236}">
                <a16:creationId xmlns:a16="http://schemas.microsoft.com/office/drawing/2014/main" id="{46DB43EE-4057-4322-BBF3-381A5F7917A7}"/>
              </a:ext>
            </a:extLst>
          </p:cNvPr>
          <p:cNvGraphicFramePr>
            <a:graphicFrameLocks noGrp="1"/>
          </p:cNvGraphicFramePr>
          <p:nvPr/>
        </p:nvGraphicFramePr>
        <p:xfrm>
          <a:off x="7838881" y="3848559"/>
          <a:ext cx="3159908" cy="409192"/>
        </p:xfrm>
        <a:graphic>
          <a:graphicData uri="http://schemas.openxmlformats.org/drawingml/2006/table">
            <a:tbl>
              <a:tblPr>
                <a:tableStyleId>{125E5076-3810-47DD-B79F-674D7AD40C01}</a:tableStyleId>
              </a:tblPr>
              <a:tblGrid>
                <a:gridCol w="789977">
                  <a:extLst>
                    <a:ext uri="{9D8B030D-6E8A-4147-A177-3AD203B41FA5}">
                      <a16:colId xmlns:a16="http://schemas.microsoft.com/office/drawing/2014/main" val="549065254"/>
                    </a:ext>
                  </a:extLst>
                </a:gridCol>
                <a:gridCol w="789977">
                  <a:extLst>
                    <a:ext uri="{9D8B030D-6E8A-4147-A177-3AD203B41FA5}">
                      <a16:colId xmlns:a16="http://schemas.microsoft.com/office/drawing/2014/main" val="155058178"/>
                    </a:ext>
                  </a:extLst>
                </a:gridCol>
                <a:gridCol w="789977">
                  <a:extLst>
                    <a:ext uri="{9D8B030D-6E8A-4147-A177-3AD203B41FA5}">
                      <a16:colId xmlns:a16="http://schemas.microsoft.com/office/drawing/2014/main" val="1272368814"/>
                    </a:ext>
                  </a:extLst>
                </a:gridCol>
                <a:gridCol w="789977">
                  <a:extLst>
                    <a:ext uri="{9D8B030D-6E8A-4147-A177-3AD203B41FA5}">
                      <a16:colId xmlns:a16="http://schemas.microsoft.com/office/drawing/2014/main" val="445694027"/>
                    </a:ext>
                  </a:extLst>
                </a:gridCol>
              </a:tblGrid>
              <a:tr h="409192">
                <a:tc>
                  <a:txBody>
                    <a:bodyPr/>
                    <a:lstStyle/>
                    <a:p>
                      <a:r>
                        <a:rPr lang="en-US" dirty="0">
                          <a:solidFill>
                            <a:schemeClr val="bg1"/>
                          </a:solidFill>
                        </a:rPr>
                        <a:t>S::x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S::y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S::z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187198"/>
                  </a:ext>
                </a:extLst>
              </a:tr>
            </a:tbl>
          </a:graphicData>
        </a:graphic>
      </p:graphicFrame>
    </p:spTree>
    <p:extLst>
      <p:ext uri="{BB962C8B-B14F-4D97-AF65-F5344CB8AC3E}">
        <p14:creationId xmlns:p14="http://schemas.microsoft.com/office/powerpoint/2010/main" val="1071186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Кэш-память</a:t>
            </a:r>
            <a:endParaRPr lang="en-US" dirty="0"/>
          </a:p>
        </p:txBody>
      </p:sp>
      <p:sp>
        <p:nvSpPr>
          <p:cNvPr id="3" name="Объект 2">
            <a:extLst>
              <a:ext uri="{FF2B5EF4-FFF2-40B4-BE49-F238E27FC236}">
                <a16:creationId xmlns:a16="http://schemas.microsoft.com/office/drawing/2014/main" id="{60DA4387-9D83-4785-AE5C-AF82D6401FEF}"/>
              </a:ext>
            </a:extLst>
          </p:cNvPr>
          <p:cNvSpPr>
            <a:spLocks noGrp="1"/>
          </p:cNvSpPr>
          <p:nvPr>
            <p:ph idx="1"/>
          </p:nvPr>
        </p:nvSpPr>
        <p:spPr>
          <a:xfrm>
            <a:off x="838200" y="1825625"/>
            <a:ext cx="5995369" cy="4667250"/>
          </a:xfrm>
        </p:spPr>
        <p:txBody>
          <a:bodyPr>
            <a:normAutofit/>
          </a:bodyPr>
          <a:lstStyle/>
          <a:p>
            <a:pPr marL="0" indent="0">
              <a:buNone/>
            </a:pPr>
            <a:r>
              <a:rPr lang="ru-RU" sz="2000" dirty="0"/>
              <a:t>Исходя из локальности данных, можно ускорить обращение с памятью, заранее читая не только запрошенные данные, но вообще все данные в окрестности запрошенного адреса (</a:t>
            </a:r>
            <a:r>
              <a:rPr lang="ru-RU" sz="2000" b="1" dirty="0"/>
              <a:t>упреждающее чтение</a:t>
            </a:r>
            <a:r>
              <a:rPr lang="ru-RU" sz="2000" dirty="0"/>
              <a:t>)</a:t>
            </a:r>
          </a:p>
          <a:p>
            <a:pPr marL="0" indent="0">
              <a:buNone/>
            </a:pPr>
            <a:r>
              <a:rPr lang="ru-RU" sz="2000" dirty="0"/>
              <a:t>Для сохранения таких заранее прочитанных данных используется промежуточная память, которая работает медленнее регистров, но быстрее оперативной памяти. Данная память называется </a:t>
            </a:r>
            <a:r>
              <a:rPr lang="ru-RU" sz="2000" b="1" dirty="0"/>
              <a:t>кэш-памятью</a:t>
            </a:r>
            <a:r>
              <a:rPr lang="ru-RU" sz="2000" dirty="0"/>
              <a:t>.</a:t>
            </a:r>
          </a:p>
          <a:p>
            <a:pPr marL="0" indent="0">
              <a:buNone/>
            </a:pPr>
            <a:r>
              <a:rPr lang="ru-RU" sz="2000" dirty="0"/>
              <a:t>Данные считываются в кэш блоками фиксированного размера – </a:t>
            </a:r>
            <a:r>
              <a:rPr lang="ru-RU" sz="2000" b="1" dirty="0"/>
              <a:t>кэш-линиями</a:t>
            </a:r>
            <a:r>
              <a:rPr lang="ru-RU" sz="2000" dirty="0"/>
              <a:t>. Обычно кэш-линия на современных ЦП имеет размер 64 байта. Кэш-линии не перекрываются, начало кэш-линии выровнено по ее размеру (т.е. по 64 байтам).</a:t>
            </a:r>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6</a:t>
            </a:fld>
            <a:endParaRPr lang="en-US"/>
          </a:p>
        </p:txBody>
      </p:sp>
      <p:sp>
        <p:nvSpPr>
          <p:cNvPr id="14" name="Прямоугольник 13">
            <a:extLst>
              <a:ext uri="{FF2B5EF4-FFF2-40B4-BE49-F238E27FC236}">
                <a16:creationId xmlns:a16="http://schemas.microsoft.com/office/drawing/2014/main" id="{5E01A1B1-190B-4ABF-9E38-B10038F7657C}"/>
              </a:ext>
            </a:extLst>
          </p:cNvPr>
          <p:cNvSpPr/>
          <p:nvPr/>
        </p:nvSpPr>
        <p:spPr>
          <a:xfrm>
            <a:off x="8521147" y="1325563"/>
            <a:ext cx="2743200"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sp>
        <p:nvSpPr>
          <p:cNvPr id="15" name="Прямоугольник 14">
            <a:extLst>
              <a:ext uri="{FF2B5EF4-FFF2-40B4-BE49-F238E27FC236}">
                <a16:creationId xmlns:a16="http://schemas.microsoft.com/office/drawing/2014/main" id="{1DA082CC-4777-4A81-9687-02412ED9DE95}"/>
              </a:ext>
            </a:extLst>
          </p:cNvPr>
          <p:cNvSpPr/>
          <p:nvPr/>
        </p:nvSpPr>
        <p:spPr>
          <a:xfrm>
            <a:off x="8368747" y="5269795"/>
            <a:ext cx="2743200" cy="365125"/>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ОЗУ</a:t>
            </a:r>
            <a:endParaRPr lang="en-US" dirty="0"/>
          </a:p>
        </p:txBody>
      </p:sp>
      <p:cxnSp>
        <p:nvCxnSpPr>
          <p:cNvPr id="21" name="Прямая соединительная линия 20">
            <a:extLst>
              <a:ext uri="{FF2B5EF4-FFF2-40B4-BE49-F238E27FC236}">
                <a16:creationId xmlns:a16="http://schemas.microsoft.com/office/drawing/2014/main" id="{543C1C1F-2FEE-4C0D-9376-01744794F34C}"/>
              </a:ext>
            </a:extLst>
          </p:cNvPr>
          <p:cNvCxnSpPr>
            <a:cxnSpLocks/>
          </p:cNvCxnSpPr>
          <p:nvPr/>
        </p:nvCxnSpPr>
        <p:spPr>
          <a:xfrm flipH="1" flipV="1">
            <a:off x="7377896" y="4780640"/>
            <a:ext cx="990851" cy="489155"/>
          </a:xfrm>
          <a:prstGeom prst="line">
            <a:avLst/>
          </a:prstGeom>
        </p:spPr>
        <p:style>
          <a:lnRef idx="1">
            <a:schemeClr val="accent2"/>
          </a:lnRef>
          <a:fillRef idx="0">
            <a:schemeClr val="accent2"/>
          </a:fillRef>
          <a:effectRef idx="0">
            <a:schemeClr val="accent2"/>
          </a:effectRef>
          <a:fontRef idx="minor">
            <a:schemeClr val="tx1"/>
          </a:fontRef>
        </p:style>
      </p:cxnSp>
      <p:cxnSp>
        <p:nvCxnSpPr>
          <p:cNvPr id="23" name="Прямая соединительная линия 22">
            <a:extLst>
              <a:ext uri="{FF2B5EF4-FFF2-40B4-BE49-F238E27FC236}">
                <a16:creationId xmlns:a16="http://schemas.microsoft.com/office/drawing/2014/main" id="{543DBF54-3887-47B7-8CAE-CC838553EEBB}"/>
              </a:ext>
            </a:extLst>
          </p:cNvPr>
          <p:cNvCxnSpPr>
            <a:cxnSpLocks/>
          </p:cNvCxnSpPr>
          <p:nvPr/>
        </p:nvCxnSpPr>
        <p:spPr>
          <a:xfrm flipH="1">
            <a:off x="11111947" y="4780639"/>
            <a:ext cx="990852" cy="489156"/>
          </a:xfrm>
          <a:prstGeom prst="line">
            <a:avLst/>
          </a:prstGeom>
        </p:spPr>
        <p:style>
          <a:lnRef idx="1">
            <a:schemeClr val="accent2"/>
          </a:lnRef>
          <a:fillRef idx="0">
            <a:schemeClr val="accent2"/>
          </a:fillRef>
          <a:effectRef idx="0">
            <a:schemeClr val="accent2"/>
          </a:effectRef>
          <a:fontRef idx="minor">
            <a:schemeClr val="tx1"/>
          </a:fontRef>
        </p:style>
      </p:cxnSp>
      <p:graphicFrame>
        <p:nvGraphicFramePr>
          <p:cNvPr id="24" name="Таблица 17">
            <a:extLst>
              <a:ext uri="{FF2B5EF4-FFF2-40B4-BE49-F238E27FC236}">
                <a16:creationId xmlns:a16="http://schemas.microsoft.com/office/drawing/2014/main" id="{E675A463-670A-4E82-B0D9-A3CF654DE0CC}"/>
              </a:ext>
            </a:extLst>
          </p:cNvPr>
          <p:cNvGraphicFramePr>
            <a:graphicFrameLocks noGrp="1"/>
          </p:cNvGraphicFramePr>
          <p:nvPr/>
        </p:nvGraphicFramePr>
        <p:xfrm>
          <a:off x="7377896" y="4371447"/>
          <a:ext cx="4724903" cy="409192"/>
        </p:xfrm>
        <a:graphic>
          <a:graphicData uri="http://schemas.openxmlformats.org/drawingml/2006/table">
            <a:tbl>
              <a:tblPr>
                <a:tableStyleId>{37CE84F3-28C3-443E-9E96-99CF82512B78}</a:tableStyleId>
              </a:tblPr>
              <a:tblGrid>
                <a:gridCol w="789977">
                  <a:extLst>
                    <a:ext uri="{9D8B030D-6E8A-4147-A177-3AD203B41FA5}">
                      <a16:colId xmlns:a16="http://schemas.microsoft.com/office/drawing/2014/main" val="549065254"/>
                    </a:ext>
                  </a:extLst>
                </a:gridCol>
                <a:gridCol w="789977">
                  <a:extLst>
                    <a:ext uri="{9D8B030D-6E8A-4147-A177-3AD203B41FA5}">
                      <a16:colId xmlns:a16="http://schemas.microsoft.com/office/drawing/2014/main" val="155058178"/>
                    </a:ext>
                  </a:extLst>
                </a:gridCol>
                <a:gridCol w="789977">
                  <a:extLst>
                    <a:ext uri="{9D8B030D-6E8A-4147-A177-3AD203B41FA5}">
                      <a16:colId xmlns:a16="http://schemas.microsoft.com/office/drawing/2014/main" val="1272368814"/>
                    </a:ext>
                  </a:extLst>
                </a:gridCol>
                <a:gridCol w="789977">
                  <a:extLst>
                    <a:ext uri="{9D8B030D-6E8A-4147-A177-3AD203B41FA5}">
                      <a16:colId xmlns:a16="http://schemas.microsoft.com/office/drawing/2014/main" val="264114361"/>
                    </a:ext>
                  </a:extLst>
                </a:gridCol>
                <a:gridCol w="775018">
                  <a:extLst>
                    <a:ext uri="{9D8B030D-6E8A-4147-A177-3AD203B41FA5}">
                      <a16:colId xmlns:a16="http://schemas.microsoft.com/office/drawing/2014/main" val="2623575708"/>
                    </a:ext>
                  </a:extLst>
                </a:gridCol>
                <a:gridCol w="789977">
                  <a:extLst>
                    <a:ext uri="{9D8B030D-6E8A-4147-A177-3AD203B41FA5}">
                      <a16:colId xmlns:a16="http://schemas.microsoft.com/office/drawing/2014/main" val="445694027"/>
                    </a:ext>
                  </a:extLst>
                </a:gridCol>
              </a:tblGrid>
              <a:tr h="409192">
                <a:tc>
                  <a:txBody>
                    <a:bodyPr/>
                    <a:lstStyle/>
                    <a:p>
                      <a:r>
                        <a:rPr lang="en-US" dirty="0" err="1">
                          <a:solidFill>
                            <a:schemeClr val="bg1"/>
                          </a:solidFill>
                        </a:rPr>
                        <a:t>arr</a:t>
                      </a:r>
                      <a:r>
                        <a:rPr lang="en-US" dirty="0">
                          <a:solidFill>
                            <a:schemeClr val="bg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solidFill>
                            <a:schemeClr val="bg1"/>
                          </a:solidFill>
                        </a:rPr>
                        <a:t>arr</a:t>
                      </a:r>
                      <a:r>
                        <a:rPr lang="en-US" dirty="0">
                          <a:solidFill>
                            <a:schemeClr val="bg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5187198"/>
                  </a:ext>
                </a:extLst>
              </a:tr>
            </a:tbl>
          </a:graphicData>
        </a:graphic>
      </p:graphicFrame>
      <p:sp>
        <p:nvSpPr>
          <p:cNvPr id="25" name="Прямоугольник 24">
            <a:extLst>
              <a:ext uri="{FF2B5EF4-FFF2-40B4-BE49-F238E27FC236}">
                <a16:creationId xmlns:a16="http://schemas.microsoft.com/office/drawing/2014/main" id="{6262CD0A-0C11-45B1-9522-314FC85C1587}"/>
              </a:ext>
            </a:extLst>
          </p:cNvPr>
          <p:cNvSpPr/>
          <p:nvPr/>
        </p:nvSpPr>
        <p:spPr>
          <a:xfrm>
            <a:off x="8521147" y="2651126"/>
            <a:ext cx="2743200" cy="36512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Кэш</a:t>
            </a:r>
            <a:endParaRPr lang="en-US" dirty="0"/>
          </a:p>
        </p:txBody>
      </p:sp>
      <p:cxnSp>
        <p:nvCxnSpPr>
          <p:cNvPr id="40" name="Соединитель: уступ 39">
            <a:extLst>
              <a:ext uri="{FF2B5EF4-FFF2-40B4-BE49-F238E27FC236}">
                <a16:creationId xmlns:a16="http://schemas.microsoft.com/office/drawing/2014/main" id="{05D51B01-8034-4182-A0A4-8634B8D21DAD}"/>
              </a:ext>
            </a:extLst>
          </p:cNvPr>
          <p:cNvCxnSpPr/>
          <p:nvPr/>
        </p:nvCxnSpPr>
        <p:spPr>
          <a:xfrm rot="5400000" flipH="1" flipV="1">
            <a:off x="7180767" y="2305511"/>
            <a:ext cx="2680759" cy="1451113"/>
          </a:xfrm>
          <a:prstGeom prst="bentConnector3">
            <a:avLst>
              <a:gd name="adj1" fmla="val 31462"/>
            </a:avLst>
          </a:prstGeom>
          <a:ln w="28575">
            <a:tailEnd type="triangle"/>
          </a:ln>
        </p:spPr>
        <p:style>
          <a:lnRef idx="1">
            <a:schemeClr val="dk1"/>
          </a:lnRef>
          <a:fillRef idx="0">
            <a:schemeClr val="dk1"/>
          </a:fillRef>
          <a:effectRef idx="0">
            <a:schemeClr val="dk1"/>
          </a:effectRef>
          <a:fontRef idx="minor">
            <a:schemeClr val="tx1"/>
          </a:fontRef>
        </p:style>
      </p:cxnSp>
      <p:cxnSp>
        <p:nvCxnSpPr>
          <p:cNvPr id="42" name="Соединитель: уступ 41">
            <a:extLst>
              <a:ext uri="{FF2B5EF4-FFF2-40B4-BE49-F238E27FC236}">
                <a16:creationId xmlns:a16="http://schemas.microsoft.com/office/drawing/2014/main" id="{AD4D0600-7275-4A18-A682-01CA57DAF308}"/>
              </a:ext>
            </a:extLst>
          </p:cNvPr>
          <p:cNvCxnSpPr>
            <a:cxnSpLocks/>
          </p:cNvCxnSpPr>
          <p:nvPr/>
        </p:nvCxnSpPr>
        <p:spPr>
          <a:xfrm rot="5400000" flipH="1" flipV="1">
            <a:off x="8341381" y="3285471"/>
            <a:ext cx="1370013" cy="831574"/>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45" name="Соединитель: уступ 44">
            <a:extLst>
              <a:ext uri="{FF2B5EF4-FFF2-40B4-BE49-F238E27FC236}">
                <a16:creationId xmlns:a16="http://schemas.microsoft.com/office/drawing/2014/main" id="{FE0F0C31-44CF-4998-854D-6930283D669C}"/>
              </a:ext>
            </a:extLst>
          </p:cNvPr>
          <p:cNvCxnSpPr>
            <a:cxnSpLocks/>
          </p:cNvCxnSpPr>
          <p:nvPr/>
        </p:nvCxnSpPr>
        <p:spPr>
          <a:xfrm rot="5400000" flipH="1" flipV="1">
            <a:off x="8824034" y="3528377"/>
            <a:ext cx="1352491" cy="328240"/>
          </a:xfrm>
          <a:prstGeom prst="bentConnector3">
            <a:avLst>
              <a:gd name="adj1" fmla="val 43386"/>
            </a:avLst>
          </a:prstGeom>
          <a:ln w="28575">
            <a:tailEnd type="triangle"/>
          </a:ln>
        </p:spPr>
        <p:style>
          <a:lnRef idx="1">
            <a:schemeClr val="dk1"/>
          </a:lnRef>
          <a:fillRef idx="0">
            <a:schemeClr val="dk1"/>
          </a:fillRef>
          <a:effectRef idx="0">
            <a:schemeClr val="dk1"/>
          </a:effectRef>
          <a:fontRef idx="minor">
            <a:schemeClr val="tx1"/>
          </a:fontRef>
        </p:style>
      </p:cxnSp>
      <p:cxnSp>
        <p:nvCxnSpPr>
          <p:cNvPr id="49" name="Соединитель: уступ 48">
            <a:extLst>
              <a:ext uri="{FF2B5EF4-FFF2-40B4-BE49-F238E27FC236}">
                <a16:creationId xmlns:a16="http://schemas.microsoft.com/office/drawing/2014/main" id="{B0491C6E-E3CE-44EB-9CEC-7FF546FDD654}"/>
              </a:ext>
            </a:extLst>
          </p:cNvPr>
          <p:cNvCxnSpPr>
            <a:cxnSpLocks/>
          </p:cNvCxnSpPr>
          <p:nvPr/>
        </p:nvCxnSpPr>
        <p:spPr>
          <a:xfrm rot="5400000" flipH="1" flipV="1">
            <a:off x="9450970" y="3707313"/>
            <a:ext cx="1322859" cy="2"/>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31915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Попадания, промахи и вытеснения</a:t>
            </a:r>
            <a:endParaRPr lang="en-US" dirty="0"/>
          </a:p>
        </p:txBody>
      </p:sp>
      <p:sp>
        <p:nvSpPr>
          <p:cNvPr id="3" name="Объект 2">
            <a:extLst>
              <a:ext uri="{FF2B5EF4-FFF2-40B4-BE49-F238E27FC236}">
                <a16:creationId xmlns:a16="http://schemas.microsoft.com/office/drawing/2014/main" id="{60DA4387-9D83-4785-AE5C-AF82D6401FEF}"/>
              </a:ext>
            </a:extLst>
          </p:cNvPr>
          <p:cNvSpPr>
            <a:spLocks noGrp="1"/>
          </p:cNvSpPr>
          <p:nvPr>
            <p:ph idx="1"/>
          </p:nvPr>
        </p:nvSpPr>
        <p:spPr>
          <a:xfrm>
            <a:off x="791818" y="1475908"/>
            <a:ext cx="6253480" cy="5089783"/>
          </a:xfrm>
        </p:spPr>
        <p:txBody>
          <a:bodyPr>
            <a:normAutofit/>
          </a:bodyPr>
          <a:lstStyle/>
          <a:p>
            <a:pPr marL="0" indent="0">
              <a:buNone/>
            </a:pPr>
            <a:r>
              <a:rPr lang="ru-RU" sz="2000" dirty="0"/>
              <a:t>Если при обращении в память окажется, что данные уже находятся в кэше (</a:t>
            </a:r>
            <a:r>
              <a:rPr lang="ru-RU" sz="2000" b="1" dirty="0"/>
              <a:t>попадание в кэш, </a:t>
            </a:r>
            <a:r>
              <a:rPr lang="en-US" sz="2000" b="1" dirty="0"/>
              <a:t>cache hit</a:t>
            </a:r>
            <a:r>
              <a:rPr lang="ru-RU" sz="2000" dirty="0"/>
              <a:t>), то данные будут взяты из кэша. </a:t>
            </a:r>
            <a:endParaRPr lang="en-US" sz="2000" dirty="0"/>
          </a:p>
          <a:p>
            <a:pPr marL="0" indent="0">
              <a:buNone/>
            </a:pPr>
            <a:r>
              <a:rPr lang="ru-RU" sz="2000" dirty="0"/>
              <a:t>Если запрошенных данных в кэше не окажется (</a:t>
            </a:r>
            <a:r>
              <a:rPr lang="ru-RU" sz="2000" b="1" dirty="0"/>
              <a:t>промах кэша, </a:t>
            </a:r>
            <a:r>
              <a:rPr lang="en-US" sz="2000" b="1" dirty="0"/>
              <a:t>cache miss</a:t>
            </a:r>
            <a:r>
              <a:rPr lang="ru-RU" sz="2000" dirty="0"/>
              <a:t>), то произойдет чтение данных из оперативной памяти.</a:t>
            </a:r>
          </a:p>
          <a:p>
            <a:pPr marL="0" indent="0">
              <a:buNone/>
            </a:pPr>
            <a:r>
              <a:rPr lang="ru-RU" sz="2000" dirty="0"/>
              <a:t>Если кэш заполнен, то при чтении новых данных производится </a:t>
            </a:r>
            <a:r>
              <a:rPr lang="ru-RU" sz="2000" b="1" dirty="0"/>
              <a:t>вытеснение</a:t>
            </a:r>
            <a:r>
              <a:rPr lang="ru-RU" sz="2000" dirty="0"/>
              <a:t> кэш-линии. Обычно вытесняется наиболее «старая» кэш-линия*.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ru-RU" sz="1600" b="0" i="0" u="none" strike="noStrike" kern="1200" cap="none" spc="0" normalizeH="0" baseline="0" noProof="0" dirty="0">
                <a:ln>
                  <a:noFill/>
                </a:ln>
                <a:solidFill>
                  <a:prstClr val="black"/>
                </a:solidFill>
                <a:effectLst/>
                <a:uLnTx/>
                <a:uFillTx/>
                <a:latin typeface="Calibri" panose="020F0502020204030204"/>
                <a:ea typeface="+mn-ea"/>
                <a:cs typeface="+mn-cs"/>
              </a:rPr>
              <a:t>*если при проектировании ЦП не была выбрана иная стратегия</a:t>
            </a:r>
          </a:p>
          <a:p>
            <a:pPr marL="0" indent="0">
              <a:buNone/>
            </a:pPr>
            <a:endParaRPr lang="en-US" sz="2000"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7</a:t>
            </a:fld>
            <a:endParaRPr lang="en-US"/>
          </a:p>
        </p:txBody>
      </p:sp>
      <p:sp>
        <p:nvSpPr>
          <p:cNvPr id="6" name="Прямоугольник 5">
            <a:extLst>
              <a:ext uri="{FF2B5EF4-FFF2-40B4-BE49-F238E27FC236}">
                <a16:creationId xmlns:a16="http://schemas.microsoft.com/office/drawing/2014/main" id="{DE527473-08B0-4252-8851-658711FCECC2}"/>
              </a:ext>
            </a:extLst>
          </p:cNvPr>
          <p:cNvSpPr/>
          <p:nvPr/>
        </p:nvSpPr>
        <p:spPr>
          <a:xfrm>
            <a:off x="7991057" y="3221297"/>
            <a:ext cx="2743199" cy="860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ru-RU" dirty="0"/>
              <a:t>Кэш</a:t>
            </a:r>
            <a:endParaRPr lang="en-US" dirty="0"/>
          </a:p>
        </p:txBody>
      </p:sp>
      <p:sp>
        <p:nvSpPr>
          <p:cNvPr id="9" name="Прямоугольник 8">
            <a:extLst>
              <a:ext uri="{FF2B5EF4-FFF2-40B4-BE49-F238E27FC236}">
                <a16:creationId xmlns:a16="http://schemas.microsoft.com/office/drawing/2014/main" id="{6DC9BDAE-4358-423F-9058-EDA6443B33F6}"/>
              </a:ext>
            </a:extLst>
          </p:cNvPr>
          <p:cNvSpPr/>
          <p:nvPr/>
        </p:nvSpPr>
        <p:spPr>
          <a:xfrm>
            <a:off x="8468139" y="3571785"/>
            <a:ext cx="785191" cy="36512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a:solidFill>
                  <a:schemeClr val="bg1"/>
                </a:solidFill>
              </a:rPr>
              <a:t>arr[0]</a:t>
            </a:r>
            <a:endParaRPr lang="en-US" dirty="0">
              <a:solidFill>
                <a:schemeClr val="bg1"/>
              </a:solidFill>
            </a:endParaRPr>
          </a:p>
        </p:txBody>
      </p:sp>
      <p:sp>
        <p:nvSpPr>
          <p:cNvPr id="11" name="Прямоугольник 10">
            <a:extLst>
              <a:ext uri="{FF2B5EF4-FFF2-40B4-BE49-F238E27FC236}">
                <a16:creationId xmlns:a16="http://schemas.microsoft.com/office/drawing/2014/main" id="{35EB410F-B446-4AB7-BD57-F7E34517B58C}"/>
              </a:ext>
            </a:extLst>
          </p:cNvPr>
          <p:cNvSpPr/>
          <p:nvPr/>
        </p:nvSpPr>
        <p:spPr>
          <a:xfrm>
            <a:off x="7991061" y="1863328"/>
            <a:ext cx="2743200"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cxnSp>
        <p:nvCxnSpPr>
          <p:cNvPr id="19" name="Прямая со стрелкой 18">
            <a:extLst>
              <a:ext uri="{FF2B5EF4-FFF2-40B4-BE49-F238E27FC236}">
                <a16:creationId xmlns:a16="http://schemas.microsoft.com/office/drawing/2014/main" id="{84FD99C1-812F-44EB-90D8-4C3CE5735C10}"/>
              </a:ext>
            </a:extLst>
          </p:cNvPr>
          <p:cNvCxnSpPr/>
          <p:nvPr/>
        </p:nvCxnSpPr>
        <p:spPr>
          <a:xfrm>
            <a:off x="8746435" y="2228453"/>
            <a:ext cx="0" cy="134333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Прямая со стрелкой 19">
            <a:extLst>
              <a:ext uri="{FF2B5EF4-FFF2-40B4-BE49-F238E27FC236}">
                <a16:creationId xmlns:a16="http://schemas.microsoft.com/office/drawing/2014/main" id="{B5A1468B-468D-449E-B7FB-F159DD3FFC7A}"/>
              </a:ext>
            </a:extLst>
          </p:cNvPr>
          <p:cNvCxnSpPr>
            <a:cxnSpLocks/>
          </p:cNvCxnSpPr>
          <p:nvPr/>
        </p:nvCxnSpPr>
        <p:spPr>
          <a:xfrm flipV="1">
            <a:off x="9008166" y="2228454"/>
            <a:ext cx="0" cy="1343331"/>
          </a:xfrm>
          <a:prstGeom prst="straightConnector1">
            <a:avLst/>
          </a:prstGeom>
          <a:ln>
            <a:solidFill>
              <a:srgbClr val="92D050"/>
            </a:solidFill>
            <a:tailEnd type="triangle"/>
          </a:ln>
        </p:spPr>
        <p:style>
          <a:lnRef idx="3">
            <a:schemeClr val="accent6"/>
          </a:lnRef>
          <a:fillRef idx="0">
            <a:schemeClr val="accent6"/>
          </a:fillRef>
          <a:effectRef idx="2">
            <a:schemeClr val="accent6"/>
          </a:effectRef>
          <a:fontRef idx="minor">
            <a:schemeClr val="tx1"/>
          </a:fontRef>
        </p:style>
      </p:cxnSp>
      <p:sp>
        <p:nvSpPr>
          <p:cNvPr id="23" name="TextBox 22">
            <a:extLst>
              <a:ext uri="{FF2B5EF4-FFF2-40B4-BE49-F238E27FC236}">
                <a16:creationId xmlns:a16="http://schemas.microsoft.com/office/drawing/2014/main" id="{741A4F86-4D4D-4C51-A99A-75F50177B7AA}"/>
              </a:ext>
            </a:extLst>
          </p:cNvPr>
          <p:cNvSpPr txBox="1"/>
          <p:nvPr/>
        </p:nvSpPr>
        <p:spPr>
          <a:xfrm>
            <a:off x="7353410" y="2509824"/>
            <a:ext cx="1452770" cy="369332"/>
          </a:xfrm>
          <a:prstGeom prst="rect">
            <a:avLst/>
          </a:prstGeom>
          <a:noFill/>
        </p:spPr>
        <p:txBody>
          <a:bodyPr wrap="none" rtlCol="0">
            <a:spAutoFit/>
          </a:bodyPr>
          <a:lstStyle/>
          <a:p>
            <a:r>
              <a:rPr lang="en-US" dirty="0"/>
              <a:t>mov </a:t>
            </a:r>
            <a:r>
              <a:rPr lang="en-US" dirty="0" err="1"/>
              <a:t>rax</a:t>
            </a:r>
            <a:r>
              <a:rPr lang="en-US" dirty="0"/>
              <a:t>, [</a:t>
            </a:r>
            <a:r>
              <a:rPr lang="en-US" dirty="0" err="1"/>
              <a:t>arr</a:t>
            </a:r>
            <a:r>
              <a:rPr lang="en-US" dirty="0"/>
              <a:t>]</a:t>
            </a:r>
          </a:p>
        </p:txBody>
      </p:sp>
      <p:cxnSp>
        <p:nvCxnSpPr>
          <p:cNvPr id="26" name="Прямая со стрелкой 25">
            <a:extLst>
              <a:ext uri="{FF2B5EF4-FFF2-40B4-BE49-F238E27FC236}">
                <a16:creationId xmlns:a16="http://schemas.microsoft.com/office/drawing/2014/main" id="{3D78B25D-1103-4BC4-BDD1-974825ECA414}"/>
              </a:ext>
            </a:extLst>
          </p:cNvPr>
          <p:cNvCxnSpPr>
            <a:cxnSpLocks/>
          </p:cNvCxnSpPr>
          <p:nvPr/>
        </p:nvCxnSpPr>
        <p:spPr>
          <a:xfrm>
            <a:off x="9624391" y="2228453"/>
            <a:ext cx="0" cy="32250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TextBox 27">
            <a:extLst>
              <a:ext uri="{FF2B5EF4-FFF2-40B4-BE49-F238E27FC236}">
                <a16:creationId xmlns:a16="http://schemas.microsoft.com/office/drawing/2014/main" id="{E84CFAEB-48D9-488F-A446-D69D5A6D7F21}"/>
              </a:ext>
            </a:extLst>
          </p:cNvPr>
          <p:cNvSpPr txBox="1"/>
          <p:nvPr/>
        </p:nvSpPr>
        <p:spPr>
          <a:xfrm>
            <a:off x="10054143" y="2531803"/>
            <a:ext cx="1802225" cy="369332"/>
          </a:xfrm>
          <a:prstGeom prst="rect">
            <a:avLst/>
          </a:prstGeom>
          <a:noFill/>
        </p:spPr>
        <p:txBody>
          <a:bodyPr wrap="none" rtlCol="0">
            <a:spAutoFit/>
          </a:bodyPr>
          <a:lstStyle/>
          <a:p>
            <a:r>
              <a:rPr lang="en-US" dirty="0"/>
              <a:t>mov </a:t>
            </a:r>
            <a:r>
              <a:rPr lang="en-US" dirty="0" err="1"/>
              <a:t>rax</a:t>
            </a:r>
            <a:r>
              <a:rPr lang="en-US" dirty="0"/>
              <a:t>, [</a:t>
            </a:r>
            <a:r>
              <a:rPr lang="en-US" dirty="0" err="1"/>
              <a:t>arr</a:t>
            </a:r>
            <a:r>
              <a:rPr lang="en-US" dirty="0"/>
              <a:t>+</a:t>
            </a:r>
            <a:r>
              <a:rPr lang="ru-RU" dirty="0"/>
              <a:t>90</a:t>
            </a:r>
            <a:r>
              <a:rPr lang="en-US" dirty="0"/>
              <a:t>]</a:t>
            </a:r>
          </a:p>
        </p:txBody>
      </p:sp>
      <p:cxnSp>
        <p:nvCxnSpPr>
          <p:cNvPr id="29" name="Прямая со стрелкой 28">
            <a:extLst>
              <a:ext uri="{FF2B5EF4-FFF2-40B4-BE49-F238E27FC236}">
                <a16:creationId xmlns:a16="http://schemas.microsoft.com/office/drawing/2014/main" id="{51A6C17B-AE90-4FFB-9E3F-94EB09E7401A}"/>
              </a:ext>
            </a:extLst>
          </p:cNvPr>
          <p:cNvCxnSpPr>
            <a:cxnSpLocks/>
          </p:cNvCxnSpPr>
          <p:nvPr/>
        </p:nvCxnSpPr>
        <p:spPr>
          <a:xfrm flipV="1">
            <a:off x="9982200" y="3952060"/>
            <a:ext cx="0" cy="150139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32" name="Прямоугольник 31">
            <a:extLst>
              <a:ext uri="{FF2B5EF4-FFF2-40B4-BE49-F238E27FC236}">
                <a16:creationId xmlns:a16="http://schemas.microsoft.com/office/drawing/2014/main" id="{738CA193-01D1-45FD-B635-79B67BA2E8A4}"/>
              </a:ext>
            </a:extLst>
          </p:cNvPr>
          <p:cNvSpPr/>
          <p:nvPr/>
        </p:nvSpPr>
        <p:spPr>
          <a:xfrm>
            <a:off x="7991061" y="5453459"/>
            <a:ext cx="2743200" cy="992843"/>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ОЗУ</a:t>
            </a:r>
            <a:endParaRPr lang="en-US" dirty="0"/>
          </a:p>
        </p:txBody>
      </p:sp>
      <p:sp>
        <p:nvSpPr>
          <p:cNvPr id="35" name="Прямоугольник 34">
            <a:extLst>
              <a:ext uri="{FF2B5EF4-FFF2-40B4-BE49-F238E27FC236}">
                <a16:creationId xmlns:a16="http://schemas.microsoft.com/office/drawing/2014/main" id="{3B476076-A1F1-4117-948F-086C7AE9C67B}"/>
              </a:ext>
            </a:extLst>
          </p:cNvPr>
          <p:cNvSpPr/>
          <p:nvPr/>
        </p:nvSpPr>
        <p:spPr>
          <a:xfrm>
            <a:off x="9708872" y="3586935"/>
            <a:ext cx="826595" cy="365125"/>
          </a:xfrm>
          <a:prstGeom prst="rect">
            <a:avLst/>
          </a:prstGeom>
          <a:ln>
            <a:prstDash val="dash"/>
          </a:ln>
        </p:spPr>
        <p:style>
          <a:lnRef idx="3">
            <a:schemeClr val="lt1"/>
          </a:lnRef>
          <a:fillRef idx="1">
            <a:schemeClr val="accent2"/>
          </a:fillRef>
          <a:effectRef idx="1">
            <a:schemeClr val="accent2"/>
          </a:effectRef>
          <a:fontRef idx="minor">
            <a:schemeClr val="lt1"/>
          </a:fontRef>
        </p:style>
        <p:txBody>
          <a:bodyPr rtlCol="0" anchor="ctr"/>
          <a:lstStyle/>
          <a:p>
            <a:r>
              <a:rPr lang="en-US" dirty="0" err="1">
                <a:solidFill>
                  <a:schemeClr val="bg1"/>
                </a:solidFill>
              </a:rPr>
              <a:t>arr</a:t>
            </a:r>
            <a:r>
              <a:rPr lang="en-US" dirty="0">
                <a:solidFill>
                  <a:schemeClr val="bg1"/>
                </a:solidFill>
              </a:rPr>
              <a:t>[</a:t>
            </a:r>
            <a:r>
              <a:rPr lang="ru-RU" dirty="0">
                <a:solidFill>
                  <a:schemeClr val="bg1"/>
                </a:solidFill>
              </a:rPr>
              <a:t>9</a:t>
            </a:r>
            <a:r>
              <a:rPr lang="en-US" dirty="0">
                <a:solidFill>
                  <a:schemeClr val="bg1"/>
                </a:solidFill>
              </a:rPr>
              <a:t>0]</a:t>
            </a:r>
          </a:p>
        </p:txBody>
      </p:sp>
      <p:cxnSp>
        <p:nvCxnSpPr>
          <p:cNvPr id="37" name="Прямая со стрелкой 36">
            <a:extLst>
              <a:ext uri="{FF2B5EF4-FFF2-40B4-BE49-F238E27FC236}">
                <a16:creationId xmlns:a16="http://schemas.microsoft.com/office/drawing/2014/main" id="{30F1B25F-9E83-4DC3-8386-A39A8FC0FB3C}"/>
              </a:ext>
            </a:extLst>
          </p:cNvPr>
          <p:cNvCxnSpPr>
            <a:cxnSpLocks/>
          </p:cNvCxnSpPr>
          <p:nvPr/>
        </p:nvCxnSpPr>
        <p:spPr>
          <a:xfrm flipV="1">
            <a:off x="9982200" y="2228453"/>
            <a:ext cx="0" cy="150139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380042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BDCB5-9A57-9C57-EE76-DD1C3F0A64E8}"/>
              </a:ext>
            </a:extLst>
          </p:cNvPr>
          <p:cNvSpPr>
            <a:spLocks noGrp="1"/>
          </p:cNvSpPr>
          <p:nvPr>
            <p:ph type="title"/>
          </p:nvPr>
        </p:nvSpPr>
        <p:spPr/>
        <p:txBody>
          <a:bodyPr/>
          <a:lstStyle/>
          <a:p>
            <a:r>
              <a:rPr lang="ru-RU" dirty="0"/>
              <a:t>Запись в кэш. </a:t>
            </a:r>
            <a:r>
              <a:rPr lang="en-US" dirty="0"/>
              <a:t>Write-through </a:t>
            </a:r>
            <a:r>
              <a:rPr lang="ru-RU" dirty="0"/>
              <a:t>и </a:t>
            </a:r>
            <a:r>
              <a:rPr lang="en-US" dirty="0"/>
              <a:t>Write-back</a:t>
            </a:r>
            <a:endParaRPr lang="ru-RU" dirty="0"/>
          </a:p>
        </p:txBody>
      </p:sp>
      <p:sp>
        <p:nvSpPr>
          <p:cNvPr id="3" name="Content Placeholder 2">
            <a:extLst>
              <a:ext uri="{FF2B5EF4-FFF2-40B4-BE49-F238E27FC236}">
                <a16:creationId xmlns:a16="http://schemas.microsoft.com/office/drawing/2014/main" id="{3F48C71C-15B4-D323-767E-03CE3D1A7142}"/>
              </a:ext>
            </a:extLst>
          </p:cNvPr>
          <p:cNvSpPr>
            <a:spLocks noGrp="1"/>
          </p:cNvSpPr>
          <p:nvPr>
            <p:ph idx="1"/>
          </p:nvPr>
        </p:nvSpPr>
        <p:spPr>
          <a:xfrm>
            <a:off x="838200" y="1615761"/>
            <a:ext cx="6716843" cy="5032375"/>
          </a:xfrm>
        </p:spPr>
        <p:txBody>
          <a:bodyPr>
            <a:normAutofit/>
          </a:bodyPr>
          <a:lstStyle/>
          <a:p>
            <a:pPr marL="0" indent="0">
              <a:buNone/>
            </a:pPr>
            <a:r>
              <a:rPr lang="ru-RU" sz="2000" dirty="0"/>
              <a:t>Если выполняется операция записи, и данные находятся в кэше, то изменяются данные в кэше. Момент изменения данных в ОЗУ зависит от используемой политики записи:</a:t>
            </a:r>
          </a:p>
          <a:p>
            <a:r>
              <a:rPr lang="en-US" sz="2000" dirty="0"/>
              <a:t>Write-through </a:t>
            </a:r>
            <a:r>
              <a:rPr lang="ru-RU" sz="2000" dirty="0"/>
              <a:t>кэширование – операция записи выполняется одновременно и в кэш, и в ОЗУ;</a:t>
            </a:r>
          </a:p>
          <a:p>
            <a:r>
              <a:rPr lang="en-US" sz="2000" dirty="0"/>
              <a:t>Write-back </a:t>
            </a:r>
            <a:r>
              <a:rPr lang="ru-RU" sz="2000" dirty="0"/>
              <a:t>кэширование – запись выполняется только в кэш, данные в ОЗУ обновляются при вытеснении измененной кэш-линии. </a:t>
            </a:r>
          </a:p>
          <a:p>
            <a:pPr marL="0" indent="0">
              <a:buNone/>
            </a:pPr>
            <a:r>
              <a:rPr lang="ru-RU" sz="2000" dirty="0"/>
              <a:t>Плюсом </a:t>
            </a:r>
            <a:r>
              <a:rPr lang="en-US" sz="2000" dirty="0"/>
              <a:t>write-through </a:t>
            </a:r>
            <a:r>
              <a:rPr lang="ru-RU" sz="2000" dirty="0"/>
              <a:t>кэширования является простота реализации.</a:t>
            </a:r>
          </a:p>
          <a:p>
            <a:pPr marL="0" indent="0">
              <a:buNone/>
            </a:pPr>
            <a:r>
              <a:rPr lang="ru-RU" sz="2000" dirty="0"/>
              <a:t>Плюсом </a:t>
            </a:r>
            <a:r>
              <a:rPr lang="en-US" sz="2000" dirty="0"/>
              <a:t>write-back </a:t>
            </a:r>
            <a:r>
              <a:rPr lang="ru-RU" sz="2000" dirty="0"/>
              <a:t>кэширования является производительность, минусом – сложность организации в многоядерных ЦП.</a:t>
            </a:r>
          </a:p>
          <a:p>
            <a:pPr marL="0" indent="0">
              <a:buNone/>
            </a:pPr>
            <a:r>
              <a:rPr lang="ru-RU" sz="2000" dirty="0"/>
              <a:t>В ЦП</a:t>
            </a:r>
            <a:r>
              <a:rPr lang="en-US" sz="2000" dirty="0"/>
              <a:t> </a:t>
            </a:r>
            <a:r>
              <a:rPr lang="ru-RU" sz="2000" dirty="0"/>
              <a:t>х86-64 в большинстве случаев используется </a:t>
            </a:r>
            <a:r>
              <a:rPr lang="en-US" sz="2000" dirty="0"/>
              <a:t>write-back </a:t>
            </a:r>
            <a:r>
              <a:rPr lang="ru-RU" sz="2000" dirty="0"/>
              <a:t>кэширование.</a:t>
            </a:r>
            <a:endParaRPr lang="en-US" sz="2000" dirty="0"/>
          </a:p>
          <a:p>
            <a:pPr marL="0" indent="0">
              <a:buNone/>
            </a:pPr>
            <a:endParaRPr lang="ru-RU" sz="2000" dirty="0"/>
          </a:p>
        </p:txBody>
      </p:sp>
      <p:sp>
        <p:nvSpPr>
          <p:cNvPr id="4" name="Slide Number Placeholder 3">
            <a:extLst>
              <a:ext uri="{FF2B5EF4-FFF2-40B4-BE49-F238E27FC236}">
                <a16:creationId xmlns:a16="http://schemas.microsoft.com/office/drawing/2014/main" id="{F5237969-6CA8-6D78-DC5D-C9A1E2F690DB}"/>
              </a:ext>
            </a:extLst>
          </p:cNvPr>
          <p:cNvSpPr>
            <a:spLocks noGrp="1"/>
          </p:cNvSpPr>
          <p:nvPr>
            <p:ph type="sldNum" sz="quarter" idx="12"/>
          </p:nvPr>
        </p:nvSpPr>
        <p:spPr/>
        <p:txBody>
          <a:bodyPr/>
          <a:lstStyle/>
          <a:p>
            <a:fld id="{B67FBA2B-964F-4C4D-AAF7-5A8399264638}" type="slidenum">
              <a:rPr lang="en-US" smtClean="0"/>
              <a:pPr/>
              <a:t>8</a:t>
            </a:fld>
            <a:endParaRPr lang="en-US"/>
          </a:p>
        </p:txBody>
      </p:sp>
      <p:sp>
        <p:nvSpPr>
          <p:cNvPr id="5" name="Прямоугольник 5">
            <a:extLst>
              <a:ext uri="{FF2B5EF4-FFF2-40B4-BE49-F238E27FC236}">
                <a16:creationId xmlns:a16="http://schemas.microsoft.com/office/drawing/2014/main" id="{D1448685-B07D-20CB-09D3-D8018CB59501}"/>
              </a:ext>
            </a:extLst>
          </p:cNvPr>
          <p:cNvSpPr/>
          <p:nvPr/>
        </p:nvSpPr>
        <p:spPr>
          <a:xfrm>
            <a:off x="8374645" y="3104721"/>
            <a:ext cx="972810" cy="860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ru-RU" dirty="0"/>
              <a:t>Кэш</a:t>
            </a:r>
            <a:endParaRPr lang="en-US" dirty="0"/>
          </a:p>
        </p:txBody>
      </p:sp>
      <p:sp>
        <p:nvSpPr>
          <p:cNvPr id="6" name="Прямоугольник 8">
            <a:extLst>
              <a:ext uri="{FF2B5EF4-FFF2-40B4-BE49-F238E27FC236}">
                <a16:creationId xmlns:a16="http://schemas.microsoft.com/office/drawing/2014/main" id="{6E9C20B4-0231-6CE2-C74E-386C3B391E03}"/>
              </a:ext>
            </a:extLst>
          </p:cNvPr>
          <p:cNvSpPr/>
          <p:nvPr/>
        </p:nvSpPr>
        <p:spPr>
          <a:xfrm>
            <a:off x="8468454" y="3505031"/>
            <a:ext cx="785191" cy="36512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err="1">
                <a:solidFill>
                  <a:schemeClr val="bg1"/>
                </a:solidFill>
              </a:rPr>
              <a:t>arr</a:t>
            </a:r>
            <a:r>
              <a:rPr lang="en-US" dirty="0">
                <a:solidFill>
                  <a:schemeClr val="bg1"/>
                </a:solidFill>
              </a:rPr>
              <a:t>[0]</a:t>
            </a:r>
          </a:p>
        </p:txBody>
      </p:sp>
      <p:sp>
        <p:nvSpPr>
          <p:cNvPr id="7" name="Прямоугольник 10">
            <a:extLst>
              <a:ext uri="{FF2B5EF4-FFF2-40B4-BE49-F238E27FC236}">
                <a16:creationId xmlns:a16="http://schemas.microsoft.com/office/drawing/2014/main" id="{E700E45F-0BB3-F85D-DDFD-BCEEC667A4D3}"/>
              </a:ext>
            </a:extLst>
          </p:cNvPr>
          <p:cNvSpPr/>
          <p:nvPr/>
        </p:nvSpPr>
        <p:spPr>
          <a:xfrm>
            <a:off x="8374645" y="2275284"/>
            <a:ext cx="1371595"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sp>
        <p:nvSpPr>
          <p:cNvPr id="13" name="Прямоугольник 31">
            <a:extLst>
              <a:ext uri="{FF2B5EF4-FFF2-40B4-BE49-F238E27FC236}">
                <a16:creationId xmlns:a16="http://schemas.microsoft.com/office/drawing/2014/main" id="{F443AC4B-923E-2469-C06D-5F8270FE5372}"/>
              </a:ext>
            </a:extLst>
          </p:cNvPr>
          <p:cNvSpPr/>
          <p:nvPr/>
        </p:nvSpPr>
        <p:spPr>
          <a:xfrm>
            <a:off x="8374645" y="4140153"/>
            <a:ext cx="1371594" cy="901351"/>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ru-RU" dirty="0"/>
              <a:t>ОЗУ</a:t>
            </a:r>
            <a:endParaRPr lang="en-US" dirty="0"/>
          </a:p>
        </p:txBody>
      </p:sp>
      <p:cxnSp>
        <p:nvCxnSpPr>
          <p:cNvPr id="16" name="Прямая со стрелкой 18">
            <a:extLst>
              <a:ext uri="{FF2B5EF4-FFF2-40B4-BE49-F238E27FC236}">
                <a16:creationId xmlns:a16="http://schemas.microsoft.com/office/drawing/2014/main" id="{45985B47-D698-316A-8C23-FFD6E4152117}"/>
              </a:ext>
            </a:extLst>
          </p:cNvPr>
          <p:cNvCxnSpPr>
            <a:cxnSpLocks/>
          </p:cNvCxnSpPr>
          <p:nvPr/>
        </p:nvCxnSpPr>
        <p:spPr>
          <a:xfrm>
            <a:off x="8915187" y="2636032"/>
            <a:ext cx="0" cy="8668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8" name="Прямоугольник 8">
            <a:extLst>
              <a:ext uri="{FF2B5EF4-FFF2-40B4-BE49-F238E27FC236}">
                <a16:creationId xmlns:a16="http://schemas.microsoft.com/office/drawing/2014/main" id="{31A6BB45-6FE8-DD17-F2F8-10F2094C704C}"/>
              </a:ext>
            </a:extLst>
          </p:cNvPr>
          <p:cNvSpPr/>
          <p:nvPr/>
        </p:nvSpPr>
        <p:spPr>
          <a:xfrm>
            <a:off x="8915187" y="4543904"/>
            <a:ext cx="785191" cy="36512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err="1">
                <a:solidFill>
                  <a:schemeClr val="bg1"/>
                </a:solidFill>
              </a:rPr>
              <a:t>arr</a:t>
            </a:r>
            <a:r>
              <a:rPr lang="en-US" dirty="0">
                <a:solidFill>
                  <a:schemeClr val="bg1"/>
                </a:solidFill>
              </a:rPr>
              <a:t>[0]</a:t>
            </a:r>
          </a:p>
        </p:txBody>
      </p:sp>
      <p:cxnSp>
        <p:nvCxnSpPr>
          <p:cNvPr id="20" name="Прямая со стрелкой 18">
            <a:extLst>
              <a:ext uri="{FF2B5EF4-FFF2-40B4-BE49-F238E27FC236}">
                <a16:creationId xmlns:a16="http://schemas.microsoft.com/office/drawing/2014/main" id="{873AD4BC-EB58-FF8A-0A3B-035CFEE0BC10}"/>
              </a:ext>
            </a:extLst>
          </p:cNvPr>
          <p:cNvCxnSpPr>
            <a:cxnSpLocks/>
          </p:cNvCxnSpPr>
          <p:nvPr/>
        </p:nvCxnSpPr>
        <p:spPr>
          <a:xfrm>
            <a:off x="9397123" y="2636032"/>
            <a:ext cx="0" cy="19078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2" name="Прямоугольник 5">
            <a:extLst>
              <a:ext uri="{FF2B5EF4-FFF2-40B4-BE49-F238E27FC236}">
                <a16:creationId xmlns:a16="http://schemas.microsoft.com/office/drawing/2014/main" id="{83453F9C-3EB4-D08C-FEA3-6D62BA6A19A9}"/>
              </a:ext>
            </a:extLst>
          </p:cNvPr>
          <p:cNvSpPr/>
          <p:nvPr/>
        </p:nvSpPr>
        <p:spPr>
          <a:xfrm>
            <a:off x="10369933" y="3104721"/>
            <a:ext cx="972810" cy="860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lstStyle/>
          <a:p>
            <a:r>
              <a:rPr lang="ru-RU" dirty="0"/>
              <a:t>Кэш</a:t>
            </a:r>
            <a:endParaRPr lang="en-US" dirty="0"/>
          </a:p>
        </p:txBody>
      </p:sp>
      <p:sp>
        <p:nvSpPr>
          <p:cNvPr id="23" name="Прямоугольник 8">
            <a:extLst>
              <a:ext uri="{FF2B5EF4-FFF2-40B4-BE49-F238E27FC236}">
                <a16:creationId xmlns:a16="http://schemas.microsoft.com/office/drawing/2014/main" id="{02B165B6-C934-E2ED-B797-A007E5C0693A}"/>
              </a:ext>
            </a:extLst>
          </p:cNvPr>
          <p:cNvSpPr/>
          <p:nvPr/>
        </p:nvSpPr>
        <p:spPr>
          <a:xfrm>
            <a:off x="10463742" y="3505031"/>
            <a:ext cx="785191" cy="36512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err="1">
                <a:solidFill>
                  <a:schemeClr val="bg1"/>
                </a:solidFill>
              </a:rPr>
              <a:t>arr</a:t>
            </a:r>
            <a:r>
              <a:rPr lang="en-US" dirty="0">
                <a:solidFill>
                  <a:schemeClr val="bg1"/>
                </a:solidFill>
              </a:rPr>
              <a:t>[0]</a:t>
            </a:r>
          </a:p>
        </p:txBody>
      </p:sp>
      <p:sp>
        <p:nvSpPr>
          <p:cNvPr id="24" name="Прямоугольник 10">
            <a:extLst>
              <a:ext uri="{FF2B5EF4-FFF2-40B4-BE49-F238E27FC236}">
                <a16:creationId xmlns:a16="http://schemas.microsoft.com/office/drawing/2014/main" id="{991FCEC8-8C3F-EFC6-BD29-790C10F4F2FE}"/>
              </a:ext>
            </a:extLst>
          </p:cNvPr>
          <p:cNvSpPr/>
          <p:nvPr/>
        </p:nvSpPr>
        <p:spPr>
          <a:xfrm>
            <a:off x="10369933" y="2275284"/>
            <a:ext cx="1371595"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sp>
        <p:nvSpPr>
          <p:cNvPr id="25" name="Прямоугольник 31">
            <a:extLst>
              <a:ext uri="{FF2B5EF4-FFF2-40B4-BE49-F238E27FC236}">
                <a16:creationId xmlns:a16="http://schemas.microsoft.com/office/drawing/2014/main" id="{35469859-6542-F1DB-0653-3503175EB543}"/>
              </a:ext>
            </a:extLst>
          </p:cNvPr>
          <p:cNvSpPr/>
          <p:nvPr/>
        </p:nvSpPr>
        <p:spPr>
          <a:xfrm>
            <a:off x="10369933" y="4140153"/>
            <a:ext cx="1371594" cy="901351"/>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ru-RU" dirty="0"/>
              <a:t>ОЗУ</a:t>
            </a:r>
            <a:endParaRPr lang="en-US" dirty="0"/>
          </a:p>
        </p:txBody>
      </p:sp>
      <p:cxnSp>
        <p:nvCxnSpPr>
          <p:cNvPr id="26" name="Прямая со стрелкой 18">
            <a:extLst>
              <a:ext uri="{FF2B5EF4-FFF2-40B4-BE49-F238E27FC236}">
                <a16:creationId xmlns:a16="http://schemas.microsoft.com/office/drawing/2014/main" id="{B16894F4-E43D-5181-D76C-6CE55B334909}"/>
              </a:ext>
            </a:extLst>
          </p:cNvPr>
          <p:cNvCxnSpPr>
            <a:cxnSpLocks/>
          </p:cNvCxnSpPr>
          <p:nvPr/>
        </p:nvCxnSpPr>
        <p:spPr>
          <a:xfrm>
            <a:off x="10910475" y="2636032"/>
            <a:ext cx="0" cy="86685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7" name="Прямоугольник 8">
            <a:extLst>
              <a:ext uri="{FF2B5EF4-FFF2-40B4-BE49-F238E27FC236}">
                <a16:creationId xmlns:a16="http://schemas.microsoft.com/office/drawing/2014/main" id="{D4C98E33-7DF6-6A68-26BB-B6FD2AC2FB5B}"/>
              </a:ext>
            </a:extLst>
          </p:cNvPr>
          <p:cNvSpPr/>
          <p:nvPr/>
        </p:nvSpPr>
        <p:spPr>
          <a:xfrm>
            <a:off x="10910475" y="4543904"/>
            <a:ext cx="785191" cy="36512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en-US" dirty="0" err="1">
                <a:solidFill>
                  <a:schemeClr val="bg1"/>
                </a:solidFill>
              </a:rPr>
              <a:t>arr</a:t>
            </a:r>
            <a:r>
              <a:rPr lang="en-US" dirty="0">
                <a:solidFill>
                  <a:schemeClr val="bg1"/>
                </a:solidFill>
              </a:rPr>
              <a:t>[0]</a:t>
            </a:r>
          </a:p>
        </p:txBody>
      </p:sp>
      <p:cxnSp>
        <p:nvCxnSpPr>
          <p:cNvPr id="34" name="Connector: Curved 33">
            <a:extLst>
              <a:ext uri="{FF2B5EF4-FFF2-40B4-BE49-F238E27FC236}">
                <a16:creationId xmlns:a16="http://schemas.microsoft.com/office/drawing/2014/main" id="{E5F50199-031C-B585-4EBF-EFA65A32B4E3}"/>
              </a:ext>
            </a:extLst>
          </p:cNvPr>
          <p:cNvCxnSpPr>
            <a:cxnSpLocks/>
            <a:stCxn id="23" idx="3"/>
          </p:cNvCxnSpPr>
          <p:nvPr/>
        </p:nvCxnSpPr>
        <p:spPr>
          <a:xfrm>
            <a:off x="11248933" y="3687594"/>
            <a:ext cx="353244" cy="856310"/>
          </a:xfrm>
          <a:prstGeom prst="curvedConnector2">
            <a:avLst/>
          </a:prstGeom>
          <a:ln>
            <a:prstDash val="lgDash"/>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83C6FA2F-577F-52EE-5BBC-CD21465B29E8}"/>
              </a:ext>
            </a:extLst>
          </p:cNvPr>
          <p:cNvSpPr txBox="1"/>
          <p:nvPr/>
        </p:nvSpPr>
        <p:spPr>
          <a:xfrm>
            <a:off x="8297316" y="1657075"/>
            <a:ext cx="1526252" cy="369332"/>
          </a:xfrm>
          <a:prstGeom prst="rect">
            <a:avLst/>
          </a:prstGeom>
          <a:noFill/>
        </p:spPr>
        <p:txBody>
          <a:bodyPr wrap="none" rtlCol="0">
            <a:spAutoFit/>
          </a:bodyPr>
          <a:lstStyle/>
          <a:p>
            <a:r>
              <a:rPr lang="en-US" dirty="0"/>
              <a:t>Write-through</a:t>
            </a:r>
            <a:endParaRPr lang="ru-RU" dirty="0"/>
          </a:p>
        </p:txBody>
      </p:sp>
      <p:sp>
        <p:nvSpPr>
          <p:cNvPr id="38" name="TextBox 37">
            <a:extLst>
              <a:ext uri="{FF2B5EF4-FFF2-40B4-BE49-F238E27FC236}">
                <a16:creationId xmlns:a16="http://schemas.microsoft.com/office/drawing/2014/main" id="{0A4CDDCC-4A17-070A-9776-C0D9C96EE762}"/>
              </a:ext>
            </a:extLst>
          </p:cNvPr>
          <p:cNvSpPr txBox="1"/>
          <p:nvPr/>
        </p:nvSpPr>
        <p:spPr>
          <a:xfrm>
            <a:off x="10450243" y="1688585"/>
            <a:ext cx="1210973" cy="369332"/>
          </a:xfrm>
          <a:prstGeom prst="rect">
            <a:avLst/>
          </a:prstGeom>
          <a:noFill/>
        </p:spPr>
        <p:txBody>
          <a:bodyPr wrap="none" rtlCol="0">
            <a:spAutoFit/>
          </a:bodyPr>
          <a:lstStyle/>
          <a:p>
            <a:r>
              <a:rPr lang="en-US" dirty="0"/>
              <a:t>Write-back</a:t>
            </a:r>
            <a:endParaRPr lang="ru-RU" dirty="0"/>
          </a:p>
        </p:txBody>
      </p:sp>
    </p:spTree>
    <p:extLst>
      <p:ext uri="{BB962C8B-B14F-4D97-AF65-F5344CB8AC3E}">
        <p14:creationId xmlns:p14="http://schemas.microsoft.com/office/powerpoint/2010/main" val="2022190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Уровни кэш-памяти</a:t>
            </a:r>
            <a:r>
              <a:rPr lang="en-US" dirty="0"/>
              <a:t>. </a:t>
            </a:r>
            <a:r>
              <a:rPr lang="ru-RU" dirty="0"/>
              <a:t>Кэш </a:t>
            </a:r>
            <a:r>
              <a:rPr lang="en-US" dirty="0"/>
              <a:t>L1</a:t>
            </a:r>
          </a:p>
        </p:txBody>
      </p:sp>
      <p:sp>
        <p:nvSpPr>
          <p:cNvPr id="3" name="Объект 2">
            <a:extLst>
              <a:ext uri="{FF2B5EF4-FFF2-40B4-BE49-F238E27FC236}">
                <a16:creationId xmlns:a16="http://schemas.microsoft.com/office/drawing/2014/main" id="{60DA4387-9D83-4785-AE5C-AF82D6401FEF}"/>
              </a:ext>
            </a:extLst>
          </p:cNvPr>
          <p:cNvSpPr>
            <a:spLocks noGrp="1"/>
          </p:cNvSpPr>
          <p:nvPr>
            <p:ph idx="1"/>
          </p:nvPr>
        </p:nvSpPr>
        <p:spPr>
          <a:xfrm>
            <a:off x="838200" y="1402887"/>
            <a:ext cx="5995369" cy="5089987"/>
          </a:xfrm>
        </p:spPr>
        <p:txBody>
          <a:bodyPr>
            <a:normAutofit lnSpcReduction="10000"/>
          </a:bodyPr>
          <a:lstStyle/>
          <a:p>
            <a:pPr marL="0" indent="0">
              <a:buNone/>
            </a:pPr>
            <a:r>
              <a:rPr lang="ru-RU" sz="2000" dirty="0"/>
              <a:t>В современных процессорах используется </a:t>
            </a:r>
            <a:r>
              <a:rPr lang="ru-RU" sz="2000" b="1" dirty="0"/>
              <a:t>несколько уровней кэша</a:t>
            </a:r>
            <a:r>
              <a:rPr lang="ru-RU" sz="2000" dirty="0"/>
              <a:t>. Чем меньше уровень кэша, тем меньше его объем и тем выше его производительность.</a:t>
            </a:r>
            <a:endParaRPr lang="en-US" sz="2000" b="1" dirty="0"/>
          </a:p>
          <a:p>
            <a:pPr marL="0" indent="0">
              <a:buNone/>
            </a:pPr>
            <a:r>
              <a:rPr lang="ru-RU" sz="2000" b="1" dirty="0"/>
              <a:t>Кэш </a:t>
            </a:r>
            <a:r>
              <a:rPr lang="en-US" sz="2000" b="1" dirty="0"/>
              <a:t>L1 </a:t>
            </a:r>
            <a:r>
              <a:rPr lang="ru-RU" sz="2000" dirty="0"/>
              <a:t>по производительности немногим уступает регистрам (задержка около 5 тактов). </a:t>
            </a:r>
          </a:p>
          <a:p>
            <a:pPr marL="0" indent="0">
              <a:buNone/>
            </a:pPr>
            <a:r>
              <a:rPr lang="ru-RU" sz="2000" dirty="0"/>
              <a:t>Типичный объем – 64 Кбайт на 1 ядро процессора.</a:t>
            </a:r>
          </a:p>
          <a:p>
            <a:pPr marL="0" indent="0">
              <a:buNone/>
            </a:pPr>
            <a:r>
              <a:rPr lang="ru-RU" sz="2000" dirty="0"/>
              <a:t>Кэш уровня </a:t>
            </a:r>
            <a:r>
              <a:rPr lang="en-US" sz="2000" dirty="0"/>
              <a:t>L1</a:t>
            </a:r>
            <a:r>
              <a:rPr lang="ru-RU" sz="2000" dirty="0"/>
              <a:t> состоит из 2 частей: </a:t>
            </a:r>
            <a:r>
              <a:rPr lang="ru-RU" sz="2000" b="1" dirty="0"/>
              <a:t>кэша инструкций </a:t>
            </a:r>
            <a:r>
              <a:rPr lang="ru-RU" sz="2000" dirty="0"/>
              <a:t>(</a:t>
            </a:r>
            <a:r>
              <a:rPr lang="en-US" sz="2000" dirty="0"/>
              <a:t>L1I</a:t>
            </a:r>
            <a:r>
              <a:rPr lang="ru-RU" sz="2000" dirty="0"/>
              <a:t>)</a:t>
            </a:r>
            <a:r>
              <a:rPr lang="en-US" sz="2000" dirty="0"/>
              <a:t> </a:t>
            </a:r>
            <a:r>
              <a:rPr lang="ru-RU" sz="2000" dirty="0"/>
              <a:t>и </a:t>
            </a:r>
            <a:r>
              <a:rPr lang="ru-RU" sz="2000" b="1" dirty="0"/>
              <a:t>кэша данных </a:t>
            </a:r>
            <a:r>
              <a:rPr lang="en-US" sz="2000" dirty="0"/>
              <a:t>(L1D)</a:t>
            </a:r>
            <a:r>
              <a:rPr lang="ru-RU" sz="2000" dirty="0"/>
              <a:t>. </a:t>
            </a:r>
          </a:p>
          <a:p>
            <a:pPr marL="0" indent="0">
              <a:buNone/>
            </a:pPr>
            <a:r>
              <a:rPr lang="ru-RU" sz="2000" dirty="0"/>
              <a:t>При таком разделении память с инструкциями программы не будет вытесняться из кэша при интенсивном чтении данных.</a:t>
            </a:r>
          </a:p>
          <a:p>
            <a:pPr marL="0" indent="0">
              <a:buNone/>
            </a:pPr>
            <a:r>
              <a:rPr lang="ru-RU" sz="2000" dirty="0"/>
              <a:t>Т.к. инструкции тоже подвергаются кэшированию, </a:t>
            </a:r>
            <a:r>
              <a:rPr lang="ru-RU" sz="2000" i="1" dirty="0"/>
              <a:t>код с высокой локальностью исполняется быстрее.</a:t>
            </a:r>
          </a:p>
          <a:p>
            <a:pPr marL="0" indent="0">
              <a:buNone/>
            </a:pPr>
            <a:r>
              <a:rPr lang="ru-RU" sz="2000" dirty="0"/>
              <a:t>По этой же причине компиляторы используют более короткие инструкции, если возможно </a:t>
            </a:r>
            <a:r>
              <a:rPr lang="en-US" sz="2000" dirty="0"/>
              <a:t>(</a:t>
            </a:r>
            <a:r>
              <a:rPr lang="en-US" sz="2000" i="1" dirty="0" err="1"/>
              <a:t>xor</a:t>
            </a:r>
            <a:r>
              <a:rPr lang="en-US" sz="2000" i="1" dirty="0"/>
              <a:t> </a:t>
            </a:r>
            <a:r>
              <a:rPr lang="en-US" sz="2000" i="1" dirty="0" err="1"/>
              <a:t>eax</a:t>
            </a:r>
            <a:r>
              <a:rPr lang="en-US" sz="2000" i="1" dirty="0"/>
              <a:t>, </a:t>
            </a:r>
            <a:r>
              <a:rPr lang="en-US" sz="2000" i="1" dirty="0" err="1"/>
              <a:t>eax</a:t>
            </a:r>
            <a:r>
              <a:rPr lang="en-US" sz="2000" dirty="0"/>
              <a:t> </a:t>
            </a:r>
            <a:r>
              <a:rPr lang="ru-RU" sz="2000" dirty="0"/>
              <a:t>вместо</a:t>
            </a:r>
            <a:r>
              <a:rPr lang="en-US" sz="2000" dirty="0"/>
              <a:t> </a:t>
            </a:r>
            <a:r>
              <a:rPr lang="en-US" sz="2000" i="1" dirty="0" err="1"/>
              <a:t>xor</a:t>
            </a:r>
            <a:r>
              <a:rPr lang="en-US" sz="2000" i="1" dirty="0"/>
              <a:t> </a:t>
            </a:r>
            <a:r>
              <a:rPr lang="en-US" sz="2000" i="1" dirty="0" err="1"/>
              <a:t>rax</a:t>
            </a:r>
            <a:r>
              <a:rPr lang="en-US" sz="2000" i="1" dirty="0"/>
              <a:t>, </a:t>
            </a:r>
            <a:r>
              <a:rPr lang="en-US" sz="2000" i="1" dirty="0" err="1"/>
              <a:t>rax</a:t>
            </a:r>
            <a:r>
              <a:rPr lang="en-US" sz="2000" i="1" dirty="0"/>
              <a:t> </a:t>
            </a:r>
            <a:r>
              <a:rPr lang="ru-RU" sz="2000" dirty="0"/>
              <a:t>или </a:t>
            </a:r>
            <a:r>
              <a:rPr lang="en-US" sz="2000" i="1" dirty="0"/>
              <a:t>mov </a:t>
            </a:r>
            <a:r>
              <a:rPr lang="en-US" sz="2000" i="1" dirty="0" err="1"/>
              <a:t>eax</a:t>
            </a:r>
            <a:r>
              <a:rPr lang="en-US" sz="2000" i="1" dirty="0"/>
              <a:t>, 0</a:t>
            </a:r>
            <a:r>
              <a:rPr lang="ru-RU" sz="2000" dirty="0"/>
              <a:t>)</a:t>
            </a:r>
            <a:endParaRPr lang="en-US" sz="2000"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9</a:t>
            </a:fld>
            <a:endParaRPr lang="en-US"/>
          </a:p>
        </p:txBody>
      </p:sp>
      <p:sp>
        <p:nvSpPr>
          <p:cNvPr id="6" name="Прямоугольник 5">
            <a:extLst>
              <a:ext uri="{FF2B5EF4-FFF2-40B4-BE49-F238E27FC236}">
                <a16:creationId xmlns:a16="http://schemas.microsoft.com/office/drawing/2014/main" id="{9279207E-8327-427F-B575-1EB449A574A2}"/>
              </a:ext>
            </a:extLst>
          </p:cNvPr>
          <p:cNvSpPr/>
          <p:nvPr/>
        </p:nvSpPr>
        <p:spPr>
          <a:xfrm>
            <a:off x="9104634" y="1402888"/>
            <a:ext cx="1139736"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sp>
        <p:nvSpPr>
          <p:cNvPr id="7" name="Прямоугольник 6">
            <a:extLst>
              <a:ext uri="{FF2B5EF4-FFF2-40B4-BE49-F238E27FC236}">
                <a16:creationId xmlns:a16="http://schemas.microsoft.com/office/drawing/2014/main" id="{B97D6147-65DF-40E1-A4E3-67751B528A5C}"/>
              </a:ext>
            </a:extLst>
          </p:cNvPr>
          <p:cNvSpPr/>
          <p:nvPr/>
        </p:nvSpPr>
        <p:spPr>
          <a:xfrm>
            <a:off x="7392241" y="5050406"/>
            <a:ext cx="4583763" cy="786914"/>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ОЗУ</a:t>
            </a:r>
            <a:endParaRPr lang="en-US" dirty="0"/>
          </a:p>
        </p:txBody>
      </p:sp>
      <p:sp>
        <p:nvSpPr>
          <p:cNvPr id="8" name="Стрелка: вверх-вниз 7">
            <a:extLst>
              <a:ext uri="{FF2B5EF4-FFF2-40B4-BE49-F238E27FC236}">
                <a16:creationId xmlns:a16="http://schemas.microsoft.com/office/drawing/2014/main" id="{2E751CB8-4028-41F6-A124-00FF1F0D6214}"/>
              </a:ext>
            </a:extLst>
          </p:cNvPr>
          <p:cNvSpPr/>
          <p:nvPr/>
        </p:nvSpPr>
        <p:spPr>
          <a:xfrm>
            <a:off x="9564775" y="1779431"/>
            <a:ext cx="238697" cy="37395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Прямоугольник 8">
            <a:extLst>
              <a:ext uri="{FF2B5EF4-FFF2-40B4-BE49-F238E27FC236}">
                <a16:creationId xmlns:a16="http://schemas.microsoft.com/office/drawing/2014/main" id="{234C5D69-E598-44EE-9814-1090A1B624D9}"/>
              </a:ext>
            </a:extLst>
          </p:cNvPr>
          <p:cNvSpPr/>
          <p:nvPr/>
        </p:nvSpPr>
        <p:spPr>
          <a:xfrm>
            <a:off x="8690208" y="2157329"/>
            <a:ext cx="984294" cy="371271"/>
          </a:xfrm>
          <a:prstGeom prst="rect">
            <a:avLst/>
          </a:prstGeom>
          <a:solidFill>
            <a:srgbClr val="53D2FF"/>
          </a:solidFill>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ru-RU" dirty="0"/>
              <a:t>Кэш </a:t>
            </a:r>
            <a:r>
              <a:rPr lang="en-US" dirty="0"/>
              <a:t>L1D</a:t>
            </a:r>
          </a:p>
        </p:txBody>
      </p:sp>
      <p:sp>
        <p:nvSpPr>
          <p:cNvPr id="10" name="Прямоугольник 9">
            <a:extLst>
              <a:ext uri="{FF2B5EF4-FFF2-40B4-BE49-F238E27FC236}">
                <a16:creationId xmlns:a16="http://schemas.microsoft.com/office/drawing/2014/main" id="{5AA7453F-5A1F-4222-85B8-F7C215B79489}"/>
              </a:ext>
            </a:extLst>
          </p:cNvPr>
          <p:cNvSpPr/>
          <p:nvPr/>
        </p:nvSpPr>
        <p:spPr>
          <a:xfrm>
            <a:off x="9684124" y="2156332"/>
            <a:ext cx="984294" cy="371271"/>
          </a:xfrm>
          <a:prstGeom prst="rect">
            <a:avLst/>
          </a:prstGeom>
          <a:solidFill>
            <a:srgbClr val="53D2FF"/>
          </a:solidFill>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ru-RU" dirty="0"/>
              <a:t>Кэш </a:t>
            </a:r>
            <a:r>
              <a:rPr lang="en-US" dirty="0"/>
              <a:t>L1I</a:t>
            </a:r>
          </a:p>
        </p:txBody>
      </p:sp>
      <p:sp>
        <p:nvSpPr>
          <p:cNvPr id="11" name="Прямоугольник 10">
            <a:extLst>
              <a:ext uri="{FF2B5EF4-FFF2-40B4-BE49-F238E27FC236}">
                <a16:creationId xmlns:a16="http://schemas.microsoft.com/office/drawing/2014/main" id="{030EB7CF-15E5-46F6-96EF-6660531B03B7}"/>
              </a:ext>
            </a:extLst>
          </p:cNvPr>
          <p:cNvSpPr/>
          <p:nvPr/>
        </p:nvSpPr>
        <p:spPr>
          <a:xfrm>
            <a:off x="8305561" y="2905391"/>
            <a:ext cx="2743200" cy="47552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Кэш </a:t>
            </a:r>
            <a:r>
              <a:rPr lang="en-US" dirty="0"/>
              <a:t>L2</a:t>
            </a:r>
          </a:p>
        </p:txBody>
      </p:sp>
      <p:sp>
        <p:nvSpPr>
          <p:cNvPr id="12" name="Стрелка: вверх-вниз 11">
            <a:extLst>
              <a:ext uri="{FF2B5EF4-FFF2-40B4-BE49-F238E27FC236}">
                <a16:creationId xmlns:a16="http://schemas.microsoft.com/office/drawing/2014/main" id="{BF8206A4-15DB-4589-8356-623937089B28}"/>
              </a:ext>
            </a:extLst>
          </p:cNvPr>
          <p:cNvSpPr/>
          <p:nvPr/>
        </p:nvSpPr>
        <p:spPr>
          <a:xfrm>
            <a:off x="9557813" y="2537320"/>
            <a:ext cx="238697" cy="36512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Прямоугольник 12">
            <a:extLst>
              <a:ext uri="{FF2B5EF4-FFF2-40B4-BE49-F238E27FC236}">
                <a16:creationId xmlns:a16="http://schemas.microsoft.com/office/drawing/2014/main" id="{7A083A3D-9E14-41AD-86F0-E6BDB63CC2D8}"/>
              </a:ext>
            </a:extLst>
          </p:cNvPr>
          <p:cNvSpPr/>
          <p:nvPr/>
        </p:nvSpPr>
        <p:spPr>
          <a:xfrm>
            <a:off x="8004313" y="3764225"/>
            <a:ext cx="3349487" cy="922636"/>
          </a:xfrm>
          <a:prstGeom prst="rect">
            <a:avLst/>
          </a:prstGeom>
          <a:solidFill>
            <a:schemeClr val="accent5">
              <a:lumMod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Кэш </a:t>
            </a:r>
            <a:r>
              <a:rPr lang="en-US" dirty="0"/>
              <a:t>L3</a:t>
            </a:r>
          </a:p>
        </p:txBody>
      </p:sp>
      <p:sp>
        <p:nvSpPr>
          <p:cNvPr id="14" name="Стрелка: вверх-вниз 13">
            <a:extLst>
              <a:ext uri="{FF2B5EF4-FFF2-40B4-BE49-F238E27FC236}">
                <a16:creationId xmlns:a16="http://schemas.microsoft.com/office/drawing/2014/main" id="{DD57C4B1-8A61-4ABD-9374-5D0DA565652C}"/>
              </a:ext>
            </a:extLst>
          </p:cNvPr>
          <p:cNvSpPr/>
          <p:nvPr/>
        </p:nvSpPr>
        <p:spPr>
          <a:xfrm>
            <a:off x="9557813" y="3380917"/>
            <a:ext cx="238697" cy="36512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Стрелка: вверх-вниз 14">
            <a:extLst>
              <a:ext uri="{FF2B5EF4-FFF2-40B4-BE49-F238E27FC236}">
                <a16:creationId xmlns:a16="http://schemas.microsoft.com/office/drawing/2014/main" id="{8611944D-8688-459B-8A28-E74F31CEF2DE}"/>
              </a:ext>
            </a:extLst>
          </p:cNvPr>
          <p:cNvSpPr/>
          <p:nvPr/>
        </p:nvSpPr>
        <p:spPr>
          <a:xfrm>
            <a:off x="9564775" y="4686846"/>
            <a:ext cx="238697" cy="36512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Прямоугольник 15">
            <a:extLst>
              <a:ext uri="{FF2B5EF4-FFF2-40B4-BE49-F238E27FC236}">
                <a16:creationId xmlns:a16="http://schemas.microsoft.com/office/drawing/2014/main" id="{DADF2912-93A5-4D09-A664-D51323D72D31}"/>
              </a:ext>
            </a:extLst>
          </p:cNvPr>
          <p:cNvSpPr/>
          <p:nvPr/>
        </p:nvSpPr>
        <p:spPr>
          <a:xfrm>
            <a:off x="8305561" y="2018289"/>
            <a:ext cx="2743200" cy="610623"/>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B824AFF2-8758-63D9-9E90-D6F82CB62B1B}"/>
              </a:ext>
            </a:extLst>
          </p:cNvPr>
          <p:cNvSpPr txBox="1"/>
          <p:nvPr/>
        </p:nvSpPr>
        <p:spPr>
          <a:xfrm>
            <a:off x="838200" y="6492874"/>
            <a:ext cx="7852008" cy="338554"/>
          </a:xfrm>
          <a:prstGeom prst="rect">
            <a:avLst/>
          </a:prstGeom>
          <a:noFill/>
        </p:spPr>
        <p:txBody>
          <a:bodyPr wrap="square" rtlCol="0">
            <a:spAutoFit/>
          </a:bodyPr>
          <a:lstStyle/>
          <a:p>
            <a:r>
              <a:rPr lang="ru-RU" sz="1600" dirty="0"/>
              <a:t>См. также: ассоциативность кэша, </a:t>
            </a:r>
            <a:r>
              <a:rPr lang="ru-RU" sz="1600" dirty="0" err="1"/>
              <a:t>виктимный</a:t>
            </a:r>
            <a:r>
              <a:rPr lang="ru-RU" sz="1600" dirty="0"/>
              <a:t> кэш, атрибуты </a:t>
            </a:r>
            <a:r>
              <a:rPr lang="en-US" sz="1600" dirty="0"/>
              <a:t>[[likely]] </a:t>
            </a:r>
            <a:r>
              <a:rPr lang="ru-RU" sz="1600" dirty="0"/>
              <a:t>и </a:t>
            </a:r>
            <a:r>
              <a:rPr lang="en-US" sz="1600" dirty="0"/>
              <a:t>[[unlikely]]</a:t>
            </a:r>
            <a:endParaRPr lang="ru-RU" sz="1600" dirty="0"/>
          </a:p>
        </p:txBody>
      </p:sp>
    </p:spTree>
    <p:extLst>
      <p:ext uri="{BB962C8B-B14F-4D97-AF65-F5344CB8AC3E}">
        <p14:creationId xmlns:p14="http://schemas.microsoft.com/office/powerpoint/2010/main" val="3209456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Кэши </a:t>
            </a:r>
            <a:r>
              <a:rPr lang="en-US" dirty="0"/>
              <a:t>L</a:t>
            </a:r>
            <a:r>
              <a:rPr lang="ru-RU" dirty="0"/>
              <a:t>2 и </a:t>
            </a:r>
            <a:r>
              <a:rPr lang="en-US" dirty="0"/>
              <a:t>L3</a:t>
            </a:r>
          </a:p>
        </p:txBody>
      </p:sp>
      <p:sp>
        <p:nvSpPr>
          <p:cNvPr id="3" name="Объект 2">
            <a:extLst>
              <a:ext uri="{FF2B5EF4-FFF2-40B4-BE49-F238E27FC236}">
                <a16:creationId xmlns:a16="http://schemas.microsoft.com/office/drawing/2014/main" id="{60DA4387-9D83-4785-AE5C-AF82D6401FEF}"/>
              </a:ext>
            </a:extLst>
          </p:cNvPr>
          <p:cNvSpPr>
            <a:spLocks noGrp="1"/>
          </p:cNvSpPr>
          <p:nvPr>
            <p:ph idx="1"/>
          </p:nvPr>
        </p:nvSpPr>
        <p:spPr>
          <a:xfrm>
            <a:off x="838200" y="1825625"/>
            <a:ext cx="5995369" cy="4351338"/>
          </a:xfrm>
        </p:spPr>
        <p:txBody>
          <a:bodyPr>
            <a:normAutofit/>
          </a:bodyPr>
          <a:lstStyle/>
          <a:p>
            <a:pPr marL="0" indent="0">
              <a:buNone/>
            </a:pPr>
            <a:r>
              <a:rPr lang="ru-RU" sz="2000" b="1" dirty="0"/>
              <a:t>Кэш </a:t>
            </a:r>
            <a:r>
              <a:rPr lang="en-US" sz="2000" b="1" dirty="0"/>
              <a:t>L2</a:t>
            </a:r>
            <a:r>
              <a:rPr lang="ru-RU" sz="2000" b="1" dirty="0"/>
              <a:t> </a:t>
            </a:r>
            <a:r>
              <a:rPr lang="ru-RU" sz="2000" dirty="0"/>
              <a:t>в современных процессорах </a:t>
            </a:r>
            <a:r>
              <a:rPr lang="en-US" sz="2000" dirty="0"/>
              <a:t> </a:t>
            </a:r>
            <a:r>
              <a:rPr lang="ru-RU" sz="2000" dirty="0"/>
              <a:t>имеет объем 256-1024 Кбайт </a:t>
            </a:r>
            <a:r>
              <a:rPr lang="ru-RU" sz="2000" i="1" dirty="0"/>
              <a:t>на ядро </a:t>
            </a:r>
            <a:r>
              <a:rPr lang="ru-RU" sz="2000" dirty="0"/>
              <a:t>процессора. </a:t>
            </a:r>
          </a:p>
          <a:p>
            <a:pPr marL="0" indent="0">
              <a:buNone/>
            </a:pPr>
            <a:r>
              <a:rPr lang="ru-RU" sz="2000" dirty="0"/>
              <a:t>Задержка доступа – 10-12 тактов.</a:t>
            </a:r>
            <a:endParaRPr lang="en-US" sz="2000" dirty="0"/>
          </a:p>
          <a:p>
            <a:pPr marL="0" indent="0">
              <a:buNone/>
            </a:pPr>
            <a:endParaRPr lang="ru-RU" sz="2000" dirty="0"/>
          </a:p>
          <a:p>
            <a:pPr marL="0" indent="0">
              <a:buNone/>
            </a:pPr>
            <a:r>
              <a:rPr lang="ru-RU" sz="2000" b="1" dirty="0"/>
              <a:t>Кэш</a:t>
            </a:r>
            <a:r>
              <a:rPr lang="en-US" sz="2000" b="1" dirty="0"/>
              <a:t> L3 </a:t>
            </a:r>
            <a:r>
              <a:rPr lang="ru-RU" sz="2000" b="1" dirty="0"/>
              <a:t> </a:t>
            </a:r>
            <a:r>
              <a:rPr lang="ru-RU" sz="2000" dirty="0"/>
              <a:t>- общий либо для всех ядер, либо для группы ядер, и имеет размер</a:t>
            </a:r>
            <a:r>
              <a:rPr lang="en-US" sz="2000" dirty="0"/>
              <a:t> </a:t>
            </a:r>
            <a:r>
              <a:rPr lang="ru-RU" sz="2000" dirty="0"/>
              <a:t>1-128 МБ.</a:t>
            </a:r>
          </a:p>
          <a:p>
            <a:pPr marL="0" indent="0">
              <a:buNone/>
            </a:pPr>
            <a:r>
              <a:rPr lang="ru-RU" sz="2000" dirty="0"/>
              <a:t>Задержка доступа – 30-40 тактов.</a:t>
            </a:r>
            <a:endParaRPr lang="en-US" sz="2000" dirty="0"/>
          </a:p>
          <a:p>
            <a:pPr marL="0" indent="0">
              <a:buNone/>
            </a:pPr>
            <a:endParaRPr lang="en-US" sz="2000" dirty="0"/>
          </a:p>
          <a:p>
            <a:pPr marL="0" indent="0">
              <a:buNone/>
            </a:pPr>
            <a:endParaRPr lang="ru-RU" sz="2000"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10</a:t>
            </a:fld>
            <a:endParaRPr lang="en-US"/>
          </a:p>
        </p:txBody>
      </p:sp>
      <p:sp>
        <p:nvSpPr>
          <p:cNvPr id="6" name="Прямоугольник 5">
            <a:extLst>
              <a:ext uri="{FF2B5EF4-FFF2-40B4-BE49-F238E27FC236}">
                <a16:creationId xmlns:a16="http://schemas.microsoft.com/office/drawing/2014/main" id="{9BBDCE5B-FD01-4813-BD47-480F61F5DE57}"/>
              </a:ext>
            </a:extLst>
          </p:cNvPr>
          <p:cNvSpPr/>
          <p:nvPr/>
        </p:nvSpPr>
        <p:spPr>
          <a:xfrm>
            <a:off x="9104634" y="1402888"/>
            <a:ext cx="1139736" cy="36512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Регистры</a:t>
            </a:r>
            <a:endParaRPr lang="en-US" dirty="0"/>
          </a:p>
        </p:txBody>
      </p:sp>
      <p:sp>
        <p:nvSpPr>
          <p:cNvPr id="7" name="Прямоугольник 6">
            <a:extLst>
              <a:ext uri="{FF2B5EF4-FFF2-40B4-BE49-F238E27FC236}">
                <a16:creationId xmlns:a16="http://schemas.microsoft.com/office/drawing/2014/main" id="{A3E4E0EE-D5EA-4B64-A966-D31A2FAE7E54}"/>
              </a:ext>
            </a:extLst>
          </p:cNvPr>
          <p:cNvSpPr/>
          <p:nvPr/>
        </p:nvSpPr>
        <p:spPr>
          <a:xfrm>
            <a:off x="7392241" y="5050406"/>
            <a:ext cx="4583763" cy="786914"/>
          </a:xfrm>
          <a:prstGeom prst="rect">
            <a:avLst/>
          </a:prstGeom>
          <a:solidFill>
            <a:srgbClr val="C0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ОЗУ</a:t>
            </a:r>
            <a:endParaRPr lang="en-US" dirty="0"/>
          </a:p>
        </p:txBody>
      </p:sp>
      <p:sp>
        <p:nvSpPr>
          <p:cNvPr id="8" name="Стрелка: вверх-вниз 7">
            <a:extLst>
              <a:ext uri="{FF2B5EF4-FFF2-40B4-BE49-F238E27FC236}">
                <a16:creationId xmlns:a16="http://schemas.microsoft.com/office/drawing/2014/main" id="{F3DE2373-11BD-4514-BEBC-EF3E9B10AF58}"/>
              </a:ext>
            </a:extLst>
          </p:cNvPr>
          <p:cNvSpPr/>
          <p:nvPr/>
        </p:nvSpPr>
        <p:spPr>
          <a:xfrm>
            <a:off x="9564775" y="1779431"/>
            <a:ext cx="238697" cy="37395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Прямоугольник 8">
            <a:extLst>
              <a:ext uri="{FF2B5EF4-FFF2-40B4-BE49-F238E27FC236}">
                <a16:creationId xmlns:a16="http://schemas.microsoft.com/office/drawing/2014/main" id="{7A6C3179-53D2-401A-8EE8-16D8D54C0FAE}"/>
              </a:ext>
            </a:extLst>
          </p:cNvPr>
          <p:cNvSpPr/>
          <p:nvPr/>
        </p:nvSpPr>
        <p:spPr>
          <a:xfrm>
            <a:off x="8690208" y="2157329"/>
            <a:ext cx="984294" cy="371271"/>
          </a:xfrm>
          <a:prstGeom prst="rect">
            <a:avLst/>
          </a:prstGeom>
          <a:solidFill>
            <a:srgbClr val="53D2FF"/>
          </a:solidFill>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ru-RU" dirty="0"/>
              <a:t>Кэш </a:t>
            </a:r>
            <a:r>
              <a:rPr lang="en-US" dirty="0"/>
              <a:t>L1D</a:t>
            </a:r>
          </a:p>
        </p:txBody>
      </p:sp>
      <p:sp>
        <p:nvSpPr>
          <p:cNvPr id="10" name="Прямоугольник 9">
            <a:extLst>
              <a:ext uri="{FF2B5EF4-FFF2-40B4-BE49-F238E27FC236}">
                <a16:creationId xmlns:a16="http://schemas.microsoft.com/office/drawing/2014/main" id="{94A425BE-91D8-4325-A491-E045CAC87DB5}"/>
              </a:ext>
            </a:extLst>
          </p:cNvPr>
          <p:cNvSpPr/>
          <p:nvPr/>
        </p:nvSpPr>
        <p:spPr>
          <a:xfrm>
            <a:off x="9684124" y="2156332"/>
            <a:ext cx="984294" cy="371271"/>
          </a:xfrm>
          <a:prstGeom prst="rect">
            <a:avLst/>
          </a:prstGeom>
          <a:solidFill>
            <a:srgbClr val="53D2FF"/>
          </a:solidFill>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ru-RU" dirty="0"/>
              <a:t>Кэш </a:t>
            </a:r>
            <a:r>
              <a:rPr lang="en-US" dirty="0"/>
              <a:t>L1I</a:t>
            </a:r>
          </a:p>
        </p:txBody>
      </p:sp>
      <p:sp>
        <p:nvSpPr>
          <p:cNvPr id="11" name="Прямоугольник 10">
            <a:extLst>
              <a:ext uri="{FF2B5EF4-FFF2-40B4-BE49-F238E27FC236}">
                <a16:creationId xmlns:a16="http://schemas.microsoft.com/office/drawing/2014/main" id="{278ED84F-2779-4B5E-9A37-5ACADAD9FBEA}"/>
              </a:ext>
            </a:extLst>
          </p:cNvPr>
          <p:cNvSpPr/>
          <p:nvPr/>
        </p:nvSpPr>
        <p:spPr>
          <a:xfrm>
            <a:off x="8305561" y="2905391"/>
            <a:ext cx="2743200" cy="47552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Кэш </a:t>
            </a:r>
            <a:r>
              <a:rPr lang="en-US" dirty="0"/>
              <a:t>L2</a:t>
            </a:r>
          </a:p>
        </p:txBody>
      </p:sp>
      <p:sp>
        <p:nvSpPr>
          <p:cNvPr id="12" name="Стрелка: вверх-вниз 11">
            <a:extLst>
              <a:ext uri="{FF2B5EF4-FFF2-40B4-BE49-F238E27FC236}">
                <a16:creationId xmlns:a16="http://schemas.microsoft.com/office/drawing/2014/main" id="{AC99FB8C-08A3-44A1-AF69-EFAD682E83F6}"/>
              </a:ext>
            </a:extLst>
          </p:cNvPr>
          <p:cNvSpPr/>
          <p:nvPr/>
        </p:nvSpPr>
        <p:spPr>
          <a:xfrm>
            <a:off x="9557813" y="2537320"/>
            <a:ext cx="238697" cy="36512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Прямоугольник 12">
            <a:extLst>
              <a:ext uri="{FF2B5EF4-FFF2-40B4-BE49-F238E27FC236}">
                <a16:creationId xmlns:a16="http://schemas.microsoft.com/office/drawing/2014/main" id="{3C4BB8F4-2244-4EDB-926E-0BE6F9914C9D}"/>
              </a:ext>
            </a:extLst>
          </p:cNvPr>
          <p:cNvSpPr/>
          <p:nvPr/>
        </p:nvSpPr>
        <p:spPr>
          <a:xfrm>
            <a:off x="8004313" y="3764225"/>
            <a:ext cx="3349487" cy="922636"/>
          </a:xfrm>
          <a:prstGeom prst="rect">
            <a:avLst/>
          </a:prstGeom>
          <a:solidFill>
            <a:schemeClr val="accent5">
              <a:lumMod val="5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a:t>Кэш </a:t>
            </a:r>
            <a:r>
              <a:rPr lang="en-US" dirty="0"/>
              <a:t>L3</a:t>
            </a:r>
          </a:p>
        </p:txBody>
      </p:sp>
      <p:sp>
        <p:nvSpPr>
          <p:cNvPr id="14" name="Стрелка: вверх-вниз 13">
            <a:extLst>
              <a:ext uri="{FF2B5EF4-FFF2-40B4-BE49-F238E27FC236}">
                <a16:creationId xmlns:a16="http://schemas.microsoft.com/office/drawing/2014/main" id="{91082736-DAEA-4545-A4BA-209479D9798E}"/>
              </a:ext>
            </a:extLst>
          </p:cNvPr>
          <p:cNvSpPr/>
          <p:nvPr/>
        </p:nvSpPr>
        <p:spPr>
          <a:xfrm>
            <a:off x="9557813" y="3380917"/>
            <a:ext cx="238697" cy="36512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Стрелка: вверх-вниз 14">
            <a:extLst>
              <a:ext uri="{FF2B5EF4-FFF2-40B4-BE49-F238E27FC236}">
                <a16:creationId xmlns:a16="http://schemas.microsoft.com/office/drawing/2014/main" id="{06D2675D-6F23-4AD1-AC41-17A8EF9B79B0}"/>
              </a:ext>
            </a:extLst>
          </p:cNvPr>
          <p:cNvSpPr/>
          <p:nvPr/>
        </p:nvSpPr>
        <p:spPr>
          <a:xfrm>
            <a:off x="9564775" y="4686846"/>
            <a:ext cx="238697" cy="365126"/>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Прямоугольник 15">
            <a:extLst>
              <a:ext uri="{FF2B5EF4-FFF2-40B4-BE49-F238E27FC236}">
                <a16:creationId xmlns:a16="http://schemas.microsoft.com/office/drawing/2014/main" id="{B6DBF360-7E12-4AB2-8E3C-96BB17B31403}"/>
              </a:ext>
            </a:extLst>
          </p:cNvPr>
          <p:cNvSpPr/>
          <p:nvPr/>
        </p:nvSpPr>
        <p:spPr>
          <a:xfrm>
            <a:off x="7810754" y="2767349"/>
            <a:ext cx="3728575" cy="2112764"/>
          </a:xfrm>
          <a:prstGeom prst="rect">
            <a:avLst/>
          </a:prstGeom>
          <a:noFill/>
          <a:ln w="1905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19994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Кэш-память</a:t>
            </a:r>
            <a:endParaRPr lang="en-US"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11</a:t>
            </a:fld>
            <a:endParaRPr lang="en-US"/>
          </a:p>
        </p:txBody>
      </p:sp>
      <p:pic>
        <p:nvPicPr>
          <p:cNvPr id="11" name="Рисунок 10">
            <a:extLst>
              <a:ext uri="{FF2B5EF4-FFF2-40B4-BE49-F238E27FC236}">
                <a16:creationId xmlns:a16="http://schemas.microsoft.com/office/drawing/2014/main" id="{C577509B-A8FF-425F-A587-2865D22D5374}"/>
              </a:ext>
            </a:extLst>
          </p:cNvPr>
          <p:cNvPicPr>
            <a:picLocks noChangeAspect="1"/>
          </p:cNvPicPr>
          <p:nvPr/>
        </p:nvPicPr>
        <p:blipFill rotWithShape="1">
          <a:blip r:embed="rId2"/>
          <a:srcRect l="97" t="2" r="-97" b="24591"/>
          <a:stretch/>
        </p:blipFill>
        <p:spPr>
          <a:xfrm>
            <a:off x="326450" y="1690688"/>
            <a:ext cx="5370913" cy="3893784"/>
          </a:xfrm>
          <a:prstGeom prst="rect">
            <a:avLst/>
          </a:prstGeom>
        </p:spPr>
      </p:pic>
      <p:pic>
        <p:nvPicPr>
          <p:cNvPr id="6" name="Рисунок 5">
            <a:extLst>
              <a:ext uri="{FF2B5EF4-FFF2-40B4-BE49-F238E27FC236}">
                <a16:creationId xmlns:a16="http://schemas.microsoft.com/office/drawing/2014/main" id="{AC42FE49-5E70-DD99-4524-659045BCCF47}"/>
              </a:ext>
            </a:extLst>
          </p:cNvPr>
          <p:cNvPicPr>
            <a:picLocks noChangeAspect="1"/>
          </p:cNvPicPr>
          <p:nvPr/>
        </p:nvPicPr>
        <p:blipFill rotWithShape="1">
          <a:blip r:embed="rId3"/>
          <a:srcRect b="1993"/>
          <a:stretch/>
        </p:blipFill>
        <p:spPr>
          <a:xfrm>
            <a:off x="6308243" y="1690688"/>
            <a:ext cx="5218739" cy="3794252"/>
          </a:xfrm>
          <a:prstGeom prst="rect">
            <a:avLst/>
          </a:prstGeom>
        </p:spPr>
      </p:pic>
    </p:spTree>
    <p:extLst>
      <p:ext uri="{BB962C8B-B14F-4D97-AF65-F5344CB8AC3E}">
        <p14:creationId xmlns:p14="http://schemas.microsoft.com/office/powerpoint/2010/main" val="143203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dirty="0"/>
              <a:t>Кэш-память </a:t>
            </a:r>
            <a:r>
              <a:rPr kumimoji="0" lang="ru-RU" sz="2400" b="0" i="0" u="none" strike="noStrike" kern="1200" cap="none" spc="0" normalizeH="0" baseline="0" noProof="0" dirty="0">
                <a:ln>
                  <a:noFill/>
                </a:ln>
                <a:solidFill>
                  <a:prstClr val="black"/>
                </a:solidFill>
                <a:effectLst/>
                <a:uLnTx/>
                <a:uFillTx/>
                <a:latin typeface="Calibri Light" panose="020F0302020204030204"/>
                <a:ea typeface="+mj-ea"/>
                <a:cs typeface="+mj-cs"/>
              </a:rPr>
              <a:t>(примеры)</a:t>
            </a:r>
            <a:endParaRPr lang="en-US"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a:xfrm>
            <a:off x="8610600" y="6356350"/>
            <a:ext cx="2743200" cy="365125"/>
          </a:xfrm>
        </p:spPr>
        <p:txBody>
          <a:bodyPr/>
          <a:lstStyle/>
          <a:p>
            <a:fld id="{B67FBA2B-964F-4C4D-AAF7-5A8399264638}" type="slidenum">
              <a:rPr lang="en-US" smtClean="0"/>
              <a:pPr/>
              <a:t>12</a:t>
            </a:fld>
            <a:endParaRPr lang="en-US"/>
          </a:p>
        </p:txBody>
      </p:sp>
      <p:sp>
        <p:nvSpPr>
          <p:cNvPr id="16" name="TextBox 15">
            <a:extLst>
              <a:ext uri="{FF2B5EF4-FFF2-40B4-BE49-F238E27FC236}">
                <a16:creationId xmlns:a16="http://schemas.microsoft.com/office/drawing/2014/main" id="{D755C87F-8A70-4E62-9727-DC25D03C46B2}"/>
              </a:ext>
            </a:extLst>
          </p:cNvPr>
          <p:cNvSpPr txBox="1"/>
          <p:nvPr/>
        </p:nvSpPr>
        <p:spPr>
          <a:xfrm>
            <a:off x="248920" y="1852610"/>
            <a:ext cx="5786120" cy="2308324"/>
          </a:xfrm>
          <a:prstGeom prst="rect">
            <a:avLst/>
          </a:prstGeom>
          <a:noFill/>
        </p:spPr>
        <p:txBody>
          <a:bodyPr wrap="square">
            <a:spAutoFit/>
          </a:bodyPr>
          <a:lstStyle/>
          <a:p>
            <a:r>
              <a:rPr lang="en-US" sz="1800" dirty="0">
                <a:solidFill>
                  <a:srgbClr val="0000FF"/>
                </a:solidFill>
                <a:latin typeface="Consolas" panose="020B0609020204030204" pitchFamily="49" charset="0"/>
              </a:rPr>
              <a:t>float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avg_by_row</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float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arr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rows</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 </a:t>
            </a:r>
            <a:r>
              <a:rPr lang="en-US" sz="1800" dirty="0">
                <a:solidFill>
                  <a:srgbClr val="808080"/>
                </a:solidFill>
                <a:latin typeface="Consolas" panose="020B0609020204030204" pitchFamily="49" charset="0"/>
              </a:rPr>
              <a:t>cols</a:t>
            </a:r>
            <a:r>
              <a:rPr lang="en-US" sz="1800" dirty="0">
                <a:solidFill>
                  <a:srgbClr val="000000"/>
                </a:solidFill>
                <a:latin typeface="Consolas" panose="020B0609020204030204" pitchFamily="49" charset="0"/>
              </a:rPr>
              <a:t>) {</a:t>
            </a:r>
          </a:p>
          <a:p>
            <a:pPr lvl="1"/>
            <a:r>
              <a:rPr lang="en-US" dirty="0">
                <a:solidFill>
                  <a:srgbClr val="0000FF"/>
                </a:solidFill>
                <a:latin typeface="Consolas" panose="020B0609020204030204" pitchFamily="49" charset="0"/>
              </a:rPr>
              <a:t>float</a:t>
            </a:r>
            <a:r>
              <a:rPr lang="en-US" dirty="0">
                <a:solidFill>
                  <a:srgbClr val="000000"/>
                </a:solidFill>
                <a:latin typeface="Consolas" panose="020B0609020204030204" pitchFamily="49" charset="0"/>
              </a:rPr>
              <a:t> result = 0;</a:t>
            </a:r>
          </a:p>
          <a:p>
            <a:pPr lvl="1"/>
            <a:r>
              <a:rPr lang="nn-NO" dirty="0">
                <a:solidFill>
                  <a:srgbClr val="0000FF"/>
                </a:solidFill>
                <a:latin typeface="Consolas" panose="020B0609020204030204" pitchFamily="49" charset="0"/>
              </a:rPr>
              <a:t>for</a:t>
            </a:r>
            <a:r>
              <a:rPr lang="nn-NO" dirty="0">
                <a:solidFill>
                  <a:srgbClr val="000000"/>
                </a:solidFill>
                <a:latin typeface="Consolas" panose="020B0609020204030204" pitchFamily="49" charset="0"/>
              </a:rPr>
              <a:t> (</a:t>
            </a:r>
            <a:r>
              <a:rPr lang="nn-NO" dirty="0">
                <a:solidFill>
                  <a:srgbClr val="0000FF"/>
                </a:solidFill>
                <a:latin typeface="Consolas" panose="020B0609020204030204" pitchFamily="49" charset="0"/>
              </a:rPr>
              <a:t>int</a:t>
            </a:r>
            <a:r>
              <a:rPr lang="nn-NO" dirty="0">
                <a:solidFill>
                  <a:srgbClr val="000000"/>
                </a:solidFill>
                <a:latin typeface="Consolas" panose="020B0609020204030204" pitchFamily="49" charset="0"/>
              </a:rPr>
              <a:t> i = 0; i &lt; </a:t>
            </a:r>
            <a:r>
              <a:rPr lang="nn-NO" dirty="0">
                <a:solidFill>
                  <a:srgbClr val="808080"/>
                </a:solidFill>
                <a:latin typeface="Consolas" panose="020B0609020204030204" pitchFamily="49" charset="0"/>
              </a:rPr>
              <a:t>rows</a:t>
            </a:r>
            <a:r>
              <a:rPr lang="nn-NO" dirty="0">
                <a:solidFill>
                  <a:srgbClr val="000000"/>
                </a:solidFill>
                <a:latin typeface="Consolas" panose="020B0609020204030204" pitchFamily="49" charset="0"/>
              </a:rPr>
              <a:t>; ++i)</a:t>
            </a:r>
          </a:p>
          <a:p>
            <a:pPr lvl="1"/>
            <a:r>
              <a:rPr lang="en-US" dirty="0">
                <a:solidFill>
                  <a:srgbClr val="0000FF"/>
                </a:solidFill>
                <a:latin typeface="Consolas" panose="020B0609020204030204" pitchFamily="49" charset="0"/>
              </a:rPr>
              <a:t>	for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 = 0; j &lt; </a:t>
            </a:r>
            <a:r>
              <a:rPr lang="en-US" dirty="0">
                <a:solidFill>
                  <a:srgbClr val="808080"/>
                </a:solidFill>
                <a:latin typeface="Consolas" panose="020B0609020204030204" pitchFamily="49" charset="0"/>
              </a:rPr>
              <a:t>cols</a:t>
            </a:r>
            <a:r>
              <a:rPr lang="en-US" dirty="0">
                <a:solidFill>
                  <a:srgbClr val="000000"/>
                </a:solidFill>
                <a:latin typeface="Consolas" panose="020B0609020204030204" pitchFamily="49" charset="0"/>
              </a:rPr>
              <a:t>; ++j)</a:t>
            </a:r>
          </a:p>
          <a:p>
            <a:pPr lvl="1"/>
            <a:r>
              <a:rPr lang="en-US" dirty="0">
                <a:solidFill>
                  <a:srgbClr val="000000"/>
                </a:solidFill>
                <a:latin typeface="Consolas" panose="020B0609020204030204" pitchFamily="49" charset="0"/>
              </a:rPr>
              <a:t>		result += </a:t>
            </a:r>
            <a:r>
              <a:rPr lang="en-US" sz="1800" dirty="0" err="1">
                <a:solidFill>
                  <a:srgbClr val="808080"/>
                </a:solidFill>
                <a:latin typeface="Consolas" panose="020B0609020204030204" pitchFamily="49" charset="0"/>
              </a:rPr>
              <a:t>arr</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i</a:t>
            </a:r>
            <a:r>
              <a:rPr lang="ru-RU" dirty="0">
                <a:solidFill>
                  <a:srgbClr val="000000"/>
                </a:solidFill>
                <a:latin typeface="Consolas" panose="020B0609020204030204" pitchFamily="49" charset="0"/>
              </a:rPr>
              <a:t>*</a:t>
            </a:r>
            <a:r>
              <a:rPr lang="nn-NO" sz="1800" dirty="0">
                <a:solidFill>
                  <a:srgbClr val="808080"/>
                </a:solidFill>
                <a:latin typeface="Consolas" panose="020B0609020204030204" pitchFamily="49" charset="0"/>
              </a:rPr>
              <a:t>rows </a:t>
            </a:r>
            <a:r>
              <a:rPr lang="ru-RU" dirty="0">
                <a:solidFill>
                  <a:srgbClr val="000000"/>
                </a:solidFill>
                <a:latin typeface="Consolas" panose="020B0609020204030204" pitchFamily="49" charset="0"/>
              </a:rPr>
              <a:t>+</a:t>
            </a:r>
            <a:r>
              <a:rPr lang="en-US" sz="1800" dirty="0">
                <a:solidFill>
                  <a:srgbClr val="000000"/>
                </a:solidFill>
                <a:latin typeface="Consolas" panose="020B0609020204030204" pitchFamily="49" charset="0"/>
              </a:rPr>
              <a:t>j]</a:t>
            </a:r>
            <a:r>
              <a:rPr lang="en-US" dirty="0">
                <a:solidFill>
                  <a:srgbClr val="000000"/>
                </a:solidFill>
                <a:latin typeface="Consolas" panose="020B0609020204030204" pitchFamily="49" charset="0"/>
              </a:rPr>
              <a:t>;</a:t>
            </a:r>
          </a:p>
          <a:p>
            <a:pPr lvl="1"/>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result / (</a:t>
            </a:r>
            <a:r>
              <a:rPr lang="en-US" dirty="0">
                <a:solidFill>
                  <a:srgbClr val="808080"/>
                </a:solidFill>
                <a:latin typeface="Consolas" panose="020B0609020204030204" pitchFamily="49" charset="0"/>
              </a:rPr>
              <a:t>rows</a:t>
            </a:r>
            <a:r>
              <a:rPr lang="en-US" dirty="0">
                <a:solidFill>
                  <a:srgbClr val="000000"/>
                </a:solidFill>
                <a:latin typeface="Consolas" panose="020B0609020204030204" pitchFamily="49" charset="0"/>
              </a:rPr>
              <a:t> * </a:t>
            </a:r>
            <a:r>
              <a:rPr lang="en-US" dirty="0">
                <a:solidFill>
                  <a:srgbClr val="808080"/>
                </a:solidFill>
                <a:latin typeface="Consolas" panose="020B0609020204030204" pitchFamily="49" charset="0"/>
              </a:rPr>
              <a:t>cols</a:t>
            </a:r>
            <a:r>
              <a:rPr lang="en-US"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a:t>
            </a:r>
            <a:endParaRPr lang="en-US" dirty="0"/>
          </a:p>
        </p:txBody>
      </p:sp>
      <p:sp>
        <p:nvSpPr>
          <p:cNvPr id="18" name="TextBox 17">
            <a:extLst>
              <a:ext uri="{FF2B5EF4-FFF2-40B4-BE49-F238E27FC236}">
                <a16:creationId xmlns:a16="http://schemas.microsoft.com/office/drawing/2014/main" id="{4251317F-76C9-4C3E-9EB3-86BE1A57220E}"/>
              </a:ext>
            </a:extLst>
          </p:cNvPr>
          <p:cNvSpPr txBox="1"/>
          <p:nvPr/>
        </p:nvSpPr>
        <p:spPr>
          <a:xfrm>
            <a:off x="6177282" y="1852610"/>
            <a:ext cx="5384800" cy="2308324"/>
          </a:xfrm>
          <a:prstGeom prst="rect">
            <a:avLst/>
          </a:prstGeom>
          <a:noFill/>
        </p:spPr>
        <p:txBody>
          <a:bodyPr wrap="square">
            <a:spAutoFit/>
          </a:bodyPr>
          <a:lstStyle/>
          <a:p>
            <a:r>
              <a:rPr lang="en-US" sz="1800" dirty="0">
                <a:solidFill>
                  <a:srgbClr val="0000FF"/>
                </a:solidFill>
                <a:latin typeface="Consolas" panose="020B0609020204030204" pitchFamily="49" charset="0"/>
              </a:rPr>
              <a:t>float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avg_by_col</a:t>
            </a:r>
            <a:r>
              <a:rPr lang="en-US" sz="1800" dirty="0">
                <a:solidFill>
                  <a:srgbClr val="000000"/>
                </a:solidFill>
                <a:latin typeface="Consolas" panose="020B0609020204030204" pitchFamily="49" charset="0"/>
              </a:rPr>
              <a:t>(</a:t>
            </a:r>
            <a:r>
              <a:rPr lang="en-US" sz="1800" dirty="0">
                <a:solidFill>
                  <a:srgbClr val="0000FF"/>
                </a:solidFill>
                <a:latin typeface="Consolas" panose="020B0609020204030204" pitchFamily="49" charset="0"/>
              </a:rPr>
              <a:t>float</a:t>
            </a:r>
            <a:r>
              <a:rPr lang="en-US" sz="1800" dirty="0">
                <a:solidFill>
                  <a:srgbClr val="000000"/>
                </a:solidFill>
                <a:latin typeface="Consolas" panose="020B0609020204030204" pitchFamily="49" charset="0"/>
              </a:rPr>
              <a:t>* </a:t>
            </a:r>
            <a:r>
              <a:rPr lang="en-US" sz="1800" dirty="0" err="1">
                <a:solidFill>
                  <a:srgbClr val="808080"/>
                </a:solidFill>
                <a:latin typeface="Consolas" panose="020B0609020204030204" pitchFamily="49" charset="0"/>
              </a:rPr>
              <a:t>arr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rows</a:t>
            </a:r>
            <a:r>
              <a:rPr lang="en-US" sz="1800" dirty="0">
                <a:solidFill>
                  <a:srgbClr val="000000"/>
                </a:solidFill>
                <a:latin typeface="Consolas" panose="020B0609020204030204" pitchFamily="49" charset="0"/>
              </a:rPr>
              <a:t>,</a:t>
            </a:r>
          </a:p>
          <a:p>
            <a:r>
              <a:rPr lang="en-US" sz="1800" dirty="0">
                <a:solidFill>
                  <a:srgbClr val="0000FF"/>
                </a:solidFill>
                <a:latin typeface="Consolas" panose="020B0609020204030204" pitchFamily="49" charset="0"/>
              </a:rPr>
              <a:t> 				int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cols</a:t>
            </a:r>
            <a:r>
              <a:rPr lang="en-US" sz="1800" dirty="0">
                <a:solidFill>
                  <a:srgbClr val="000000"/>
                </a:solidFill>
                <a:latin typeface="Consolas" panose="020B0609020204030204" pitchFamily="49" charset="0"/>
              </a:rPr>
              <a:t>) {</a:t>
            </a:r>
          </a:p>
          <a:p>
            <a:r>
              <a:rPr lang="en-US" dirty="0">
                <a:solidFill>
                  <a:srgbClr val="0000FF"/>
                </a:solidFill>
                <a:latin typeface="Consolas" panose="020B0609020204030204" pitchFamily="49" charset="0"/>
              </a:rPr>
              <a:t>    </a:t>
            </a:r>
            <a:r>
              <a:rPr lang="en-US" sz="1800" dirty="0">
                <a:solidFill>
                  <a:srgbClr val="0000FF"/>
                </a:solidFill>
                <a:latin typeface="Consolas" panose="020B0609020204030204" pitchFamily="49" charset="0"/>
              </a:rPr>
              <a:t>float</a:t>
            </a:r>
            <a:r>
              <a:rPr lang="en-US" sz="1800" dirty="0">
                <a:solidFill>
                  <a:srgbClr val="000000"/>
                </a:solidFill>
                <a:latin typeface="Consolas" panose="020B0609020204030204" pitchFamily="49" charset="0"/>
              </a:rPr>
              <a:t> result = 0;</a:t>
            </a:r>
          </a:p>
          <a:p>
            <a:r>
              <a:rPr lang="en-US" dirty="0">
                <a:solidFill>
                  <a:srgbClr val="0000FF"/>
                </a:solidFill>
                <a:latin typeface="Consolas" panose="020B0609020204030204" pitchFamily="49" charset="0"/>
              </a:rPr>
              <a:t>    for</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 = 0; j &lt; </a:t>
            </a:r>
            <a:r>
              <a:rPr lang="en-US" dirty="0">
                <a:solidFill>
                  <a:srgbClr val="808080"/>
                </a:solidFill>
                <a:latin typeface="Consolas" panose="020B0609020204030204" pitchFamily="49" charset="0"/>
              </a:rPr>
              <a:t>cols</a:t>
            </a:r>
            <a:r>
              <a:rPr lang="en-US" dirty="0">
                <a:solidFill>
                  <a:srgbClr val="000000"/>
                </a:solidFill>
                <a:latin typeface="Consolas" panose="020B0609020204030204" pitchFamily="49" charset="0"/>
              </a:rPr>
              <a:t>; ++j)</a:t>
            </a:r>
          </a:p>
          <a:p>
            <a:r>
              <a:rPr lang="nn-NO" sz="1800" dirty="0">
                <a:solidFill>
                  <a:srgbClr val="0000FF"/>
                </a:solidFill>
                <a:latin typeface="Consolas" panose="020B0609020204030204" pitchFamily="49" charset="0"/>
              </a:rPr>
              <a:t>        for</a:t>
            </a:r>
            <a:r>
              <a:rPr lang="nn-NO" sz="1800" dirty="0">
                <a:solidFill>
                  <a:srgbClr val="000000"/>
                </a:solidFill>
                <a:latin typeface="Consolas" panose="020B0609020204030204" pitchFamily="49" charset="0"/>
              </a:rPr>
              <a:t> (</a:t>
            </a:r>
            <a:r>
              <a:rPr lang="nn-NO" sz="1800" dirty="0">
                <a:solidFill>
                  <a:srgbClr val="0000FF"/>
                </a:solidFill>
                <a:latin typeface="Consolas" panose="020B0609020204030204" pitchFamily="49" charset="0"/>
              </a:rPr>
              <a:t>int</a:t>
            </a:r>
            <a:r>
              <a:rPr lang="nn-NO" sz="1800" dirty="0">
                <a:solidFill>
                  <a:srgbClr val="000000"/>
                </a:solidFill>
                <a:latin typeface="Consolas" panose="020B0609020204030204" pitchFamily="49" charset="0"/>
              </a:rPr>
              <a:t> i = 0; i &lt; </a:t>
            </a:r>
            <a:r>
              <a:rPr lang="nn-NO" sz="1800" dirty="0">
                <a:solidFill>
                  <a:srgbClr val="808080"/>
                </a:solidFill>
                <a:latin typeface="Consolas" panose="020B0609020204030204" pitchFamily="49" charset="0"/>
              </a:rPr>
              <a:t>rows</a:t>
            </a:r>
            <a:r>
              <a:rPr lang="nn-NO" sz="1800" dirty="0">
                <a:solidFill>
                  <a:srgbClr val="000000"/>
                </a:solidFill>
                <a:latin typeface="Consolas" panose="020B0609020204030204" pitchFamily="49" charset="0"/>
              </a:rPr>
              <a:t>; ++i)</a:t>
            </a:r>
          </a:p>
          <a:p>
            <a:r>
              <a:rPr lang="en-US" sz="1800" dirty="0">
                <a:solidFill>
                  <a:srgbClr val="000000"/>
                </a:solidFill>
                <a:latin typeface="Consolas" panose="020B0609020204030204" pitchFamily="49" charset="0"/>
              </a:rPr>
              <a:t>	    result += </a:t>
            </a:r>
            <a:r>
              <a:rPr lang="en-US" sz="1800" dirty="0" err="1">
                <a:solidFill>
                  <a:srgbClr val="808080"/>
                </a:solidFill>
                <a:latin typeface="Consolas" panose="020B0609020204030204" pitchFamily="49" charset="0"/>
              </a:rPr>
              <a:t>arr</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i</a:t>
            </a:r>
            <a:r>
              <a:rPr lang="ru-RU" dirty="0">
                <a:solidFill>
                  <a:srgbClr val="000000"/>
                </a:solidFill>
                <a:latin typeface="Consolas" panose="020B0609020204030204" pitchFamily="49" charset="0"/>
              </a:rPr>
              <a:t>*</a:t>
            </a:r>
            <a:r>
              <a:rPr lang="nn-NO" sz="1800" dirty="0">
                <a:solidFill>
                  <a:srgbClr val="808080"/>
                </a:solidFill>
                <a:latin typeface="Consolas" panose="020B0609020204030204" pitchFamily="49" charset="0"/>
              </a:rPr>
              <a:t>rows </a:t>
            </a:r>
            <a:r>
              <a:rPr lang="ru-RU" dirty="0">
                <a:solidFill>
                  <a:srgbClr val="000000"/>
                </a:solidFill>
                <a:latin typeface="Consolas" panose="020B0609020204030204" pitchFamily="49" charset="0"/>
              </a:rPr>
              <a:t>+</a:t>
            </a:r>
            <a:r>
              <a:rPr lang="en-US" sz="1800" dirty="0">
                <a:solidFill>
                  <a:srgbClr val="000000"/>
                </a:solidFill>
                <a:latin typeface="Consolas" panose="020B0609020204030204" pitchFamily="49" charset="0"/>
              </a:rPr>
              <a:t>j];</a:t>
            </a:r>
          </a:p>
          <a:p>
            <a:r>
              <a:rPr lang="en-US" sz="1800" dirty="0">
                <a:solidFill>
                  <a:srgbClr val="0000FF"/>
                </a:solidFill>
                <a:latin typeface="Consolas" panose="020B0609020204030204" pitchFamily="49" charset="0"/>
              </a:rPr>
              <a:t>    return</a:t>
            </a:r>
            <a:r>
              <a:rPr lang="en-US" sz="1800" dirty="0">
                <a:solidFill>
                  <a:srgbClr val="000000"/>
                </a:solidFill>
                <a:latin typeface="Consolas" panose="020B0609020204030204" pitchFamily="49" charset="0"/>
              </a:rPr>
              <a:t> result / (</a:t>
            </a:r>
            <a:r>
              <a:rPr lang="en-US" sz="1800" dirty="0">
                <a:solidFill>
                  <a:srgbClr val="808080"/>
                </a:solidFill>
                <a:latin typeface="Consolas" panose="020B0609020204030204" pitchFamily="49" charset="0"/>
              </a:rPr>
              <a:t>rows</a:t>
            </a:r>
            <a:r>
              <a:rPr lang="en-US" sz="1800" dirty="0">
                <a:solidFill>
                  <a:srgbClr val="000000"/>
                </a:solidFill>
                <a:latin typeface="Consolas" panose="020B0609020204030204" pitchFamily="49" charset="0"/>
              </a:rPr>
              <a:t> * </a:t>
            </a:r>
            <a:r>
              <a:rPr lang="en-US" sz="1800" dirty="0">
                <a:solidFill>
                  <a:srgbClr val="808080"/>
                </a:solidFill>
                <a:latin typeface="Consolas" panose="020B0609020204030204" pitchFamily="49" charset="0"/>
              </a:rPr>
              <a:t>cols</a:t>
            </a:r>
            <a:r>
              <a:rPr lang="en-US" sz="1800" dirty="0">
                <a:solidFill>
                  <a:srgbClr val="000000"/>
                </a:solidFill>
                <a:latin typeface="Consolas" panose="020B0609020204030204" pitchFamily="49" charset="0"/>
              </a:rPr>
              <a:t>);</a:t>
            </a:r>
          </a:p>
          <a:p>
            <a:r>
              <a:rPr lang="en-US" sz="1800" dirty="0">
                <a:solidFill>
                  <a:srgbClr val="000000"/>
                </a:solidFill>
                <a:latin typeface="Consolas" panose="020B0609020204030204" pitchFamily="49" charset="0"/>
              </a:rPr>
              <a:t>}</a:t>
            </a:r>
            <a:endParaRPr lang="en-US" dirty="0"/>
          </a:p>
        </p:txBody>
      </p:sp>
      <p:sp>
        <p:nvSpPr>
          <p:cNvPr id="19" name="TextBox 18">
            <a:extLst>
              <a:ext uri="{FF2B5EF4-FFF2-40B4-BE49-F238E27FC236}">
                <a16:creationId xmlns:a16="http://schemas.microsoft.com/office/drawing/2014/main" id="{2E61D1BC-4C2F-476F-B749-84AE2D43A671}"/>
              </a:ext>
            </a:extLst>
          </p:cNvPr>
          <p:cNvSpPr txBox="1"/>
          <p:nvPr/>
        </p:nvSpPr>
        <p:spPr>
          <a:xfrm>
            <a:off x="248920" y="1483278"/>
            <a:ext cx="2880019" cy="369332"/>
          </a:xfrm>
          <a:prstGeom prst="rect">
            <a:avLst/>
          </a:prstGeom>
          <a:noFill/>
        </p:spPr>
        <p:txBody>
          <a:bodyPr wrap="none" rtlCol="0">
            <a:spAutoFit/>
          </a:bodyPr>
          <a:lstStyle/>
          <a:p>
            <a:r>
              <a:rPr lang="ru-RU" dirty="0"/>
              <a:t>Обход матрицы по строкам</a:t>
            </a:r>
            <a:endParaRPr lang="en-US" dirty="0"/>
          </a:p>
        </p:txBody>
      </p:sp>
      <p:sp>
        <p:nvSpPr>
          <p:cNvPr id="20" name="TextBox 19">
            <a:extLst>
              <a:ext uri="{FF2B5EF4-FFF2-40B4-BE49-F238E27FC236}">
                <a16:creationId xmlns:a16="http://schemas.microsoft.com/office/drawing/2014/main" id="{7FC6D238-6F2A-4741-95D0-766E76D4C146}"/>
              </a:ext>
            </a:extLst>
          </p:cNvPr>
          <p:cNvSpPr txBox="1"/>
          <p:nvPr/>
        </p:nvSpPr>
        <p:spPr>
          <a:xfrm>
            <a:off x="6177282" y="1483278"/>
            <a:ext cx="3012812" cy="369332"/>
          </a:xfrm>
          <a:prstGeom prst="rect">
            <a:avLst/>
          </a:prstGeom>
          <a:noFill/>
        </p:spPr>
        <p:txBody>
          <a:bodyPr wrap="none" rtlCol="0">
            <a:spAutoFit/>
          </a:bodyPr>
          <a:lstStyle/>
          <a:p>
            <a:r>
              <a:rPr lang="ru-RU" dirty="0"/>
              <a:t>Обход матрицы по столбцам</a:t>
            </a:r>
            <a:endParaRPr lang="en-US" dirty="0"/>
          </a:p>
        </p:txBody>
      </p:sp>
      <p:sp>
        <p:nvSpPr>
          <p:cNvPr id="21" name="Прямоугольник 20">
            <a:extLst>
              <a:ext uri="{FF2B5EF4-FFF2-40B4-BE49-F238E27FC236}">
                <a16:creationId xmlns:a16="http://schemas.microsoft.com/office/drawing/2014/main" id="{60EF8BFE-380D-4D65-BBD1-FFC3979F1CA3}"/>
              </a:ext>
            </a:extLst>
          </p:cNvPr>
          <p:cNvSpPr/>
          <p:nvPr/>
        </p:nvSpPr>
        <p:spPr>
          <a:xfrm>
            <a:off x="1361440" y="4661832"/>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30" name="Прямоугольник 29">
            <a:extLst>
              <a:ext uri="{FF2B5EF4-FFF2-40B4-BE49-F238E27FC236}">
                <a16:creationId xmlns:a16="http://schemas.microsoft.com/office/drawing/2014/main" id="{6E1A4A3B-9E6C-4FB0-A408-AD9BB8EA929F}"/>
              </a:ext>
            </a:extLst>
          </p:cNvPr>
          <p:cNvSpPr/>
          <p:nvPr/>
        </p:nvSpPr>
        <p:spPr>
          <a:xfrm>
            <a:off x="1361440" y="466183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1" name="Прямоугольник 30">
            <a:extLst>
              <a:ext uri="{FF2B5EF4-FFF2-40B4-BE49-F238E27FC236}">
                <a16:creationId xmlns:a16="http://schemas.microsoft.com/office/drawing/2014/main" id="{E2AE3B8E-2594-45A6-91B5-F566202B4F99}"/>
              </a:ext>
            </a:extLst>
          </p:cNvPr>
          <p:cNvSpPr/>
          <p:nvPr/>
        </p:nvSpPr>
        <p:spPr>
          <a:xfrm>
            <a:off x="2801440" y="466183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2" name="Прямоугольник 31">
            <a:extLst>
              <a:ext uri="{FF2B5EF4-FFF2-40B4-BE49-F238E27FC236}">
                <a16:creationId xmlns:a16="http://schemas.microsoft.com/office/drawing/2014/main" id="{7FF6FC8C-6052-429D-BBC2-F9714779C578}"/>
              </a:ext>
            </a:extLst>
          </p:cNvPr>
          <p:cNvSpPr/>
          <p:nvPr/>
        </p:nvSpPr>
        <p:spPr>
          <a:xfrm>
            <a:off x="1361440" y="4955022"/>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33" name="Прямоугольник 32">
            <a:extLst>
              <a:ext uri="{FF2B5EF4-FFF2-40B4-BE49-F238E27FC236}">
                <a16:creationId xmlns:a16="http://schemas.microsoft.com/office/drawing/2014/main" id="{0556E314-4549-4A0F-BD55-21CF20B963CE}"/>
              </a:ext>
            </a:extLst>
          </p:cNvPr>
          <p:cNvSpPr/>
          <p:nvPr/>
        </p:nvSpPr>
        <p:spPr>
          <a:xfrm>
            <a:off x="1361440" y="495502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4" name="Прямоугольник 33">
            <a:extLst>
              <a:ext uri="{FF2B5EF4-FFF2-40B4-BE49-F238E27FC236}">
                <a16:creationId xmlns:a16="http://schemas.microsoft.com/office/drawing/2014/main" id="{86EA7D7E-CB0C-4E2E-92F1-9B517A0D37AE}"/>
              </a:ext>
            </a:extLst>
          </p:cNvPr>
          <p:cNvSpPr/>
          <p:nvPr/>
        </p:nvSpPr>
        <p:spPr>
          <a:xfrm>
            <a:off x="2801440" y="495502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5" name="Прямоугольник 34">
            <a:extLst>
              <a:ext uri="{FF2B5EF4-FFF2-40B4-BE49-F238E27FC236}">
                <a16:creationId xmlns:a16="http://schemas.microsoft.com/office/drawing/2014/main" id="{A329664F-86D6-44A6-B7A2-F9F5841F74E8}"/>
              </a:ext>
            </a:extLst>
          </p:cNvPr>
          <p:cNvSpPr/>
          <p:nvPr/>
        </p:nvSpPr>
        <p:spPr>
          <a:xfrm>
            <a:off x="1361440" y="5248212"/>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36" name="Прямоугольник 35">
            <a:extLst>
              <a:ext uri="{FF2B5EF4-FFF2-40B4-BE49-F238E27FC236}">
                <a16:creationId xmlns:a16="http://schemas.microsoft.com/office/drawing/2014/main" id="{3BBB4387-9A89-4C24-883F-E40A52C4A3B5}"/>
              </a:ext>
            </a:extLst>
          </p:cNvPr>
          <p:cNvSpPr/>
          <p:nvPr/>
        </p:nvSpPr>
        <p:spPr>
          <a:xfrm>
            <a:off x="1361440" y="524821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7" name="Прямоугольник 36">
            <a:extLst>
              <a:ext uri="{FF2B5EF4-FFF2-40B4-BE49-F238E27FC236}">
                <a16:creationId xmlns:a16="http://schemas.microsoft.com/office/drawing/2014/main" id="{070BA23C-E37D-4BDE-B976-68C544091D3F}"/>
              </a:ext>
            </a:extLst>
          </p:cNvPr>
          <p:cNvSpPr/>
          <p:nvPr/>
        </p:nvSpPr>
        <p:spPr>
          <a:xfrm>
            <a:off x="2801440" y="524821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38" name="Прямоугольник 37">
            <a:extLst>
              <a:ext uri="{FF2B5EF4-FFF2-40B4-BE49-F238E27FC236}">
                <a16:creationId xmlns:a16="http://schemas.microsoft.com/office/drawing/2014/main" id="{B2F3FFB7-DA9D-4DAF-BC45-276B5ACCD6F6}"/>
              </a:ext>
            </a:extLst>
          </p:cNvPr>
          <p:cNvSpPr/>
          <p:nvPr/>
        </p:nvSpPr>
        <p:spPr>
          <a:xfrm>
            <a:off x="1361440" y="5523453"/>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39" name="Прямоугольник 38">
            <a:extLst>
              <a:ext uri="{FF2B5EF4-FFF2-40B4-BE49-F238E27FC236}">
                <a16:creationId xmlns:a16="http://schemas.microsoft.com/office/drawing/2014/main" id="{44318BFD-F8B7-42C3-9118-FB05F5B729CB}"/>
              </a:ext>
            </a:extLst>
          </p:cNvPr>
          <p:cNvSpPr/>
          <p:nvPr/>
        </p:nvSpPr>
        <p:spPr>
          <a:xfrm>
            <a:off x="1361440" y="5523453"/>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0" name="Прямоугольник 39">
            <a:extLst>
              <a:ext uri="{FF2B5EF4-FFF2-40B4-BE49-F238E27FC236}">
                <a16:creationId xmlns:a16="http://schemas.microsoft.com/office/drawing/2014/main" id="{21CC818A-386A-40E9-BE12-0E6D816AECF4}"/>
              </a:ext>
            </a:extLst>
          </p:cNvPr>
          <p:cNvSpPr/>
          <p:nvPr/>
        </p:nvSpPr>
        <p:spPr>
          <a:xfrm>
            <a:off x="2801440" y="5523453"/>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1" name="Прямоугольник 40">
            <a:extLst>
              <a:ext uri="{FF2B5EF4-FFF2-40B4-BE49-F238E27FC236}">
                <a16:creationId xmlns:a16="http://schemas.microsoft.com/office/drawing/2014/main" id="{B0B4EE88-6B82-4449-87CB-69B1815ABC47}"/>
              </a:ext>
            </a:extLst>
          </p:cNvPr>
          <p:cNvSpPr/>
          <p:nvPr/>
        </p:nvSpPr>
        <p:spPr>
          <a:xfrm>
            <a:off x="7366000" y="4629521"/>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42" name="Прямоугольник 41">
            <a:extLst>
              <a:ext uri="{FF2B5EF4-FFF2-40B4-BE49-F238E27FC236}">
                <a16:creationId xmlns:a16="http://schemas.microsoft.com/office/drawing/2014/main" id="{2B69E07A-3C63-44F5-AFAF-3D1FCF30D0F9}"/>
              </a:ext>
            </a:extLst>
          </p:cNvPr>
          <p:cNvSpPr/>
          <p:nvPr/>
        </p:nvSpPr>
        <p:spPr>
          <a:xfrm>
            <a:off x="7366000" y="462952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3" name="Прямоугольник 42">
            <a:extLst>
              <a:ext uri="{FF2B5EF4-FFF2-40B4-BE49-F238E27FC236}">
                <a16:creationId xmlns:a16="http://schemas.microsoft.com/office/drawing/2014/main" id="{21C8A52D-8C0B-4D9F-92CF-F81B3B5271D0}"/>
              </a:ext>
            </a:extLst>
          </p:cNvPr>
          <p:cNvSpPr/>
          <p:nvPr/>
        </p:nvSpPr>
        <p:spPr>
          <a:xfrm>
            <a:off x="8806000" y="462952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4" name="Прямоугольник 43">
            <a:extLst>
              <a:ext uri="{FF2B5EF4-FFF2-40B4-BE49-F238E27FC236}">
                <a16:creationId xmlns:a16="http://schemas.microsoft.com/office/drawing/2014/main" id="{DEDAF89B-1293-4AD4-A214-5251A451528D}"/>
              </a:ext>
            </a:extLst>
          </p:cNvPr>
          <p:cNvSpPr/>
          <p:nvPr/>
        </p:nvSpPr>
        <p:spPr>
          <a:xfrm>
            <a:off x="7366000" y="4922711"/>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45" name="Прямоугольник 44">
            <a:extLst>
              <a:ext uri="{FF2B5EF4-FFF2-40B4-BE49-F238E27FC236}">
                <a16:creationId xmlns:a16="http://schemas.microsoft.com/office/drawing/2014/main" id="{D95D6A39-4028-4AFD-9C8E-DEF07B662800}"/>
              </a:ext>
            </a:extLst>
          </p:cNvPr>
          <p:cNvSpPr/>
          <p:nvPr/>
        </p:nvSpPr>
        <p:spPr>
          <a:xfrm>
            <a:off x="7366000" y="492271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6" name="Прямоугольник 45">
            <a:extLst>
              <a:ext uri="{FF2B5EF4-FFF2-40B4-BE49-F238E27FC236}">
                <a16:creationId xmlns:a16="http://schemas.microsoft.com/office/drawing/2014/main" id="{82007394-2AF2-412B-A4C7-A79A1EAEB5B1}"/>
              </a:ext>
            </a:extLst>
          </p:cNvPr>
          <p:cNvSpPr/>
          <p:nvPr/>
        </p:nvSpPr>
        <p:spPr>
          <a:xfrm>
            <a:off x="8806000" y="492271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7" name="Прямоугольник 46">
            <a:extLst>
              <a:ext uri="{FF2B5EF4-FFF2-40B4-BE49-F238E27FC236}">
                <a16:creationId xmlns:a16="http://schemas.microsoft.com/office/drawing/2014/main" id="{1AE8D62F-A55C-4CBE-BEEA-DD7E309F75E0}"/>
              </a:ext>
            </a:extLst>
          </p:cNvPr>
          <p:cNvSpPr/>
          <p:nvPr/>
        </p:nvSpPr>
        <p:spPr>
          <a:xfrm>
            <a:off x="7366000" y="5215901"/>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48" name="Прямоугольник 47">
            <a:extLst>
              <a:ext uri="{FF2B5EF4-FFF2-40B4-BE49-F238E27FC236}">
                <a16:creationId xmlns:a16="http://schemas.microsoft.com/office/drawing/2014/main" id="{7D06EF65-5B73-497A-A7CC-EF5760C34B00}"/>
              </a:ext>
            </a:extLst>
          </p:cNvPr>
          <p:cNvSpPr/>
          <p:nvPr/>
        </p:nvSpPr>
        <p:spPr>
          <a:xfrm>
            <a:off x="7366000" y="521590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49" name="Прямоугольник 48">
            <a:extLst>
              <a:ext uri="{FF2B5EF4-FFF2-40B4-BE49-F238E27FC236}">
                <a16:creationId xmlns:a16="http://schemas.microsoft.com/office/drawing/2014/main" id="{84393E25-CE87-4552-B4C2-6DA3E23721AB}"/>
              </a:ext>
            </a:extLst>
          </p:cNvPr>
          <p:cNvSpPr/>
          <p:nvPr/>
        </p:nvSpPr>
        <p:spPr>
          <a:xfrm>
            <a:off x="8806000" y="521590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50" name="Прямоугольник 49">
            <a:extLst>
              <a:ext uri="{FF2B5EF4-FFF2-40B4-BE49-F238E27FC236}">
                <a16:creationId xmlns:a16="http://schemas.microsoft.com/office/drawing/2014/main" id="{4809C41B-9B75-4961-9958-C5CB1F55DA93}"/>
              </a:ext>
            </a:extLst>
          </p:cNvPr>
          <p:cNvSpPr/>
          <p:nvPr/>
        </p:nvSpPr>
        <p:spPr>
          <a:xfrm>
            <a:off x="7366000" y="5491142"/>
            <a:ext cx="2880000" cy="29319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51" name="Прямоугольник 50">
            <a:extLst>
              <a:ext uri="{FF2B5EF4-FFF2-40B4-BE49-F238E27FC236}">
                <a16:creationId xmlns:a16="http://schemas.microsoft.com/office/drawing/2014/main" id="{E1E1181E-2E7E-46D7-9C94-B58BE00E191C}"/>
              </a:ext>
            </a:extLst>
          </p:cNvPr>
          <p:cNvSpPr/>
          <p:nvPr/>
        </p:nvSpPr>
        <p:spPr>
          <a:xfrm>
            <a:off x="7366000" y="549114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52" name="Прямоугольник 51">
            <a:extLst>
              <a:ext uri="{FF2B5EF4-FFF2-40B4-BE49-F238E27FC236}">
                <a16:creationId xmlns:a16="http://schemas.microsoft.com/office/drawing/2014/main" id="{9FA2EC65-9BC8-42BD-972C-693216A5057B}"/>
              </a:ext>
            </a:extLst>
          </p:cNvPr>
          <p:cNvSpPr/>
          <p:nvPr/>
        </p:nvSpPr>
        <p:spPr>
          <a:xfrm>
            <a:off x="8806000" y="549114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56" name="Прямая со стрелкой 55">
            <a:extLst>
              <a:ext uri="{FF2B5EF4-FFF2-40B4-BE49-F238E27FC236}">
                <a16:creationId xmlns:a16="http://schemas.microsoft.com/office/drawing/2014/main" id="{5706508C-067B-43F5-B2CF-EAE8C3FBF4C8}"/>
              </a:ext>
            </a:extLst>
          </p:cNvPr>
          <p:cNvCxnSpPr>
            <a:cxnSpLocks/>
          </p:cNvCxnSpPr>
          <p:nvPr/>
        </p:nvCxnSpPr>
        <p:spPr>
          <a:xfrm>
            <a:off x="1541440" y="5385568"/>
            <a:ext cx="252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Прямая со стрелкой 56">
            <a:extLst>
              <a:ext uri="{FF2B5EF4-FFF2-40B4-BE49-F238E27FC236}">
                <a16:creationId xmlns:a16="http://schemas.microsoft.com/office/drawing/2014/main" id="{50F048BD-E2AB-485F-AAE9-0CAE1E3A1D45}"/>
              </a:ext>
            </a:extLst>
          </p:cNvPr>
          <p:cNvCxnSpPr>
            <a:cxnSpLocks/>
          </p:cNvCxnSpPr>
          <p:nvPr/>
        </p:nvCxnSpPr>
        <p:spPr>
          <a:xfrm>
            <a:off x="1541440" y="5670048"/>
            <a:ext cx="252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Прямоугольник 57">
            <a:extLst>
              <a:ext uri="{FF2B5EF4-FFF2-40B4-BE49-F238E27FC236}">
                <a16:creationId xmlns:a16="http://schemas.microsoft.com/office/drawing/2014/main" id="{D85FE0C6-C12F-402C-8706-F37574809EBF}"/>
              </a:ext>
            </a:extLst>
          </p:cNvPr>
          <p:cNvSpPr/>
          <p:nvPr/>
        </p:nvSpPr>
        <p:spPr>
          <a:xfrm>
            <a:off x="1381760" y="4665072"/>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60" name="Прямая со стрелкой 59">
            <a:extLst>
              <a:ext uri="{FF2B5EF4-FFF2-40B4-BE49-F238E27FC236}">
                <a16:creationId xmlns:a16="http://schemas.microsoft.com/office/drawing/2014/main" id="{BAAAA902-3C09-48A7-8C31-E9931D18ABE0}"/>
              </a:ext>
            </a:extLst>
          </p:cNvPr>
          <p:cNvCxnSpPr>
            <a:cxnSpLocks/>
          </p:cNvCxnSpPr>
          <p:nvPr/>
        </p:nvCxnSpPr>
        <p:spPr>
          <a:xfrm>
            <a:off x="1561760" y="4817905"/>
            <a:ext cx="252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Прямая со стрелкой 60">
            <a:extLst>
              <a:ext uri="{FF2B5EF4-FFF2-40B4-BE49-F238E27FC236}">
                <a16:creationId xmlns:a16="http://schemas.microsoft.com/office/drawing/2014/main" id="{E5796551-EF51-4F15-BBF8-0560409A5E2B}"/>
              </a:ext>
            </a:extLst>
          </p:cNvPr>
          <p:cNvCxnSpPr>
            <a:cxnSpLocks/>
          </p:cNvCxnSpPr>
          <p:nvPr/>
        </p:nvCxnSpPr>
        <p:spPr>
          <a:xfrm>
            <a:off x="1541440" y="5102385"/>
            <a:ext cx="252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2" name="Прямоугольник 61">
            <a:extLst>
              <a:ext uri="{FF2B5EF4-FFF2-40B4-BE49-F238E27FC236}">
                <a16:creationId xmlns:a16="http://schemas.microsoft.com/office/drawing/2014/main" id="{293664D4-653B-4B89-9EBB-B563CA6F9160}"/>
              </a:ext>
            </a:extLst>
          </p:cNvPr>
          <p:cNvSpPr/>
          <p:nvPr/>
        </p:nvSpPr>
        <p:spPr>
          <a:xfrm>
            <a:off x="1381760" y="4949288"/>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3" name="Прямоугольник 62">
            <a:extLst>
              <a:ext uri="{FF2B5EF4-FFF2-40B4-BE49-F238E27FC236}">
                <a16:creationId xmlns:a16="http://schemas.microsoft.com/office/drawing/2014/main" id="{182AD6DD-DDDD-41F5-920A-8E47CA856DD8}"/>
              </a:ext>
            </a:extLst>
          </p:cNvPr>
          <p:cNvSpPr/>
          <p:nvPr/>
        </p:nvSpPr>
        <p:spPr>
          <a:xfrm>
            <a:off x="1381760" y="5243704"/>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4" name="Прямоугольник 63">
            <a:extLst>
              <a:ext uri="{FF2B5EF4-FFF2-40B4-BE49-F238E27FC236}">
                <a16:creationId xmlns:a16="http://schemas.microsoft.com/office/drawing/2014/main" id="{785D7AD7-3D97-4428-BFB7-F2A44C0D81E3}"/>
              </a:ext>
            </a:extLst>
          </p:cNvPr>
          <p:cNvSpPr/>
          <p:nvPr/>
        </p:nvSpPr>
        <p:spPr>
          <a:xfrm>
            <a:off x="1381760" y="5537546"/>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5" name="Прямоугольник 64">
            <a:extLst>
              <a:ext uri="{FF2B5EF4-FFF2-40B4-BE49-F238E27FC236}">
                <a16:creationId xmlns:a16="http://schemas.microsoft.com/office/drawing/2014/main" id="{F7CE9351-82A4-43F8-A576-43ADC2F6D36F}"/>
              </a:ext>
            </a:extLst>
          </p:cNvPr>
          <p:cNvSpPr/>
          <p:nvPr/>
        </p:nvSpPr>
        <p:spPr>
          <a:xfrm>
            <a:off x="2821760" y="466855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6" name="Прямоугольник 65">
            <a:extLst>
              <a:ext uri="{FF2B5EF4-FFF2-40B4-BE49-F238E27FC236}">
                <a16:creationId xmlns:a16="http://schemas.microsoft.com/office/drawing/2014/main" id="{14EA3121-4E83-40AB-B8C7-96F91994EC9C}"/>
              </a:ext>
            </a:extLst>
          </p:cNvPr>
          <p:cNvSpPr/>
          <p:nvPr/>
        </p:nvSpPr>
        <p:spPr>
          <a:xfrm>
            <a:off x="2821760" y="4952769"/>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7" name="Прямоугольник 66">
            <a:extLst>
              <a:ext uri="{FF2B5EF4-FFF2-40B4-BE49-F238E27FC236}">
                <a16:creationId xmlns:a16="http://schemas.microsoft.com/office/drawing/2014/main" id="{89BB1012-E786-40B7-90CD-60D59F8B4AB6}"/>
              </a:ext>
            </a:extLst>
          </p:cNvPr>
          <p:cNvSpPr/>
          <p:nvPr/>
        </p:nvSpPr>
        <p:spPr>
          <a:xfrm>
            <a:off x="2821760" y="524718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68" name="Прямоугольник 67">
            <a:extLst>
              <a:ext uri="{FF2B5EF4-FFF2-40B4-BE49-F238E27FC236}">
                <a16:creationId xmlns:a16="http://schemas.microsoft.com/office/drawing/2014/main" id="{CD1CD965-5F56-4594-891D-20DAFB991853}"/>
              </a:ext>
            </a:extLst>
          </p:cNvPr>
          <p:cNvSpPr/>
          <p:nvPr/>
        </p:nvSpPr>
        <p:spPr>
          <a:xfrm>
            <a:off x="2821760" y="554102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69" name="Прямая со стрелкой 68">
            <a:extLst>
              <a:ext uri="{FF2B5EF4-FFF2-40B4-BE49-F238E27FC236}">
                <a16:creationId xmlns:a16="http://schemas.microsoft.com/office/drawing/2014/main" id="{CA39039C-1EC1-4672-95D4-6CC9AB1B79CA}"/>
              </a:ext>
            </a:extLst>
          </p:cNvPr>
          <p:cNvCxnSpPr>
            <a:cxnSpLocks/>
          </p:cNvCxnSpPr>
          <p:nvPr/>
        </p:nvCxnSpPr>
        <p:spPr>
          <a:xfrm>
            <a:off x="7569200"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73" name="Прямоугольник 72">
            <a:extLst>
              <a:ext uri="{FF2B5EF4-FFF2-40B4-BE49-F238E27FC236}">
                <a16:creationId xmlns:a16="http://schemas.microsoft.com/office/drawing/2014/main" id="{9784DC19-531C-4923-A317-30C1E98F18E8}"/>
              </a:ext>
            </a:extLst>
          </p:cNvPr>
          <p:cNvSpPr/>
          <p:nvPr/>
        </p:nvSpPr>
        <p:spPr>
          <a:xfrm>
            <a:off x="7386320"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4" name="Прямоугольник 73">
            <a:extLst>
              <a:ext uri="{FF2B5EF4-FFF2-40B4-BE49-F238E27FC236}">
                <a16:creationId xmlns:a16="http://schemas.microsoft.com/office/drawing/2014/main" id="{B2ADD940-9FD6-41FF-9D17-4497503C4B8B}"/>
              </a:ext>
            </a:extLst>
          </p:cNvPr>
          <p:cNvSpPr/>
          <p:nvPr/>
        </p:nvSpPr>
        <p:spPr>
          <a:xfrm>
            <a:off x="7386320"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5" name="Прямоугольник 74">
            <a:extLst>
              <a:ext uri="{FF2B5EF4-FFF2-40B4-BE49-F238E27FC236}">
                <a16:creationId xmlns:a16="http://schemas.microsoft.com/office/drawing/2014/main" id="{6CDA9E06-6F52-4EDD-A4E4-0058779F1C8C}"/>
              </a:ext>
            </a:extLst>
          </p:cNvPr>
          <p:cNvSpPr/>
          <p:nvPr/>
        </p:nvSpPr>
        <p:spPr>
          <a:xfrm>
            <a:off x="7386320"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6" name="Прямоугольник 75">
            <a:extLst>
              <a:ext uri="{FF2B5EF4-FFF2-40B4-BE49-F238E27FC236}">
                <a16:creationId xmlns:a16="http://schemas.microsoft.com/office/drawing/2014/main" id="{6CCECF1C-0F0E-46BD-A19C-166A5ECE2929}"/>
              </a:ext>
            </a:extLst>
          </p:cNvPr>
          <p:cNvSpPr/>
          <p:nvPr/>
        </p:nvSpPr>
        <p:spPr>
          <a:xfrm>
            <a:off x="7386320"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87" name="Прямая со стрелкой 86">
            <a:extLst>
              <a:ext uri="{FF2B5EF4-FFF2-40B4-BE49-F238E27FC236}">
                <a16:creationId xmlns:a16="http://schemas.microsoft.com/office/drawing/2014/main" id="{5A517B20-5E49-46D9-91A7-5EF88A7A9011}"/>
              </a:ext>
            </a:extLst>
          </p:cNvPr>
          <p:cNvCxnSpPr>
            <a:cxnSpLocks/>
          </p:cNvCxnSpPr>
          <p:nvPr/>
        </p:nvCxnSpPr>
        <p:spPr>
          <a:xfrm>
            <a:off x="8271760"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88" name="Прямоугольник 87">
            <a:extLst>
              <a:ext uri="{FF2B5EF4-FFF2-40B4-BE49-F238E27FC236}">
                <a16:creationId xmlns:a16="http://schemas.microsoft.com/office/drawing/2014/main" id="{AD94ECF5-20A3-4DA1-8823-CE360EF731E3}"/>
              </a:ext>
            </a:extLst>
          </p:cNvPr>
          <p:cNvSpPr/>
          <p:nvPr/>
        </p:nvSpPr>
        <p:spPr>
          <a:xfrm>
            <a:off x="8088880"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89" name="Прямоугольник 88">
            <a:extLst>
              <a:ext uri="{FF2B5EF4-FFF2-40B4-BE49-F238E27FC236}">
                <a16:creationId xmlns:a16="http://schemas.microsoft.com/office/drawing/2014/main" id="{D8B92E21-0833-4ED0-B18D-61496E2DD87E}"/>
              </a:ext>
            </a:extLst>
          </p:cNvPr>
          <p:cNvSpPr/>
          <p:nvPr/>
        </p:nvSpPr>
        <p:spPr>
          <a:xfrm>
            <a:off x="8088880"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0" name="Прямоугольник 89">
            <a:extLst>
              <a:ext uri="{FF2B5EF4-FFF2-40B4-BE49-F238E27FC236}">
                <a16:creationId xmlns:a16="http://schemas.microsoft.com/office/drawing/2014/main" id="{71E3C80B-4D81-4952-BDB7-6C2914763B58}"/>
              </a:ext>
            </a:extLst>
          </p:cNvPr>
          <p:cNvSpPr/>
          <p:nvPr/>
        </p:nvSpPr>
        <p:spPr>
          <a:xfrm>
            <a:off x="8088880"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1" name="Прямоугольник 90">
            <a:extLst>
              <a:ext uri="{FF2B5EF4-FFF2-40B4-BE49-F238E27FC236}">
                <a16:creationId xmlns:a16="http://schemas.microsoft.com/office/drawing/2014/main" id="{B0B8C592-E94B-455B-8D70-991661C4A522}"/>
              </a:ext>
            </a:extLst>
          </p:cNvPr>
          <p:cNvSpPr/>
          <p:nvPr/>
        </p:nvSpPr>
        <p:spPr>
          <a:xfrm>
            <a:off x="8088880"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92" name="Прямая со стрелкой 91">
            <a:extLst>
              <a:ext uri="{FF2B5EF4-FFF2-40B4-BE49-F238E27FC236}">
                <a16:creationId xmlns:a16="http://schemas.microsoft.com/office/drawing/2014/main" id="{273A65D7-420A-4F7D-95CF-1E9B6A1DE270}"/>
              </a:ext>
            </a:extLst>
          </p:cNvPr>
          <p:cNvCxnSpPr>
            <a:cxnSpLocks/>
          </p:cNvCxnSpPr>
          <p:nvPr/>
        </p:nvCxnSpPr>
        <p:spPr>
          <a:xfrm>
            <a:off x="8650880"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3" name="Прямоугольник 92">
            <a:extLst>
              <a:ext uri="{FF2B5EF4-FFF2-40B4-BE49-F238E27FC236}">
                <a16:creationId xmlns:a16="http://schemas.microsoft.com/office/drawing/2014/main" id="{0B36C1B9-BE99-45CE-99D6-7F5FEB75F872}"/>
              </a:ext>
            </a:extLst>
          </p:cNvPr>
          <p:cNvSpPr/>
          <p:nvPr/>
        </p:nvSpPr>
        <p:spPr>
          <a:xfrm>
            <a:off x="8468000"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4" name="Прямоугольник 93">
            <a:extLst>
              <a:ext uri="{FF2B5EF4-FFF2-40B4-BE49-F238E27FC236}">
                <a16:creationId xmlns:a16="http://schemas.microsoft.com/office/drawing/2014/main" id="{7B821246-22A1-46AA-BE6C-1DA8013AABD4}"/>
              </a:ext>
            </a:extLst>
          </p:cNvPr>
          <p:cNvSpPr/>
          <p:nvPr/>
        </p:nvSpPr>
        <p:spPr>
          <a:xfrm>
            <a:off x="8468000"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5" name="Прямоугольник 94">
            <a:extLst>
              <a:ext uri="{FF2B5EF4-FFF2-40B4-BE49-F238E27FC236}">
                <a16:creationId xmlns:a16="http://schemas.microsoft.com/office/drawing/2014/main" id="{175EE015-6908-4648-A7C4-69EB52246B2C}"/>
              </a:ext>
            </a:extLst>
          </p:cNvPr>
          <p:cNvSpPr/>
          <p:nvPr/>
        </p:nvSpPr>
        <p:spPr>
          <a:xfrm>
            <a:off x="8468000"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6" name="Прямоугольник 95">
            <a:extLst>
              <a:ext uri="{FF2B5EF4-FFF2-40B4-BE49-F238E27FC236}">
                <a16:creationId xmlns:a16="http://schemas.microsoft.com/office/drawing/2014/main" id="{928C42B8-FA47-467C-8A77-62DCDC3C675D}"/>
              </a:ext>
            </a:extLst>
          </p:cNvPr>
          <p:cNvSpPr/>
          <p:nvPr/>
        </p:nvSpPr>
        <p:spPr>
          <a:xfrm>
            <a:off x="8468000"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97" name="Прямая со стрелкой 96">
            <a:extLst>
              <a:ext uri="{FF2B5EF4-FFF2-40B4-BE49-F238E27FC236}">
                <a16:creationId xmlns:a16="http://schemas.microsoft.com/office/drawing/2014/main" id="{3F4996FA-C01F-43CF-B3E1-38A57441931B}"/>
              </a:ext>
            </a:extLst>
          </p:cNvPr>
          <p:cNvCxnSpPr>
            <a:cxnSpLocks/>
          </p:cNvCxnSpPr>
          <p:nvPr/>
        </p:nvCxnSpPr>
        <p:spPr>
          <a:xfrm>
            <a:off x="7914641"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98" name="Прямоугольник 97">
            <a:extLst>
              <a:ext uri="{FF2B5EF4-FFF2-40B4-BE49-F238E27FC236}">
                <a16:creationId xmlns:a16="http://schemas.microsoft.com/office/drawing/2014/main" id="{F8B0BE2C-3CA1-49EE-B528-43E540918798}"/>
              </a:ext>
            </a:extLst>
          </p:cNvPr>
          <p:cNvSpPr/>
          <p:nvPr/>
        </p:nvSpPr>
        <p:spPr>
          <a:xfrm>
            <a:off x="7731761"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99" name="Прямоугольник 98">
            <a:extLst>
              <a:ext uri="{FF2B5EF4-FFF2-40B4-BE49-F238E27FC236}">
                <a16:creationId xmlns:a16="http://schemas.microsoft.com/office/drawing/2014/main" id="{9DE29DF9-0C03-432D-B537-69A4333DA34E}"/>
              </a:ext>
            </a:extLst>
          </p:cNvPr>
          <p:cNvSpPr/>
          <p:nvPr/>
        </p:nvSpPr>
        <p:spPr>
          <a:xfrm>
            <a:off x="7731761"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0" name="Прямоугольник 99">
            <a:extLst>
              <a:ext uri="{FF2B5EF4-FFF2-40B4-BE49-F238E27FC236}">
                <a16:creationId xmlns:a16="http://schemas.microsoft.com/office/drawing/2014/main" id="{CE1584B6-163A-43AD-A25A-0D9ECB7C0FD5}"/>
              </a:ext>
            </a:extLst>
          </p:cNvPr>
          <p:cNvSpPr/>
          <p:nvPr/>
        </p:nvSpPr>
        <p:spPr>
          <a:xfrm>
            <a:off x="7731761"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1" name="Прямоугольник 100">
            <a:extLst>
              <a:ext uri="{FF2B5EF4-FFF2-40B4-BE49-F238E27FC236}">
                <a16:creationId xmlns:a16="http://schemas.microsoft.com/office/drawing/2014/main" id="{1FDF678F-A741-470C-B4A0-B9A3623279B0}"/>
              </a:ext>
            </a:extLst>
          </p:cNvPr>
          <p:cNvSpPr/>
          <p:nvPr/>
        </p:nvSpPr>
        <p:spPr>
          <a:xfrm>
            <a:off x="7731761"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2" name="Прямоугольник 101">
            <a:extLst>
              <a:ext uri="{FF2B5EF4-FFF2-40B4-BE49-F238E27FC236}">
                <a16:creationId xmlns:a16="http://schemas.microsoft.com/office/drawing/2014/main" id="{8AA8B9BE-DDAC-4298-ACD7-895705981430}"/>
              </a:ext>
            </a:extLst>
          </p:cNvPr>
          <p:cNvSpPr/>
          <p:nvPr/>
        </p:nvSpPr>
        <p:spPr>
          <a:xfrm>
            <a:off x="8802642" y="462952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3" name="Прямоугольник 102">
            <a:extLst>
              <a:ext uri="{FF2B5EF4-FFF2-40B4-BE49-F238E27FC236}">
                <a16:creationId xmlns:a16="http://schemas.microsoft.com/office/drawing/2014/main" id="{F55AA689-FF14-4311-8DCE-18F0EF8B0989}"/>
              </a:ext>
            </a:extLst>
          </p:cNvPr>
          <p:cNvSpPr/>
          <p:nvPr/>
        </p:nvSpPr>
        <p:spPr>
          <a:xfrm>
            <a:off x="8802642" y="492271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4" name="Прямоугольник 103">
            <a:extLst>
              <a:ext uri="{FF2B5EF4-FFF2-40B4-BE49-F238E27FC236}">
                <a16:creationId xmlns:a16="http://schemas.microsoft.com/office/drawing/2014/main" id="{39EC60C1-DD2D-447C-989E-69F3CD73D50D}"/>
              </a:ext>
            </a:extLst>
          </p:cNvPr>
          <p:cNvSpPr/>
          <p:nvPr/>
        </p:nvSpPr>
        <p:spPr>
          <a:xfrm>
            <a:off x="8802642" y="5215901"/>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5" name="Прямоугольник 104">
            <a:extLst>
              <a:ext uri="{FF2B5EF4-FFF2-40B4-BE49-F238E27FC236}">
                <a16:creationId xmlns:a16="http://schemas.microsoft.com/office/drawing/2014/main" id="{34A6513F-D848-4665-9B3A-06482377F884}"/>
              </a:ext>
            </a:extLst>
          </p:cNvPr>
          <p:cNvSpPr/>
          <p:nvPr/>
        </p:nvSpPr>
        <p:spPr>
          <a:xfrm>
            <a:off x="8802642" y="5491142"/>
            <a:ext cx="1440000" cy="293190"/>
          </a:xfrm>
          <a:prstGeom prst="rect">
            <a:avLst/>
          </a:prstGeom>
          <a:noFill/>
          <a:ln w="12700"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06" name="Прямая со стрелкой 105">
            <a:extLst>
              <a:ext uri="{FF2B5EF4-FFF2-40B4-BE49-F238E27FC236}">
                <a16:creationId xmlns:a16="http://schemas.microsoft.com/office/drawing/2014/main" id="{9BF65A1A-5C11-44D6-83AF-E21B06F35E49}"/>
              </a:ext>
            </a:extLst>
          </p:cNvPr>
          <p:cNvCxnSpPr>
            <a:cxnSpLocks/>
          </p:cNvCxnSpPr>
          <p:nvPr/>
        </p:nvCxnSpPr>
        <p:spPr>
          <a:xfrm>
            <a:off x="9005842"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07" name="Прямоугольник 106">
            <a:extLst>
              <a:ext uri="{FF2B5EF4-FFF2-40B4-BE49-F238E27FC236}">
                <a16:creationId xmlns:a16="http://schemas.microsoft.com/office/drawing/2014/main" id="{B84E7902-1ABA-4D80-A129-834C130CD9FD}"/>
              </a:ext>
            </a:extLst>
          </p:cNvPr>
          <p:cNvSpPr/>
          <p:nvPr/>
        </p:nvSpPr>
        <p:spPr>
          <a:xfrm>
            <a:off x="8822962"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8" name="Прямоугольник 107">
            <a:extLst>
              <a:ext uri="{FF2B5EF4-FFF2-40B4-BE49-F238E27FC236}">
                <a16:creationId xmlns:a16="http://schemas.microsoft.com/office/drawing/2014/main" id="{35631732-E687-4C7A-9EF3-EAA39E7399F3}"/>
              </a:ext>
            </a:extLst>
          </p:cNvPr>
          <p:cNvSpPr/>
          <p:nvPr/>
        </p:nvSpPr>
        <p:spPr>
          <a:xfrm>
            <a:off x="8822962"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09" name="Прямоугольник 108">
            <a:extLst>
              <a:ext uri="{FF2B5EF4-FFF2-40B4-BE49-F238E27FC236}">
                <a16:creationId xmlns:a16="http://schemas.microsoft.com/office/drawing/2014/main" id="{388D6949-87F8-4951-BE57-38ED741233B9}"/>
              </a:ext>
            </a:extLst>
          </p:cNvPr>
          <p:cNvSpPr/>
          <p:nvPr/>
        </p:nvSpPr>
        <p:spPr>
          <a:xfrm>
            <a:off x="8822962"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0" name="Прямоугольник 109">
            <a:extLst>
              <a:ext uri="{FF2B5EF4-FFF2-40B4-BE49-F238E27FC236}">
                <a16:creationId xmlns:a16="http://schemas.microsoft.com/office/drawing/2014/main" id="{1A42C02E-D084-4142-864C-8227D1DA9D77}"/>
              </a:ext>
            </a:extLst>
          </p:cNvPr>
          <p:cNvSpPr/>
          <p:nvPr/>
        </p:nvSpPr>
        <p:spPr>
          <a:xfrm>
            <a:off x="8822962"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11" name="Прямая со стрелкой 110">
            <a:extLst>
              <a:ext uri="{FF2B5EF4-FFF2-40B4-BE49-F238E27FC236}">
                <a16:creationId xmlns:a16="http://schemas.microsoft.com/office/drawing/2014/main" id="{85065A1C-917B-48A7-9567-EABB55EE2500}"/>
              </a:ext>
            </a:extLst>
          </p:cNvPr>
          <p:cNvCxnSpPr>
            <a:cxnSpLocks/>
          </p:cNvCxnSpPr>
          <p:nvPr/>
        </p:nvCxnSpPr>
        <p:spPr>
          <a:xfrm>
            <a:off x="9708402"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2" name="Прямоугольник 111">
            <a:extLst>
              <a:ext uri="{FF2B5EF4-FFF2-40B4-BE49-F238E27FC236}">
                <a16:creationId xmlns:a16="http://schemas.microsoft.com/office/drawing/2014/main" id="{19BB6CA0-AFFB-4212-8BB3-884BCD6D5C38}"/>
              </a:ext>
            </a:extLst>
          </p:cNvPr>
          <p:cNvSpPr/>
          <p:nvPr/>
        </p:nvSpPr>
        <p:spPr>
          <a:xfrm>
            <a:off x="9525522"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3" name="Прямоугольник 112">
            <a:extLst>
              <a:ext uri="{FF2B5EF4-FFF2-40B4-BE49-F238E27FC236}">
                <a16:creationId xmlns:a16="http://schemas.microsoft.com/office/drawing/2014/main" id="{5AE459F4-3C15-426C-8E17-A670F8CEC39F}"/>
              </a:ext>
            </a:extLst>
          </p:cNvPr>
          <p:cNvSpPr/>
          <p:nvPr/>
        </p:nvSpPr>
        <p:spPr>
          <a:xfrm>
            <a:off x="9525522"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4" name="Прямоугольник 113">
            <a:extLst>
              <a:ext uri="{FF2B5EF4-FFF2-40B4-BE49-F238E27FC236}">
                <a16:creationId xmlns:a16="http://schemas.microsoft.com/office/drawing/2014/main" id="{5281094A-62AD-4E02-9DB1-EAC934514B66}"/>
              </a:ext>
            </a:extLst>
          </p:cNvPr>
          <p:cNvSpPr/>
          <p:nvPr/>
        </p:nvSpPr>
        <p:spPr>
          <a:xfrm>
            <a:off x="9525522"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5" name="Прямоугольник 114">
            <a:extLst>
              <a:ext uri="{FF2B5EF4-FFF2-40B4-BE49-F238E27FC236}">
                <a16:creationId xmlns:a16="http://schemas.microsoft.com/office/drawing/2014/main" id="{C6453C16-3419-49FB-83EE-213E1A3AF67C}"/>
              </a:ext>
            </a:extLst>
          </p:cNvPr>
          <p:cNvSpPr/>
          <p:nvPr/>
        </p:nvSpPr>
        <p:spPr>
          <a:xfrm>
            <a:off x="9525522"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16" name="Прямая со стрелкой 115">
            <a:extLst>
              <a:ext uri="{FF2B5EF4-FFF2-40B4-BE49-F238E27FC236}">
                <a16:creationId xmlns:a16="http://schemas.microsoft.com/office/drawing/2014/main" id="{897EB2A9-FA26-471F-A64E-5867B3937066}"/>
              </a:ext>
            </a:extLst>
          </p:cNvPr>
          <p:cNvCxnSpPr>
            <a:cxnSpLocks/>
          </p:cNvCxnSpPr>
          <p:nvPr/>
        </p:nvCxnSpPr>
        <p:spPr>
          <a:xfrm>
            <a:off x="10087522"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17" name="Прямоугольник 116">
            <a:extLst>
              <a:ext uri="{FF2B5EF4-FFF2-40B4-BE49-F238E27FC236}">
                <a16:creationId xmlns:a16="http://schemas.microsoft.com/office/drawing/2014/main" id="{50489B7B-7731-496A-B38F-1A4B043D21EE}"/>
              </a:ext>
            </a:extLst>
          </p:cNvPr>
          <p:cNvSpPr/>
          <p:nvPr/>
        </p:nvSpPr>
        <p:spPr>
          <a:xfrm>
            <a:off x="9904642"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8" name="Прямоугольник 117">
            <a:extLst>
              <a:ext uri="{FF2B5EF4-FFF2-40B4-BE49-F238E27FC236}">
                <a16:creationId xmlns:a16="http://schemas.microsoft.com/office/drawing/2014/main" id="{26049F66-3261-4F3F-9A85-0C27DF5BCDF5}"/>
              </a:ext>
            </a:extLst>
          </p:cNvPr>
          <p:cNvSpPr/>
          <p:nvPr/>
        </p:nvSpPr>
        <p:spPr>
          <a:xfrm>
            <a:off x="9904642"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19" name="Прямоугольник 118">
            <a:extLst>
              <a:ext uri="{FF2B5EF4-FFF2-40B4-BE49-F238E27FC236}">
                <a16:creationId xmlns:a16="http://schemas.microsoft.com/office/drawing/2014/main" id="{43BB475A-9F99-4426-804E-489D77B60DB0}"/>
              </a:ext>
            </a:extLst>
          </p:cNvPr>
          <p:cNvSpPr/>
          <p:nvPr/>
        </p:nvSpPr>
        <p:spPr>
          <a:xfrm>
            <a:off x="9904642"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0" name="Прямоугольник 119">
            <a:extLst>
              <a:ext uri="{FF2B5EF4-FFF2-40B4-BE49-F238E27FC236}">
                <a16:creationId xmlns:a16="http://schemas.microsoft.com/office/drawing/2014/main" id="{1579D083-EAB6-480A-82FC-891481C7AB67}"/>
              </a:ext>
            </a:extLst>
          </p:cNvPr>
          <p:cNvSpPr/>
          <p:nvPr/>
        </p:nvSpPr>
        <p:spPr>
          <a:xfrm>
            <a:off x="9904642"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cxnSp>
        <p:nvCxnSpPr>
          <p:cNvPr id="121" name="Прямая со стрелкой 120">
            <a:extLst>
              <a:ext uri="{FF2B5EF4-FFF2-40B4-BE49-F238E27FC236}">
                <a16:creationId xmlns:a16="http://schemas.microsoft.com/office/drawing/2014/main" id="{3BF62596-B0DF-4C7F-8605-81011DE9D3A7}"/>
              </a:ext>
            </a:extLst>
          </p:cNvPr>
          <p:cNvCxnSpPr>
            <a:cxnSpLocks/>
          </p:cNvCxnSpPr>
          <p:nvPr/>
        </p:nvCxnSpPr>
        <p:spPr>
          <a:xfrm>
            <a:off x="9351283" y="4702227"/>
            <a:ext cx="0" cy="104766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22" name="Прямоугольник 121">
            <a:extLst>
              <a:ext uri="{FF2B5EF4-FFF2-40B4-BE49-F238E27FC236}">
                <a16:creationId xmlns:a16="http://schemas.microsoft.com/office/drawing/2014/main" id="{2353B492-4AC5-44AD-80AD-C0C4D6E255E3}"/>
              </a:ext>
            </a:extLst>
          </p:cNvPr>
          <p:cNvSpPr/>
          <p:nvPr/>
        </p:nvSpPr>
        <p:spPr>
          <a:xfrm>
            <a:off x="9168403" y="4635401"/>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3" name="Прямоугольник 122">
            <a:extLst>
              <a:ext uri="{FF2B5EF4-FFF2-40B4-BE49-F238E27FC236}">
                <a16:creationId xmlns:a16="http://schemas.microsoft.com/office/drawing/2014/main" id="{B7142252-31F0-4D4E-A1B9-C67821A00579}"/>
              </a:ext>
            </a:extLst>
          </p:cNvPr>
          <p:cNvSpPr/>
          <p:nvPr/>
        </p:nvSpPr>
        <p:spPr>
          <a:xfrm>
            <a:off x="9168403" y="4919617"/>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4" name="Прямоугольник 123">
            <a:extLst>
              <a:ext uri="{FF2B5EF4-FFF2-40B4-BE49-F238E27FC236}">
                <a16:creationId xmlns:a16="http://schemas.microsoft.com/office/drawing/2014/main" id="{870D9F2D-CB04-4AF9-B645-0E1CA01E368A}"/>
              </a:ext>
            </a:extLst>
          </p:cNvPr>
          <p:cNvSpPr/>
          <p:nvPr/>
        </p:nvSpPr>
        <p:spPr>
          <a:xfrm>
            <a:off x="9168403" y="5214033"/>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125" name="Прямоугольник 124">
            <a:extLst>
              <a:ext uri="{FF2B5EF4-FFF2-40B4-BE49-F238E27FC236}">
                <a16:creationId xmlns:a16="http://schemas.microsoft.com/office/drawing/2014/main" id="{82F7C019-1195-42B1-90B5-5864BA209A69}"/>
              </a:ext>
            </a:extLst>
          </p:cNvPr>
          <p:cNvSpPr/>
          <p:nvPr/>
        </p:nvSpPr>
        <p:spPr>
          <a:xfrm>
            <a:off x="9168403" y="5507875"/>
            <a:ext cx="360000" cy="293190"/>
          </a:xfrm>
          <a:prstGeom prst="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932430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F1C0E7-61FC-4EF7-8B21-ECF3E6540812}"/>
              </a:ext>
            </a:extLst>
          </p:cNvPr>
          <p:cNvSpPr>
            <a:spLocks noGrp="1"/>
          </p:cNvSpPr>
          <p:nvPr>
            <p:ph type="title"/>
          </p:nvPr>
        </p:nvSpPr>
        <p:spPr/>
        <p:txBody>
          <a:bodyPr/>
          <a:lstStyle/>
          <a:p>
            <a:r>
              <a:rPr lang="ru-RU"/>
              <a:t>Кэш-память</a:t>
            </a:r>
            <a:endParaRPr lang="en-US" dirty="0"/>
          </a:p>
        </p:txBody>
      </p:sp>
      <p:sp>
        <p:nvSpPr>
          <p:cNvPr id="5" name="Номер слайда 4">
            <a:extLst>
              <a:ext uri="{FF2B5EF4-FFF2-40B4-BE49-F238E27FC236}">
                <a16:creationId xmlns:a16="http://schemas.microsoft.com/office/drawing/2014/main" id="{353BE81C-CDA2-4F38-B6E0-B53CDFFFB79C}"/>
              </a:ext>
            </a:extLst>
          </p:cNvPr>
          <p:cNvSpPr>
            <a:spLocks noGrp="1"/>
          </p:cNvSpPr>
          <p:nvPr>
            <p:ph type="sldNum" sz="quarter" idx="12"/>
          </p:nvPr>
        </p:nvSpPr>
        <p:spPr/>
        <p:txBody>
          <a:bodyPr/>
          <a:lstStyle/>
          <a:p>
            <a:fld id="{B67FBA2B-964F-4C4D-AAF7-5A8399264638}" type="slidenum">
              <a:rPr lang="en-US" smtClean="0"/>
              <a:pPr/>
              <a:t>13</a:t>
            </a:fld>
            <a:endParaRPr lang="en-US"/>
          </a:p>
        </p:txBody>
      </p:sp>
      <p:graphicFrame>
        <p:nvGraphicFramePr>
          <p:cNvPr id="6" name="Диаграмма 5">
            <a:extLst>
              <a:ext uri="{FF2B5EF4-FFF2-40B4-BE49-F238E27FC236}">
                <a16:creationId xmlns:a16="http://schemas.microsoft.com/office/drawing/2014/main" id="{2C86ADE6-18D7-4BDF-9C60-39519A536D28}"/>
              </a:ext>
            </a:extLst>
          </p:cNvPr>
          <p:cNvGraphicFramePr>
            <a:graphicFrameLocks/>
          </p:cNvGraphicFramePr>
          <p:nvPr>
            <p:extLst>
              <p:ext uri="{D42A27DB-BD31-4B8C-83A1-F6EECF244321}">
                <p14:modId xmlns:p14="http://schemas.microsoft.com/office/powerpoint/2010/main" val="1985168510"/>
              </p:ext>
            </p:extLst>
          </p:nvPr>
        </p:nvGraphicFramePr>
        <p:xfrm>
          <a:off x="838200" y="1282147"/>
          <a:ext cx="10515600" cy="475090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887302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CE1A27-0090-9876-3D1A-9D6590B31DEA}"/>
              </a:ext>
            </a:extLst>
          </p:cNvPr>
          <p:cNvSpPr>
            <a:spLocks noGrp="1"/>
          </p:cNvSpPr>
          <p:nvPr>
            <p:ph type="title"/>
          </p:nvPr>
        </p:nvSpPr>
        <p:spPr/>
        <p:txBody>
          <a:bodyPr/>
          <a:lstStyle/>
          <a:p>
            <a:r>
              <a:rPr lang="ru-RU" dirty="0"/>
              <a:t>Общая архитектура ядра ЦП</a:t>
            </a:r>
          </a:p>
        </p:txBody>
      </p:sp>
      <p:sp>
        <p:nvSpPr>
          <p:cNvPr id="5" name="Номер слайда 4">
            <a:extLst>
              <a:ext uri="{FF2B5EF4-FFF2-40B4-BE49-F238E27FC236}">
                <a16:creationId xmlns:a16="http://schemas.microsoft.com/office/drawing/2014/main" id="{0C5DB72C-A643-12B5-41A8-182501045CFC}"/>
              </a:ext>
            </a:extLst>
          </p:cNvPr>
          <p:cNvSpPr>
            <a:spLocks noGrp="1"/>
          </p:cNvSpPr>
          <p:nvPr>
            <p:ph type="sldNum" sz="quarter" idx="12"/>
          </p:nvPr>
        </p:nvSpPr>
        <p:spPr/>
        <p:txBody>
          <a:bodyPr/>
          <a:lstStyle/>
          <a:p>
            <a:fld id="{B67FBA2B-964F-4C4D-AAF7-5A8399264638}" type="slidenum">
              <a:rPr lang="en-US" smtClean="0"/>
              <a:pPr/>
              <a:t>14</a:t>
            </a:fld>
            <a:endParaRPr lang="en-US"/>
          </a:p>
        </p:txBody>
      </p:sp>
      <p:sp>
        <p:nvSpPr>
          <p:cNvPr id="6" name="Прямоугольник 5">
            <a:extLst>
              <a:ext uri="{FF2B5EF4-FFF2-40B4-BE49-F238E27FC236}">
                <a16:creationId xmlns:a16="http://schemas.microsoft.com/office/drawing/2014/main" id="{720FDA9F-5E79-5554-3F04-DC547CA93EC9}"/>
              </a:ext>
            </a:extLst>
          </p:cNvPr>
          <p:cNvSpPr/>
          <p:nvPr/>
        </p:nvSpPr>
        <p:spPr>
          <a:xfrm>
            <a:off x="4924800" y="1634409"/>
            <a:ext cx="4195222" cy="4305451"/>
          </a:xfrm>
          <a:prstGeom prst="rect">
            <a:avLst/>
          </a:prstGeom>
          <a:solidFill>
            <a:schemeClr val="accent1">
              <a:lumMod val="40000"/>
              <a:lumOff val="6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t"/>
          <a:lstStyle/>
          <a:p>
            <a:pPr algn="ctr"/>
            <a:r>
              <a:rPr lang="ru-RU" dirty="0">
                <a:solidFill>
                  <a:schemeClr val="tx1"/>
                </a:solidFill>
              </a:rPr>
              <a:t>Ядро ЦП </a:t>
            </a:r>
            <a:r>
              <a:rPr lang="en-US" dirty="0">
                <a:solidFill>
                  <a:schemeClr val="tx1"/>
                </a:solidFill>
              </a:rPr>
              <a:t>x86</a:t>
            </a:r>
            <a:r>
              <a:rPr lang="ru-RU" dirty="0">
                <a:solidFill>
                  <a:schemeClr val="tx1"/>
                </a:solidFill>
              </a:rPr>
              <a:t>-64</a:t>
            </a:r>
            <a:endParaRPr lang="en-US" dirty="0">
              <a:solidFill>
                <a:schemeClr val="tx1"/>
              </a:solidFill>
            </a:endParaRPr>
          </a:p>
        </p:txBody>
      </p:sp>
      <p:sp>
        <p:nvSpPr>
          <p:cNvPr id="7" name="Прямоугольник 6">
            <a:extLst>
              <a:ext uri="{FF2B5EF4-FFF2-40B4-BE49-F238E27FC236}">
                <a16:creationId xmlns:a16="http://schemas.microsoft.com/office/drawing/2014/main" id="{F5975FE5-94E6-1B77-DADA-A61CDD99CA66}"/>
              </a:ext>
            </a:extLst>
          </p:cNvPr>
          <p:cNvSpPr/>
          <p:nvPr/>
        </p:nvSpPr>
        <p:spPr>
          <a:xfrm>
            <a:off x="7625233" y="2053526"/>
            <a:ext cx="1427825" cy="378158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t"/>
          <a:lstStyle/>
          <a:p>
            <a:pPr algn="ctr"/>
            <a:r>
              <a:rPr lang="ru-RU" dirty="0"/>
              <a:t>Блоки вычислений</a:t>
            </a:r>
          </a:p>
        </p:txBody>
      </p:sp>
      <p:sp>
        <p:nvSpPr>
          <p:cNvPr id="8" name="Прямоугольник 7">
            <a:extLst>
              <a:ext uri="{FF2B5EF4-FFF2-40B4-BE49-F238E27FC236}">
                <a16:creationId xmlns:a16="http://schemas.microsoft.com/office/drawing/2014/main" id="{178AB307-1C5B-6CD5-33A5-8A80E075DEF9}"/>
              </a:ext>
            </a:extLst>
          </p:cNvPr>
          <p:cNvSpPr/>
          <p:nvPr/>
        </p:nvSpPr>
        <p:spPr>
          <a:xfrm>
            <a:off x="5181137" y="3452872"/>
            <a:ext cx="1854616" cy="233257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a:t>Регистровые файлы</a:t>
            </a:r>
            <a:endParaRPr lang="en-US" dirty="0"/>
          </a:p>
        </p:txBody>
      </p:sp>
      <p:sp>
        <p:nvSpPr>
          <p:cNvPr id="9" name="Прямоугольник 8">
            <a:extLst>
              <a:ext uri="{FF2B5EF4-FFF2-40B4-BE49-F238E27FC236}">
                <a16:creationId xmlns:a16="http://schemas.microsoft.com/office/drawing/2014/main" id="{93913DE8-6A1D-A1D3-9235-05D714E70C7C}"/>
              </a:ext>
            </a:extLst>
          </p:cNvPr>
          <p:cNvSpPr/>
          <p:nvPr/>
        </p:nvSpPr>
        <p:spPr>
          <a:xfrm>
            <a:off x="3193117" y="3980410"/>
            <a:ext cx="1427825" cy="13520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a:t>Контроллер памяти</a:t>
            </a:r>
            <a:endParaRPr lang="ru-RU" dirty="0"/>
          </a:p>
        </p:txBody>
      </p:sp>
      <p:sp>
        <p:nvSpPr>
          <p:cNvPr id="10" name="Прямоугольник 9">
            <a:extLst>
              <a:ext uri="{FF2B5EF4-FFF2-40B4-BE49-F238E27FC236}">
                <a16:creationId xmlns:a16="http://schemas.microsoft.com/office/drawing/2014/main" id="{8A49D91D-ADF4-7252-68F9-BD2CDE7E0096}"/>
              </a:ext>
            </a:extLst>
          </p:cNvPr>
          <p:cNvSpPr/>
          <p:nvPr/>
        </p:nvSpPr>
        <p:spPr>
          <a:xfrm>
            <a:off x="3196820" y="2053526"/>
            <a:ext cx="1427825" cy="13520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a:t>Контроллер ввода-вывода</a:t>
            </a:r>
            <a:endParaRPr lang="en-US" dirty="0"/>
          </a:p>
        </p:txBody>
      </p:sp>
      <p:cxnSp>
        <p:nvCxnSpPr>
          <p:cNvPr id="15" name="Прямая со стрелкой 14">
            <a:extLst>
              <a:ext uri="{FF2B5EF4-FFF2-40B4-BE49-F238E27FC236}">
                <a16:creationId xmlns:a16="http://schemas.microsoft.com/office/drawing/2014/main" id="{857E79EA-161A-4F5D-4CBD-15BFE1B4C19E}"/>
              </a:ext>
            </a:extLst>
          </p:cNvPr>
          <p:cNvCxnSpPr>
            <a:cxnSpLocks/>
            <a:stCxn id="22" idx="3"/>
          </p:cNvCxnSpPr>
          <p:nvPr/>
        </p:nvCxnSpPr>
        <p:spPr>
          <a:xfrm>
            <a:off x="6951602" y="2468776"/>
            <a:ext cx="671165" cy="0"/>
          </a:xfrm>
          <a:prstGeom prst="straightConnector1">
            <a:avLst/>
          </a:prstGeom>
          <a:ln w="9525"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Прямая со стрелкой 15">
            <a:extLst>
              <a:ext uri="{FF2B5EF4-FFF2-40B4-BE49-F238E27FC236}">
                <a16:creationId xmlns:a16="http://schemas.microsoft.com/office/drawing/2014/main" id="{822821D4-3B8B-288E-7CEA-0AD14A3E244C}"/>
              </a:ext>
            </a:extLst>
          </p:cNvPr>
          <p:cNvCxnSpPr>
            <a:cxnSpLocks/>
          </p:cNvCxnSpPr>
          <p:nvPr/>
        </p:nvCxnSpPr>
        <p:spPr>
          <a:xfrm>
            <a:off x="7033255" y="4202759"/>
            <a:ext cx="591978"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7" name="Прямая со стрелкой 16">
            <a:extLst>
              <a:ext uri="{FF2B5EF4-FFF2-40B4-BE49-F238E27FC236}">
                <a16:creationId xmlns:a16="http://schemas.microsoft.com/office/drawing/2014/main" id="{E3D96D50-6DDD-B47B-0FC0-C2DADC369C3D}"/>
              </a:ext>
            </a:extLst>
          </p:cNvPr>
          <p:cNvCxnSpPr>
            <a:cxnSpLocks/>
            <a:stCxn id="22" idx="2"/>
            <a:endCxn id="8" idx="0"/>
          </p:cNvCxnSpPr>
          <p:nvPr/>
        </p:nvCxnSpPr>
        <p:spPr>
          <a:xfrm flipH="1">
            <a:off x="6108445" y="2855444"/>
            <a:ext cx="12726" cy="597428"/>
          </a:xfrm>
          <a:prstGeom prst="straightConnector1">
            <a:avLst/>
          </a:prstGeom>
          <a:ln w="9525" cap="flat" cmpd="sng" algn="ctr">
            <a:solidFill>
              <a:schemeClr val="dk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8" name="Прямоугольник 17">
            <a:extLst>
              <a:ext uri="{FF2B5EF4-FFF2-40B4-BE49-F238E27FC236}">
                <a16:creationId xmlns:a16="http://schemas.microsoft.com/office/drawing/2014/main" id="{DB82637F-B91C-3CD5-5719-21839163F4F9}"/>
              </a:ext>
            </a:extLst>
          </p:cNvPr>
          <p:cNvSpPr/>
          <p:nvPr/>
        </p:nvSpPr>
        <p:spPr>
          <a:xfrm>
            <a:off x="7768658" y="2810913"/>
            <a:ext cx="1146100" cy="594623"/>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ALU</a:t>
            </a:r>
            <a:r>
              <a:rPr lang="ru-RU" sz="1600" dirty="0"/>
              <a:t> 1</a:t>
            </a:r>
            <a:r>
              <a:rPr lang="en-US" sz="1600" dirty="0"/>
              <a:t>..N</a:t>
            </a:r>
            <a:endParaRPr lang="ru-RU" sz="1600" dirty="0"/>
          </a:p>
        </p:txBody>
      </p:sp>
      <p:cxnSp>
        <p:nvCxnSpPr>
          <p:cNvPr id="19" name="Прямая со стрелкой 18">
            <a:extLst>
              <a:ext uri="{FF2B5EF4-FFF2-40B4-BE49-F238E27FC236}">
                <a16:creationId xmlns:a16="http://schemas.microsoft.com/office/drawing/2014/main" id="{216CB00E-C2D6-4761-AB61-5D3B929DC023}"/>
              </a:ext>
            </a:extLst>
          </p:cNvPr>
          <p:cNvCxnSpPr>
            <a:cxnSpLocks/>
            <a:endCxn id="9" idx="3"/>
          </p:cNvCxnSpPr>
          <p:nvPr/>
        </p:nvCxnSpPr>
        <p:spPr>
          <a:xfrm flipH="1">
            <a:off x="4620942" y="4656414"/>
            <a:ext cx="560194"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1" name="Прямая со стрелкой 20">
            <a:extLst>
              <a:ext uri="{FF2B5EF4-FFF2-40B4-BE49-F238E27FC236}">
                <a16:creationId xmlns:a16="http://schemas.microsoft.com/office/drawing/2014/main" id="{33BD9C8C-97DD-2A2F-B29F-036B02E63EC4}"/>
              </a:ext>
            </a:extLst>
          </p:cNvPr>
          <p:cNvCxnSpPr>
            <a:cxnSpLocks/>
            <a:stCxn id="22" idx="1"/>
          </p:cNvCxnSpPr>
          <p:nvPr/>
        </p:nvCxnSpPr>
        <p:spPr>
          <a:xfrm flipH="1">
            <a:off x="4620942" y="2468776"/>
            <a:ext cx="669797" cy="0"/>
          </a:xfrm>
          <a:prstGeom prst="straightConnector1">
            <a:avLst/>
          </a:prstGeom>
          <a:ln w="9525" cap="flat" cmpd="sng" algn="ctr">
            <a:solidFill>
              <a:schemeClr val="dk1"/>
            </a:solidFill>
            <a:prstDash val="dash"/>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22" name="Прямоугольник 21">
            <a:extLst>
              <a:ext uri="{FF2B5EF4-FFF2-40B4-BE49-F238E27FC236}">
                <a16:creationId xmlns:a16="http://schemas.microsoft.com/office/drawing/2014/main" id="{1E141EC8-2701-BE49-30F8-26590D80248C}"/>
              </a:ext>
            </a:extLst>
          </p:cNvPr>
          <p:cNvSpPr/>
          <p:nvPr/>
        </p:nvSpPr>
        <p:spPr>
          <a:xfrm>
            <a:off x="5290739" y="2082108"/>
            <a:ext cx="1660863" cy="7733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a:t>Устройство  управления</a:t>
            </a:r>
            <a:endParaRPr lang="en-US" dirty="0"/>
          </a:p>
        </p:txBody>
      </p:sp>
      <p:sp>
        <p:nvSpPr>
          <p:cNvPr id="23" name="Прямоугольник 22">
            <a:extLst>
              <a:ext uri="{FF2B5EF4-FFF2-40B4-BE49-F238E27FC236}">
                <a16:creationId xmlns:a16="http://schemas.microsoft.com/office/drawing/2014/main" id="{4211A1EA-707B-6897-05F4-BD2E8AF76351}"/>
              </a:ext>
            </a:extLst>
          </p:cNvPr>
          <p:cNvSpPr/>
          <p:nvPr/>
        </p:nvSpPr>
        <p:spPr>
          <a:xfrm>
            <a:off x="7761614" y="4125424"/>
            <a:ext cx="1146100" cy="1149514"/>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FPU 1..K</a:t>
            </a:r>
            <a:endParaRPr lang="ru-RU" sz="1600" dirty="0"/>
          </a:p>
        </p:txBody>
      </p:sp>
      <p:sp>
        <p:nvSpPr>
          <p:cNvPr id="24" name="Прямоугольник 23">
            <a:extLst>
              <a:ext uri="{FF2B5EF4-FFF2-40B4-BE49-F238E27FC236}">
                <a16:creationId xmlns:a16="http://schemas.microsoft.com/office/drawing/2014/main" id="{7A89607C-6615-8886-8BF4-7D4D69F8440A}"/>
              </a:ext>
            </a:extLst>
          </p:cNvPr>
          <p:cNvSpPr/>
          <p:nvPr/>
        </p:nvSpPr>
        <p:spPr>
          <a:xfrm>
            <a:off x="7761614" y="3587400"/>
            <a:ext cx="1146100" cy="405018"/>
          </a:xfrm>
          <a:prstGeom prst="rect">
            <a:avLst/>
          </a:prstGeom>
          <a:solidFill>
            <a:schemeClr val="accent6">
              <a:lumMod val="75000"/>
            </a:schemeClr>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1600" dirty="0"/>
              <a:t>AGU 1..M</a:t>
            </a:r>
            <a:endParaRPr lang="ru-RU" sz="1600" dirty="0"/>
          </a:p>
        </p:txBody>
      </p:sp>
      <p:cxnSp>
        <p:nvCxnSpPr>
          <p:cNvPr id="25" name="Прямая со стрелкой 24">
            <a:extLst>
              <a:ext uri="{FF2B5EF4-FFF2-40B4-BE49-F238E27FC236}">
                <a16:creationId xmlns:a16="http://schemas.microsoft.com/office/drawing/2014/main" id="{1088ECE1-A2B4-F2FC-1C73-20236E128711}"/>
              </a:ext>
            </a:extLst>
          </p:cNvPr>
          <p:cNvCxnSpPr>
            <a:cxnSpLocks/>
            <a:endCxn id="10" idx="1"/>
          </p:cNvCxnSpPr>
          <p:nvPr/>
        </p:nvCxnSpPr>
        <p:spPr>
          <a:xfrm>
            <a:off x="2817348" y="2729531"/>
            <a:ext cx="37947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26" name="Прямая со стрелкой 25">
            <a:extLst>
              <a:ext uri="{FF2B5EF4-FFF2-40B4-BE49-F238E27FC236}">
                <a16:creationId xmlns:a16="http://schemas.microsoft.com/office/drawing/2014/main" id="{5B485AEF-363B-EAC6-EB0D-5861CF80377C}"/>
              </a:ext>
            </a:extLst>
          </p:cNvPr>
          <p:cNvCxnSpPr>
            <a:cxnSpLocks/>
          </p:cNvCxnSpPr>
          <p:nvPr/>
        </p:nvCxnSpPr>
        <p:spPr>
          <a:xfrm>
            <a:off x="2813645" y="2926099"/>
            <a:ext cx="379472" cy="0"/>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p:sp>
        <p:nvSpPr>
          <p:cNvPr id="36" name="Прямоугольник 35">
            <a:extLst>
              <a:ext uri="{FF2B5EF4-FFF2-40B4-BE49-F238E27FC236}">
                <a16:creationId xmlns:a16="http://schemas.microsoft.com/office/drawing/2014/main" id="{F531D77F-3A8F-13D1-BD05-EEF2FA7BA1BD}"/>
              </a:ext>
            </a:extLst>
          </p:cNvPr>
          <p:cNvSpPr/>
          <p:nvPr/>
        </p:nvSpPr>
        <p:spPr>
          <a:xfrm>
            <a:off x="5285472" y="4050299"/>
            <a:ext cx="1620567" cy="79586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sz="1600" dirty="0"/>
              <a:t>Целочисленные регистры</a:t>
            </a:r>
            <a:endParaRPr lang="en-US" sz="1600" dirty="0"/>
          </a:p>
        </p:txBody>
      </p:sp>
      <p:cxnSp>
        <p:nvCxnSpPr>
          <p:cNvPr id="44" name="Прямая со стрелкой 43">
            <a:extLst>
              <a:ext uri="{FF2B5EF4-FFF2-40B4-BE49-F238E27FC236}">
                <a16:creationId xmlns:a16="http://schemas.microsoft.com/office/drawing/2014/main" id="{44CB93E1-E718-CCAA-5DF1-0E3517AA96CE}"/>
              </a:ext>
            </a:extLst>
          </p:cNvPr>
          <p:cNvCxnSpPr>
            <a:cxnSpLocks/>
          </p:cNvCxnSpPr>
          <p:nvPr/>
        </p:nvCxnSpPr>
        <p:spPr>
          <a:xfrm>
            <a:off x="4620942" y="3053860"/>
            <a:ext cx="579730" cy="38153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49" name="Прямоугольник 48">
            <a:extLst>
              <a:ext uri="{FF2B5EF4-FFF2-40B4-BE49-F238E27FC236}">
                <a16:creationId xmlns:a16="http://schemas.microsoft.com/office/drawing/2014/main" id="{37680A70-C7B6-01CA-9CF5-253335802139}"/>
              </a:ext>
            </a:extLst>
          </p:cNvPr>
          <p:cNvSpPr/>
          <p:nvPr/>
        </p:nvSpPr>
        <p:spPr>
          <a:xfrm>
            <a:off x="5282771" y="4881835"/>
            <a:ext cx="1620567" cy="79586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sz="1600" dirty="0"/>
              <a:t>Векторные регистры</a:t>
            </a:r>
            <a:endParaRPr lang="en-US" sz="1600" dirty="0"/>
          </a:p>
        </p:txBody>
      </p:sp>
      <p:sp>
        <p:nvSpPr>
          <p:cNvPr id="50" name="TextBox 49">
            <a:extLst>
              <a:ext uri="{FF2B5EF4-FFF2-40B4-BE49-F238E27FC236}">
                <a16:creationId xmlns:a16="http://schemas.microsoft.com/office/drawing/2014/main" id="{824A7CBF-0589-7DA8-77D6-4D59ACCFE6BF}"/>
              </a:ext>
            </a:extLst>
          </p:cNvPr>
          <p:cNvSpPr txBox="1"/>
          <p:nvPr/>
        </p:nvSpPr>
        <p:spPr>
          <a:xfrm>
            <a:off x="9289223" y="581300"/>
            <a:ext cx="2668263" cy="1477328"/>
          </a:xfrm>
          <a:prstGeom prst="rect">
            <a:avLst/>
          </a:prstGeom>
          <a:noFill/>
        </p:spPr>
        <p:txBody>
          <a:bodyPr wrap="square" rtlCol="0">
            <a:spAutoFit/>
          </a:bodyPr>
          <a:lstStyle/>
          <a:p>
            <a:pPr algn="ctr"/>
            <a:r>
              <a:rPr lang="en-US" b="1" dirty="0"/>
              <a:t>ALU </a:t>
            </a:r>
            <a:br>
              <a:rPr lang="en-US" dirty="0"/>
            </a:br>
            <a:r>
              <a:rPr lang="en-US" dirty="0"/>
              <a:t>(Arithmetic Logic Unit)</a:t>
            </a:r>
          </a:p>
          <a:p>
            <a:pPr algn="ctr"/>
            <a:r>
              <a:rPr lang="ru-RU" dirty="0"/>
              <a:t>отвечает за целочисленные вычисления</a:t>
            </a:r>
          </a:p>
        </p:txBody>
      </p:sp>
      <p:sp>
        <p:nvSpPr>
          <p:cNvPr id="51" name="TextBox 50">
            <a:extLst>
              <a:ext uri="{FF2B5EF4-FFF2-40B4-BE49-F238E27FC236}">
                <a16:creationId xmlns:a16="http://schemas.microsoft.com/office/drawing/2014/main" id="{2BBD4193-2B4F-CC82-C7EB-2B83C8A686C4}"/>
              </a:ext>
            </a:extLst>
          </p:cNvPr>
          <p:cNvSpPr txBox="1"/>
          <p:nvPr/>
        </p:nvSpPr>
        <p:spPr>
          <a:xfrm>
            <a:off x="9289223" y="2231061"/>
            <a:ext cx="2668263" cy="1754326"/>
          </a:xfrm>
          <a:prstGeom prst="rect">
            <a:avLst/>
          </a:prstGeom>
          <a:noFill/>
        </p:spPr>
        <p:txBody>
          <a:bodyPr wrap="square" rtlCol="0">
            <a:spAutoFit/>
          </a:bodyPr>
          <a:lstStyle/>
          <a:p>
            <a:pPr algn="ctr"/>
            <a:r>
              <a:rPr lang="en-US" b="1" dirty="0"/>
              <a:t>AGU</a:t>
            </a:r>
            <a:r>
              <a:rPr lang="en-US" dirty="0"/>
              <a:t> </a:t>
            </a:r>
            <a:br>
              <a:rPr lang="en-US" dirty="0"/>
            </a:br>
            <a:r>
              <a:rPr lang="en-US" dirty="0"/>
              <a:t>(Address Generation Unit)</a:t>
            </a:r>
          </a:p>
          <a:p>
            <a:pPr algn="ctr"/>
            <a:r>
              <a:rPr lang="ru-RU" dirty="0"/>
              <a:t>отвечает за вычисление адреса в адресных выражениях</a:t>
            </a:r>
            <a:endParaRPr lang="en-US" dirty="0"/>
          </a:p>
          <a:p>
            <a:pPr algn="ctr"/>
            <a:endParaRPr lang="ru-RU" dirty="0"/>
          </a:p>
        </p:txBody>
      </p:sp>
      <p:sp>
        <p:nvSpPr>
          <p:cNvPr id="52" name="TextBox 51">
            <a:extLst>
              <a:ext uri="{FF2B5EF4-FFF2-40B4-BE49-F238E27FC236}">
                <a16:creationId xmlns:a16="http://schemas.microsoft.com/office/drawing/2014/main" id="{656E28FD-04F3-DA97-67D2-2234F505E869}"/>
              </a:ext>
            </a:extLst>
          </p:cNvPr>
          <p:cNvSpPr txBox="1"/>
          <p:nvPr/>
        </p:nvSpPr>
        <p:spPr>
          <a:xfrm>
            <a:off x="9289223" y="3960682"/>
            <a:ext cx="2668263" cy="1754326"/>
          </a:xfrm>
          <a:prstGeom prst="rect">
            <a:avLst/>
          </a:prstGeom>
          <a:noFill/>
        </p:spPr>
        <p:txBody>
          <a:bodyPr wrap="square" rtlCol="0">
            <a:spAutoFit/>
          </a:bodyPr>
          <a:lstStyle/>
          <a:p>
            <a:pPr algn="ctr"/>
            <a:r>
              <a:rPr lang="en-US" b="1" dirty="0"/>
              <a:t>FPU</a:t>
            </a:r>
            <a:r>
              <a:rPr lang="en-US" dirty="0"/>
              <a:t> </a:t>
            </a:r>
            <a:br>
              <a:rPr lang="en-US" dirty="0"/>
            </a:br>
            <a:r>
              <a:rPr lang="en-US" dirty="0"/>
              <a:t>(Floating Point Unit)</a:t>
            </a:r>
          </a:p>
          <a:p>
            <a:pPr algn="ctr"/>
            <a:r>
              <a:rPr lang="ru-RU" dirty="0"/>
              <a:t>отвечает за вещественные вычисления</a:t>
            </a:r>
            <a:endParaRPr lang="en-US" dirty="0"/>
          </a:p>
          <a:p>
            <a:pPr algn="ctr"/>
            <a:endParaRPr lang="ru-RU" dirty="0"/>
          </a:p>
        </p:txBody>
      </p:sp>
      <p:sp>
        <p:nvSpPr>
          <p:cNvPr id="3" name="Прямоугольник 2">
            <a:extLst>
              <a:ext uri="{FF2B5EF4-FFF2-40B4-BE49-F238E27FC236}">
                <a16:creationId xmlns:a16="http://schemas.microsoft.com/office/drawing/2014/main" id="{9B3DD9F8-8096-22F0-BC40-E7909764306E}"/>
              </a:ext>
            </a:extLst>
          </p:cNvPr>
          <p:cNvSpPr/>
          <p:nvPr/>
        </p:nvSpPr>
        <p:spPr>
          <a:xfrm>
            <a:off x="1385820" y="2053526"/>
            <a:ext cx="1427825" cy="135201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Внешние устройства</a:t>
            </a:r>
            <a:endParaRPr lang="en-US" dirty="0"/>
          </a:p>
        </p:txBody>
      </p:sp>
      <p:sp>
        <p:nvSpPr>
          <p:cNvPr id="4" name="Прямоугольник 3">
            <a:extLst>
              <a:ext uri="{FF2B5EF4-FFF2-40B4-BE49-F238E27FC236}">
                <a16:creationId xmlns:a16="http://schemas.microsoft.com/office/drawing/2014/main" id="{D9C7C90D-41F5-7BDE-38AB-57627E7A74B4}"/>
              </a:ext>
            </a:extLst>
          </p:cNvPr>
          <p:cNvSpPr/>
          <p:nvPr/>
        </p:nvSpPr>
        <p:spPr>
          <a:xfrm>
            <a:off x="2105206" y="3977197"/>
            <a:ext cx="708438" cy="135201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dirty="0"/>
              <a:t>ОЗУ</a:t>
            </a:r>
            <a:endParaRPr lang="en-US" dirty="0"/>
          </a:p>
        </p:txBody>
      </p:sp>
      <p:cxnSp>
        <p:nvCxnSpPr>
          <p:cNvPr id="11" name="Прямая со стрелкой 10">
            <a:extLst>
              <a:ext uri="{FF2B5EF4-FFF2-40B4-BE49-F238E27FC236}">
                <a16:creationId xmlns:a16="http://schemas.microsoft.com/office/drawing/2014/main" id="{F7541E52-0893-B43D-10D2-4AC21682FFDF}"/>
              </a:ext>
            </a:extLst>
          </p:cNvPr>
          <p:cNvCxnSpPr>
            <a:cxnSpLocks/>
          </p:cNvCxnSpPr>
          <p:nvPr/>
        </p:nvCxnSpPr>
        <p:spPr>
          <a:xfrm>
            <a:off x="2813645" y="4471742"/>
            <a:ext cx="379472"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2" name="Прямая со стрелкой 11">
            <a:extLst>
              <a:ext uri="{FF2B5EF4-FFF2-40B4-BE49-F238E27FC236}">
                <a16:creationId xmlns:a16="http://schemas.microsoft.com/office/drawing/2014/main" id="{2A4914F3-66AD-7058-443C-6F3088159D57}"/>
              </a:ext>
            </a:extLst>
          </p:cNvPr>
          <p:cNvCxnSpPr>
            <a:cxnSpLocks/>
          </p:cNvCxnSpPr>
          <p:nvPr/>
        </p:nvCxnSpPr>
        <p:spPr>
          <a:xfrm>
            <a:off x="2809942" y="4668310"/>
            <a:ext cx="379472" cy="0"/>
          </a:xfrm>
          <a:prstGeom prst="straightConnector1">
            <a:avLst/>
          </a:prstGeom>
          <a:ln>
            <a:prstDash val="dash"/>
            <a:headEnd type="triangle"/>
            <a:tailEnd type="triangle"/>
          </a:ln>
        </p:spPr>
        <p:style>
          <a:lnRef idx="1">
            <a:schemeClr val="dk1"/>
          </a:lnRef>
          <a:fillRef idx="0">
            <a:schemeClr val="dk1"/>
          </a:fillRef>
          <a:effectRef idx="0">
            <a:schemeClr val="dk1"/>
          </a:effectRef>
          <a:fontRef idx="minor">
            <a:schemeClr val="tx1"/>
          </a:fontRef>
        </p:style>
      </p:cxnSp>
      <p:cxnSp>
        <p:nvCxnSpPr>
          <p:cNvPr id="14" name="Прямая со стрелкой 19">
            <a:extLst>
              <a:ext uri="{FF2B5EF4-FFF2-40B4-BE49-F238E27FC236}">
                <a16:creationId xmlns:a16="http://schemas.microsoft.com/office/drawing/2014/main" id="{00DD0CAB-D7D3-E871-931B-3824769DA7BE}"/>
              </a:ext>
            </a:extLst>
          </p:cNvPr>
          <p:cNvCxnSpPr>
            <a:cxnSpLocks noChangeAspect="1"/>
          </p:cNvCxnSpPr>
          <p:nvPr/>
        </p:nvCxnSpPr>
        <p:spPr>
          <a:xfrm flipH="1">
            <a:off x="4628412" y="2872924"/>
            <a:ext cx="756971" cy="1204076"/>
          </a:xfrm>
          <a:prstGeom prst="straightConnector1">
            <a:avLst/>
          </a:prstGeom>
          <a:ln>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27" name="Прямая со стрелкой 19">
            <a:extLst>
              <a:ext uri="{FF2B5EF4-FFF2-40B4-BE49-F238E27FC236}">
                <a16:creationId xmlns:a16="http://schemas.microsoft.com/office/drawing/2014/main" id="{4378C696-C60D-E9F8-0A2F-176C191CDA6D}"/>
              </a:ext>
            </a:extLst>
          </p:cNvPr>
          <p:cNvCxnSpPr>
            <a:cxnSpLocks noChangeAspect="1"/>
          </p:cNvCxnSpPr>
          <p:nvPr/>
        </p:nvCxnSpPr>
        <p:spPr>
          <a:xfrm flipH="1">
            <a:off x="4507715" y="2747708"/>
            <a:ext cx="770299" cy="1225276"/>
          </a:xfrm>
          <a:prstGeom prst="straightConnector1">
            <a:avLst/>
          </a:prstGeom>
          <a:ln w="9525"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49706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80D49-39DD-70C9-4593-11405CDADEEB}"/>
              </a:ext>
            </a:extLst>
          </p:cNvPr>
          <p:cNvSpPr>
            <a:spLocks noGrp="1"/>
          </p:cNvSpPr>
          <p:nvPr>
            <p:ph type="title"/>
          </p:nvPr>
        </p:nvSpPr>
        <p:spPr>
          <a:xfrm>
            <a:off x="838200" y="1"/>
            <a:ext cx="10515600" cy="749508"/>
          </a:xfrm>
        </p:spPr>
        <p:txBody>
          <a:bodyPr/>
          <a:lstStyle/>
          <a:p>
            <a:r>
              <a:rPr lang="ru-RU" dirty="0"/>
              <a:t>Устройство ядра ЦП</a:t>
            </a:r>
          </a:p>
        </p:txBody>
      </p:sp>
      <p:sp>
        <p:nvSpPr>
          <p:cNvPr id="4" name="Slide Number Placeholder 3">
            <a:extLst>
              <a:ext uri="{FF2B5EF4-FFF2-40B4-BE49-F238E27FC236}">
                <a16:creationId xmlns:a16="http://schemas.microsoft.com/office/drawing/2014/main" id="{A4BC7FE0-ED2C-BED9-1A27-6E3522745810}"/>
              </a:ext>
            </a:extLst>
          </p:cNvPr>
          <p:cNvSpPr>
            <a:spLocks noGrp="1"/>
          </p:cNvSpPr>
          <p:nvPr>
            <p:ph type="sldNum" sz="quarter" idx="12"/>
          </p:nvPr>
        </p:nvSpPr>
        <p:spPr/>
        <p:txBody>
          <a:bodyPr/>
          <a:lstStyle/>
          <a:p>
            <a:fld id="{B67FBA2B-964F-4C4D-AAF7-5A8399264638}" type="slidenum">
              <a:rPr lang="en-US" smtClean="0"/>
              <a:pPr/>
              <a:t>15</a:t>
            </a:fld>
            <a:endParaRPr lang="en-US"/>
          </a:p>
        </p:txBody>
      </p:sp>
      <p:pic>
        <p:nvPicPr>
          <p:cNvPr id="1026" name="Picture 2">
            <a:extLst>
              <a:ext uri="{FF2B5EF4-FFF2-40B4-BE49-F238E27FC236}">
                <a16:creationId xmlns:a16="http://schemas.microsoft.com/office/drawing/2014/main" id="{CB19FEE7-8F90-E997-74AD-38137F92F4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52072"/>
            <a:ext cx="10515600" cy="524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7E33926-6F86-5830-29BA-DDC09E2AC959}"/>
              </a:ext>
            </a:extLst>
          </p:cNvPr>
          <p:cNvSpPr txBox="1"/>
          <p:nvPr/>
        </p:nvSpPr>
        <p:spPr>
          <a:xfrm>
            <a:off x="838200" y="5939545"/>
            <a:ext cx="10048456" cy="923330"/>
          </a:xfrm>
          <a:prstGeom prst="rect">
            <a:avLst/>
          </a:prstGeom>
          <a:noFill/>
        </p:spPr>
        <p:txBody>
          <a:bodyPr wrap="none" rtlCol="0">
            <a:spAutoFit/>
          </a:bodyPr>
          <a:lstStyle/>
          <a:p>
            <a:r>
              <a:rPr lang="ru-RU" dirty="0"/>
              <a:t>За выполнение вещественных операций отвечают области, отмеченные </a:t>
            </a:r>
            <a:r>
              <a:rPr lang="en-US" dirty="0"/>
              <a:t>FADD+FMAC </a:t>
            </a:r>
            <a:r>
              <a:rPr lang="ru-RU" dirty="0"/>
              <a:t> в левой части;</a:t>
            </a:r>
          </a:p>
          <a:p>
            <a:r>
              <a:rPr lang="ru-RU" dirty="0"/>
              <a:t>за выполнение целочисленных операций – </a:t>
            </a:r>
            <a:r>
              <a:rPr lang="en-US" dirty="0"/>
              <a:t>Integer Execution </a:t>
            </a:r>
            <a:r>
              <a:rPr lang="ru-RU" dirty="0"/>
              <a:t>в центре.</a:t>
            </a:r>
          </a:p>
          <a:p>
            <a:r>
              <a:rPr lang="ru-RU" i="1" dirty="0"/>
              <a:t>чем занимается все остальное?</a:t>
            </a:r>
          </a:p>
        </p:txBody>
      </p:sp>
      <p:sp>
        <p:nvSpPr>
          <p:cNvPr id="6" name="Rectangle 5">
            <a:extLst>
              <a:ext uri="{FF2B5EF4-FFF2-40B4-BE49-F238E27FC236}">
                <a16:creationId xmlns:a16="http://schemas.microsoft.com/office/drawing/2014/main" id="{F437F4EB-C2BD-CA97-3168-A62F4F366524}"/>
              </a:ext>
            </a:extLst>
          </p:cNvPr>
          <p:cNvSpPr/>
          <p:nvPr/>
        </p:nvSpPr>
        <p:spPr>
          <a:xfrm>
            <a:off x="974361" y="796983"/>
            <a:ext cx="2630773" cy="19911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Rectangle 6">
            <a:extLst>
              <a:ext uri="{FF2B5EF4-FFF2-40B4-BE49-F238E27FC236}">
                <a16:creationId xmlns:a16="http://schemas.microsoft.com/office/drawing/2014/main" id="{5FA7F853-59B5-3C3E-AE82-F43F151707C1}"/>
              </a:ext>
            </a:extLst>
          </p:cNvPr>
          <p:cNvSpPr/>
          <p:nvPr/>
        </p:nvSpPr>
        <p:spPr>
          <a:xfrm>
            <a:off x="974361" y="3775491"/>
            <a:ext cx="2630773" cy="19911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Rectangle 7">
            <a:extLst>
              <a:ext uri="{FF2B5EF4-FFF2-40B4-BE49-F238E27FC236}">
                <a16:creationId xmlns:a16="http://schemas.microsoft.com/office/drawing/2014/main" id="{8AC5A30A-B5E6-8977-4317-77040E5E6B0D}"/>
              </a:ext>
            </a:extLst>
          </p:cNvPr>
          <p:cNvSpPr/>
          <p:nvPr/>
        </p:nvSpPr>
        <p:spPr>
          <a:xfrm>
            <a:off x="4339652" y="1888761"/>
            <a:ext cx="2001188" cy="17538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79E58E2C-644E-C41F-71B1-B61C3179C5A8}"/>
              </a:ext>
            </a:extLst>
          </p:cNvPr>
          <p:cNvSpPr txBox="1"/>
          <p:nvPr/>
        </p:nvSpPr>
        <p:spPr>
          <a:xfrm rot="16200000">
            <a:off x="-153458" y="2966423"/>
            <a:ext cx="1248803" cy="369332"/>
          </a:xfrm>
          <a:prstGeom prst="rect">
            <a:avLst/>
          </a:prstGeom>
          <a:noFill/>
        </p:spPr>
        <p:txBody>
          <a:bodyPr wrap="none" rtlCol="0">
            <a:spAutoFit/>
          </a:bodyPr>
          <a:lstStyle/>
          <a:p>
            <a:r>
              <a:rPr lang="ru-RU" dirty="0"/>
              <a:t>Ядро </a:t>
            </a:r>
            <a:r>
              <a:rPr lang="en-US" dirty="0"/>
              <a:t>Zen 5</a:t>
            </a:r>
            <a:endParaRPr lang="ru-RU" dirty="0"/>
          </a:p>
        </p:txBody>
      </p:sp>
    </p:spTree>
    <p:extLst>
      <p:ext uri="{BB962C8B-B14F-4D97-AF65-F5344CB8AC3E}">
        <p14:creationId xmlns:p14="http://schemas.microsoft.com/office/powerpoint/2010/main" val="690278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p:txBody>
          <a:bodyPr/>
          <a:lstStyle/>
          <a:p>
            <a:r>
              <a:rPr lang="ru-RU" dirty="0"/>
              <a:t>Выполнение инструкций процессором</a:t>
            </a:r>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838200" y="1825624"/>
            <a:ext cx="10515600" cy="4663044"/>
          </a:xfrm>
        </p:spPr>
        <p:txBody>
          <a:bodyPr>
            <a:normAutofit lnSpcReduction="10000"/>
          </a:bodyPr>
          <a:lstStyle/>
          <a:p>
            <a:pPr marL="0" indent="0">
              <a:buNone/>
            </a:pPr>
            <a:r>
              <a:rPr lang="ru-RU" sz="2000" dirty="0"/>
              <a:t>Между считыванием инструкции из памяти и получением результата проходит несколько тактов (дискретных промежутков времени между импульсами тактового генератора). </a:t>
            </a:r>
          </a:p>
          <a:p>
            <a:pPr marL="0" indent="0">
              <a:buNone/>
            </a:pPr>
            <a:r>
              <a:rPr lang="ru-RU" sz="2000" dirty="0"/>
              <a:t>Инструкция проходит несколько этапов:</a:t>
            </a:r>
          </a:p>
          <a:p>
            <a:pPr marL="457200" indent="-457200">
              <a:buFont typeface="+mj-lt"/>
              <a:buAutoNum type="arabicPeriod"/>
            </a:pPr>
            <a:r>
              <a:rPr lang="ru-RU" sz="2000" b="1" dirty="0"/>
              <a:t>Чтение</a:t>
            </a:r>
            <a:r>
              <a:rPr lang="ru-RU" sz="2000" dirty="0"/>
              <a:t> </a:t>
            </a:r>
            <a:r>
              <a:rPr lang="ru-RU" sz="2000" b="1" dirty="0"/>
              <a:t>/выборка</a:t>
            </a:r>
            <a:r>
              <a:rPr lang="ru-RU" sz="2000" dirty="0"/>
              <a:t>(</a:t>
            </a:r>
            <a:r>
              <a:rPr lang="en-US" sz="2000" dirty="0"/>
              <a:t>fetching - </a:t>
            </a:r>
            <a:r>
              <a:rPr lang="ru-RU" sz="2000" dirty="0"/>
              <a:t>инструкция считывается из ОЗУ или кэша);</a:t>
            </a:r>
          </a:p>
          <a:p>
            <a:pPr marL="457200" indent="-457200">
              <a:buFont typeface="+mj-lt"/>
              <a:buAutoNum type="arabicPeriod"/>
            </a:pPr>
            <a:r>
              <a:rPr lang="ru-RU" sz="2000" b="1" dirty="0"/>
              <a:t>Декодирование</a:t>
            </a:r>
            <a:r>
              <a:rPr lang="ru-RU" sz="2000" dirty="0"/>
              <a:t> (</a:t>
            </a:r>
            <a:r>
              <a:rPr lang="en-US" sz="2000" dirty="0"/>
              <a:t>decoding – </a:t>
            </a:r>
            <a:r>
              <a:rPr lang="ru-RU" sz="2000" dirty="0"/>
              <a:t>определение требуемого действия);</a:t>
            </a:r>
          </a:p>
          <a:p>
            <a:pPr marL="457200" indent="-457200">
              <a:buFont typeface="+mj-lt"/>
              <a:buAutoNum type="arabicPeriod"/>
            </a:pPr>
            <a:r>
              <a:rPr lang="ru-RU" sz="2000" b="1" dirty="0"/>
              <a:t>Выполнение</a:t>
            </a:r>
            <a:r>
              <a:rPr lang="ru-RU" sz="2000" dirty="0"/>
              <a:t> (</a:t>
            </a:r>
            <a:r>
              <a:rPr lang="en-US" sz="2000" dirty="0"/>
              <a:t>execution - </a:t>
            </a:r>
            <a:r>
              <a:rPr lang="ru-RU" sz="2000" dirty="0"/>
              <a:t>выполнение операций соответствующими устройствами);</a:t>
            </a:r>
            <a:endParaRPr lang="en-US" sz="2000" dirty="0"/>
          </a:p>
          <a:p>
            <a:pPr marL="457200" indent="-457200">
              <a:buFont typeface="+mj-lt"/>
              <a:buAutoNum type="arabicPeriod"/>
            </a:pPr>
            <a:r>
              <a:rPr lang="ru-RU" sz="2000" b="1" dirty="0"/>
              <a:t>Запись результата </a:t>
            </a:r>
            <a:r>
              <a:rPr lang="ru-RU" sz="2000" dirty="0"/>
              <a:t>(</a:t>
            </a:r>
            <a:r>
              <a:rPr lang="en-US" sz="2000" dirty="0"/>
              <a:t>write-back/retire</a:t>
            </a:r>
            <a:r>
              <a:rPr lang="ru-RU" sz="2000" dirty="0"/>
              <a:t>– запись результата в регистры/память).</a:t>
            </a:r>
          </a:p>
          <a:p>
            <a:pPr marL="0" indent="0">
              <a:buNone/>
            </a:pPr>
            <a:r>
              <a:rPr lang="ru-RU" sz="2000" dirty="0"/>
              <a:t>Сколько тактов выполняется конкретная инструкция, определяется микроархитектурой ЦП. К примеру, на </a:t>
            </a:r>
            <a:r>
              <a:rPr lang="en-US" sz="2000" dirty="0"/>
              <a:t>Zen 1 </a:t>
            </a:r>
            <a:r>
              <a:rPr lang="ru-RU" sz="2000" dirty="0"/>
              <a:t>инструкция </a:t>
            </a:r>
            <a:r>
              <a:rPr lang="en-US" sz="2000" dirty="0"/>
              <a:t>DIV </a:t>
            </a:r>
            <a:r>
              <a:rPr lang="ru-RU" sz="2000" dirty="0"/>
              <a:t>выполняется за </a:t>
            </a:r>
            <a:r>
              <a:rPr lang="en-US" sz="2000" dirty="0"/>
              <a:t>14-47 </a:t>
            </a:r>
            <a:r>
              <a:rPr lang="ru-RU" sz="2000" dirty="0"/>
              <a:t>тактов, а на </a:t>
            </a:r>
            <a:r>
              <a:rPr lang="en-US" sz="2000" dirty="0"/>
              <a:t>Zen 4 – </a:t>
            </a:r>
            <a:r>
              <a:rPr lang="ru-RU" sz="2000" dirty="0"/>
              <a:t>за </a:t>
            </a:r>
            <a:r>
              <a:rPr lang="en-US" sz="2000" dirty="0"/>
              <a:t>10-18</a:t>
            </a:r>
            <a:r>
              <a:rPr lang="ru-RU" sz="2000" dirty="0"/>
              <a:t> тактов</a:t>
            </a:r>
            <a:r>
              <a:rPr lang="en-US" sz="2000" dirty="0"/>
              <a:t> (</a:t>
            </a:r>
            <a:r>
              <a:rPr lang="ru-RU" sz="2000" dirty="0"/>
              <a:t>деление является одной из самых долгих инструкций целочисленной арифметики</a:t>
            </a:r>
            <a:r>
              <a:rPr lang="en-US" sz="2000" dirty="0"/>
              <a:t>)</a:t>
            </a:r>
            <a:r>
              <a:rPr lang="ru-RU" sz="2000" dirty="0"/>
              <a:t>.</a:t>
            </a:r>
          </a:p>
          <a:p>
            <a:pPr marL="0" indent="0">
              <a:buNone/>
            </a:pPr>
            <a:r>
              <a:rPr lang="ru-RU" sz="2000" dirty="0"/>
              <a:t>При этом, каждая инструкция, в зависимости от типа, выполняется на конкретном </a:t>
            </a:r>
            <a:r>
              <a:rPr lang="ru-RU" sz="2000" b="1" dirty="0"/>
              <a:t>исполнительном устройстве</a:t>
            </a:r>
            <a:r>
              <a:rPr lang="ru-RU" sz="2000" dirty="0"/>
              <a:t> – </a:t>
            </a:r>
            <a:r>
              <a:rPr lang="en-US" sz="2000" dirty="0"/>
              <a:t>ALU, AGU, FPU</a:t>
            </a:r>
            <a:r>
              <a:rPr lang="ru-RU" sz="2000" dirty="0"/>
              <a:t>. Инструкции, операндом которых является адресное выражение, сначала загружают значение из памяти,  затем выполняют вычисления в устройстве выполнения (и затем, если необходимо, сохраняют результат в память).</a:t>
            </a:r>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16</a:t>
            </a:fld>
            <a:endParaRPr lang="en-US"/>
          </a:p>
        </p:txBody>
      </p:sp>
      <p:sp>
        <p:nvSpPr>
          <p:cNvPr id="7" name="TextBox 6">
            <a:extLst>
              <a:ext uri="{FF2B5EF4-FFF2-40B4-BE49-F238E27FC236}">
                <a16:creationId xmlns:a16="http://schemas.microsoft.com/office/drawing/2014/main" id="{CF66219B-0039-2152-0C9B-FB2A399281FC}"/>
              </a:ext>
            </a:extLst>
          </p:cNvPr>
          <p:cNvSpPr txBox="1"/>
          <p:nvPr/>
        </p:nvSpPr>
        <p:spPr>
          <a:xfrm>
            <a:off x="838200" y="6488668"/>
            <a:ext cx="6094800" cy="369332"/>
          </a:xfrm>
          <a:prstGeom prst="rect">
            <a:avLst/>
          </a:prstGeom>
          <a:noFill/>
        </p:spPr>
        <p:txBody>
          <a:bodyPr wrap="square">
            <a:spAutoFit/>
          </a:bodyPr>
          <a:lstStyle/>
          <a:p>
            <a:r>
              <a:rPr lang="ru-RU" dirty="0">
                <a:hlinkClick r:id="rId2"/>
              </a:rPr>
              <a:t>https://agner.org/optimize/instruction_tables.pdf</a:t>
            </a:r>
            <a:endParaRPr lang="ru-RU" dirty="0"/>
          </a:p>
        </p:txBody>
      </p:sp>
    </p:spTree>
    <p:extLst>
      <p:ext uri="{BB962C8B-B14F-4D97-AF65-F5344CB8AC3E}">
        <p14:creationId xmlns:p14="http://schemas.microsoft.com/office/powerpoint/2010/main" val="4248712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C58C-20F5-54FA-6E2C-31DFFD565016}"/>
              </a:ext>
            </a:extLst>
          </p:cNvPr>
          <p:cNvSpPr>
            <a:spLocks noGrp="1"/>
          </p:cNvSpPr>
          <p:nvPr>
            <p:ph type="title"/>
          </p:nvPr>
        </p:nvSpPr>
        <p:spPr/>
        <p:txBody>
          <a:bodyPr/>
          <a:lstStyle/>
          <a:p>
            <a:r>
              <a:rPr lang="ru-RU" dirty="0"/>
              <a:t>Чтение инструкций</a:t>
            </a:r>
          </a:p>
        </p:txBody>
      </p:sp>
      <p:sp>
        <p:nvSpPr>
          <p:cNvPr id="3" name="Content Placeholder 2">
            <a:extLst>
              <a:ext uri="{FF2B5EF4-FFF2-40B4-BE49-F238E27FC236}">
                <a16:creationId xmlns:a16="http://schemas.microsoft.com/office/drawing/2014/main" id="{55079114-B9BA-909B-5583-BFF8D8FA3A6E}"/>
              </a:ext>
            </a:extLst>
          </p:cNvPr>
          <p:cNvSpPr>
            <a:spLocks noGrp="1"/>
          </p:cNvSpPr>
          <p:nvPr>
            <p:ph idx="1"/>
          </p:nvPr>
        </p:nvSpPr>
        <p:spPr/>
        <p:txBody>
          <a:bodyPr>
            <a:normAutofit/>
          </a:bodyPr>
          <a:lstStyle/>
          <a:p>
            <a:pPr marL="0" indent="0">
              <a:buNone/>
            </a:pPr>
            <a:r>
              <a:rPr lang="ru-RU" sz="2000" dirty="0"/>
              <a:t>Чтение инструкций, против ожиданий, является достаточно сложным процессом. </a:t>
            </a:r>
            <a:endParaRPr lang="en-US" sz="2000" dirty="0"/>
          </a:p>
          <a:p>
            <a:pPr marL="0" indent="0">
              <a:buNone/>
            </a:pPr>
            <a:r>
              <a:rPr lang="ru-RU" sz="2000" dirty="0"/>
              <a:t>В архитектурах семейства х86 инструкции имеют переменную длину. При этом чтение данных обычно выполняется блоками по 8 байт. </a:t>
            </a:r>
          </a:p>
          <a:p>
            <a:pPr marL="0" indent="0">
              <a:buNone/>
            </a:pPr>
            <a:r>
              <a:rPr lang="ru-RU" sz="2000" dirty="0"/>
              <a:t>Когда процессор считывает очередной 8-байтовый блок с кодом программы он должен разбить блок на инструкции. При этом возможна ситуация, когда инструкция на конце блока считана не вся – в этом случае ее конец нужно взять из следующего блока.</a:t>
            </a:r>
          </a:p>
        </p:txBody>
      </p:sp>
      <p:sp>
        <p:nvSpPr>
          <p:cNvPr id="4" name="Slide Number Placeholder 3">
            <a:extLst>
              <a:ext uri="{FF2B5EF4-FFF2-40B4-BE49-F238E27FC236}">
                <a16:creationId xmlns:a16="http://schemas.microsoft.com/office/drawing/2014/main" id="{367E159B-1476-EA17-1BB2-7E4F7D4CD933}"/>
              </a:ext>
            </a:extLst>
          </p:cNvPr>
          <p:cNvSpPr>
            <a:spLocks noGrp="1"/>
          </p:cNvSpPr>
          <p:nvPr>
            <p:ph type="sldNum" sz="quarter" idx="12"/>
          </p:nvPr>
        </p:nvSpPr>
        <p:spPr/>
        <p:txBody>
          <a:bodyPr/>
          <a:lstStyle/>
          <a:p>
            <a:fld id="{B67FBA2B-964F-4C4D-AAF7-5A8399264638}" type="slidenum">
              <a:rPr lang="en-US" smtClean="0"/>
              <a:pPr/>
              <a:t>17</a:t>
            </a:fld>
            <a:endParaRPr lang="en-US"/>
          </a:p>
        </p:txBody>
      </p:sp>
    </p:spTree>
    <p:extLst>
      <p:ext uri="{BB962C8B-B14F-4D97-AF65-F5344CB8AC3E}">
        <p14:creationId xmlns:p14="http://schemas.microsoft.com/office/powerpoint/2010/main" val="2343391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9C9C19-70B4-A3AB-9EC0-C7BAF1B1BFA1}"/>
              </a:ext>
            </a:extLst>
          </p:cNvPr>
          <p:cNvSpPr>
            <a:spLocks noGrp="1"/>
          </p:cNvSpPr>
          <p:nvPr>
            <p:ph type="title"/>
          </p:nvPr>
        </p:nvSpPr>
        <p:spPr/>
        <p:txBody>
          <a:bodyPr/>
          <a:lstStyle/>
          <a:p>
            <a:r>
              <a:rPr lang="ru-RU" dirty="0"/>
              <a:t>Конвейеризация. </a:t>
            </a:r>
          </a:p>
        </p:txBody>
      </p:sp>
      <p:sp>
        <p:nvSpPr>
          <p:cNvPr id="3" name="Объект 2">
            <a:extLst>
              <a:ext uri="{FF2B5EF4-FFF2-40B4-BE49-F238E27FC236}">
                <a16:creationId xmlns:a16="http://schemas.microsoft.com/office/drawing/2014/main" id="{580A6C8C-236A-0EB6-96F5-2FECA7452E0C}"/>
              </a:ext>
            </a:extLst>
          </p:cNvPr>
          <p:cNvSpPr>
            <a:spLocks noGrp="1"/>
          </p:cNvSpPr>
          <p:nvPr>
            <p:ph idx="1"/>
          </p:nvPr>
        </p:nvSpPr>
        <p:spPr>
          <a:xfrm>
            <a:off x="838200" y="1381695"/>
            <a:ext cx="10515600" cy="3028315"/>
          </a:xfrm>
        </p:spPr>
        <p:txBody>
          <a:bodyPr>
            <a:normAutofit/>
          </a:bodyPr>
          <a:lstStyle/>
          <a:p>
            <a:pPr marL="0" indent="0">
              <a:buNone/>
            </a:pPr>
            <a:r>
              <a:rPr lang="ru-RU" sz="2000" dirty="0"/>
              <a:t>Поскольку каждая инструкция проходит данные этапы независимо, возможно проводить считывание одной инструкции, пока происходит декодирование другой и т.д.</a:t>
            </a:r>
          </a:p>
          <a:p>
            <a:pPr marL="0" indent="0">
              <a:buNone/>
            </a:pPr>
            <a:r>
              <a:rPr lang="ru-RU" sz="2000" dirty="0"/>
              <a:t>Подобная схема с одновременным выполнением этапов называется </a:t>
            </a:r>
            <a:r>
              <a:rPr lang="ru-RU" sz="2000" b="1" dirty="0"/>
              <a:t>конвейером</a:t>
            </a:r>
            <a:r>
              <a:rPr lang="ru-RU" sz="2000" dirty="0"/>
              <a:t>.</a:t>
            </a:r>
          </a:p>
          <a:p>
            <a:pPr marL="0" indent="0">
              <a:buNone/>
            </a:pPr>
            <a:r>
              <a:rPr lang="ru-RU" sz="2000" dirty="0"/>
              <a:t>В простом конвейере 4 крупных этапа (</a:t>
            </a:r>
            <a:r>
              <a:rPr lang="en-US" sz="2000" dirty="0"/>
              <a:t>Fetch-Decode-Execute-Retire</a:t>
            </a:r>
            <a:r>
              <a:rPr lang="ru-RU" sz="2000" dirty="0"/>
              <a:t>), которые потенциально могут быть разбиты на более мелкие этапы (в ЦП </a:t>
            </a:r>
            <a:r>
              <a:rPr lang="en-US" sz="2000" dirty="0"/>
              <a:t> Intel </a:t>
            </a:r>
            <a:r>
              <a:rPr lang="ru-RU" sz="2000" dirty="0"/>
              <a:t>микроархитектуры </a:t>
            </a:r>
            <a:r>
              <a:rPr lang="en-US" sz="2000" dirty="0"/>
              <a:t>Prescott – 31 </a:t>
            </a:r>
            <a:r>
              <a:rPr lang="ru-RU" sz="2000" dirty="0"/>
              <a:t>этап!).</a:t>
            </a:r>
          </a:p>
          <a:p>
            <a:pPr marL="0" indent="0">
              <a:buNone/>
            </a:pPr>
            <a:r>
              <a:rPr lang="ru-RU" sz="2000" dirty="0"/>
              <a:t>Конвейеризация позволяет ускорить выполнение участков последовательного кода. </a:t>
            </a:r>
            <a:br>
              <a:rPr lang="en-US" sz="2000" dirty="0"/>
            </a:br>
            <a:r>
              <a:rPr lang="ru-RU" sz="2000" i="1" dirty="0"/>
              <a:t>Условные переходы и переходы по </a:t>
            </a:r>
            <a:r>
              <a:rPr lang="ru-RU" sz="2000" i="1" dirty="0" err="1"/>
              <a:t>неконстантным</a:t>
            </a:r>
            <a:r>
              <a:rPr lang="ru-RU" sz="2000" i="1" dirty="0"/>
              <a:t> значениям (</a:t>
            </a:r>
            <a:r>
              <a:rPr lang="en-US" sz="2000" i="1" dirty="0">
                <a:latin typeface="Courier New" panose="02070309020205020404" pitchFamily="49" charset="0"/>
                <a:cs typeface="Courier New" panose="02070309020205020404" pitchFamily="49" charset="0"/>
              </a:rPr>
              <a:t>JMP [EAX]</a:t>
            </a:r>
            <a:r>
              <a:rPr lang="en-US" sz="2000" i="1" dirty="0"/>
              <a:t>)</a:t>
            </a:r>
            <a:r>
              <a:rPr lang="ru-RU" sz="2000" i="1" dirty="0"/>
              <a:t> не ускоряются, т.к. заранее неизвестно, какая инструкция будет считана следующей.</a:t>
            </a:r>
          </a:p>
          <a:p>
            <a:pPr marL="0" indent="0">
              <a:buNone/>
            </a:pPr>
            <a:endParaRPr lang="ru-RU" sz="2000" dirty="0"/>
          </a:p>
        </p:txBody>
      </p:sp>
      <p:sp>
        <p:nvSpPr>
          <p:cNvPr id="5" name="Номер слайда 4">
            <a:extLst>
              <a:ext uri="{FF2B5EF4-FFF2-40B4-BE49-F238E27FC236}">
                <a16:creationId xmlns:a16="http://schemas.microsoft.com/office/drawing/2014/main" id="{3BB7732E-53E0-516D-074E-4FBDD6429476}"/>
              </a:ext>
            </a:extLst>
          </p:cNvPr>
          <p:cNvSpPr>
            <a:spLocks noGrp="1"/>
          </p:cNvSpPr>
          <p:nvPr>
            <p:ph type="sldNum" sz="quarter" idx="12"/>
          </p:nvPr>
        </p:nvSpPr>
        <p:spPr/>
        <p:txBody>
          <a:bodyPr/>
          <a:lstStyle/>
          <a:p>
            <a:fld id="{B67FBA2B-964F-4C4D-AAF7-5A8399264638}" type="slidenum">
              <a:rPr lang="en-US" smtClean="0"/>
              <a:pPr/>
              <a:t>18</a:t>
            </a:fld>
            <a:endParaRPr lang="en-US"/>
          </a:p>
        </p:txBody>
      </p:sp>
      <p:graphicFrame>
        <p:nvGraphicFramePr>
          <p:cNvPr id="4" name="Table 3">
            <a:extLst>
              <a:ext uri="{FF2B5EF4-FFF2-40B4-BE49-F238E27FC236}">
                <a16:creationId xmlns:a16="http://schemas.microsoft.com/office/drawing/2014/main" id="{E780A5F6-93AC-3CE7-6698-010CA2D29C2A}"/>
              </a:ext>
            </a:extLst>
          </p:cNvPr>
          <p:cNvGraphicFramePr>
            <a:graphicFrameLocks noGrp="1"/>
          </p:cNvGraphicFramePr>
          <p:nvPr>
            <p:extLst>
              <p:ext uri="{D42A27DB-BD31-4B8C-83A1-F6EECF244321}">
                <p14:modId xmlns:p14="http://schemas.microsoft.com/office/powerpoint/2010/main" val="3946356808"/>
              </p:ext>
            </p:extLst>
          </p:nvPr>
        </p:nvGraphicFramePr>
        <p:xfrm>
          <a:off x="7716520" y="4592575"/>
          <a:ext cx="3119120" cy="1946337"/>
        </p:xfrm>
        <a:graphic>
          <a:graphicData uri="http://schemas.openxmlformats.org/drawingml/2006/table">
            <a:tbl>
              <a:tblPr firstRow="1">
                <a:tableStyleId>{2D5ABB26-0587-4C30-8999-92F81FD0307C}</a:tableStyleId>
              </a:tblPr>
              <a:tblGrid>
                <a:gridCol w="779780">
                  <a:extLst>
                    <a:ext uri="{9D8B030D-6E8A-4147-A177-3AD203B41FA5}">
                      <a16:colId xmlns:a16="http://schemas.microsoft.com/office/drawing/2014/main" val="3470306159"/>
                    </a:ext>
                  </a:extLst>
                </a:gridCol>
                <a:gridCol w="779780">
                  <a:extLst>
                    <a:ext uri="{9D8B030D-6E8A-4147-A177-3AD203B41FA5}">
                      <a16:colId xmlns:a16="http://schemas.microsoft.com/office/drawing/2014/main" val="2121971411"/>
                    </a:ext>
                  </a:extLst>
                </a:gridCol>
                <a:gridCol w="779780">
                  <a:extLst>
                    <a:ext uri="{9D8B030D-6E8A-4147-A177-3AD203B41FA5}">
                      <a16:colId xmlns:a16="http://schemas.microsoft.com/office/drawing/2014/main" val="3435902052"/>
                    </a:ext>
                  </a:extLst>
                </a:gridCol>
                <a:gridCol w="779780">
                  <a:extLst>
                    <a:ext uri="{9D8B030D-6E8A-4147-A177-3AD203B41FA5}">
                      <a16:colId xmlns:a16="http://schemas.microsoft.com/office/drawing/2014/main" val="3841729250"/>
                    </a:ext>
                  </a:extLst>
                </a:gridCol>
              </a:tblGrid>
              <a:tr h="483297">
                <a:tc>
                  <a:txBody>
                    <a:bodyPr/>
                    <a:lstStyle/>
                    <a:p>
                      <a:pPr algn="ctr"/>
                      <a:r>
                        <a:rPr lang="en-US" dirty="0"/>
                        <a:t>Fetch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Dec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Exec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Retire</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47856952"/>
                  </a:ext>
                </a:extLst>
              </a:tr>
              <a:tr h="323676">
                <a:tc>
                  <a:txBody>
                    <a:bodyPr/>
                    <a:lstStyle/>
                    <a:p>
                      <a:pPr algn="ctr"/>
                      <a:r>
                        <a:rPr lang="en-US" dirty="0"/>
                        <a:t>ADD</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27293732"/>
                  </a:ext>
                </a:extLst>
              </a:tr>
              <a:tr h="323676">
                <a:tc>
                  <a:txBody>
                    <a:bodyPr/>
                    <a:lstStyle/>
                    <a:p>
                      <a:pPr algn="ctr"/>
                      <a:r>
                        <a:rPr lang="en-US" dirty="0"/>
                        <a:t>SUB</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75000"/>
                      </a:schemeClr>
                    </a:solidFill>
                  </a:tcPr>
                </a:tc>
                <a:tc>
                  <a:txBody>
                    <a:bodyPr/>
                    <a:lstStyle/>
                    <a:p>
                      <a:pPr algn="ctr"/>
                      <a:r>
                        <a:rPr lang="en-US" dirty="0"/>
                        <a:t>ADD</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11564214"/>
                  </a:ext>
                </a:extLst>
              </a:tr>
              <a:tr h="323676">
                <a:tc>
                  <a:txBody>
                    <a:bodyPr/>
                    <a:lstStyle/>
                    <a:p>
                      <a:pPr algn="ctr"/>
                      <a:r>
                        <a:rPr lang="en-US" dirty="0"/>
                        <a:t>FADD</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2">
                        <a:lumMod val="40000"/>
                        <a:lumOff val="60000"/>
                      </a:schemeClr>
                    </a:solidFill>
                  </a:tcPr>
                </a:tc>
                <a:tc>
                  <a:txBody>
                    <a:bodyPr/>
                    <a:lstStyle/>
                    <a:p>
                      <a:pPr algn="ctr"/>
                      <a:r>
                        <a:rPr lang="en-US" dirty="0"/>
                        <a:t>SUB</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3">
                        <a:lumMod val="75000"/>
                      </a:schemeClr>
                    </a:solidFill>
                  </a:tcPr>
                </a:tc>
                <a:tc>
                  <a:txBody>
                    <a:bodyPr/>
                    <a:lstStyle/>
                    <a:p>
                      <a:pPr algn="ctr"/>
                      <a:r>
                        <a:rPr lang="en-US" dirty="0"/>
                        <a:t>ADD</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5">
                        <a:lumMod val="60000"/>
                        <a:lumOff val="40000"/>
                      </a:schemeClr>
                    </a:solidFill>
                  </a:tcPr>
                </a:tc>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04490740"/>
                  </a:ext>
                </a:extLst>
              </a:tr>
            </a:tbl>
          </a:graphicData>
        </a:graphic>
      </p:graphicFrame>
      <p:cxnSp>
        <p:nvCxnSpPr>
          <p:cNvPr id="7" name="Straight Arrow Connector 6">
            <a:extLst>
              <a:ext uri="{FF2B5EF4-FFF2-40B4-BE49-F238E27FC236}">
                <a16:creationId xmlns:a16="http://schemas.microsoft.com/office/drawing/2014/main" id="{8CDF2A2E-4A50-FD4B-2EF1-3CA33DBFDF7F}"/>
              </a:ext>
            </a:extLst>
          </p:cNvPr>
          <p:cNvCxnSpPr/>
          <p:nvPr/>
        </p:nvCxnSpPr>
        <p:spPr>
          <a:xfrm>
            <a:off x="7612380" y="5067618"/>
            <a:ext cx="0" cy="1288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10" name="Table 9">
            <a:extLst>
              <a:ext uri="{FF2B5EF4-FFF2-40B4-BE49-F238E27FC236}">
                <a16:creationId xmlns:a16="http://schemas.microsoft.com/office/drawing/2014/main" id="{A4437833-48ED-1309-0855-AA4A30BE7EFD}"/>
              </a:ext>
            </a:extLst>
          </p:cNvPr>
          <p:cNvGraphicFramePr>
            <a:graphicFrameLocks noGrp="1"/>
          </p:cNvGraphicFramePr>
          <p:nvPr>
            <p:extLst>
              <p:ext uri="{D42A27DB-BD31-4B8C-83A1-F6EECF244321}">
                <p14:modId xmlns:p14="http://schemas.microsoft.com/office/powerpoint/2010/main" val="3152731283"/>
              </p:ext>
            </p:extLst>
          </p:nvPr>
        </p:nvGraphicFramePr>
        <p:xfrm>
          <a:off x="1356361" y="4592575"/>
          <a:ext cx="3119120" cy="1946337"/>
        </p:xfrm>
        <a:graphic>
          <a:graphicData uri="http://schemas.openxmlformats.org/drawingml/2006/table">
            <a:tbl>
              <a:tblPr firstRow="1">
                <a:tableStyleId>{2D5ABB26-0587-4C30-8999-92F81FD0307C}</a:tableStyleId>
              </a:tblPr>
              <a:tblGrid>
                <a:gridCol w="779780">
                  <a:extLst>
                    <a:ext uri="{9D8B030D-6E8A-4147-A177-3AD203B41FA5}">
                      <a16:colId xmlns:a16="http://schemas.microsoft.com/office/drawing/2014/main" val="3470306159"/>
                    </a:ext>
                  </a:extLst>
                </a:gridCol>
                <a:gridCol w="779780">
                  <a:extLst>
                    <a:ext uri="{9D8B030D-6E8A-4147-A177-3AD203B41FA5}">
                      <a16:colId xmlns:a16="http://schemas.microsoft.com/office/drawing/2014/main" val="2121971411"/>
                    </a:ext>
                  </a:extLst>
                </a:gridCol>
                <a:gridCol w="779780">
                  <a:extLst>
                    <a:ext uri="{9D8B030D-6E8A-4147-A177-3AD203B41FA5}">
                      <a16:colId xmlns:a16="http://schemas.microsoft.com/office/drawing/2014/main" val="3435902052"/>
                    </a:ext>
                  </a:extLst>
                </a:gridCol>
                <a:gridCol w="779780">
                  <a:extLst>
                    <a:ext uri="{9D8B030D-6E8A-4147-A177-3AD203B41FA5}">
                      <a16:colId xmlns:a16="http://schemas.microsoft.com/office/drawing/2014/main" val="3841729250"/>
                    </a:ext>
                  </a:extLst>
                </a:gridCol>
              </a:tblGrid>
              <a:tr h="483297">
                <a:tc>
                  <a:txBody>
                    <a:bodyPr/>
                    <a:lstStyle/>
                    <a:p>
                      <a:pPr algn="ctr"/>
                      <a:r>
                        <a:rPr lang="en-US" dirty="0"/>
                        <a:t>Fetch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Dec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Exec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Retire</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347856952"/>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027293732"/>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711564214"/>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PUSH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804490740"/>
                  </a:ext>
                </a:extLst>
              </a:tr>
            </a:tbl>
          </a:graphicData>
        </a:graphic>
      </p:graphicFrame>
      <p:cxnSp>
        <p:nvCxnSpPr>
          <p:cNvPr id="13" name="Straight Arrow Connector 12">
            <a:extLst>
              <a:ext uri="{FF2B5EF4-FFF2-40B4-BE49-F238E27FC236}">
                <a16:creationId xmlns:a16="http://schemas.microsoft.com/office/drawing/2014/main" id="{99364638-25C5-0BF2-ECCC-A61B3F873B37}"/>
              </a:ext>
            </a:extLst>
          </p:cNvPr>
          <p:cNvCxnSpPr/>
          <p:nvPr/>
        </p:nvCxnSpPr>
        <p:spPr>
          <a:xfrm>
            <a:off x="5349240" y="5708968"/>
            <a:ext cx="11887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80C44736-DF20-7E71-ADE6-50B1B3E501EA}"/>
              </a:ext>
            </a:extLst>
          </p:cNvPr>
          <p:cNvCxnSpPr/>
          <p:nvPr/>
        </p:nvCxnSpPr>
        <p:spPr>
          <a:xfrm>
            <a:off x="1234759" y="5067618"/>
            <a:ext cx="0" cy="12887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AC71430E-B133-94B9-7AA4-173DA6B99665}"/>
              </a:ext>
            </a:extLst>
          </p:cNvPr>
          <p:cNvSpPr txBox="1"/>
          <p:nvPr/>
        </p:nvSpPr>
        <p:spPr>
          <a:xfrm>
            <a:off x="492761" y="5529231"/>
            <a:ext cx="741998" cy="369332"/>
          </a:xfrm>
          <a:prstGeom prst="rect">
            <a:avLst/>
          </a:prstGeom>
          <a:noFill/>
        </p:spPr>
        <p:txBody>
          <a:bodyPr wrap="none" rtlCol="0">
            <a:spAutoFit/>
          </a:bodyPr>
          <a:lstStyle/>
          <a:p>
            <a:r>
              <a:rPr lang="ru-RU" dirty="0"/>
              <a:t>Такты</a:t>
            </a:r>
          </a:p>
        </p:txBody>
      </p:sp>
    </p:spTree>
    <p:extLst>
      <p:ext uri="{BB962C8B-B14F-4D97-AF65-F5344CB8AC3E}">
        <p14:creationId xmlns:p14="http://schemas.microsoft.com/office/powerpoint/2010/main" val="282667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p:txBody>
          <a:bodyPr/>
          <a:lstStyle/>
          <a:p>
            <a:r>
              <a:rPr lang="ru-RU" dirty="0" err="1"/>
              <a:t>Суперскалярная</a:t>
            </a:r>
            <a:r>
              <a:rPr lang="ru-RU" dirty="0"/>
              <a:t> архитектура </a:t>
            </a:r>
            <a:r>
              <a:rPr kumimoji="0" lang="ru-RU" sz="2400" b="0" i="0" u="none" strike="noStrike" kern="1200" cap="none" spc="0" normalizeH="0" baseline="0" noProof="0" dirty="0">
                <a:ln>
                  <a:noFill/>
                </a:ln>
                <a:solidFill>
                  <a:prstClr val="black"/>
                </a:solidFill>
                <a:effectLst/>
                <a:uLnTx/>
                <a:uFillTx/>
                <a:latin typeface="Calibri Light" panose="020F0302020204030204"/>
                <a:ea typeface="+mj-ea"/>
                <a:cs typeface="+mj-cs"/>
              </a:rPr>
              <a:t>(пример)</a:t>
            </a:r>
            <a:endParaRPr lang="ru-RU" dirty="0"/>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838200" y="1518223"/>
            <a:ext cx="10515600" cy="2799715"/>
          </a:xfrm>
        </p:spPr>
        <p:txBody>
          <a:bodyPr>
            <a:normAutofit/>
          </a:bodyPr>
          <a:lstStyle/>
          <a:p>
            <a:pPr marL="0" indent="0">
              <a:buNone/>
            </a:pPr>
            <a:r>
              <a:rPr lang="ru-RU" sz="2000" dirty="0"/>
              <a:t>ЦП имеет несколько устройств управления, независимых друг от друга (например, </a:t>
            </a:r>
            <a:r>
              <a:rPr lang="en-US" sz="2000" dirty="0"/>
              <a:t>ALU </a:t>
            </a:r>
            <a:r>
              <a:rPr lang="ru-RU" sz="2000" dirty="0"/>
              <a:t>и </a:t>
            </a:r>
            <a:r>
              <a:rPr lang="en-US" sz="2000" dirty="0"/>
              <a:t>FPU</a:t>
            </a:r>
            <a:r>
              <a:rPr lang="ru-RU" sz="2000" dirty="0"/>
              <a:t>). </a:t>
            </a:r>
          </a:p>
          <a:p>
            <a:pPr marL="0" indent="0">
              <a:buNone/>
            </a:pPr>
            <a:r>
              <a:rPr lang="ru-RU" sz="2000" dirty="0"/>
              <a:t>Если 2 инструкции используют разные исполнительные устройства и </a:t>
            </a:r>
            <a:r>
              <a:rPr lang="ru-RU" sz="2000" i="1" dirty="0"/>
              <a:t>не зависят </a:t>
            </a:r>
            <a:r>
              <a:rPr lang="ru-RU" sz="2000" dirty="0"/>
              <a:t>друг от друга (например, используют разные регистры), то они могут перекрываться по времени выполнения. </a:t>
            </a:r>
            <a:r>
              <a:rPr lang="en-US" sz="2000" dirty="0"/>
              <a:t> </a:t>
            </a:r>
            <a:r>
              <a:rPr lang="ru-RU" sz="2000" dirty="0"/>
              <a:t>Процессоры, построенные по такому принципу, называют </a:t>
            </a:r>
            <a:r>
              <a:rPr lang="ru-RU" sz="2000" b="1" dirty="0" err="1"/>
              <a:t>суперскалярными</a:t>
            </a:r>
            <a:r>
              <a:rPr lang="ru-RU" sz="2000" dirty="0"/>
              <a:t>, т.к. в них одно ядро может выполнять одновременно несколько операций за один такт. </a:t>
            </a:r>
            <a:endParaRPr lang="en-US" sz="2000" dirty="0"/>
          </a:p>
          <a:p>
            <a:pPr marL="0" indent="0">
              <a:buNone/>
            </a:pPr>
            <a:r>
              <a:rPr lang="ru-RU" sz="2000" dirty="0"/>
              <a:t>В такой ситуации, логично продублировать АЛУ и </a:t>
            </a:r>
            <a:r>
              <a:rPr lang="en-US" sz="2000" dirty="0"/>
              <a:t>FPU</a:t>
            </a:r>
            <a:r>
              <a:rPr lang="ru-RU" sz="2000" dirty="0"/>
              <a:t>, чтобы процессор мог обрабатывать несколько однотипных операций одновременно.</a:t>
            </a:r>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19</a:t>
            </a:fld>
            <a:endParaRPr lang="en-US"/>
          </a:p>
        </p:txBody>
      </p:sp>
      <p:graphicFrame>
        <p:nvGraphicFramePr>
          <p:cNvPr id="4" name="Table 3">
            <a:extLst>
              <a:ext uri="{FF2B5EF4-FFF2-40B4-BE49-F238E27FC236}">
                <a16:creationId xmlns:a16="http://schemas.microsoft.com/office/drawing/2014/main" id="{FD3B6B6B-6A93-ACF5-766C-ED3A34584891}"/>
              </a:ext>
            </a:extLst>
          </p:cNvPr>
          <p:cNvGraphicFramePr>
            <a:graphicFrameLocks noGrp="1"/>
          </p:cNvGraphicFramePr>
          <p:nvPr>
            <p:extLst>
              <p:ext uri="{D42A27DB-BD31-4B8C-83A1-F6EECF244321}">
                <p14:modId xmlns:p14="http://schemas.microsoft.com/office/powerpoint/2010/main" val="1201559465"/>
              </p:ext>
            </p:extLst>
          </p:nvPr>
        </p:nvGraphicFramePr>
        <p:xfrm>
          <a:off x="1013461" y="3998216"/>
          <a:ext cx="4419600" cy="2677857"/>
        </p:xfrm>
        <a:graphic>
          <a:graphicData uri="http://schemas.openxmlformats.org/drawingml/2006/table">
            <a:tbl>
              <a:tblPr firstRow="1">
                <a:tableStyleId>{2D5ABB26-0587-4C30-8999-92F81FD0307C}</a:tableStyleId>
              </a:tblPr>
              <a:tblGrid>
                <a:gridCol w="736600">
                  <a:extLst>
                    <a:ext uri="{9D8B030D-6E8A-4147-A177-3AD203B41FA5}">
                      <a16:colId xmlns:a16="http://schemas.microsoft.com/office/drawing/2014/main" val="3470306159"/>
                    </a:ext>
                  </a:extLst>
                </a:gridCol>
                <a:gridCol w="736600">
                  <a:extLst>
                    <a:ext uri="{9D8B030D-6E8A-4147-A177-3AD203B41FA5}">
                      <a16:colId xmlns:a16="http://schemas.microsoft.com/office/drawing/2014/main" val="2121971411"/>
                    </a:ext>
                  </a:extLst>
                </a:gridCol>
                <a:gridCol w="736600">
                  <a:extLst>
                    <a:ext uri="{9D8B030D-6E8A-4147-A177-3AD203B41FA5}">
                      <a16:colId xmlns:a16="http://schemas.microsoft.com/office/drawing/2014/main" val="3435902052"/>
                    </a:ext>
                  </a:extLst>
                </a:gridCol>
                <a:gridCol w="736600">
                  <a:extLst>
                    <a:ext uri="{9D8B030D-6E8A-4147-A177-3AD203B41FA5}">
                      <a16:colId xmlns:a16="http://schemas.microsoft.com/office/drawing/2014/main" val="1010586673"/>
                    </a:ext>
                  </a:extLst>
                </a:gridCol>
                <a:gridCol w="736600">
                  <a:extLst>
                    <a:ext uri="{9D8B030D-6E8A-4147-A177-3AD203B41FA5}">
                      <a16:colId xmlns:a16="http://schemas.microsoft.com/office/drawing/2014/main" val="19531769"/>
                    </a:ext>
                  </a:extLst>
                </a:gridCol>
                <a:gridCol w="736600">
                  <a:extLst>
                    <a:ext uri="{9D8B030D-6E8A-4147-A177-3AD203B41FA5}">
                      <a16:colId xmlns:a16="http://schemas.microsoft.com/office/drawing/2014/main" val="3841729250"/>
                    </a:ext>
                  </a:extLst>
                </a:gridCol>
              </a:tblGrid>
              <a:tr h="483297">
                <a:tc>
                  <a:txBody>
                    <a:bodyPr/>
                    <a:lstStyle/>
                    <a:p>
                      <a:pPr algn="ctr"/>
                      <a:r>
                        <a:rPr lang="en-US" dirty="0"/>
                        <a:t>Fetch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Dec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gridSpan="3">
                  <a:txBody>
                    <a:bodyPr/>
                    <a:lstStyle/>
                    <a:p>
                      <a:pPr algn="ctr"/>
                      <a:r>
                        <a:rPr lang="en-US" dirty="0"/>
                        <a:t>Exec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hMerge="1">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dirty="0"/>
                        <a:t>Retire</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347856952"/>
                  </a:ext>
                </a:extLst>
              </a:tr>
              <a:tr h="323676">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27293732"/>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11564214"/>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804490740"/>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213897484"/>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85424821"/>
                  </a:ext>
                </a:extLst>
              </a:tr>
            </a:tbl>
          </a:graphicData>
        </a:graphic>
      </p:graphicFrame>
      <p:graphicFrame>
        <p:nvGraphicFramePr>
          <p:cNvPr id="9" name="Table 8">
            <a:extLst>
              <a:ext uri="{FF2B5EF4-FFF2-40B4-BE49-F238E27FC236}">
                <a16:creationId xmlns:a16="http://schemas.microsoft.com/office/drawing/2014/main" id="{029FAE6A-82FD-A4FF-8E3A-F32A29F8DB34}"/>
              </a:ext>
            </a:extLst>
          </p:cNvPr>
          <p:cNvGraphicFramePr>
            <a:graphicFrameLocks noGrp="1"/>
          </p:cNvGraphicFramePr>
          <p:nvPr>
            <p:extLst>
              <p:ext uri="{D42A27DB-BD31-4B8C-83A1-F6EECF244321}">
                <p14:modId xmlns:p14="http://schemas.microsoft.com/office/powerpoint/2010/main" val="4175450039"/>
              </p:ext>
            </p:extLst>
          </p:nvPr>
        </p:nvGraphicFramePr>
        <p:xfrm>
          <a:off x="6400800" y="3998215"/>
          <a:ext cx="4419600" cy="2677857"/>
        </p:xfrm>
        <a:graphic>
          <a:graphicData uri="http://schemas.openxmlformats.org/drawingml/2006/table">
            <a:tbl>
              <a:tblPr firstRow="1">
                <a:tableStyleId>{2D5ABB26-0587-4C30-8999-92F81FD0307C}</a:tableStyleId>
              </a:tblPr>
              <a:tblGrid>
                <a:gridCol w="736600">
                  <a:extLst>
                    <a:ext uri="{9D8B030D-6E8A-4147-A177-3AD203B41FA5}">
                      <a16:colId xmlns:a16="http://schemas.microsoft.com/office/drawing/2014/main" val="3470306159"/>
                    </a:ext>
                  </a:extLst>
                </a:gridCol>
                <a:gridCol w="736600">
                  <a:extLst>
                    <a:ext uri="{9D8B030D-6E8A-4147-A177-3AD203B41FA5}">
                      <a16:colId xmlns:a16="http://schemas.microsoft.com/office/drawing/2014/main" val="2121971411"/>
                    </a:ext>
                  </a:extLst>
                </a:gridCol>
                <a:gridCol w="736600">
                  <a:extLst>
                    <a:ext uri="{9D8B030D-6E8A-4147-A177-3AD203B41FA5}">
                      <a16:colId xmlns:a16="http://schemas.microsoft.com/office/drawing/2014/main" val="3435902052"/>
                    </a:ext>
                  </a:extLst>
                </a:gridCol>
                <a:gridCol w="736600">
                  <a:extLst>
                    <a:ext uri="{9D8B030D-6E8A-4147-A177-3AD203B41FA5}">
                      <a16:colId xmlns:a16="http://schemas.microsoft.com/office/drawing/2014/main" val="1010586673"/>
                    </a:ext>
                  </a:extLst>
                </a:gridCol>
                <a:gridCol w="736600">
                  <a:extLst>
                    <a:ext uri="{9D8B030D-6E8A-4147-A177-3AD203B41FA5}">
                      <a16:colId xmlns:a16="http://schemas.microsoft.com/office/drawing/2014/main" val="19531769"/>
                    </a:ext>
                  </a:extLst>
                </a:gridCol>
                <a:gridCol w="736600">
                  <a:extLst>
                    <a:ext uri="{9D8B030D-6E8A-4147-A177-3AD203B41FA5}">
                      <a16:colId xmlns:a16="http://schemas.microsoft.com/office/drawing/2014/main" val="3841729250"/>
                    </a:ext>
                  </a:extLst>
                </a:gridCol>
              </a:tblGrid>
              <a:tr h="483297">
                <a:tc>
                  <a:txBody>
                    <a:bodyPr/>
                    <a:lstStyle/>
                    <a:p>
                      <a:pPr algn="ctr"/>
                      <a:r>
                        <a:rPr lang="en-US" dirty="0"/>
                        <a:t>Fetch</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dirty="0"/>
                        <a:t>Dec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gridSpan="3">
                  <a:txBody>
                    <a:bodyPr/>
                    <a:lstStyle/>
                    <a:p>
                      <a:pPr algn="ctr"/>
                      <a:r>
                        <a:rPr lang="en-US" dirty="0"/>
                        <a:t>Exec</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tc hMerge="1">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hMerge="1">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tcPr>
                </a:tc>
                <a:tc>
                  <a:txBody>
                    <a:bodyPr/>
                    <a:lstStyle/>
                    <a:p>
                      <a:pPr algn="ctr"/>
                      <a:r>
                        <a:rPr lang="en-US" dirty="0"/>
                        <a:t>Retire</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347856952"/>
                  </a:ext>
                </a:extLst>
              </a:tr>
              <a:tr h="323676">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27293732"/>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11564214"/>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804490740"/>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213897484"/>
                  </a:ext>
                </a:extLst>
              </a:tr>
              <a:tr h="323676">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dirty="0"/>
                        <a:t>FMUL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1">
                        <a:lumMod val="60000"/>
                        <a:lumOff val="40000"/>
                      </a:schemeClr>
                    </a:solidFill>
                  </a:tcPr>
                </a:tc>
                <a:tc>
                  <a:txBody>
                    <a:bodyPr/>
                    <a:lstStyle/>
                    <a:p>
                      <a:pPr algn="ctr"/>
                      <a:r>
                        <a:rPr lang="en-US" dirty="0"/>
                        <a:t>MUL</a:t>
                      </a:r>
                      <a:endParaRPr lang="ru-RU" dirty="0"/>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2085424821"/>
                  </a:ext>
                </a:extLst>
              </a:tr>
            </a:tbl>
          </a:graphicData>
        </a:graphic>
      </p:graphicFrame>
      <p:cxnSp>
        <p:nvCxnSpPr>
          <p:cNvPr id="6" name="Straight Arrow Connector 5">
            <a:extLst>
              <a:ext uri="{FF2B5EF4-FFF2-40B4-BE49-F238E27FC236}">
                <a16:creationId xmlns:a16="http://schemas.microsoft.com/office/drawing/2014/main" id="{60A0B705-311E-716B-D659-E698B7C10C80}"/>
              </a:ext>
            </a:extLst>
          </p:cNvPr>
          <p:cNvCxnSpPr>
            <a:cxnSpLocks/>
          </p:cNvCxnSpPr>
          <p:nvPr/>
        </p:nvCxnSpPr>
        <p:spPr>
          <a:xfrm flipH="1">
            <a:off x="838200" y="4436423"/>
            <a:ext cx="13741" cy="22396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E7FABE00-391A-1230-90A7-75584609B68E}"/>
              </a:ext>
            </a:extLst>
          </p:cNvPr>
          <p:cNvSpPr txBox="1"/>
          <p:nvPr/>
        </p:nvSpPr>
        <p:spPr>
          <a:xfrm>
            <a:off x="96202" y="4943007"/>
            <a:ext cx="741998" cy="369332"/>
          </a:xfrm>
          <a:prstGeom prst="rect">
            <a:avLst/>
          </a:prstGeom>
          <a:noFill/>
        </p:spPr>
        <p:txBody>
          <a:bodyPr wrap="none" rtlCol="0">
            <a:spAutoFit/>
          </a:bodyPr>
          <a:lstStyle/>
          <a:p>
            <a:r>
              <a:rPr lang="ru-RU" dirty="0"/>
              <a:t>Такты</a:t>
            </a:r>
          </a:p>
        </p:txBody>
      </p:sp>
    </p:spTree>
    <p:extLst>
      <p:ext uri="{BB962C8B-B14F-4D97-AF65-F5344CB8AC3E}">
        <p14:creationId xmlns:p14="http://schemas.microsoft.com/office/powerpoint/2010/main" val="732328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p:txBody>
          <a:bodyPr/>
          <a:lstStyle/>
          <a:p>
            <a:r>
              <a:rPr lang="ru-RU" dirty="0"/>
              <a:t>Микрооперации</a:t>
            </a:r>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838200" y="1422425"/>
            <a:ext cx="10768200" cy="3689575"/>
          </a:xfrm>
        </p:spPr>
        <p:txBody>
          <a:bodyPr>
            <a:normAutofit/>
          </a:bodyPr>
          <a:lstStyle/>
          <a:p>
            <a:pPr marL="0" indent="0">
              <a:buNone/>
            </a:pPr>
            <a:r>
              <a:rPr lang="ru-RU" sz="2000" dirty="0"/>
              <a:t>В архитектуру набора команд </a:t>
            </a:r>
            <a:r>
              <a:rPr lang="en-US" sz="2000" dirty="0"/>
              <a:t>x86-64 </a:t>
            </a:r>
            <a:r>
              <a:rPr lang="ru-RU" sz="2000" dirty="0"/>
              <a:t>входит более тысячи инструкций длиной от 1 до 15 байт. Часто одна инструкция может выполнять несколько действий.</a:t>
            </a:r>
          </a:p>
          <a:p>
            <a:pPr marL="0" indent="0">
              <a:buNone/>
            </a:pPr>
            <a:r>
              <a:rPr lang="ru-RU" sz="2000" dirty="0"/>
              <a:t>Прямое декодирование сложной инструкции в управляющие сигналы затратно – потребуется огромное количество логических элементов. Кроме того, если инструкция осуществляет несколько действий, она занимает несколько исполнительных устройств.</a:t>
            </a:r>
          </a:p>
          <a:p>
            <a:pPr marL="0" indent="0">
              <a:buNone/>
            </a:pPr>
            <a:r>
              <a:rPr lang="ru-RU" sz="2000" dirty="0"/>
              <a:t>Вместо этого в декодер современных ЦП разбивает инструкцию на набор элементарных действий (</a:t>
            </a:r>
            <a:r>
              <a:rPr lang="ru-RU" sz="2000" b="1" dirty="0"/>
              <a:t>микроопераций</a:t>
            </a:r>
            <a:r>
              <a:rPr lang="ru-RU" sz="2000" dirty="0"/>
              <a:t>). Каждая микрооперация затрагивает только 1 блок выполнения. После декодирования микрооперации обычно аккумулируются в </a:t>
            </a:r>
            <a:r>
              <a:rPr lang="ru-RU" sz="2000" b="1" dirty="0"/>
              <a:t>очереди микроопераций</a:t>
            </a:r>
            <a:r>
              <a:rPr lang="ru-RU" sz="2000" dirty="0"/>
              <a:t>.</a:t>
            </a:r>
          </a:p>
          <a:p>
            <a:pPr marL="0" indent="0">
              <a:buNone/>
            </a:pPr>
            <a:r>
              <a:rPr lang="ru-RU" sz="2000" dirty="0"/>
              <a:t>Введение микроопераций позволяет упростить схемотехнику ЦП и повысить производительность</a:t>
            </a:r>
            <a:r>
              <a:rPr lang="en-US" sz="2000" dirty="0"/>
              <a:t>. </a:t>
            </a:r>
            <a:endParaRPr lang="ru-RU" sz="2000" dirty="0"/>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20</a:t>
            </a:fld>
            <a:endParaRPr lang="en-US"/>
          </a:p>
        </p:txBody>
      </p:sp>
      <p:sp>
        <p:nvSpPr>
          <p:cNvPr id="6" name="TextBox 5">
            <a:extLst>
              <a:ext uri="{FF2B5EF4-FFF2-40B4-BE49-F238E27FC236}">
                <a16:creationId xmlns:a16="http://schemas.microsoft.com/office/drawing/2014/main" id="{892F8A3F-D158-8F6E-AF94-C78BBC9CF0C5}"/>
              </a:ext>
            </a:extLst>
          </p:cNvPr>
          <p:cNvSpPr txBox="1"/>
          <p:nvPr/>
        </p:nvSpPr>
        <p:spPr>
          <a:xfrm>
            <a:off x="1713599" y="5205366"/>
            <a:ext cx="2361600"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ADD [RBX], RAX</a:t>
            </a:r>
            <a:endParaRPr lang="ru-RU"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85B4EC64-5320-8F97-8F80-80039C8C3C97}"/>
              </a:ext>
            </a:extLst>
          </p:cNvPr>
          <p:cNvSpPr txBox="1"/>
          <p:nvPr/>
        </p:nvSpPr>
        <p:spPr>
          <a:xfrm>
            <a:off x="1106887" y="5730997"/>
            <a:ext cx="3943708" cy="307777"/>
          </a:xfrm>
          <a:prstGeom prst="rect">
            <a:avLst/>
          </a:prstGeom>
          <a:noFill/>
        </p:spPr>
        <p:txBody>
          <a:bodyPr wrap="none" rtlCol="0">
            <a:spAutoFit/>
          </a:bodyPr>
          <a:lstStyle/>
          <a:p>
            <a:r>
              <a:rPr lang="ru-RU" sz="1400" dirty="0">
                <a:latin typeface="Courier New" panose="02070309020205020404" pitchFamily="49" charset="0"/>
                <a:cs typeface="Courier New" panose="02070309020205020404" pitchFamily="49" charset="0"/>
              </a:rPr>
              <a:t>затрагивает контроллер памяти и АЛУ</a:t>
            </a:r>
          </a:p>
        </p:txBody>
      </p:sp>
      <p:cxnSp>
        <p:nvCxnSpPr>
          <p:cNvPr id="10" name="Прямая со стрелкой 9">
            <a:extLst>
              <a:ext uri="{FF2B5EF4-FFF2-40B4-BE49-F238E27FC236}">
                <a16:creationId xmlns:a16="http://schemas.microsoft.com/office/drawing/2014/main" id="{5E2CAE71-EB25-5E47-E225-2003054CA6F1}"/>
              </a:ext>
            </a:extLst>
          </p:cNvPr>
          <p:cNvCxnSpPr/>
          <p:nvPr/>
        </p:nvCxnSpPr>
        <p:spPr>
          <a:xfrm>
            <a:off x="4897200" y="5390032"/>
            <a:ext cx="2397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84B3C6E-B291-6348-8769-B8EA7235602A}"/>
              </a:ext>
            </a:extLst>
          </p:cNvPr>
          <p:cNvSpPr txBox="1"/>
          <p:nvPr/>
        </p:nvSpPr>
        <p:spPr>
          <a:xfrm>
            <a:off x="7484776" y="4974534"/>
            <a:ext cx="4589623" cy="1200329"/>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MOV TMP, [RBX] ; </a:t>
            </a:r>
            <a:r>
              <a:rPr lang="ru-RU" dirty="0">
                <a:latin typeface="Courier New" panose="02070309020205020404" pitchFamily="49" charset="0"/>
                <a:cs typeface="Courier New" panose="02070309020205020404" pitchFamily="49" charset="0"/>
              </a:rPr>
              <a:t>АЛУ свободно</a:t>
            </a:r>
          </a:p>
          <a:p>
            <a:r>
              <a:rPr lang="en-US" dirty="0">
                <a:latin typeface="Courier New" panose="02070309020205020404" pitchFamily="49" charset="0"/>
                <a:cs typeface="Courier New" panose="02070309020205020404" pitchFamily="49" charset="0"/>
              </a:rPr>
              <a:t>ADD TMP, RAX   ; </a:t>
            </a:r>
            <a:r>
              <a:rPr lang="ru-RU" dirty="0">
                <a:latin typeface="Courier New" panose="02070309020205020404" pitchFamily="49" charset="0"/>
                <a:cs typeface="Courier New" panose="02070309020205020404" pitchFamily="49" charset="0"/>
              </a:rPr>
              <a:t>КП свободен</a:t>
            </a:r>
          </a:p>
          <a:p>
            <a:r>
              <a:rPr lang="en-US" dirty="0">
                <a:latin typeface="Courier New" panose="02070309020205020404" pitchFamily="49" charset="0"/>
                <a:cs typeface="Courier New" panose="02070309020205020404" pitchFamily="49" charset="0"/>
              </a:rPr>
              <a:t>MOV [RBX], TMP</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a:t>
            </a:r>
            <a:r>
              <a:rPr lang="ru-RU" dirty="0">
                <a:latin typeface="Courier New" panose="02070309020205020404" pitchFamily="49" charset="0"/>
                <a:cs typeface="Courier New" panose="02070309020205020404" pitchFamily="49" charset="0"/>
              </a:rPr>
              <a:t>АЛУ свободно</a:t>
            </a:r>
          </a:p>
          <a:p>
            <a:endParaRPr lang="ru-RU" dirty="0">
              <a:latin typeface="Courier New" panose="02070309020205020404" pitchFamily="49" charset="0"/>
              <a:cs typeface="Courier New" panose="02070309020205020404" pitchFamily="49" charset="0"/>
            </a:endParaRPr>
          </a:p>
        </p:txBody>
      </p:sp>
      <p:sp>
        <p:nvSpPr>
          <p:cNvPr id="12" name="TextBox 11">
            <a:extLst>
              <a:ext uri="{FF2B5EF4-FFF2-40B4-BE49-F238E27FC236}">
                <a16:creationId xmlns:a16="http://schemas.microsoft.com/office/drawing/2014/main" id="{F33DF1A8-54BB-2198-13C0-280891B77677}"/>
              </a:ext>
            </a:extLst>
          </p:cNvPr>
          <p:cNvSpPr txBox="1"/>
          <p:nvPr/>
        </p:nvSpPr>
        <p:spPr>
          <a:xfrm>
            <a:off x="5288996" y="5020700"/>
            <a:ext cx="1727781" cy="369332"/>
          </a:xfrm>
          <a:prstGeom prst="rect">
            <a:avLst/>
          </a:prstGeom>
          <a:noFill/>
        </p:spPr>
        <p:txBody>
          <a:bodyPr wrap="none" rtlCol="0">
            <a:spAutoFit/>
          </a:bodyPr>
          <a:lstStyle/>
          <a:p>
            <a:r>
              <a:rPr lang="ru-RU" dirty="0"/>
              <a:t>декодирование</a:t>
            </a:r>
          </a:p>
        </p:txBody>
      </p:sp>
    </p:spTree>
    <p:extLst>
      <p:ext uri="{BB962C8B-B14F-4D97-AF65-F5344CB8AC3E}">
        <p14:creationId xmlns:p14="http://schemas.microsoft.com/office/powerpoint/2010/main" val="1330006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D8C39C4-F856-A1CD-D9CB-01F9521B5931}"/>
              </a:ext>
            </a:extLst>
          </p:cNvPr>
          <p:cNvSpPr>
            <a:spLocks noGrp="1"/>
          </p:cNvSpPr>
          <p:nvPr>
            <p:ph type="title"/>
          </p:nvPr>
        </p:nvSpPr>
        <p:spPr/>
        <p:txBody>
          <a:bodyPr/>
          <a:lstStyle/>
          <a:p>
            <a:r>
              <a:rPr lang="ru-RU" dirty="0"/>
              <a:t>Микрокод ЦП. Кэш микроопераций</a:t>
            </a:r>
          </a:p>
        </p:txBody>
      </p:sp>
      <p:sp>
        <p:nvSpPr>
          <p:cNvPr id="3" name="Объект 2">
            <a:extLst>
              <a:ext uri="{FF2B5EF4-FFF2-40B4-BE49-F238E27FC236}">
                <a16:creationId xmlns:a16="http://schemas.microsoft.com/office/drawing/2014/main" id="{B32D073F-E63E-E9BB-5D03-B97A32E1F464}"/>
              </a:ext>
            </a:extLst>
          </p:cNvPr>
          <p:cNvSpPr>
            <a:spLocks noGrp="1"/>
          </p:cNvSpPr>
          <p:nvPr>
            <p:ph idx="1"/>
          </p:nvPr>
        </p:nvSpPr>
        <p:spPr/>
        <p:txBody>
          <a:bodyPr>
            <a:normAutofit/>
          </a:bodyPr>
          <a:lstStyle/>
          <a:p>
            <a:pPr marL="0" indent="0">
              <a:buNone/>
            </a:pPr>
            <a:r>
              <a:rPr lang="ru-RU" sz="2000" dirty="0"/>
              <a:t>Если инструкция разбивается на 2-3 микрооперации, то декодер выполняет разбиение самостоятельно на аппаратном уровне.</a:t>
            </a:r>
          </a:p>
          <a:p>
            <a:pPr marL="0" indent="0">
              <a:buNone/>
            </a:pPr>
            <a:r>
              <a:rPr lang="ru-RU" sz="2000" dirty="0"/>
              <a:t>Для более сложных инструкций разбиение на микрооперации хранится в специальном </a:t>
            </a:r>
            <a:r>
              <a:rPr lang="ru-RU" sz="2000" b="1" dirty="0"/>
              <a:t>микрокоде ЦП</a:t>
            </a:r>
            <a:r>
              <a:rPr lang="ru-RU" sz="2000" dirty="0"/>
              <a:t>. Данный микрокод может обновляться -</a:t>
            </a:r>
            <a:r>
              <a:rPr lang="en-US" sz="2000" dirty="0"/>
              <a:t>&gt; </a:t>
            </a:r>
            <a:r>
              <a:rPr lang="ru-RU" sz="2000" dirty="0"/>
              <a:t>возможно закрывать некоторые «баги» и уязвимости, возникшие при проектировании ЦП, а также повышать его производительность. Обновление микрокода может осуществляться ОС.</a:t>
            </a:r>
          </a:p>
          <a:p>
            <a:pPr marL="0" indent="0">
              <a:buNone/>
            </a:pPr>
            <a:r>
              <a:rPr lang="ru-RU" sz="2000" dirty="0"/>
              <a:t>Микрокод ЦП загружается в ЦП при старте компьютера. </a:t>
            </a:r>
          </a:p>
          <a:p>
            <a:pPr marL="0" indent="0">
              <a:buNone/>
            </a:pPr>
            <a:r>
              <a:rPr lang="ru-RU" sz="2000" dirty="0"/>
              <a:t>Поскольку чтение микроопераций из микрокода занимает некоторое время, после декодирования ЦП заносит результат в специальный </a:t>
            </a:r>
            <a:r>
              <a:rPr lang="ru-RU" sz="2000" b="1" dirty="0"/>
              <a:t>кэш микроопераций</a:t>
            </a:r>
            <a:r>
              <a:rPr lang="ru-RU" sz="2000" dirty="0"/>
              <a:t>. Если спустя некоторое время та же инструкция возникнет вновь, соответствующие микрооперации будут считаны из кэша.</a:t>
            </a:r>
          </a:p>
        </p:txBody>
      </p:sp>
      <p:sp>
        <p:nvSpPr>
          <p:cNvPr id="4" name="Номер слайда 3">
            <a:extLst>
              <a:ext uri="{FF2B5EF4-FFF2-40B4-BE49-F238E27FC236}">
                <a16:creationId xmlns:a16="http://schemas.microsoft.com/office/drawing/2014/main" id="{C2F23683-7324-32F1-7715-750124F845E3}"/>
              </a:ext>
            </a:extLst>
          </p:cNvPr>
          <p:cNvSpPr>
            <a:spLocks noGrp="1"/>
          </p:cNvSpPr>
          <p:nvPr>
            <p:ph type="sldNum" sz="quarter" idx="12"/>
          </p:nvPr>
        </p:nvSpPr>
        <p:spPr/>
        <p:txBody>
          <a:bodyPr/>
          <a:lstStyle/>
          <a:p>
            <a:fld id="{B67FBA2B-964F-4C4D-AAF7-5A8399264638}" type="slidenum">
              <a:rPr lang="en-US" smtClean="0"/>
              <a:pPr/>
              <a:t>21</a:t>
            </a:fld>
            <a:endParaRPr lang="en-US"/>
          </a:p>
        </p:txBody>
      </p:sp>
    </p:spTree>
    <p:extLst>
      <p:ext uri="{BB962C8B-B14F-4D97-AF65-F5344CB8AC3E}">
        <p14:creationId xmlns:p14="http://schemas.microsoft.com/office/powerpoint/2010/main" val="2497590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p:txBody>
          <a:bodyPr/>
          <a:lstStyle/>
          <a:p>
            <a:r>
              <a:rPr lang="ru-RU" dirty="0"/>
              <a:t>Внеочередное выполнение</a:t>
            </a:r>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838200" y="1723846"/>
            <a:ext cx="10768200" cy="3689575"/>
          </a:xfrm>
        </p:spPr>
        <p:txBody>
          <a:bodyPr>
            <a:normAutofit/>
          </a:bodyPr>
          <a:lstStyle/>
          <a:p>
            <a:pPr marL="0" indent="0">
              <a:buNone/>
            </a:pPr>
            <a:r>
              <a:rPr lang="ru-RU" sz="2000" dirty="0"/>
              <a:t>Поскольку после декодирования микрооперации от разных инструкций накапливаются в очереди </a:t>
            </a:r>
            <a:r>
              <a:rPr lang="ru-RU" sz="2000" dirty="0" err="1"/>
              <a:t>микрооопераций</a:t>
            </a:r>
            <a:r>
              <a:rPr lang="ru-RU" sz="2000" dirty="0"/>
              <a:t>, возможно выполнить перестановку операций в очереди с целью оптимальной загрузки исполнительных устройств. </a:t>
            </a:r>
            <a:r>
              <a:rPr lang="ru-RU" sz="2000" i="1" dirty="0"/>
              <a:t>При этом фактический порядок выполнения операций будет отличаться от порядка операций в программе </a:t>
            </a:r>
            <a:r>
              <a:rPr lang="en-US" sz="2000" dirty="0"/>
              <a:t>(</a:t>
            </a:r>
            <a:r>
              <a:rPr lang="en-US" sz="2000" b="1" dirty="0"/>
              <a:t>out-of-order</a:t>
            </a:r>
            <a:r>
              <a:rPr lang="en-US" sz="2000" dirty="0"/>
              <a:t>)</a:t>
            </a:r>
            <a:r>
              <a:rPr lang="ru-RU" sz="2000" dirty="0"/>
              <a:t>.</a:t>
            </a:r>
          </a:p>
          <a:p>
            <a:pPr marL="0" indent="0">
              <a:buNone/>
            </a:pPr>
            <a:r>
              <a:rPr lang="ru-RU" sz="2000" dirty="0"/>
              <a:t>Микрооперация из очереди отправляется на выполнение, если известны значения ее операндов. Очевидно, если значение операнда рассчитывается какой-либо предыдущей микрооперацией  - текущая не может начать выполнение, вместо нее на выполнение отправляется одна из следующих в очереди микроопераций. </a:t>
            </a:r>
          </a:p>
          <a:p>
            <a:pPr marL="0" indent="0">
              <a:buNone/>
            </a:pPr>
            <a:r>
              <a:rPr lang="ru-RU" sz="2000" i="1" dirty="0"/>
              <a:t>На некоторых архитектурах внеочередное выполнение может влиять на корректность многопоточных программ. При этом на уровне машинного кода инструкции будут располагаться в корректном порядке.</a:t>
            </a:r>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22</a:t>
            </a:fld>
            <a:endParaRPr lang="en-US"/>
          </a:p>
        </p:txBody>
      </p:sp>
      <p:sp>
        <p:nvSpPr>
          <p:cNvPr id="11" name="TextBox 10">
            <a:extLst>
              <a:ext uri="{FF2B5EF4-FFF2-40B4-BE49-F238E27FC236}">
                <a16:creationId xmlns:a16="http://schemas.microsoft.com/office/drawing/2014/main" id="{A84B3C6E-B291-6348-8769-B8EA7235602A}"/>
              </a:ext>
            </a:extLst>
          </p:cNvPr>
          <p:cNvSpPr txBox="1"/>
          <p:nvPr/>
        </p:nvSpPr>
        <p:spPr>
          <a:xfrm>
            <a:off x="3812776" y="5383642"/>
            <a:ext cx="6389624" cy="1200329"/>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MOV RCX, [R8] ; </a:t>
            </a:r>
            <a:r>
              <a:rPr lang="ru-RU" dirty="0">
                <a:latin typeface="Courier New" panose="02070309020205020404" pitchFamily="49" charset="0"/>
                <a:cs typeface="Courier New" panose="02070309020205020404" pitchFamily="49" charset="0"/>
              </a:rPr>
              <a:t>чтение (долгая операция)</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ADD RCX, 1    ; </a:t>
            </a:r>
            <a:r>
              <a:rPr lang="ru-RU" dirty="0">
                <a:latin typeface="Courier New" panose="02070309020205020404" pitchFamily="49" charset="0"/>
                <a:cs typeface="Courier New" panose="02070309020205020404" pitchFamily="49" charset="0"/>
              </a:rPr>
              <a:t>зависит от предыдущей</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SUB R</a:t>
            </a:r>
            <a:r>
              <a:rPr lang="ru-RU" dirty="0">
                <a:latin typeface="Courier New" panose="02070309020205020404" pitchFamily="49" charset="0"/>
                <a:cs typeface="Courier New" panose="02070309020205020404" pitchFamily="49" charset="0"/>
              </a:rPr>
              <a:t>9</a:t>
            </a:r>
            <a:r>
              <a:rPr lang="en-US" dirty="0">
                <a:latin typeface="Courier New" panose="02070309020205020404" pitchFamily="49" charset="0"/>
                <a:cs typeface="Courier New" panose="02070309020205020404" pitchFamily="49" charset="0"/>
              </a:rPr>
              <a:t>, </a:t>
            </a:r>
            <a:r>
              <a:rPr lang="ru-RU" dirty="0">
                <a:latin typeface="Courier New" panose="02070309020205020404" pitchFamily="49" charset="0"/>
                <a:cs typeface="Courier New" panose="02070309020205020404" pitchFamily="49" charset="0"/>
              </a:rPr>
              <a:t>7</a:t>
            </a:r>
            <a:r>
              <a:rPr lang="en-US" dirty="0">
                <a:latin typeface="Courier New" panose="02070309020205020404" pitchFamily="49" charset="0"/>
                <a:cs typeface="Courier New" panose="02070309020205020404" pitchFamily="49" charset="0"/>
              </a:rPr>
              <a:t>     ; </a:t>
            </a:r>
            <a:r>
              <a:rPr lang="ru-RU" dirty="0">
                <a:latin typeface="Courier New" panose="02070309020205020404" pitchFamily="49" charset="0"/>
                <a:cs typeface="Courier New" panose="02070309020205020404" pitchFamily="49" charset="0"/>
              </a:rPr>
              <a:t>не зависит, выполнится раньше</a:t>
            </a:r>
          </a:p>
          <a:p>
            <a:endParaRPr lang="ru-RU"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87673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24943-0909-6D7E-68EF-6DF9BA3DA7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D4E5FB-1FFD-5898-731E-86155AF465F3}"/>
              </a:ext>
            </a:extLst>
          </p:cNvPr>
          <p:cNvSpPr>
            <a:spLocks noGrp="1"/>
          </p:cNvSpPr>
          <p:nvPr>
            <p:ph type="title"/>
          </p:nvPr>
        </p:nvSpPr>
        <p:spPr/>
        <p:txBody>
          <a:bodyPr/>
          <a:lstStyle/>
          <a:p>
            <a:r>
              <a:rPr lang="ru-RU" dirty="0"/>
              <a:t>Внеочередное выполнение</a:t>
            </a:r>
          </a:p>
        </p:txBody>
      </p:sp>
      <p:sp>
        <p:nvSpPr>
          <p:cNvPr id="5" name="Номер слайда 4">
            <a:extLst>
              <a:ext uri="{FF2B5EF4-FFF2-40B4-BE49-F238E27FC236}">
                <a16:creationId xmlns:a16="http://schemas.microsoft.com/office/drawing/2014/main" id="{9B35F7B8-D87B-3584-3B03-E99278FBCE63}"/>
              </a:ext>
            </a:extLst>
          </p:cNvPr>
          <p:cNvSpPr>
            <a:spLocks noGrp="1"/>
          </p:cNvSpPr>
          <p:nvPr>
            <p:ph type="sldNum" sz="quarter" idx="12"/>
          </p:nvPr>
        </p:nvSpPr>
        <p:spPr/>
        <p:txBody>
          <a:bodyPr/>
          <a:lstStyle/>
          <a:p>
            <a:fld id="{B67FBA2B-964F-4C4D-AAF7-5A8399264638}" type="slidenum">
              <a:rPr lang="en-US" smtClean="0"/>
              <a:pPr/>
              <a:t>23</a:t>
            </a:fld>
            <a:endParaRPr lang="en-US"/>
          </a:p>
        </p:txBody>
      </p:sp>
      <p:sp>
        <p:nvSpPr>
          <p:cNvPr id="11" name="TextBox 10">
            <a:extLst>
              <a:ext uri="{FF2B5EF4-FFF2-40B4-BE49-F238E27FC236}">
                <a16:creationId xmlns:a16="http://schemas.microsoft.com/office/drawing/2014/main" id="{5DA9DFE7-8AB7-3988-DDE7-572263414E5B}"/>
              </a:ext>
            </a:extLst>
          </p:cNvPr>
          <p:cNvSpPr txBox="1"/>
          <p:nvPr/>
        </p:nvSpPr>
        <p:spPr>
          <a:xfrm>
            <a:off x="3692855" y="1381268"/>
            <a:ext cx="6389624" cy="1200329"/>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MOV RCX, [R8] ; </a:t>
            </a:r>
            <a:r>
              <a:rPr lang="ru-RU" dirty="0">
                <a:latin typeface="Courier New" panose="02070309020205020404" pitchFamily="49" charset="0"/>
                <a:cs typeface="Courier New" panose="02070309020205020404" pitchFamily="49" charset="0"/>
              </a:rPr>
              <a:t>чтение (долгая операция)</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ADD RCX, 1    ; </a:t>
            </a:r>
            <a:r>
              <a:rPr lang="ru-RU" dirty="0">
                <a:latin typeface="Courier New" panose="02070309020205020404" pitchFamily="49" charset="0"/>
                <a:cs typeface="Courier New" panose="02070309020205020404" pitchFamily="49" charset="0"/>
              </a:rPr>
              <a:t>зависит от предыдущей</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SUB R</a:t>
            </a:r>
            <a:r>
              <a:rPr lang="ru-RU" dirty="0">
                <a:latin typeface="Courier New" panose="02070309020205020404" pitchFamily="49" charset="0"/>
                <a:cs typeface="Courier New" panose="02070309020205020404" pitchFamily="49" charset="0"/>
              </a:rPr>
              <a:t>9</a:t>
            </a:r>
            <a:r>
              <a:rPr lang="en-US" dirty="0">
                <a:latin typeface="Courier New" panose="02070309020205020404" pitchFamily="49" charset="0"/>
                <a:cs typeface="Courier New" panose="02070309020205020404" pitchFamily="49" charset="0"/>
              </a:rPr>
              <a:t>, </a:t>
            </a:r>
            <a:r>
              <a:rPr lang="ru-RU" dirty="0">
                <a:latin typeface="Courier New" panose="02070309020205020404" pitchFamily="49" charset="0"/>
                <a:cs typeface="Courier New" panose="02070309020205020404" pitchFamily="49" charset="0"/>
              </a:rPr>
              <a:t>7</a:t>
            </a:r>
            <a:r>
              <a:rPr lang="en-US" dirty="0">
                <a:latin typeface="Courier New" panose="02070309020205020404" pitchFamily="49" charset="0"/>
                <a:cs typeface="Courier New" panose="02070309020205020404" pitchFamily="49" charset="0"/>
              </a:rPr>
              <a:t>     ; </a:t>
            </a:r>
            <a:r>
              <a:rPr lang="ru-RU" dirty="0">
                <a:latin typeface="Courier New" panose="02070309020205020404" pitchFamily="49" charset="0"/>
                <a:cs typeface="Courier New" panose="02070309020205020404" pitchFamily="49" charset="0"/>
              </a:rPr>
              <a:t>не зависит, выполнится раньше</a:t>
            </a:r>
          </a:p>
          <a:p>
            <a:endParaRPr lang="ru-RU" dirty="0">
              <a:latin typeface="Courier New" panose="02070309020205020404" pitchFamily="49" charset="0"/>
              <a:cs typeface="Courier New" panose="02070309020205020404" pitchFamily="49" charset="0"/>
            </a:endParaRPr>
          </a:p>
        </p:txBody>
      </p:sp>
      <p:graphicFrame>
        <p:nvGraphicFramePr>
          <p:cNvPr id="8" name="Table 7">
            <a:extLst>
              <a:ext uri="{FF2B5EF4-FFF2-40B4-BE49-F238E27FC236}">
                <a16:creationId xmlns:a16="http://schemas.microsoft.com/office/drawing/2014/main" id="{6594DDCF-F5AF-A76C-51FF-0A7262492E0F}"/>
              </a:ext>
            </a:extLst>
          </p:cNvPr>
          <p:cNvGraphicFramePr>
            <a:graphicFrameLocks noGrp="1"/>
          </p:cNvGraphicFramePr>
          <p:nvPr>
            <p:extLst>
              <p:ext uri="{D42A27DB-BD31-4B8C-83A1-F6EECF244321}">
                <p14:modId xmlns:p14="http://schemas.microsoft.com/office/powerpoint/2010/main" val="2916242887"/>
              </p:ext>
            </p:extLst>
          </p:nvPr>
        </p:nvGraphicFramePr>
        <p:xfrm>
          <a:off x="955956" y="2816240"/>
          <a:ext cx="3960000" cy="3409377"/>
        </p:xfrm>
        <a:graphic>
          <a:graphicData uri="http://schemas.openxmlformats.org/drawingml/2006/table">
            <a:tbl>
              <a:tblPr firstRow="1">
                <a:tableStyleId>{2D5ABB26-0587-4C30-8999-92F81FD0307C}</a:tableStyleId>
              </a:tblPr>
              <a:tblGrid>
                <a:gridCol w="792000">
                  <a:extLst>
                    <a:ext uri="{9D8B030D-6E8A-4147-A177-3AD203B41FA5}">
                      <a16:colId xmlns:a16="http://schemas.microsoft.com/office/drawing/2014/main" val="3210154664"/>
                    </a:ext>
                  </a:extLst>
                </a:gridCol>
                <a:gridCol w="792000">
                  <a:extLst>
                    <a:ext uri="{9D8B030D-6E8A-4147-A177-3AD203B41FA5}">
                      <a16:colId xmlns:a16="http://schemas.microsoft.com/office/drawing/2014/main" val="3470306159"/>
                    </a:ext>
                  </a:extLst>
                </a:gridCol>
                <a:gridCol w="792000">
                  <a:extLst>
                    <a:ext uri="{9D8B030D-6E8A-4147-A177-3AD203B41FA5}">
                      <a16:colId xmlns:a16="http://schemas.microsoft.com/office/drawing/2014/main" val="2121971411"/>
                    </a:ext>
                  </a:extLst>
                </a:gridCol>
                <a:gridCol w="792000">
                  <a:extLst>
                    <a:ext uri="{9D8B030D-6E8A-4147-A177-3AD203B41FA5}">
                      <a16:colId xmlns:a16="http://schemas.microsoft.com/office/drawing/2014/main" val="3435902052"/>
                    </a:ext>
                  </a:extLst>
                </a:gridCol>
                <a:gridCol w="792000">
                  <a:extLst>
                    <a:ext uri="{9D8B030D-6E8A-4147-A177-3AD203B41FA5}">
                      <a16:colId xmlns:a16="http://schemas.microsoft.com/office/drawing/2014/main" val="3841729250"/>
                    </a:ext>
                  </a:extLst>
                </a:gridCol>
              </a:tblGrid>
              <a:tr h="483297">
                <a:tc>
                  <a:txBody>
                    <a:bodyPr/>
                    <a:lstStyle/>
                    <a:p>
                      <a:pPr algn="ctr"/>
                      <a:r>
                        <a:rPr lang="ru-RU" dirty="0"/>
                        <a:t>Такт</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Fetch</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dirty="0"/>
                        <a:t>Dec</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dirty="0"/>
                        <a:t>Exec</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dirty="0"/>
                        <a:t>Retire</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ru-RU" dirty="0"/>
                        <a:t>1</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7856952"/>
                  </a:ext>
                </a:extLst>
              </a:tr>
              <a:tr h="323676">
                <a:tc>
                  <a:txBody>
                    <a:bodyPr/>
                    <a:lstStyle/>
                    <a:p>
                      <a:pPr algn="ctr"/>
                      <a:r>
                        <a:rPr lang="ru-RU" dirty="0"/>
                        <a:t>2</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7293732"/>
                  </a:ext>
                </a:extLst>
              </a:tr>
              <a:tr h="323676">
                <a:tc>
                  <a:txBody>
                    <a:bodyPr/>
                    <a:lstStyle/>
                    <a:p>
                      <a:pPr algn="ctr"/>
                      <a:r>
                        <a:rPr lang="ru-RU" dirty="0"/>
                        <a:t>3</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SUB</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1564214"/>
                  </a:ext>
                </a:extLst>
              </a:tr>
              <a:tr h="182880">
                <a:tc rowSpan="2">
                  <a:txBody>
                    <a:bodyPr/>
                    <a:lstStyle/>
                    <a:p>
                      <a:pPr algn="ctr"/>
                      <a:r>
                        <a:rPr lang="ru-RU" dirty="0"/>
                        <a:t>4</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4490740"/>
                  </a:ext>
                </a:extLst>
              </a:tr>
              <a:tr h="182880">
                <a:tc vMerge="1">
                  <a:txBody>
                    <a:bodyPr/>
                    <a:lstStyle/>
                    <a:p>
                      <a:endParaRPr lang="ru-RU"/>
                    </a:p>
                  </a:txBody>
                  <a:tcPr/>
                </a:tc>
                <a:tc vMerge="1">
                  <a:txBody>
                    <a:bodyPr/>
                    <a:lstStyle/>
                    <a:p>
                      <a:endParaRPr lang="ru-RU"/>
                    </a:p>
                  </a:txBody>
                  <a:tcPr/>
                </a:tc>
                <a:tc>
                  <a:txBody>
                    <a:bodyPr/>
                    <a:lstStyle/>
                    <a:p>
                      <a:pPr algn="ctr"/>
                      <a:r>
                        <a:rPr lang="en-US" sz="11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943021566"/>
                  </a:ext>
                </a:extLst>
              </a:tr>
              <a:tr h="182880">
                <a:tc rowSpan="2">
                  <a:txBody>
                    <a:bodyPr/>
                    <a:lstStyle/>
                    <a:p>
                      <a:pPr algn="ctr"/>
                      <a:r>
                        <a:rPr lang="ru-RU" dirty="0"/>
                        <a:t>5</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3812885"/>
                  </a:ext>
                </a:extLst>
              </a:tr>
              <a:tr h="182880">
                <a:tc vMerge="1">
                  <a:txBody>
                    <a:bodyPr/>
                    <a:lstStyle/>
                    <a:p>
                      <a:endParaRPr lang="ru-RU"/>
                    </a:p>
                  </a:txBody>
                  <a:tcPr/>
                </a:tc>
                <a:tc vMerge="1">
                  <a:txBody>
                    <a:bodyPr/>
                    <a:lstStyle/>
                    <a:p>
                      <a:endParaRPr lang="ru-RU"/>
                    </a:p>
                  </a:txBody>
                  <a:tcPr/>
                </a:tc>
                <a:tc>
                  <a:txBody>
                    <a:bodyPr/>
                    <a:lstStyle/>
                    <a:p>
                      <a:pPr algn="ctr"/>
                      <a:r>
                        <a:rPr lang="en-US" sz="11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381797148"/>
                  </a:ext>
                </a:extLst>
              </a:tr>
              <a:tr h="182880">
                <a:tc rowSpan="2">
                  <a:txBody>
                    <a:bodyPr/>
                    <a:lstStyle/>
                    <a:p>
                      <a:pPr algn="ctr"/>
                      <a:r>
                        <a:rPr lang="ru-RU" dirty="0"/>
                        <a:t>6</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793104576"/>
                  </a:ext>
                </a:extLst>
              </a:tr>
              <a:tr h="182880">
                <a:tc vMerge="1">
                  <a:txBody>
                    <a:bodyPr/>
                    <a:lstStyle/>
                    <a:p>
                      <a:endParaRPr lang="ru-RU"/>
                    </a:p>
                  </a:txBody>
                  <a:tcPr/>
                </a:tc>
                <a:tc vMerge="1">
                  <a:txBody>
                    <a:bodyPr/>
                    <a:lstStyle/>
                    <a:p>
                      <a:endParaRPr lang="ru-RU"/>
                    </a:p>
                  </a:txBody>
                  <a:tcPr/>
                </a:tc>
                <a:tc>
                  <a:txBody>
                    <a:bodyPr/>
                    <a:lstStyle/>
                    <a:p>
                      <a:pPr algn="ctr"/>
                      <a:r>
                        <a:rPr lang="en-US" sz="11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997348465"/>
                  </a:ext>
                </a:extLst>
              </a:tr>
              <a:tr h="365760">
                <a:tc>
                  <a:txBody>
                    <a:bodyPr/>
                    <a:lstStyle/>
                    <a:p>
                      <a:pPr algn="ctr"/>
                      <a:r>
                        <a:rPr lang="ru-RU" dirty="0"/>
                        <a:t>7</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4127261"/>
                  </a:ext>
                </a:extLst>
              </a:tr>
              <a:tr h="266622">
                <a:tc>
                  <a:txBody>
                    <a:bodyPr/>
                    <a:lstStyle/>
                    <a:p>
                      <a:pPr algn="ctr"/>
                      <a:r>
                        <a:rPr lang="ru-RU" dirty="0"/>
                        <a:t>8</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SUB</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161615203"/>
                  </a:ext>
                </a:extLst>
              </a:tr>
            </a:tbl>
          </a:graphicData>
        </a:graphic>
      </p:graphicFrame>
      <p:graphicFrame>
        <p:nvGraphicFramePr>
          <p:cNvPr id="12" name="Table 11">
            <a:extLst>
              <a:ext uri="{FF2B5EF4-FFF2-40B4-BE49-F238E27FC236}">
                <a16:creationId xmlns:a16="http://schemas.microsoft.com/office/drawing/2014/main" id="{2D6BB2F9-3F7A-5844-2D26-2CDA4F83B550}"/>
              </a:ext>
            </a:extLst>
          </p:cNvPr>
          <p:cNvGraphicFramePr>
            <a:graphicFrameLocks noGrp="1"/>
          </p:cNvGraphicFramePr>
          <p:nvPr>
            <p:extLst>
              <p:ext uri="{D42A27DB-BD31-4B8C-83A1-F6EECF244321}">
                <p14:modId xmlns:p14="http://schemas.microsoft.com/office/powerpoint/2010/main" val="3799778289"/>
              </p:ext>
            </p:extLst>
          </p:nvPr>
        </p:nvGraphicFramePr>
        <p:xfrm>
          <a:off x="6329928" y="2816240"/>
          <a:ext cx="3960000" cy="3409377"/>
        </p:xfrm>
        <a:graphic>
          <a:graphicData uri="http://schemas.openxmlformats.org/drawingml/2006/table">
            <a:tbl>
              <a:tblPr firstRow="1">
                <a:tableStyleId>{2D5ABB26-0587-4C30-8999-92F81FD0307C}</a:tableStyleId>
              </a:tblPr>
              <a:tblGrid>
                <a:gridCol w="792000">
                  <a:extLst>
                    <a:ext uri="{9D8B030D-6E8A-4147-A177-3AD203B41FA5}">
                      <a16:colId xmlns:a16="http://schemas.microsoft.com/office/drawing/2014/main" val="3324990876"/>
                    </a:ext>
                  </a:extLst>
                </a:gridCol>
                <a:gridCol w="792000">
                  <a:extLst>
                    <a:ext uri="{9D8B030D-6E8A-4147-A177-3AD203B41FA5}">
                      <a16:colId xmlns:a16="http://schemas.microsoft.com/office/drawing/2014/main" val="3470306159"/>
                    </a:ext>
                  </a:extLst>
                </a:gridCol>
                <a:gridCol w="792000">
                  <a:extLst>
                    <a:ext uri="{9D8B030D-6E8A-4147-A177-3AD203B41FA5}">
                      <a16:colId xmlns:a16="http://schemas.microsoft.com/office/drawing/2014/main" val="2121971411"/>
                    </a:ext>
                  </a:extLst>
                </a:gridCol>
                <a:gridCol w="792000">
                  <a:extLst>
                    <a:ext uri="{9D8B030D-6E8A-4147-A177-3AD203B41FA5}">
                      <a16:colId xmlns:a16="http://schemas.microsoft.com/office/drawing/2014/main" val="3435902052"/>
                    </a:ext>
                  </a:extLst>
                </a:gridCol>
                <a:gridCol w="792000">
                  <a:extLst>
                    <a:ext uri="{9D8B030D-6E8A-4147-A177-3AD203B41FA5}">
                      <a16:colId xmlns:a16="http://schemas.microsoft.com/office/drawing/2014/main" val="3841729250"/>
                    </a:ext>
                  </a:extLst>
                </a:gridCol>
              </a:tblGrid>
              <a:tr h="483297">
                <a:tc>
                  <a:txBody>
                    <a:bodyPr/>
                    <a:lstStyle/>
                    <a:p>
                      <a:pPr algn="ctr"/>
                      <a:r>
                        <a:rPr lang="ru-RU" dirty="0"/>
                        <a:t>Такт</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Fetch</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dirty="0"/>
                        <a:t>Dec</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dirty="0"/>
                        <a:t>Exec</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dirty="0"/>
                        <a:t>Retire</a:t>
                      </a: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ru-RU" dirty="0"/>
                        <a:t>1</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7856952"/>
                  </a:ext>
                </a:extLst>
              </a:tr>
              <a:tr h="323676">
                <a:tc>
                  <a:txBody>
                    <a:bodyPr/>
                    <a:lstStyle/>
                    <a:p>
                      <a:pPr algn="ctr"/>
                      <a:r>
                        <a:rPr lang="ru-RU" dirty="0"/>
                        <a:t>2</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7293732"/>
                  </a:ext>
                </a:extLst>
              </a:tr>
              <a:tr h="323676">
                <a:tc>
                  <a:txBody>
                    <a:bodyPr/>
                    <a:lstStyle/>
                    <a:p>
                      <a:pPr algn="ctr"/>
                      <a:r>
                        <a:rPr lang="ru-RU" dirty="0"/>
                        <a:t>3</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dirty="0"/>
                        <a:t>SUB</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1564214"/>
                  </a:ext>
                </a:extLst>
              </a:tr>
              <a:tr h="182880">
                <a:tc rowSpan="2">
                  <a:txBody>
                    <a:bodyPr/>
                    <a:lstStyle/>
                    <a:p>
                      <a:pPr algn="ctr"/>
                      <a:r>
                        <a:rPr lang="ru-RU" dirty="0"/>
                        <a:t>4</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r>
                        <a:rPr lang="en-US" dirty="0"/>
                        <a:t>MOV</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4490740"/>
                  </a:ext>
                </a:extLst>
              </a:tr>
              <a:tr h="182880">
                <a:tc vMerge="1">
                  <a:txBody>
                    <a:bodyPr/>
                    <a:lstStyle/>
                    <a:p>
                      <a:endParaRPr lang="ru-RU"/>
                    </a:p>
                  </a:txBody>
                  <a:tcPr/>
                </a:tc>
                <a:tc vMerge="1">
                  <a:txBody>
                    <a:bodyPr/>
                    <a:lstStyle/>
                    <a:p>
                      <a:endParaRPr lang="ru-RU"/>
                    </a:p>
                  </a:txBody>
                  <a:tcPr/>
                </a:tc>
                <a:tc>
                  <a:txBody>
                    <a:bodyPr/>
                    <a:lstStyle/>
                    <a:p>
                      <a:pPr algn="ctr"/>
                      <a:r>
                        <a:rPr lang="en-US" sz="11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943021566"/>
                  </a:ext>
                </a:extLst>
              </a:tr>
              <a:tr h="182880">
                <a:tc rowSpan="2">
                  <a:txBody>
                    <a:bodyPr/>
                    <a:lstStyle/>
                    <a:p>
                      <a:pPr algn="ctr"/>
                      <a:r>
                        <a:rPr lang="ru-RU" dirty="0"/>
                        <a:t>5</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800" dirty="0"/>
                        <a:t>ADD</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r>
                        <a:rPr lang="en-US" sz="1100" dirty="0"/>
                        <a:t>MOV</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63812885"/>
                  </a:ext>
                </a:extLst>
              </a:tr>
              <a:tr h="182880">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ctr"/>
                      <a:r>
                        <a:rPr lang="en-US" sz="11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vMerge="1">
                  <a:txBody>
                    <a:bodyPr/>
                    <a:lstStyle/>
                    <a:p>
                      <a:endParaRPr lang="ru-RU"/>
                    </a:p>
                  </a:txBody>
                  <a:tcPr/>
                </a:tc>
                <a:extLst>
                  <a:ext uri="{0D108BD9-81ED-4DB2-BD59-A6C34878D82A}">
                    <a16:rowId xmlns:a16="http://schemas.microsoft.com/office/drawing/2014/main" val="519912364"/>
                  </a:ext>
                </a:extLst>
              </a:tr>
              <a:tr h="182880">
                <a:tc rowSpan="2">
                  <a:txBody>
                    <a:bodyPr/>
                    <a:lstStyle/>
                    <a:p>
                      <a:pPr algn="ctr"/>
                      <a:r>
                        <a:rPr lang="ru-RU" dirty="0"/>
                        <a:t>6</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800" dirty="0"/>
                        <a:t>ADD</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rowSpan="2">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MOV</a:t>
                      </a:r>
                      <a:endParaRPr lang="ru-RU" sz="1100" dirty="0"/>
                    </a:p>
                  </a:txBody>
                  <a:tcPr marL="0" marR="0" marT="0" marB="0"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793104576"/>
                  </a:ext>
                </a:extLst>
              </a:tr>
              <a:tr h="0">
                <a:tc vMerge="1">
                  <a:txBody>
                    <a:bodyPr/>
                    <a:lstStyle/>
                    <a:p>
                      <a:endParaRPr lang="ru-RU"/>
                    </a:p>
                  </a:txBody>
                  <a:tcPr/>
                </a:tc>
                <a:tc vMerge="1">
                  <a:txBody>
                    <a:bodyPr/>
                    <a:lstStyle/>
                    <a:p>
                      <a:endParaRPr lang="ru-RU"/>
                    </a:p>
                  </a:txBody>
                  <a:tcPr/>
                </a:tc>
                <a:tc vMerge="1">
                  <a:txBody>
                    <a:bodyPr/>
                    <a:lstStyle/>
                    <a:p>
                      <a:pPr algn="ctr"/>
                      <a:endParaRPr lang="ru-RU" sz="1100" dirty="0"/>
                    </a:p>
                  </a:txBody>
                  <a:tcPr marL="0" marR="0" marT="0" marB="0"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ru-RU"/>
                    </a:p>
                  </a:txBody>
                  <a:tcPr/>
                </a:tc>
                <a:tc>
                  <a:txBody>
                    <a:bodyPr/>
                    <a:lstStyle/>
                    <a:p>
                      <a:pPr algn="ctr"/>
                      <a:r>
                        <a:rPr lang="en-US" sz="1100" dirty="0"/>
                        <a:t>SUB</a:t>
                      </a:r>
                      <a:endParaRPr lang="ru-RU" sz="1100" dirty="0"/>
                    </a:p>
                  </a:txBody>
                  <a:tcPr marL="0" marR="0" marT="0" marB="0"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997348465"/>
                  </a:ext>
                </a:extLst>
              </a:tr>
              <a:tr h="365760">
                <a:tc>
                  <a:txBody>
                    <a:bodyPr/>
                    <a:lstStyle/>
                    <a:p>
                      <a:pPr algn="ctr"/>
                      <a:r>
                        <a:rPr lang="ru-RU" dirty="0"/>
                        <a:t>7</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84127261"/>
                  </a:ext>
                </a:extLst>
              </a:tr>
              <a:tr h="266622">
                <a:tc>
                  <a:txBody>
                    <a:bodyPr/>
                    <a:lstStyle/>
                    <a:p>
                      <a:pPr algn="ctr"/>
                      <a:r>
                        <a:rPr lang="ru-RU" dirty="0"/>
                        <a:t>8</a:t>
                      </a:r>
                    </a:p>
                  </a:txBody>
                  <a:tcPr anchor="ctr">
                    <a:lnL w="28575"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t>ADD</a:t>
                      </a:r>
                      <a:endParaRPr lang="ru-RU" dirty="0"/>
                    </a:p>
                  </a:txBody>
                  <a:tcPr anchor="ctr">
                    <a:lnL w="1905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60000"/>
                        <a:lumOff val="40000"/>
                      </a:schemeClr>
                    </a:solidFill>
                  </a:tcPr>
                </a:tc>
                <a:extLst>
                  <a:ext uri="{0D108BD9-81ED-4DB2-BD59-A6C34878D82A}">
                    <a16:rowId xmlns:a16="http://schemas.microsoft.com/office/drawing/2014/main" val="2161615203"/>
                  </a:ext>
                </a:extLst>
              </a:tr>
            </a:tbl>
          </a:graphicData>
        </a:graphic>
      </p:graphicFrame>
    </p:spTree>
    <p:extLst>
      <p:ext uri="{BB962C8B-B14F-4D97-AF65-F5344CB8AC3E}">
        <p14:creationId xmlns:p14="http://schemas.microsoft.com/office/powerpoint/2010/main" val="3780399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67752E-CA10-82CF-9129-DEB5176C2785}"/>
              </a:ext>
            </a:extLst>
          </p:cNvPr>
          <p:cNvSpPr>
            <a:spLocks noGrp="1"/>
          </p:cNvSpPr>
          <p:nvPr>
            <p:ph type="title"/>
          </p:nvPr>
        </p:nvSpPr>
        <p:spPr/>
        <p:txBody>
          <a:bodyPr/>
          <a:lstStyle/>
          <a:p>
            <a:r>
              <a:rPr lang="ru-RU" dirty="0"/>
              <a:t>Зависимость по данным</a:t>
            </a:r>
          </a:p>
        </p:txBody>
      </p:sp>
      <p:sp>
        <p:nvSpPr>
          <p:cNvPr id="3" name="Объект 2">
            <a:extLst>
              <a:ext uri="{FF2B5EF4-FFF2-40B4-BE49-F238E27FC236}">
                <a16:creationId xmlns:a16="http://schemas.microsoft.com/office/drawing/2014/main" id="{A550544C-6778-412E-276F-B1435758B852}"/>
              </a:ext>
            </a:extLst>
          </p:cNvPr>
          <p:cNvSpPr>
            <a:spLocks noGrp="1"/>
          </p:cNvSpPr>
          <p:nvPr>
            <p:ph idx="1"/>
          </p:nvPr>
        </p:nvSpPr>
        <p:spPr>
          <a:xfrm>
            <a:off x="838200" y="1825625"/>
            <a:ext cx="11006470" cy="4351338"/>
          </a:xfrm>
        </p:spPr>
        <p:txBody>
          <a:bodyPr>
            <a:normAutofit/>
          </a:bodyPr>
          <a:lstStyle/>
          <a:p>
            <a:pPr marL="0" indent="0">
              <a:buNone/>
            </a:pPr>
            <a:r>
              <a:rPr lang="ru-RU" sz="2000" dirty="0"/>
              <a:t>Зависимости по данным запрещают переупорядочивание микроопераций в определенных ситуациях. В роли данных могут выступать переменная в ОЗУ или регистр.</a:t>
            </a:r>
            <a:endParaRPr lang="en-US" sz="2000" dirty="0"/>
          </a:p>
          <a:p>
            <a:pPr marL="457200" indent="-457200">
              <a:buFont typeface="+mj-lt"/>
              <a:buAutoNum type="arabicPeriod"/>
            </a:pPr>
            <a:r>
              <a:rPr lang="en-US" sz="2000" dirty="0"/>
              <a:t>Read-after-write</a:t>
            </a:r>
            <a:r>
              <a:rPr lang="ru-RU" sz="2000" dirty="0"/>
              <a:t> (</a:t>
            </a:r>
            <a:r>
              <a:rPr lang="en-US" sz="2000" dirty="0" err="1"/>
              <a:t>RaW</a:t>
            </a:r>
            <a:r>
              <a:rPr lang="en-US" sz="2000" dirty="0"/>
              <a:t>) – </a:t>
            </a:r>
            <a:r>
              <a:rPr lang="ru-RU" sz="2000" dirty="0"/>
              <a:t>данные записываются операцией </a:t>
            </a:r>
            <a:r>
              <a:rPr lang="en-US" sz="2000" dirty="0"/>
              <a:t>A</a:t>
            </a:r>
            <a:r>
              <a:rPr lang="ru-RU" sz="2000" dirty="0"/>
              <a:t> и считываются операцией Б </a:t>
            </a:r>
            <a:r>
              <a:rPr lang="en-US" sz="2000" dirty="0"/>
              <a:t>=&gt; </a:t>
            </a:r>
            <a:r>
              <a:rPr lang="ru-RU" sz="2000" dirty="0"/>
              <a:t>переупорядочивание может повлиять на результат операции Б;</a:t>
            </a:r>
          </a:p>
          <a:p>
            <a:pPr marL="457200" indent="-457200">
              <a:buFont typeface="+mj-lt"/>
              <a:buAutoNum type="arabicPeriod"/>
            </a:pPr>
            <a:r>
              <a:rPr lang="en-US" sz="2000" dirty="0"/>
              <a:t>Write-after-read  (</a:t>
            </a:r>
            <a:r>
              <a:rPr lang="en-US" sz="2000" dirty="0" err="1"/>
              <a:t>WaR</a:t>
            </a:r>
            <a:r>
              <a:rPr lang="en-US" sz="2000" dirty="0"/>
              <a:t>) –</a:t>
            </a:r>
            <a:r>
              <a:rPr lang="ru-RU" sz="2000" dirty="0"/>
              <a:t> данные считываются операцией </a:t>
            </a:r>
            <a:r>
              <a:rPr lang="en-US" sz="2000" dirty="0"/>
              <a:t>A</a:t>
            </a:r>
            <a:r>
              <a:rPr lang="ru-RU" sz="2000" dirty="0"/>
              <a:t> и</a:t>
            </a:r>
            <a:r>
              <a:rPr lang="en-US" sz="2000" dirty="0"/>
              <a:t> </a:t>
            </a:r>
            <a:r>
              <a:rPr lang="ru-RU" sz="2000" dirty="0"/>
              <a:t>затем перезаписываются операцией Б</a:t>
            </a:r>
            <a:r>
              <a:rPr lang="en-US" sz="2000" dirty="0"/>
              <a:t> =&gt;</a:t>
            </a:r>
            <a:r>
              <a:rPr lang="ru-RU" sz="2000" dirty="0"/>
              <a:t> переупорядочивание может повлиять на результат операции А;</a:t>
            </a:r>
          </a:p>
          <a:p>
            <a:pPr marL="457200" indent="-457200">
              <a:buFont typeface="+mj-lt"/>
              <a:buAutoNum type="arabicPeriod"/>
            </a:pPr>
            <a:r>
              <a:rPr lang="en-US" sz="2000" dirty="0"/>
              <a:t>Write-after-write (</a:t>
            </a:r>
            <a:r>
              <a:rPr lang="en-US" sz="2000" dirty="0" err="1"/>
              <a:t>WaW</a:t>
            </a:r>
            <a:r>
              <a:rPr lang="en-US" sz="2000" dirty="0"/>
              <a:t>) – </a:t>
            </a:r>
            <a:r>
              <a:rPr lang="ru-RU" sz="2000" dirty="0"/>
              <a:t>данные записываются операцией </a:t>
            </a:r>
            <a:r>
              <a:rPr lang="en-US" sz="2000" dirty="0"/>
              <a:t>A</a:t>
            </a:r>
            <a:r>
              <a:rPr lang="ru-RU" sz="2000" dirty="0"/>
              <a:t> и перезаписываются операцией Б =</a:t>
            </a:r>
            <a:r>
              <a:rPr lang="en-US" sz="2000" dirty="0"/>
              <a:t>&gt; </a:t>
            </a:r>
            <a:r>
              <a:rPr lang="ru-RU" sz="2000" dirty="0"/>
              <a:t>может измениться поведение инструкций, считывающих данные между ними .</a:t>
            </a:r>
          </a:p>
          <a:p>
            <a:pPr marL="0" indent="0">
              <a:buNone/>
            </a:pPr>
            <a:endParaRPr lang="ru-RU" sz="2000" dirty="0"/>
          </a:p>
          <a:p>
            <a:pPr marL="0" indent="0">
              <a:buNone/>
            </a:pPr>
            <a:r>
              <a:rPr lang="ru-RU" sz="2000" dirty="0"/>
              <a:t>Поскольку регистр флагов перезаписывается инструкциями арифметики, он тоже может быть источником неявной зависимости по данным.</a:t>
            </a:r>
          </a:p>
        </p:txBody>
      </p:sp>
      <p:sp>
        <p:nvSpPr>
          <p:cNvPr id="5" name="Номер слайда 4">
            <a:extLst>
              <a:ext uri="{FF2B5EF4-FFF2-40B4-BE49-F238E27FC236}">
                <a16:creationId xmlns:a16="http://schemas.microsoft.com/office/drawing/2014/main" id="{7D97B79A-8536-02CC-13E7-CEA8A6AC0B2C}"/>
              </a:ext>
            </a:extLst>
          </p:cNvPr>
          <p:cNvSpPr>
            <a:spLocks noGrp="1"/>
          </p:cNvSpPr>
          <p:nvPr>
            <p:ph type="sldNum" sz="quarter" idx="12"/>
          </p:nvPr>
        </p:nvSpPr>
        <p:spPr/>
        <p:txBody>
          <a:bodyPr/>
          <a:lstStyle/>
          <a:p>
            <a:fld id="{B67FBA2B-964F-4C4D-AAF7-5A8399264638}" type="slidenum">
              <a:rPr lang="en-US" smtClean="0"/>
              <a:pPr/>
              <a:t>24</a:t>
            </a:fld>
            <a:endParaRPr lang="en-US"/>
          </a:p>
        </p:txBody>
      </p:sp>
    </p:spTree>
    <p:extLst>
      <p:ext uri="{BB962C8B-B14F-4D97-AF65-F5344CB8AC3E}">
        <p14:creationId xmlns:p14="http://schemas.microsoft.com/office/powerpoint/2010/main" val="717813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a:xfrm>
            <a:off x="838200" y="276485"/>
            <a:ext cx="11430600" cy="1325563"/>
          </a:xfrm>
        </p:spPr>
        <p:txBody>
          <a:bodyPr/>
          <a:lstStyle/>
          <a:p>
            <a:r>
              <a:rPr lang="ru-RU" dirty="0"/>
              <a:t>Разрыв зависимостей по данным. Переименование регистров. </a:t>
            </a:r>
            <a:r>
              <a:rPr kumimoji="0" lang="ru-RU" sz="1600" b="0" i="0" u="none" strike="noStrike" kern="1200" cap="none" spc="0" normalizeH="0" baseline="0" noProof="0" dirty="0">
                <a:ln>
                  <a:noFill/>
                </a:ln>
                <a:solidFill>
                  <a:prstClr val="black"/>
                </a:solidFill>
                <a:effectLst/>
                <a:uLnTx/>
                <a:uFillTx/>
                <a:latin typeface="Calibri Light" panose="020F0302020204030204"/>
                <a:ea typeface="+mj-ea"/>
                <a:cs typeface="+mj-cs"/>
              </a:rPr>
              <a:t>(пример)</a:t>
            </a:r>
            <a:endParaRPr lang="ru-RU" dirty="0"/>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838200" y="1602048"/>
            <a:ext cx="11178000" cy="3985152"/>
          </a:xfrm>
        </p:spPr>
        <p:txBody>
          <a:bodyPr>
            <a:normAutofit/>
          </a:bodyPr>
          <a:lstStyle/>
          <a:p>
            <a:pPr marL="0" indent="0">
              <a:buNone/>
            </a:pPr>
            <a:r>
              <a:rPr lang="ru-RU" sz="2000" dirty="0"/>
              <a:t>Для увеличения производительности  используется механизм </a:t>
            </a:r>
            <a:r>
              <a:rPr lang="ru-RU" sz="2000" b="1" dirty="0"/>
              <a:t>переименования регистров</a:t>
            </a:r>
            <a:r>
              <a:rPr lang="ru-RU" sz="2000" dirty="0"/>
              <a:t>, который позволяет избавиться от </a:t>
            </a:r>
            <a:r>
              <a:rPr lang="en-US" sz="2000" dirty="0" err="1"/>
              <a:t>WaR</a:t>
            </a:r>
            <a:r>
              <a:rPr lang="en-US" sz="2000" dirty="0"/>
              <a:t>/</a:t>
            </a:r>
            <a:r>
              <a:rPr lang="en-US" sz="2000" dirty="0" err="1"/>
              <a:t>WaW</a:t>
            </a:r>
            <a:r>
              <a:rPr lang="en-US" sz="2000" dirty="0"/>
              <a:t>-</a:t>
            </a:r>
            <a:r>
              <a:rPr lang="ru-RU" sz="2000" dirty="0"/>
              <a:t>зависимостей</a:t>
            </a:r>
            <a:r>
              <a:rPr lang="en-US" sz="2000" dirty="0"/>
              <a:t> </a:t>
            </a:r>
            <a:r>
              <a:rPr lang="ru-RU" sz="2000" dirty="0"/>
              <a:t>по регистрам.</a:t>
            </a:r>
          </a:p>
          <a:p>
            <a:pPr marL="0" indent="0">
              <a:buNone/>
            </a:pPr>
            <a:r>
              <a:rPr lang="ru-RU" sz="2000" dirty="0"/>
              <a:t>Если регистр перезаписан полностью, но последующие инструкции точно не имеют зависимости от старого значения (т.е. зависимость разорвана). Как следствие, ЦП может выбрать один из доступных «безымянных» регистров (их доступно несколько сотен), и использовать его в качестве заданного именованного регистра. При этом, одновременно 2 аппаратных регистра могут иметь одно «имя».</a:t>
            </a:r>
          </a:p>
          <a:p>
            <a:pPr marL="0" indent="0">
              <a:buNone/>
            </a:pPr>
            <a:r>
              <a:rPr lang="ru-RU" sz="2000" dirty="0"/>
              <a:t>При полной перезаписи </a:t>
            </a:r>
            <a:r>
              <a:rPr lang="ru-RU" sz="2000" i="1" dirty="0"/>
              <a:t>всего</a:t>
            </a:r>
            <a:r>
              <a:rPr lang="ru-RU" sz="2000" dirty="0"/>
              <a:t> регистра инструкциями </a:t>
            </a:r>
            <a:r>
              <a:rPr lang="en-US" sz="2000" dirty="0">
                <a:latin typeface="Courier New" panose="02070309020205020404" pitchFamily="49" charset="0"/>
                <a:cs typeface="Courier New" panose="02070309020205020404" pitchFamily="49" charset="0"/>
              </a:rPr>
              <a:t>MOV(SX/ZX)</a:t>
            </a:r>
            <a:r>
              <a:rPr lang="en-US" sz="2000" dirty="0"/>
              <a:t>, </a:t>
            </a:r>
            <a:r>
              <a:rPr lang="en-US" sz="2000" dirty="0">
                <a:latin typeface="Courier New" panose="02070309020205020404" pitchFamily="49" charset="0"/>
                <a:cs typeface="Courier New" panose="02070309020205020404" pitchFamily="49" charset="0"/>
              </a:rPr>
              <a:t>XOR</a:t>
            </a:r>
            <a:r>
              <a:rPr lang="en-US" sz="2000" dirty="0"/>
              <a:t> (</a:t>
            </a:r>
            <a:r>
              <a:rPr lang="ru-RU" sz="2000" dirty="0"/>
              <a:t>регистры общего назначения</a:t>
            </a:r>
            <a:r>
              <a:rPr lang="en-US" sz="2000" dirty="0"/>
              <a:t>), </a:t>
            </a:r>
            <a:r>
              <a:rPr lang="en-US" sz="2000" dirty="0">
                <a:latin typeface="Courier New" panose="02070309020205020404" pitchFamily="49" charset="0"/>
                <a:cs typeface="Courier New" panose="02070309020205020404" pitchFamily="49" charset="0"/>
              </a:rPr>
              <a:t>MOVP*/VMOVP*</a:t>
            </a:r>
            <a:r>
              <a:rPr lang="en-US" sz="2000" dirty="0"/>
              <a:t>, </a:t>
            </a:r>
            <a:r>
              <a:rPr lang="en-US" sz="2000" dirty="0">
                <a:latin typeface="Courier New" panose="02070309020205020404" pitchFamily="49" charset="0"/>
                <a:cs typeface="Courier New" panose="02070309020205020404" pitchFamily="49" charset="0"/>
              </a:rPr>
              <a:t>PXOR</a:t>
            </a:r>
            <a:r>
              <a:rPr lang="ru-RU" sz="2000" dirty="0">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rPr>
              <a:t>VPXOR</a:t>
            </a:r>
            <a:r>
              <a:rPr lang="en-US" sz="2000" dirty="0"/>
              <a:t> (</a:t>
            </a:r>
            <a:r>
              <a:rPr lang="ru-RU" sz="2000" dirty="0"/>
              <a:t>векторные регистры</a:t>
            </a:r>
            <a:r>
              <a:rPr lang="en-US" sz="2000" dirty="0"/>
              <a:t>)</a:t>
            </a:r>
            <a:r>
              <a:rPr lang="ru-RU" sz="2000" dirty="0"/>
              <a:t> на аппаратном уровне ЦП просто выбирает свободный регистр и начинает использовать его. Компиляторы генерируют данные инструкции там, где они вроде-бы не требуются, именно для разрыва зависимостей.</a:t>
            </a:r>
          </a:p>
          <a:p>
            <a:pPr marL="0" indent="0">
              <a:buNone/>
            </a:pPr>
            <a:endParaRPr lang="ru-RU" sz="2000" dirty="0"/>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25</a:t>
            </a:fld>
            <a:endParaRPr lang="en-US"/>
          </a:p>
        </p:txBody>
      </p:sp>
      <p:sp>
        <p:nvSpPr>
          <p:cNvPr id="11" name="TextBox 10">
            <a:extLst>
              <a:ext uri="{FF2B5EF4-FFF2-40B4-BE49-F238E27FC236}">
                <a16:creationId xmlns:a16="http://schemas.microsoft.com/office/drawing/2014/main" id="{A84B3C6E-B291-6348-8769-B8EA7235602A}"/>
              </a:ext>
            </a:extLst>
          </p:cNvPr>
          <p:cNvSpPr txBox="1"/>
          <p:nvPr/>
        </p:nvSpPr>
        <p:spPr>
          <a:xfrm>
            <a:off x="175800" y="5209175"/>
            <a:ext cx="6447634" cy="1477328"/>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DIV RDX        ; 1</a:t>
            </a:r>
            <a:r>
              <a:rPr lang="ru-RU"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MOV [RDI], RDX ; 1</a:t>
            </a:r>
          </a:p>
          <a:p>
            <a:r>
              <a:rPr lang="en-US" dirty="0">
                <a:latin typeface="Courier New" panose="02070309020205020404" pitchFamily="49" charset="0"/>
                <a:cs typeface="Courier New" panose="02070309020205020404" pitchFamily="49" charset="0"/>
              </a:rPr>
              <a:t>XOR EDX,EDX    ; 2</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RDX </a:t>
            </a:r>
            <a:r>
              <a:rPr lang="ru-RU" dirty="0">
                <a:latin typeface="Courier New" panose="02070309020205020404" pitchFamily="49" charset="0"/>
                <a:cs typeface="Courier New" panose="02070309020205020404" pitchFamily="49" charset="0"/>
              </a:rPr>
              <a:t>перезаписан)</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ADD EDX,EAX    ; 2</a:t>
            </a:r>
          </a:p>
          <a:p>
            <a:endParaRPr lang="ru-RU"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9039AE5F-AEEE-FF6A-782D-EE6EFEDB8491}"/>
              </a:ext>
            </a:extLst>
          </p:cNvPr>
          <p:cNvSpPr txBox="1"/>
          <p:nvPr/>
        </p:nvSpPr>
        <p:spPr>
          <a:xfrm>
            <a:off x="5633964" y="5209175"/>
            <a:ext cx="6634836" cy="1200329"/>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MOVPS XMM1, XMM0</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1</a:t>
            </a:r>
          </a:p>
          <a:p>
            <a:r>
              <a:rPr lang="en-US" dirty="0">
                <a:latin typeface="Courier New" panose="02070309020205020404" pitchFamily="49" charset="0"/>
                <a:cs typeface="Courier New" panose="02070309020205020404" pitchFamily="49" charset="0"/>
              </a:rPr>
              <a:t>PXOR XMM0, XMM0  ; 2 (XMM0 </a:t>
            </a:r>
            <a:r>
              <a:rPr lang="ru-RU" dirty="0">
                <a:latin typeface="Courier New" panose="02070309020205020404" pitchFamily="49" charset="0"/>
                <a:cs typeface="Courier New" panose="02070309020205020404" pitchFamily="49" charset="0"/>
              </a:rPr>
              <a:t>перезаписан целиком</a:t>
            </a:r>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MOVSS XMM0, XMM2 ; 2</a:t>
            </a:r>
          </a:p>
          <a:p>
            <a:endParaRPr lang="ru-RU"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C10F3CFE-C609-7811-D520-8F3A89B4128D}"/>
              </a:ext>
            </a:extLst>
          </p:cNvPr>
          <p:cNvSpPr txBox="1"/>
          <p:nvPr/>
        </p:nvSpPr>
        <p:spPr>
          <a:xfrm>
            <a:off x="1410586" y="6538912"/>
            <a:ext cx="3152210" cy="369332"/>
          </a:xfrm>
          <a:prstGeom prst="rect">
            <a:avLst/>
          </a:prstGeom>
          <a:noFill/>
        </p:spPr>
        <p:txBody>
          <a:bodyPr wrap="none" rtlCol="0">
            <a:spAutoFit/>
          </a:bodyPr>
          <a:lstStyle/>
          <a:p>
            <a:r>
              <a:rPr lang="ru-RU" dirty="0"/>
              <a:t>См. также: алгоритм </a:t>
            </a:r>
            <a:r>
              <a:rPr lang="ru-RU" dirty="0" err="1"/>
              <a:t>Томасуло</a:t>
            </a:r>
            <a:endParaRPr lang="ru-RU" dirty="0"/>
          </a:p>
        </p:txBody>
      </p:sp>
    </p:spTree>
    <p:extLst>
      <p:ext uri="{BB962C8B-B14F-4D97-AF65-F5344CB8AC3E}">
        <p14:creationId xmlns:p14="http://schemas.microsoft.com/office/powerpoint/2010/main" val="3607133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6D493-B8D3-E5ED-4445-9FC0FE02B0B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76506E-A9B4-3CA8-A220-3439688D5B4E}"/>
              </a:ext>
            </a:extLst>
          </p:cNvPr>
          <p:cNvSpPr>
            <a:spLocks noGrp="1"/>
          </p:cNvSpPr>
          <p:nvPr>
            <p:ph type="title"/>
          </p:nvPr>
        </p:nvSpPr>
        <p:spPr>
          <a:xfrm>
            <a:off x="838200" y="276485"/>
            <a:ext cx="11430600" cy="1325563"/>
          </a:xfrm>
        </p:spPr>
        <p:txBody>
          <a:bodyPr/>
          <a:lstStyle/>
          <a:p>
            <a:r>
              <a:rPr lang="ru-RU" dirty="0"/>
              <a:t>Разрыв зависимостей по данным. Переименование регистров. </a:t>
            </a:r>
            <a:r>
              <a:rPr kumimoji="0" lang="ru-RU" sz="1600" b="0" i="0" u="none" strike="noStrike" kern="1200" cap="none" spc="0" normalizeH="0" baseline="0" noProof="0" dirty="0">
                <a:ln>
                  <a:noFill/>
                </a:ln>
                <a:solidFill>
                  <a:prstClr val="black"/>
                </a:solidFill>
                <a:effectLst/>
                <a:uLnTx/>
                <a:uFillTx/>
                <a:latin typeface="Calibri Light" panose="020F0302020204030204"/>
                <a:ea typeface="+mj-ea"/>
                <a:cs typeface="+mj-cs"/>
              </a:rPr>
              <a:t>(пример)</a:t>
            </a:r>
            <a:endParaRPr lang="ru-RU" dirty="0"/>
          </a:p>
        </p:txBody>
      </p:sp>
      <p:sp>
        <p:nvSpPr>
          <p:cNvPr id="5" name="Номер слайда 4">
            <a:extLst>
              <a:ext uri="{FF2B5EF4-FFF2-40B4-BE49-F238E27FC236}">
                <a16:creationId xmlns:a16="http://schemas.microsoft.com/office/drawing/2014/main" id="{63ED15C2-195F-6389-BA47-813F7B6E7F2E}"/>
              </a:ext>
            </a:extLst>
          </p:cNvPr>
          <p:cNvSpPr>
            <a:spLocks noGrp="1"/>
          </p:cNvSpPr>
          <p:nvPr>
            <p:ph type="sldNum" sz="quarter" idx="12"/>
          </p:nvPr>
        </p:nvSpPr>
        <p:spPr/>
        <p:txBody>
          <a:bodyPr/>
          <a:lstStyle/>
          <a:p>
            <a:fld id="{B67FBA2B-964F-4C4D-AAF7-5A8399264638}" type="slidenum">
              <a:rPr lang="en-US" smtClean="0"/>
              <a:pPr/>
              <a:t>26</a:t>
            </a:fld>
            <a:endParaRPr lang="en-US"/>
          </a:p>
        </p:txBody>
      </p:sp>
      <p:sp>
        <p:nvSpPr>
          <p:cNvPr id="12" name="TextBox 11">
            <a:extLst>
              <a:ext uri="{FF2B5EF4-FFF2-40B4-BE49-F238E27FC236}">
                <a16:creationId xmlns:a16="http://schemas.microsoft.com/office/drawing/2014/main" id="{659C53A8-F9B3-5970-2A7E-F2EFFBF96752}"/>
              </a:ext>
            </a:extLst>
          </p:cNvPr>
          <p:cNvSpPr txBox="1"/>
          <p:nvPr/>
        </p:nvSpPr>
        <p:spPr>
          <a:xfrm>
            <a:off x="4299371" y="1674354"/>
            <a:ext cx="3593257" cy="1477328"/>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DIV </a:t>
            </a:r>
            <a:r>
              <a:rPr lang="en-US" dirty="0">
                <a:highlight>
                  <a:srgbClr val="00FF00"/>
                </a:highlight>
                <a:latin typeface="Courier New" panose="02070309020205020404" pitchFamily="49" charset="0"/>
                <a:cs typeface="Courier New" panose="02070309020205020404" pitchFamily="49" charset="0"/>
              </a:rPr>
              <a:t>RCX</a:t>
            </a:r>
            <a:r>
              <a:rPr lang="en-US" dirty="0">
                <a:latin typeface="Courier New" panose="02070309020205020404" pitchFamily="49" charset="0"/>
                <a:cs typeface="Courier New" panose="02070309020205020404" pitchFamily="49" charset="0"/>
              </a:rPr>
              <a:t>        ; 1</a:t>
            </a:r>
            <a:r>
              <a:rPr lang="ru-RU" dirty="0">
                <a:latin typeface="Courier New" panose="02070309020205020404" pitchFamily="49" charset="0"/>
                <a:cs typeface="Courier New" panose="02070309020205020404" pitchFamily="49" charset="0"/>
              </a:rPr>
              <a:t> </a:t>
            </a: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MOV [RDI], </a:t>
            </a:r>
            <a:r>
              <a:rPr lang="en-US" dirty="0">
                <a:highlight>
                  <a:srgbClr val="00FF00"/>
                </a:highlight>
                <a:latin typeface="Courier New" panose="02070309020205020404" pitchFamily="49" charset="0"/>
                <a:cs typeface="Courier New" panose="02070309020205020404" pitchFamily="49" charset="0"/>
              </a:rPr>
              <a:t>RDX</a:t>
            </a:r>
            <a:r>
              <a:rPr lang="en-US" dirty="0">
                <a:latin typeface="Courier New" panose="02070309020205020404" pitchFamily="49" charset="0"/>
                <a:cs typeface="Courier New" panose="02070309020205020404" pitchFamily="49" charset="0"/>
              </a:rPr>
              <a:t> ; 1</a:t>
            </a:r>
          </a:p>
          <a:p>
            <a:r>
              <a:rPr lang="en-US" dirty="0">
                <a:latin typeface="Courier New" panose="02070309020205020404" pitchFamily="49" charset="0"/>
                <a:cs typeface="Courier New" panose="02070309020205020404" pitchFamily="49" charset="0"/>
              </a:rPr>
              <a:t>XOR </a:t>
            </a:r>
            <a:r>
              <a:rPr lang="en-US" dirty="0">
                <a:highlight>
                  <a:srgbClr val="00FFFF"/>
                </a:highlight>
                <a:latin typeface="Courier New" panose="02070309020205020404" pitchFamily="49" charset="0"/>
                <a:cs typeface="Courier New" panose="02070309020205020404" pitchFamily="49" charset="0"/>
              </a:rPr>
              <a:t>EDX</a:t>
            </a:r>
            <a:r>
              <a:rPr lang="en-US" dirty="0">
                <a:latin typeface="Courier New" panose="02070309020205020404" pitchFamily="49" charset="0"/>
                <a:cs typeface="Courier New" panose="02070309020205020404" pitchFamily="49" charset="0"/>
              </a:rPr>
              <a:t>, EDX   ; 2</a:t>
            </a:r>
          </a:p>
          <a:p>
            <a:r>
              <a:rPr lang="en-US" dirty="0">
                <a:latin typeface="Courier New" panose="02070309020205020404" pitchFamily="49" charset="0"/>
                <a:cs typeface="Courier New" panose="02070309020205020404" pitchFamily="49" charset="0"/>
              </a:rPr>
              <a:t>ADD </a:t>
            </a:r>
            <a:r>
              <a:rPr lang="en-US" dirty="0">
                <a:highlight>
                  <a:srgbClr val="00FFFF"/>
                </a:highlight>
                <a:latin typeface="Courier New" panose="02070309020205020404" pitchFamily="49" charset="0"/>
                <a:cs typeface="Courier New" panose="02070309020205020404" pitchFamily="49" charset="0"/>
              </a:rPr>
              <a:t>EDX</a:t>
            </a:r>
            <a:r>
              <a:rPr lang="en-US" dirty="0">
                <a:latin typeface="Courier New" panose="02070309020205020404" pitchFamily="49" charset="0"/>
                <a:cs typeface="Courier New" panose="02070309020205020404" pitchFamily="49" charset="0"/>
              </a:rPr>
              <a:t>, EAX   ; 2</a:t>
            </a:r>
          </a:p>
          <a:p>
            <a:endParaRPr lang="ru-RU" dirty="0">
              <a:latin typeface="Courier New" panose="02070309020205020404" pitchFamily="49" charset="0"/>
              <a:cs typeface="Courier New" panose="02070309020205020404" pitchFamily="49" charset="0"/>
            </a:endParaRPr>
          </a:p>
        </p:txBody>
      </p:sp>
      <p:graphicFrame>
        <p:nvGraphicFramePr>
          <p:cNvPr id="13" name="Table 12">
            <a:extLst>
              <a:ext uri="{FF2B5EF4-FFF2-40B4-BE49-F238E27FC236}">
                <a16:creationId xmlns:a16="http://schemas.microsoft.com/office/drawing/2014/main" id="{95E3FEFE-06D0-794D-7466-5DC12D666FB3}"/>
              </a:ext>
            </a:extLst>
          </p:cNvPr>
          <p:cNvGraphicFramePr>
            <a:graphicFrameLocks noGrp="1"/>
          </p:cNvGraphicFramePr>
          <p:nvPr>
            <p:extLst>
              <p:ext uri="{D42A27DB-BD31-4B8C-83A1-F6EECF244321}">
                <p14:modId xmlns:p14="http://schemas.microsoft.com/office/powerpoint/2010/main" val="726744133"/>
              </p:ext>
            </p:extLst>
          </p:nvPr>
        </p:nvGraphicFramePr>
        <p:xfrm>
          <a:off x="838200" y="2946338"/>
          <a:ext cx="3855965" cy="3775137"/>
        </p:xfrm>
        <a:graphic>
          <a:graphicData uri="http://schemas.openxmlformats.org/drawingml/2006/table">
            <a:tbl>
              <a:tblPr firstRow="1">
                <a:tableStyleId>{2D5ABB26-0587-4C30-8999-92F81FD0307C}</a:tableStyleId>
              </a:tblPr>
              <a:tblGrid>
                <a:gridCol w="771193">
                  <a:extLst>
                    <a:ext uri="{9D8B030D-6E8A-4147-A177-3AD203B41FA5}">
                      <a16:colId xmlns:a16="http://schemas.microsoft.com/office/drawing/2014/main" val="700368607"/>
                    </a:ext>
                  </a:extLst>
                </a:gridCol>
                <a:gridCol w="771193">
                  <a:extLst>
                    <a:ext uri="{9D8B030D-6E8A-4147-A177-3AD203B41FA5}">
                      <a16:colId xmlns:a16="http://schemas.microsoft.com/office/drawing/2014/main" val="3470306159"/>
                    </a:ext>
                  </a:extLst>
                </a:gridCol>
                <a:gridCol w="771193">
                  <a:extLst>
                    <a:ext uri="{9D8B030D-6E8A-4147-A177-3AD203B41FA5}">
                      <a16:colId xmlns:a16="http://schemas.microsoft.com/office/drawing/2014/main" val="2121971411"/>
                    </a:ext>
                  </a:extLst>
                </a:gridCol>
                <a:gridCol w="771193">
                  <a:extLst>
                    <a:ext uri="{9D8B030D-6E8A-4147-A177-3AD203B41FA5}">
                      <a16:colId xmlns:a16="http://schemas.microsoft.com/office/drawing/2014/main" val="3435902052"/>
                    </a:ext>
                  </a:extLst>
                </a:gridCol>
                <a:gridCol w="771193">
                  <a:extLst>
                    <a:ext uri="{9D8B030D-6E8A-4147-A177-3AD203B41FA5}">
                      <a16:colId xmlns:a16="http://schemas.microsoft.com/office/drawing/2014/main" val="3841729250"/>
                    </a:ext>
                  </a:extLst>
                </a:gridCol>
              </a:tblGrid>
              <a:tr h="483297">
                <a:tc>
                  <a:txBody>
                    <a:bodyPr/>
                    <a:lstStyle/>
                    <a:p>
                      <a:pPr algn="ctr"/>
                      <a:r>
                        <a:rPr lang="ru-RU" sz="1800" dirty="0"/>
                        <a:t>Такт</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Fetch</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1800" dirty="0"/>
                        <a:t>Dec</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1800" dirty="0"/>
                        <a:t>Exec</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tc>
                  <a:txBody>
                    <a:bodyPr/>
                    <a:lstStyle/>
                    <a:p>
                      <a:pPr algn="ctr"/>
                      <a:r>
                        <a:rPr lang="en-US" sz="1800" dirty="0"/>
                        <a:t>Retire</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ru-RU" sz="1800" dirty="0"/>
                        <a:t>1</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7856952"/>
                  </a:ext>
                </a:extLst>
              </a:tr>
              <a:tr h="359631">
                <a:tc>
                  <a:txBody>
                    <a:bodyPr/>
                    <a:lstStyle/>
                    <a:p>
                      <a:pPr algn="ctr"/>
                      <a:r>
                        <a:rPr lang="ru-RU" sz="1800" dirty="0"/>
                        <a:t>2</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27293732"/>
                  </a:ext>
                </a:extLst>
              </a:tr>
              <a:tr h="323676">
                <a:tc>
                  <a:txBody>
                    <a:bodyPr/>
                    <a:lstStyle/>
                    <a:p>
                      <a:pPr algn="ctr"/>
                      <a:r>
                        <a:rPr lang="ru-RU" sz="1800" dirty="0"/>
                        <a:t>3</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XOR</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1564214"/>
                  </a:ext>
                </a:extLst>
              </a:tr>
              <a:tr h="365760">
                <a:tc>
                  <a:txBody>
                    <a:bodyPr/>
                    <a:lstStyle/>
                    <a:p>
                      <a:pPr algn="ctr"/>
                      <a:r>
                        <a:rPr lang="ru-RU" sz="1800" dirty="0"/>
                        <a:t>4</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dirty="0"/>
                        <a:t>ADD</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7B6E1"/>
                    </a:solidFill>
                  </a:tcPr>
                </a:tc>
                <a:tc>
                  <a:txBody>
                    <a:bodyPr/>
                    <a:lstStyle/>
                    <a:p>
                      <a:pPr algn="ctr"/>
                      <a:r>
                        <a:rPr lang="en-US" sz="1800" dirty="0"/>
                        <a:t>XOR</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4490740"/>
                  </a:ext>
                </a:extLst>
              </a:tr>
              <a:tr h="182880">
                <a:tc rowSpan="2">
                  <a:txBody>
                    <a:bodyPr/>
                    <a:lstStyle/>
                    <a:p>
                      <a:pPr algn="ctr"/>
                      <a:r>
                        <a:rPr lang="ru-RU" sz="1800" dirty="0"/>
                        <a:t>5</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7B6E1"/>
                    </a:solid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4088902066"/>
                  </a:ext>
                </a:extLst>
              </a:tr>
              <a:tr h="182880">
                <a:tc vMerge="1">
                  <a:txBody>
                    <a:bodyPr/>
                    <a:lstStyle/>
                    <a:p>
                      <a:endParaRPr lang="ru-RU"/>
                    </a:p>
                  </a:txBody>
                  <a:tcPr/>
                </a:tc>
                <a:tc vMerge="1">
                  <a:txBody>
                    <a:bodyPr/>
                    <a:lstStyle/>
                    <a:p>
                      <a:endParaRPr lang="ru-RU"/>
                    </a:p>
                  </a:txBody>
                  <a:tcPr/>
                </a:tc>
                <a:tc>
                  <a:txBody>
                    <a:bodyPr/>
                    <a:lstStyle/>
                    <a:p>
                      <a:pPr algn="ctr"/>
                      <a:r>
                        <a:rPr lang="en-US" sz="1100" dirty="0"/>
                        <a:t>XOR</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3195594461"/>
                  </a:ext>
                </a:extLst>
              </a:tr>
              <a:tr h="182880">
                <a:tc rowSpan="2">
                  <a:txBody>
                    <a:bodyPr/>
                    <a:lstStyle/>
                    <a:p>
                      <a:pPr algn="ctr"/>
                      <a:r>
                        <a:rPr lang="ru-RU" sz="1800" dirty="0"/>
                        <a:t>6</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7B6E1"/>
                    </a:solidFill>
                  </a:tcPr>
                </a:tc>
                <a:tc rowSpan="2">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08827574"/>
                  </a:ext>
                </a:extLst>
              </a:tr>
              <a:tr h="182880">
                <a:tc vMerge="1">
                  <a:txBody>
                    <a:bodyPr/>
                    <a:lstStyle/>
                    <a:p>
                      <a:endParaRPr lang="ru-RU"/>
                    </a:p>
                  </a:txBody>
                  <a:tcPr/>
                </a:tc>
                <a:tc vMerge="1">
                  <a:txBody>
                    <a:bodyPr/>
                    <a:lstStyle/>
                    <a:p>
                      <a:endParaRPr lang="ru-RU"/>
                    </a:p>
                  </a:txBody>
                  <a:tcPr/>
                </a:tc>
                <a:tc>
                  <a:txBody>
                    <a:bodyPr/>
                    <a:lstStyle/>
                    <a:p>
                      <a:pPr algn="ctr"/>
                      <a:r>
                        <a:rPr lang="en-US" sz="1100" dirty="0"/>
                        <a:t>XOR</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2306146000"/>
                  </a:ext>
                </a:extLst>
              </a:tr>
              <a:tr h="182880">
                <a:tc rowSpan="2">
                  <a:txBody>
                    <a:bodyPr/>
                    <a:lstStyle/>
                    <a:p>
                      <a:pPr algn="ctr"/>
                      <a:r>
                        <a:rPr lang="ru-RU" sz="1800" dirty="0"/>
                        <a:t>7</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7B6E1"/>
                    </a:solidFill>
                  </a:tcPr>
                </a:tc>
                <a:tc rowSpan="2">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90373388"/>
                  </a:ext>
                </a:extLst>
              </a:tr>
              <a:tr h="182880">
                <a:tc vMerge="1">
                  <a:txBody>
                    <a:bodyPr/>
                    <a:lstStyle/>
                    <a:p>
                      <a:endParaRPr lang="ru-RU"/>
                    </a:p>
                  </a:txBody>
                  <a:tcPr/>
                </a:tc>
                <a:tc vMerge="1">
                  <a:txBody>
                    <a:bodyPr/>
                    <a:lstStyle/>
                    <a:p>
                      <a:endParaRPr lang="ru-RU"/>
                    </a:p>
                  </a:txBody>
                  <a:tcPr/>
                </a:tc>
                <a:tc>
                  <a:txBody>
                    <a:bodyPr/>
                    <a:lstStyle/>
                    <a:p>
                      <a:pPr algn="ctr"/>
                      <a:r>
                        <a:rPr lang="en-US" sz="1100" dirty="0"/>
                        <a:t>XOR</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3255718857"/>
                  </a:ext>
                </a:extLst>
              </a:tr>
              <a:tr h="182880">
                <a:tc rowSpan="2">
                  <a:txBody>
                    <a:bodyPr/>
                    <a:lstStyle/>
                    <a:p>
                      <a:pPr algn="ctr"/>
                      <a:r>
                        <a:rPr lang="ru-RU" sz="1800" dirty="0"/>
                        <a:t>8</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7B6E1"/>
                    </a:solidFill>
                  </a:tcPr>
                </a:tc>
                <a:tc rowSpan="2">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2302333"/>
                  </a:ext>
                </a:extLst>
              </a:tr>
              <a:tr h="0">
                <a:tc vMerge="1">
                  <a:txBody>
                    <a:bodyPr/>
                    <a:lstStyle/>
                    <a:p>
                      <a:endParaRPr lang="ru-RU"/>
                    </a:p>
                  </a:txBody>
                  <a:tcPr/>
                </a:tc>
                <a:tc vMerge="1">
                  <a:txBody>
                    <a:bodyPr/>
                    <a:lstStyle/>
                    <a:p>
                      <a:endParaRPr lang="ru-RU"/>
                    </a:p>
                  </a:txBody>
                  <a:tcPr/>
                </a:tc>
                <a:tc>
                  <a:txBody>
                    <a:bodyPr/>
                    <a:lstStyle/>
                    <a:p>
                      <a:pPr algn="ctr"/>
                      <a:r>
                        <a:rPr lang="en-US" sz="1100" dirty="0"/>
                        <a:t>XOR</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vMerge="1">
                  <a:txBody>
                    <a:bodyPr/>
                    <a:lstStyle/>
                    <a:p>
                      <a:endParaRPr lang="ru-RU"/>
                    </a:p>
                  </a:txBody>
                  <a:tcPr/>
                </a:tc>
                <a:tc vMerge="1">
                  <a:txBody>
                    <a:bodyPr/>
                    <a:lstStyle/>
                    <a:p>
                      <a:endParaRPr lang="ru-RU"/>
                    </a:p>
                  </a:txBody>
                  <a:tcPr/>
                </a:tc>
                <a:extLst>
                  <a:ext uri="{0D108BD9-81ED-4DB2-BD59-A6C34878D82A}">
                    <a16:rowId xmlns:a16="http://schemas.microsoft.com/office/drawing/2014/main" val="951426941"/>
                  </a:ext>
                </a:extLst>
              </a:tr>
              <a:tr h="182880">
                <a:tc>
                  <a:txBody>
                    <a:bodyPr/>
                    <a:lstStyle/>
                    <a:p>
                      <a:pPr algn="ctr"/>
                      <a:r>
                        <a:rPr lang="ru-RU" sz="1800" dirty="0"/>
                        <a:t>9</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t>ADD</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7B6E1"/>
                    </a:solidFill>
                  </a:tcPr>
                </a:tc>
                <a:tc>
                  <a:txBody>
                    <a:bodyPr/>
                    <a:lstStyle/>
                    <a:p>
                      <a:pPr algn="ctr"/>
                      <a:r>
                        <a:rPr lang="en-US" sz="1800" dirty="0"/>
                        <a:t>XOR</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53D2FF"/>
                    </a:solidFill>
                  </a:tcPr>
                </a:tc>
                <a:tc>
                  <a:txBody>
                    <a:bodyPr/>
                    <a:lstStyle/>
                    <a:p>
                      <a:pPr algn="ctr"/>
                      <a:r>
                        <a:rPr lang="en-US" sz="1800" dirty="0"/>
                        <a:t>MOV</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688729405"/>
                  </a:ext>
                </a:extLst>
              </a:tr>
            </a:tbl>
          </a:graphicData>
        </a:graphic>
      </p:graphicFrame>
      <p:graphicFrame>
        <p:nvGraphicFramePr>
          <p:cNvPr id="15" name="Table 14">
            <a:extLst>
              <a:ext uri="{FF2B5EF4-FFF2-40B4-BE49-F238E27FC236}">
                <a16:creationId xmlns:a16="http://schemas.microsoft.com/office/drawing/2014/main" id="{E131DDC0-2DFC-F9C3-E40B-856C31EB5D42}"/>
              </a:ext>
            </a:extLst>
          </p:cNvPr>
          <p:cNvGraphicFramePr>
            <a:graphicFrameLocks noGrp="1"/>
          </p:cNvGraphicFramePr>
          <p:nvPr>
            <p:extLst>
              <p:ext uri="{D42A27DB-BD31-4B8C-83A1-F6EECF244321}">
                <p14:modId xmlns:p14="http://schemas.microsoft.com/office/powerpoint/2010/main" val="3697511602"/>
              </p:ext>
            </p:extLst>
          </p:nvPr>
        </p:nvGraphicFramePr>
        <p:xfrm>
          <a:off x="7585023" y="2902138"/>
          <a:ext cx="3768775" cy="3775137"/>
        </p:xfrm>
        <a:graphic>
          <a:graphicData uri="http://schemas.openxmlformats.org/drawingml/2006/table">
            <a:tbl>
              <a:tblPr firstRow="1">
                <a:tableStyleId>{2D5ABB26-0587-4C30-8999-92F81FD0307C}</a:tableStyleId>
              </a:tblPr>
              <a:tblGrid>
                <a:gridCol w="753755">
                  <a:extLst>
                    <a:ext uri="{9D8B030D-6E8A-4147-A177-3AD203B41FA5}">
                      <a16:colId xmlns:a16="http://schemas.microsoft.com/office/drawing/2014/main" val="1246235668"/>
                    </a:ext>
                  </a:extLst>
                </a:gridCol>
                <a:gridCol w="753755">
                  <a:extLst>
                    <a:ext uri="{9D8B030D-6E8A-4147-A177-3AD203B41FA5}">
                      <a16:colId xmlns:a16="http://schemas.microsoft.com/office/drawing/2014/main" val="3470306159"/>
                    </a:ext>
                  </a:extLst>
                </a:gridCol>
                <a:gridCol w="753755">
                  <a:extLst>
                    <a:ext uri="{9D8B030D-6E8A-4147-A177-3AD203B41FA5}">
                      <a16:colId xmlns:a16="http://schemas.microsoft.com/office/drawing/2014/main" val="2121971411"/>
                    </a:ext>
                  </a:extLst>
                </a:gridCol>
                <a:gridCol w="753755">
                  <a:extLst>
                    <a:ext uri="{9D8B030D-6E8A-4147-A177-3AD203B41FA5}">
                      <a16:colId xmlns:a16="http://schemas.microsoft.com/office/drawing/2014/main" val="3435902052"/>
                    </a:ext>
                  </a:extLst>
                </a:gridCol>
                <a:gridCol w="753755">
                  <a:extLst>
                    <a:ext uri="{9D8B030D-6E8A-4147-A177-3AD203B41FA5}">
                      <a16:colId xmlns:a16="http://schemas.microsoft.com/office/drawing/2014/main" val="3841729250"/>
                    </a:ext>
                  </a:extLst>
                </a:gridCol>
              </a:tblGrid>
              <a:tr h="483297">
                <a:tc>
                  <a:txBody>
                    <a:bodyPr/>
                    <a:lstStyle/>
                    <a:p>
                      <a:pPr algn="ctr"/>
                      <a:r>
                        <a:rPr lang="ru-RU" sz="1800" dirty="0"/>
                        <a:t>Такт</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r>
                        <a:rPr lang="en-US" sz="1800" dirty="0"/>
                        <a:t>Fetch</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sz="1800" dirty="0"/>
                        <a:t>Dec</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sz="1800" dirty="0"/>
                        <a:t>Exec</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90000"/>
                      </a:schemeClr>
                    </a:solidFill>
                  </a:tcPr>
                </a:tc>
                <a:tc>
                  <a:txBody>
                    <a:bodyPr/>
                    <a:lstStyle/>
                    <a:p>
                      <a:pPr algn="ctr"/>
                      <a:r>
                        <a:rPr lang="en-US" sz="1800" dirty="0"/>
                        <a:t>Retire</a:t>
                      </a: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638396422"/>
                  </a:ext>
                </a:extLst>
              </a:tr>
              <a:tr h="323676">
                <a:tc>
                  <a:txBody>
                    <a:bodyPr/>
                    <a:lstStyle/>
                    <a:p>
                      <a:pPr algn="ctr"/>
                      <a:r>
                        <a:rPr lang="ru-RU" sz="1800" dirty="0"/>
                        <a:t>1</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347856952"/>
                  </a:ext>
                </a:extLst>
              </a:tr>
              <a:tr h="323676">
                <a:tc>
                  <a:txBody>
                    <a:bodyPr/>
                    <a:lstStyle/>
                    <a:p>
                      <a:pPr algn="ctr"/>
                      <a:r>
                        <a:rPr lang="ru-RU" sz="1800" dirty="0"/>
                        <a:t>2</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B050"/>
                    </a:solid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27293732"/>
                  </a:ext>
                </a:extLst>
              </a:tr>
              <a:tr h="323676">
                <a:tc>
                  <a:txBody>
                    <a:bodyPr/>
                    <a:lstStyle/>
                    <a:p>
                      <a:pPr algn="ctr"/>
                      <a:r>
                        <a:rPr lang="ru-RU" sz="1800" dirty="0"/>
                        <a:t>3</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r>
                        <a:rPr lang="en-US" sz="1800" dirty="0"/>
                        <a:t>XOR</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3D2FF"/>
                    </a:solidFill>
                  </a:tcPr>
                </a:tc>
                <a:tc>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B050"/>
                    </a:solid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11564214"/>
                  </a:ext>
                </a:extLst>
              </a:tr>
              <a:tr h="365760">
                <a:tc>
                  <a:txBody>
                    <a:bodyPr/>
                    <a:lstStyle/>
                    <a:p>
                      <a:pPr algn="ctr"/>
                      <a:r>
                        <a:rPr lang="ru-RU" sz="1800" dirty="0"/>
                        <a:t>4</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r>
                        <a:rPr lang="en-US" sz="1800" dirty="0"/>
                        <a:t>ADD</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87B6E1"/>
                    </a:solidFill>
                  </a:tcPr>
                </a:tc>
                <a:tc>
                  <a:txBody>
                    <a:bodyPr/>
                    <a:lstStyle/>
                    <a:p>
                      <a:pPr algn="ctr"/>
                      <a:r>
                        <a:rPr lang="en-US" sz="1800" dirty="0"/>
                        <a:t>XOR</a:t>
                      </a: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3D2FF"/>
                    </a:solidFill>
                  </a:tcPr>
                </a:tc>
                <a:tc>
                  <a:txBody>
                    <a:bodyPr/>
                    <a:lstStyle/>
                    <a:p>
                      <a:pPr algn="ctr"/>
                      <a:r>
                        <a:rPr lang="en-US" sz="1800" dirty="0"/>
                        <a:t>DIV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804490740"/>
                  </a:ext>
                </a:extLst>
              </a:tr>
              <a:tr h="182880">
                <a:tc rowSpan="2">
                  <a:txBody>
                    <a:bodyPr/>
                    <a:lstStyle/>
                    <a:p>
                      <a:pPr algn="ctr"/>
                      <a:r>
                        <a:rPr lang="ru-RU" sz="1800" dirty="0"/>
                        <a:t>5</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rowSpan="2">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87B6E1"/>
                    </a:solid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r>
                        <a:rPr lang="en-US" sz="1100" dirty="0"/>
                        <a:t>DIV</a:t>
                      </a:r>
                      <a:endParaRPr lang="ru-RU" sz="1100" dirty="0"/>
                    </a:p>
                  </a:txBody>
                  <a:tcPr marL="0" marR="0" marT="0" marB="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088902066"/>
                  </a:ext>
                </a:extLst>
              </a:tr>
              <a:tr h="182880">
                <a:tc vMerge="1">
                  <a:txBody>
                    <a:bodyPr/>
                    <a:lstStyle/>
                    <a:p>
                      <a:endParaRPr lang="ru-RU"/>
                    </a:p>
                  </a:txBody>
                  <a:tcPr/>
                </a:tc>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ctr"/>
                      <a:r>
                        <a:rPr lang="en-US" sz="1100" dirty="0"/>
                        <a:t>XOR</a:t>
                      </a:r>
                      <a:endParaRPr lang="ru-RU" sz="1100" dirty="0"/>
                    </a:p>
                  </a:txBody>
                  <a:tcPr marL="0" marR="0" marT="0" marB="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53D2FF"/>
                    </a:solidFill>
                  </a:tcPr>
                </a:tc>
                <a:extLst>
                  <a:ext uri="{0D108BD9-81ED-4DB2-BD59-A6C34878D82A}">
                    <a16:rowId xmlns:a16="http://schemas.microsoft.com/office/drawing/2014/main" val="1140317989"/>
                  </a:ext>
                </a:extLst>
              </a:tr>
              <a:tr h="182880">
                <a:tc rowSpan="2">
                  <a:txBody>
                    <a:bodyPr/>
                    <a:lstStyle/>
                    <a:p>
                      <a:pPr algn="ctr"/>
                      <a:r>
                        <a:rPr lang="ru-RU" sz="1800" dirty="0"/>
                        <a:t>6</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rowSpan="2">
                  <a:txBody>
                    <a:bodyPr/>
                    <a:lstStyle/>
                    <a:p>
                      <a:pPr algn="ct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r>
                        <a:rPr lang="en-US" sz="1100" dirty="0"/>
                        <a:t>MOV</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00B050"/>
                    </a:solidFill>
                  </a:tcPr>
                </a:tc>
                <a:tc rowSpan="2">
                  <a:txBody>
                    <a:bodyPr/>
                    <a:lstStyle/>
                    <a:p>
                      <a:pPr algn="ct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08827574"/>
                  </a:ext>
                </a:extLst>
              </a:tr>
              <a:tr h="182880">
                <a:tc vMerge="1">
                  <a:txBody>
                    <a:bodyPr/>
                    <a:lstStyle/>
                    <a:p>
                      <a:endParaRPr lang="ru-RU"/>
                    </a:p>
                  </a:txBody>
                  <a:tcPr/>
                </a:tc>
                <a:tc vMerge="1">
                  <a:txBody>
                    <a:bodyPr/>
                    <a:lstStyle/>
                    <a:p>
                      <a:endParaRPr lang="ru-RU"/>
                    </a:p>
                  </a:txBody>
                  <a:tcPr/>
                </a:tc>
                <a:tc vMerge="1">
                  <a:txBody>
                    <a:bodyPr/>
                    <a:lstStyle/>
                    <a:p>
                      <a:endParaRPr lang="ru-RU"/>
                    </a:p>
                  </a:txBody>
                  <a:tcPr/>
                </a:tc>
                <a:tc>
                  <a:txBody>
                    <a:bodyPr/>
                    <a:lstStyle/>
                    <a:p>
                      <a:pPr algn="ctr"/>
                      <a:r>
                        <a:rPr lang="en-US" sz="1100" dirty="0"/>
                        <a:t>ADD</a:t>
                      </a: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87B6E1"/>
                    </a:solidFill>
                  </a:tcPr>
                </a:tc>
                <a:tc vMerge="1">
                  <a:txBody>
                    <a:bodyPr/>
                    <a:lstStyle/>
                    <a:p>
                      <a:endParaRPr lang="ru-RU"/>
                    </a:p>
                  </a:txBody>
                  <a:tcPr/>
                </a:tc>
                <a:extLst>
                  <a:ext uri="{0D108BD9-81ED-4DB2-BD59-A6C34878D82A}">
                    <a16:rowId xmlns:a16="http://schemas.microsoft.com/office/drawing/2014/main" val="3859577390"/>
                  </a:ext>
                </a:extLst>
              </a:tr>
              <a:tr h="365760">
                <a:tc>
                  <a:txBody>
                    <a:bodyPr/>
                    <a:lstStyle/>
                    <a:p>
                      <a:pPr algn="ctr"/>
                      <a:r>
                        <a:rPr lang="ru-RU" sz="1800" dirty="0"/>
                        <a:t>7</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B050"/>
                    </a:solidFill>
                  </a:tcPr>
                </a:tc>
                <a:tc>
                  <a:txBody>
                    <a:bodyPr/>
                    <a:lstStyle/>
                    <a:p>
                      <a:pPr algn="ctr"/>
                      <a:r>
                        <a:rPr lang="en-US" sz="1800" dirty="0"/>
                        <a:t>ADD</a:t>
                      </a: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87B6E1"/>
                    </a:solidFill>
                  </a:tcPr>
                </a:tc>
                <a:extLst>
                  <a:ext uri="{0D108BD9-81ED-4DB2-BD59-A6C34878D82A}">
                    <a16:rowId xmlns:a16="http://schemas.microsoft.com/office/drawing/2014/main" val="690373388"/>
                  </a:ext>
                </a:extLst>
              </a:tr>
              <a:tr h="182880">
                <a:tc>
                  <a:txBody>
                    <a:bodyPr/>
                    <a:lstStyle/>
                    <a:p>
                      <a:pPr algn="ctr"/>
                      <a:r>
                        <a:rPr lang="ru-RU" sz="1800" dirty="0"/>
                        <a:t>8</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endParaRPr lang="ru-RU" sz="11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r>
                        <a:rPr lang="en-US" sz="1800" dirty="0"/>
                        <a:t>MOV</a:t>
                      </a: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00B050"/>
                    </a:solid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142302333"/>
                  </a:ext>
                </a:extLst>
              </a:tr>
              <a:tr h="182880">
                <a:tc>
                  <a:txBody>
                    <a:bodyPr/>
                    <a:lstStyle/>
                    <a:p>
                      <a:pPr algn="ctr"/>
                      <a:r>
                        <a:rPr lang="ru-RU" sz="1800" dirty="0"/>
                        <a:t>9</a:t>
                      </a:r>
                    </a:p>
                  </a:txBody>
                  <a:tcPr anchor="ctr">
                    <a:lnL w="28575"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noFill/>
                  </a:tcPr>
                </a:tc>
                <a:tc>
                  <a:txBody>
                    <a:bodyPr/>
                    <a:lstStyle/>
                    <a:p>
                      <a:pPr algn="ctr"/>
                      <a:endParaRPr lang="ru-RU" sz="1800" dirty="0"/>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endParaRPr lang="ru-RU" sz="1800" dirty="0"/>
                    </a:p>
                  </a:txBody>
                  <a:tcPr marL="0" marR="0" marT="0" marB="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solidFill>
                  </a:tcPr>
                </a:tc>
                <a:tc>
                  <a:txBody>
                    <a:bodyPr/>
                    <a:lstStyle/>
                    <a:p>
                      <a:pPr algn="ctr"/>
                      <a:r>
                        <a:rPr lang="en-US" sz="1800" dirty="0"/>
                        <a:t>MOV</a:t>
                      </a:r>
                      <a:endParaRPr lang="ru-RU" sz="1800" dirty="0"/>
                    </a:p>
                  </a:txBody>
                  <a:tcPr marL="0" marR="0" marT="0" marB="0" anchor="ctr">
                    <a:lnL w="1905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00B050"/>
                    </a:solidFill>
                  </a:tcPr>
                </a:tc>
                <a:extLst>
                  <a:ext uri="{0D108BD9-81ED-4DB2-BD59-A6C34878D82A}">
                    <a16:rowId xmlns:a16="http://schemas.microsoft.com/office/drawing/2014/main" val="688729405"/>
                  </a:ext>
                </a:extLst>
              </a:tr>
            </a:tbl>
          </a:graphicData>
        </a:graphic>
      </p:graphicFrame>
    </p:spTree>
    <p:extLst>
      <p:ext uri="{BB962C8B-B14F-4D97-AF65-F5344CB8AC3E}">
        <p14:creationId xmlns:p14="http://schemas.microsoft.com/office/powerpoint/2010/main" val="2934117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0406AD-7D2D-86D5-3079-BA49C57178AF}"/>
              </a:ext>
            </a:extLst>
          </p:cNvPr>
          <p:cNvSpPr>
            <a:spLocks noGrp="1"/>
          </p:cNvSpPr>
          <p:nvPr>
            <p:ph type="title"/>
          </p:nvPr>
        </p:nvSpPr>
        <p:spPr/>
        <p:txBody>
          <a:bodyPr/>
          <a:lstStyle/>
          <a:p>
            <a:r>
              <a:rPr lang="ru-RU" dirty="0"/>
              <a:t>Ложные зависимости</a:t>
            </a:r>
          </a:p>
        </p:txBody>
      </p:sp>
      <p:sp>
        <p:nvSpPr>
          <p:cNvPr id="3" name="Объект 2">
            <a:extLst>
              <a:ext uri="{FF2B5EF4-FFF2-40B4-BE49-F238E27FC236}">
                <a16:creationId xmlns:a16="http://schemas.microsoft.com/office/drawing/2014/main" id="{BC0D2D4A-9A20-FA69-D8EA-4CADBD5A82BB}"/>
              </a:ext>
            </a:extLst>
          </p:cNvPr>
          <p:cNvSpPr>
            <a:spLocks noGrp="1"/>
          </p:cNvSpPr>
          <p:nvPr>
            <p:ph idx="1"/>
          </p:nvPr>
        </p:nvSpPr>
        <p:spPr>
          <a:xfrm>
            <a:off x="321038" y="1392624"/>
            <a:ext cx="11273853" cy="4310688"/>
          </a:xfrm>
        </p:spPr>
        <p:txBody>
          <a:bodyPr>
            <a:normAutofit/>
          </a:bodyPr>
          <a:lstStyle/>
          <a:p>
            <a:pPr marL="0" indent="0">
              <a:buNone/>
            </a:pPr>
            <a:r>
              <a:rPr lang="ru-RU" sz="2000" dirty="0"/>
              <a:t>В некоторых случаях </a:t>
            </a:r>
            <a:r>
              <a:rPr lang="en-US" sz="2000" dirty="0" err="1"/>
              <a:t>WaW</a:t>
            </a:r>
            <a:r>
              <a:rPr lang="en-US" sz="2000" dirty="0"/>
              <a:t>/</a:t>
            </a:r>
            <a:r>
              <a:rPr lang="en-US" sz="2000" dirty="0" err="1"/>
              <a:t>WaR</a:t>
            </a:r>
            <a:r>
              <a:rPr lang="en-US" sz="2000" dirty="0"/>
              <a:t>-</a:t>
            </a:r>
            <a:r>
              <a:rPr lang="ru-RU" sz="2000" dirty="0"/>
              <a:t>зависимость, существующая с точки зрения ЦП, в реальности не влияет на исход работы программы.</a:t>
            </a:r>
          </a:p>
          <a:p>
            <a:pPr marL="0" indent="0">
              <a:buNone/>
            </a:pPr>
            <a:r>
              <a:rPr lang="ru-RU" sz="2000" dirty="0"/>
              <a:t>Причиной ложных зависимостей является работа с частью регистра без перезаписи всего регистра (например, выполнение скалярных операций </a:t>
            </a:r>
            <a:r>
              <a:rPr lang="en-US" sz="2000" dirty="0"/>
              <a:t>SSE </a:t>
            </a:r>
            <a:r>
              <a:rPr lang="ru-RU" sz="2000" dirty="0"/>
              <a:t>без предшествующего </a:t>
            </a:r>
            <a:r>
              <a:rPr lang="en-US" sz="2000" dirty="0"/>
              <a:t>PXOR </a:t>
            </a:r>
            <a:r>
              <a:rPr lang="ru-RU" sz="2000" dirty="0"/>
              <a:t>или работа с </a:t>
            </a:r>
            <a:r>
              <a:rPr lang="en-US" sz="2000" dirty="0"/>
              <a:t>AL/AX </a:t>
            </a:r>
            <a:r>
              <a:rPr lang="ru-RU" sz="2000" dirty="0"/>
              <a:t>без перезаписи </a:t>
            </a:r>
            <a:r>
              <a:rPr lang="en-US" sz="2000" dirty="0"/>
              <a:t>RAX</a:t>
            </a:r>
            <a:r>
              <a:rPr lang="ru-RU" sz="2000" dirty="0"/>
              <a:t>) -</a:t>
            </a:r>
            <a:r>
              <a:rPr lang="en-US" sz="2000" dirty="0"/>
              <a:t> </a:t>
            </a:r>
            <a:r>
              <a:rPr lang="ru-RU" sz="2000" dirty="0"/>
              <a:t>ЦП не может понять, что данные в старшей части регистра не нужны, и разорвать зависимость.</a:t>
            </a:r>
          </a:p>
          <a:p>
            <a:pPr marL="0" indent="0">
              <a:buNone/>
            </a:pPr>
            <a:r>
              <a:rPr lang="ru-RU" sz="2000" dirty="0"/>
              <a:t>На старых ЦП неполная перезапись арифметических флагов в </a:t>
            </a:r>
            <a:r>
              <a:rPr lang="en-US" sz="2000" dirty="0"/>
              <a:t>FLAGS </a:t>
            </a:r>
            <a:r>
              <a:rPr lang="ru-RU" sz="2000" dirty="0"/>
              <a:t>порождает неявную ложную зависимость.</a:t>
            </a:r>
          </a:p>
          <a:p>
            <a:pPr marL="0" indent="0">
              <a:buNone/>
            </a:pPr>
            <a:endParaRPr lang="en-US" sz="2000" dirty="0"/>
          </a:p>
          <a:p>
            <a:pPr marL="0" indent="0">
              <a:buNone/>
            </a:pPr>
            <a:endParaRPr lang="en-US" sz="2000" dirty="0"/>
          </a:p>
        </p:txBody>
      </p:sp>
      <p:sp>
        <p:nvSpPr>
          <p:cNvPr id="5" name="Номер слайда 4">
            <a:extLst>
              <a:ext uri="{FF2B5EF4-FFF2-40B4-BE49-F238E27FC236}">
                <a16:creationId xmlns:a16="http://schemas.microsoft.com/office/drawing/2014/main" id="{9C1C2D9E-9D8F-9A1E-AF35-9E80B6999602}"/>
              </a:ext>
            </a:extLst>
          </p:cNvPr>
          <p:cNvSpPr>
            <a:spLocks noGrp="1"/>
          </p:cNvSpPr>
          <p:nvPr>
            <p:ph type="sldNum" sz="quarter" idx="12"/>
          </p:nvPr>
        </p:nvSpPr>
        <p:spPr/>
        <p:txBody>
          <a:bodyPr/>
          <a:lstStyle/>
          <a:p>
            <a:fld id="{B67FBA2B-964F-4C4D-AAF7-5A8399264638}" type="slidenum">
              <a:rPr lang="en-US" smtClean="0"/>
              <a:pPr/>
              <a:t>27</a:t>
            </a:fld>
            <a:endParaRPr lang="en-US" dirty="0"/>
          </a:p>
        </p:txBody>
      </p:sp>
      <p:sp>
        <p:nvSpPr>
          <p:cNvPr id="6" name="TextBox 5">
            <a:extLst>
              <a:ext uri="{FF2B5EF4-FFF2-40B4-BE49-F238E27FC236}">
                <a16:creationId xmlns:a16="http://schemas.microsoft.com/office/drawing/2014/main" id="{898F3DA7-ED12-7BBD-BFE2-4E338C99D99A}"/>
              </a:ext>
            </a:extLst>
          </p:cNvPr>
          <p:cNvSpPr txBox="1"/>
          <p:nvPr/>
        </p:nvSpPr>
        <p:spPr>
          <a:xfrm>
            <a:off x="417304" y="4931396"/>
            <a:ext cx="6200151" cy="923330"/>
          </a:xfrm>
          <a:prstGeom prst="rect">
            <a:avLst/>
          </a:prstGeom>
          <a:noFill/>
        </p:spPr>
        <p:txBody>
          <a:bodyPr wrap="square">
            <a:spAutoFit/>
          </a:bodyPr>
          <a:lstStyle/>
          <a:p>
            <a:pPr marL="0" indent="0">
              <a:buNone/>
            </a:pPr>
            <a:r>
              <a:rPr lang="en-US" sz="1800" dirty="0">
                <a:latin typeface="Courier New" panose="02070309020205020404" pitchFamily="49" charset="0"/>
                <a:cs typeface="Courier New" panose="02070309020205020404" pitchFamily="49" charset="0"/>
              </a:rPr>
              <a:t>ADD EDX, 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INC ECX</a:t>
            </a:r>
            <a:r>
              <a:rPr lang="ru-RU" sz="1800"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 FLAGS </a:t>
            </a:r>
            <a:r>
              <a:rPr lang="ru-RU" sz="1800" dirty="0">
                <a:latin typeface="Courier New" panose="02070309020205020404" pitchFamily="49" charset="0"/>
                <a:cs typeface="Courier New" panose="02070309020205020404" pitchFamily="49" charset="0"/>
              </a:rPr>
              <a:t>перезаписан частично</a:t>
            </a:r>
            <a:r>
              <a:rPr lang="en-US" sz="1800" dirty="0">
                <a:latin typeface="Courier New" panose="02070309020205020404" pitchFamily="49" charset="0"/>
                <a:cs typeface="Courier New" panose="02070309020205020404" pitchFamily="49" charset="0"/>
              </a:rPr>
              <a:t> </a:t>
            </a:r>
          </a:p>
          <a:p>
            <a:pPr marL="0" indent="0">
              <a:buNone/>
            </a:pPr>
            <a:endParaRPr lang="en-US" sz="1800"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7AF06B05-D386-D9A5-D2A9-63A6D4023EE0}"/>
              </a:ext>
            </a:extLst>
          </p:cNvPr>
          <p:cNvSpPr txBox="1"/>
          <p:nvPr/>
        </p:nvSpPr>
        <p:spPr>
          <a:xfrm>
            <a:off x="417304" y="3989349"/>
            <a:ext cx="5700017" cy="923330"/>
          </a:xfrm>
          <a:prstGeom prst="rect">
            <a:avLst/>
          </a:prstGeom>
          <a:noFill/>
        </p:spPr>
        <p:txBody>
          <a:bodyPr wrap="square">
            <a:spAutoFit/>
          </a:bodyPr>
          <a:lstStyle/>
          <a:p>
            <a:pPr marL="0" indent="0">
              <a:buNone/>
            </a:pPr>
            <a:r>
              <a:rPr lang="en-US" dirty="0">
                <a:latin typeface="Courier New" panose="02070309020205020404" pitchFamily="49" charset="0"/>
                <a:cs typeface="Courier New" panose="02070309020205020404" pitchFamily="49" charset="0"/>
              </a:rPr>
              <a:t>MOV EDX, EAX</a:t>
            </a:r>
          </a:p>
          <a:p>
            <a:pPr marL="0" indent="0">
              <a:buNone/>
            </a:pPr>
            <a:r>
              <a:rPr lang="en-US" dirty="0">
                <a:latin typeface="Courier New" panose="02070309020205020404" pitchFamily="49" charset="0"/>
                <a:cs typeface="Courier New" panose="02070309020205020404" pitchFamily="49" charset="0"/>
              </a:rPr>
              <a:t>MOV AL, CL</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RAX </a:t>
            </a:r>
            <a:r>
              <a:rPr lang="ru-RU" dirty="0">
                <a:latin typeface="Courier New" panose="02070309020205020404" pitchFamily="49" charset="0"/>
                <a:cs typeface="Courier New" panose="02070309020205020404" pitchFamily="49" charset="0"/>
              </a:rPr>
              <a:t>перезаписан частично</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ADD AL, 3</a:t>
            </a:r>
            <a:endParaRPr lang="en-US" sz="1800" dirty="0">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6396AC0F-8AA6-CC37-8D94-7BDBD65EFE48}"/>
              </a:ext>
            </a:extLst>
          </p:cNvPr>
          <p:cNvSpPr txBox="1"/>
          <p:nvPr/>
        </p:nvSpPr>
        <p:spPr>
          <a:xfrm>
            <a:off x="6314856" y="3989349"/>
            <a:ext cx="5877143" cy="923330"/>
          </a:xfrm>
          <a:prstGeom prst="rect">
            <a:avLst/>
          </a:prstGeom>
          <a:noFill/>
        </p:spPr>
        <p:txBody>
          <a:bodyPr wrap="square">
            <a:spAutoFit/>
          </a:bodyPr>
          <a:lstStyle/>
          <a:p>
            <a:pPr marL="0" indent="0">
              <a:buNone/>
            </a:pPr>
            <a:r>
              <a:rPr lang="en-US" dirty="0">
                <a:latin typeface="Courier New" panose="02070309020205020404" pitchFamily="49" charset="0"/>
                <a:cs typeface="Courier New" panose="02070309020205020404" pitchFamily="49" charset="0"/>
              </a:rPr>
              <a:t>MOV EDX, EAX</a:t>
            </a:r>
          </a:p>
          <a:p>
            <a:pPr marL="0" indent="0">
              <a:buNone/>
            </a:pPr>
            <a:r>
              <a:rPr lang="en-US" dirty="0">
                <a:latin typeface="Courier New" panose="02070309020205020404" pitchFamily="49" charset="0"/>
                <a:cs typeface="Courier New" panose="02070309020205020404" pitchFamily="49" charset="0"/>
              </a:rPr>
              <a:t>MOVZX EAX, CL</a:t>
            </a:r>
            <a:r>
              <a:rPr lang="ru-RU" dirty="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 RAX </a:t>
            </a:r>
            <a:r>
              <a:rPr lang="ru-RU" dirty="0">
                <a:latin typeface="Courier New" panose="02070309020205020404" pitchFamily="49" charset="0"/>
                <a:cs typeface="Courier New" panose="02070309020205020404" pitchFamily="49" charset="0"/>
              </a:rPr>
              <a:t>перезаписан полностью</a:t>
            </a:r>
            <a:endParaRPr lang="en-US" dirty="0">
              <a:latin typeface="Courier New" panose="02070309020205020404" pitchFamily="49" charset="0"/>
              <a:cs typeface="Courier New" panose="02070309020205020404" pitchFamily="49" charset="0"/>
            </a:endParaRPr>
          </a:p>
          <a:p>
            <a:pPr marL="0" indent="0">
              <a:buNone/>
            </a:pPr>
            <a:r>
              <a:rPr lang="en-US" dirty="0">
                <a:latin typeface="Courier New" panose="02070309020205020404" pitchFamily="49" charset="0"/>
                <a:cs typeface="Courier New" panose="02070309020205020404" pitchFamily="49" charset="0"/>
              </a:rPr>
              <a:t>ADD AL, 3</a:t>
            </a:r>
          </a:p>
        </p:txBody>
      </p:sp>
      <p:cxnSp>
        <p:nvCxnSpPr>
          <p:cNvPr id="12" name="Прямая соединительная линия 11">
            <a:extLst>
              <a:ext uri="{FF2B5EF4-FFF2-40B4-BE49-F238E27FC236}">
                <a16:creationId xmlns:a16="http://schemas.microsoft.com/office/drawing/2014/main" id="{B026B008-1A39-C6B6-D731-38E693D1E233}"/>
              </a:ext>
            </a:extLst>
          </p:cNvPr>
          <p:cNvCxnSpPr/>
          <p:nvPr/>
        </p:nvCxnSpPr>
        <p:spPr>
          <a:xfrm>
            <a:off x="6145619" y="4125433"/>
            <a:ext cx="0" cy="2651051"/>
          </a:xfrm>
          <a:prstGeom prst="line">
            <a:avLst/>
          </a:prstGeom>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C3C1E662-05A7-50E1-D638-B43DDB69A33A}"/>
              </a:ext>
            </a:extLst>
          </p:cNvPr>
          <p:cNvSpPr txBox="1"/>
          <p:nvPr/>
        </p:nvSpPr>
        <p:spPr>
          <a:xfrm>
            <a:off x="6314855" y="4931396"/>
            <a:ext cx="5877143" cy="646331"/>
          </a:xfrm>
          <a:prstGeom prst="rect">
            <a:avLst/>
          </a:prstGeom>
          <a:noFill/>
        </p:spPr>
        <p:txBody>
          <a:bodyPr wrap="square">
            <a:spAutoFit/>
          </a:bodyPr>
          <a:lstStyle/>
          <a:p>
            <a:pPr marL="0" indent="0">
              <a:buNone/>
            </a:pPr>
            <a:r>
              <a:rPr lang="en-US" sz="1800" dirty="0">
                <a:latin typeface="Courier New" panose="02070309020205020404" pitchFamily="49" charset="0"/>
                <a:cs typeface="Courier New" panose="02070309020205020404" pitchFamily="49" charset="0"/>
              </a:rPr>
              <a:t>ADD EDX, 1</a:t>
            </a:r>
            <a:br>
              <a:rPr lang="en-US" sz="1800" dirty="0">
                <a:latin typeface="Courier New" panose="02070309020205020404" pitchFamily="49" charset="0"/>
                <a:cs typeface="Courier New" panose="02070309020205020404" pitchFamily="49" charset="0"/>
              </a:rPr>
            </a:br>
            <a:r>
              <a:rPr lang="en-US" sz="1800" dirty="0">
                <a:latin typeface="Courier New" panose="02070309020205020404" pitchFamily="49" charset="0"/>
                <a:cs typeface="Courier New" panose="02070309020205020404" pitchFamily="49" charset="0"/>
              </a:rPr>
              <a:t>ADD EXC, 1</a:t>
            </a:r>
            <a:r>
              <a:rPr lang="ru-RU" sz="1800" dirty="0">
                <a:latin typeface="Courier New" panose="02070309020205020404" pitchFamily="49" charset="0"/>
                <a:cs typeface="Courier New" panose="02070309020205020404" pitchFamily="49" charset="0"/>
              </a:rPr>
              <a:t> </a:t>
            </a:r>
            <a:r>
              <a:rPr lang="en-US" sz="1800" dirty="0">
                <a:latin typeface="Courier New" panose="02070309020205020404" pitchFamily="49" charset="0"/>
                <a:cs typeface="Courier New" panose="02070309020205020404" pitchFamily="49" charset="0"/>
              </a:rPr>
              <a:t>; FLAGS </a:t>
            </a:r>
            <a:r>
              <a:rPr lang="ru-RU" sz="1800" dirty="0">
                <a:latin typeface="Courier New" panose="02070309020205020404" pitchFamily="49" charset="0"/>
                <a:cs typeface="Courier New" panose="02070309020205020404" pitchFamily="49" charset="0"/>
              </a:rPr>
              <a:t>перезаписан полностью</a:t>
            </a:r>
            <a:endParaRPr lang="en-US" sz="1800" dirty="0">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DC6F11A0-32CE-94F1-3525-D22E7AFE7658}"/>
              </a:ext>
            </a:extLst>
          </p:cNvPr>
          <p:cNvSpPr txBox="1"/>
          <p:nvPr/>
        </p:nvSpPr>
        <p:spPr>
          <a:xfrm>
            <a:off x="417304" y="5669273"/>
            <a:ext cx="6097248" cy="646331"/>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MOVPS XMM1,XMM0 </a:t>
            </a:r>
          </a:p>
          <a:p>
            <a:r>
              <a:rPr lang="en-US" dirty="0">
                <a:latin typeface="Courier New" panose="02070309020205020404" pitchFamily="49" charset="0"/>
                <a:cs typeface="Courier New" panose="02070309020205020404" pitchFamily="49" charset="0"/>
              </a:rPr>
              <a:t>MOVSS XMM0,XMM2;XMM0 </a:t>
            </a:r>
            <a:r>
              <a:rPr lang="ru-RU" dirty="0">
                <a:latin typeface="Courier New" panose="02070309020205020404" pitchFamily="49" charset="0"/>
                <a:cs typeface="Courier New" panose="02070309020205020404" pitchFamily="49" charset="0"/>
              </a:rPr>
              <a:t>перезаписан частично</a:t>
            </a:r>
            <a:r>
              <a:rPr lang="en-US" dirty="0">
                <a:latin typeface="Courier New" panose="02070309020205020404" pitchFamily="49" charset="0"/>
                <a:cs typeface="Courier New" panose="02070309020205020404" pitchFamily="49" charset="0"/>
              </a:rPr>
              <a:t> </a:t>
            </a:r>
          </a:p>
        </p:txBody>
      </p:sp>
      <p:sp>
        <p:nvSpPr>
          <p:cNvPr id="9" name="TextBox 8">
            <a:extLst>
              <a:ext uri="{FF2B5EF4-FFF2-40B4-BE49-F238E27FC236}">
                <a16:creationId xmlns:a16="http://schemas.microsoft.com/office/drawing/2014/main" id="{E2F312E0-37F0-1517-F1BD-2563BE846D21}"/>
              </a:ext>
            </a:extLst>
          </p:cNvPr>
          <p:cNvSpPr txBox="1"/>
          <p:nvPr/>
        </p:nvSpPr>
        <p:spPr>
          <a:xfrm>
            <a:off x="6314855" y="5623106"/>
            <a:ext cx="6097248" cy="923330"/>
          </a:xfrm>
          <a:prstGeom prst="rect">
            <a:avLst/>
          </a:prstGeom>
          <a:noFill/>
        </p:spPr>
        <p:txBody>
          <a:bodyPr wrap="square">
            <a:spAutoFit/>
          </a:bodyPr>
          <a:lstStyle/>
          <a:p>
            <a:r>
              <a:rPr lang="en-US" dirty="0">
                <a:latin typeface="Courier New" panose="02070309020205020404" pitchFamily="49" charset="0"/>
                <a:cs typeface="Courier New" panose="02070309020205020404" pitchFamily="49" charset="0"/>
              </a:rPr>
              <a:t>MOVPS XMM1,XMM0</a:t>
            </a:r>
            <a:endParaRPr lang="ru-RU"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XORPS XMM0,XMM0;XMM0 </a:t>
            </a:r>
            <a:r>
              <a:rPr lang="ru-RU" dirty="0">
                <a:latin typeface="Courier New" panose="02070309020205020404" pitchFamily="49" charset="0"/>
                <a:cs typeface="Courier New" panose="02070309020205020404" pitchFamily="49" charset="0"/>
              </a:rPr>
              <a:t>перезаписан полностью</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MOVSS XMM0,XMM2</a:t>
            </a:r>
          </a:p>
        </p:txBody>
      </p:sp>
      <p:cxnSp>
        <p:nvCxnSpPr>
          <p:cNvPr id="13" name="Straight Connector 12">
            <a:extLst>
              <a:ext uri="{FF2B5EF4-FFF2-40B4-BE49-F238E27FC236}">
                <a16:creationId xmlns:a16="http://schemas.microsoft.com/office/drawing/2014/main" id="{BDC68AE2-C968-D70C-A4C9-D24D12B09E06}"/>
              </a:ext>
            </a:extLst>
          </p:cNvPr>
          <p:cNvCxnSpPr/>
          <p:nvPr/>
        </p:nvCxnSpPr>
        <p:spPr>
          <a:xfrm>
            <a:off x="453104" y="4906575"/>
            <a:ext cx="11385029" cy="0"/>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E0DAB05C-1B18-6497-592C-27E37607BB5B}"/>
              </a:ext>
            </a:extLst>
          </p:cNvPr>
          <p:cNvCxnSpPr/>
          <p:nvPr/>
        </p:nvCxnSpPr>
        <p:spPr>
          <a:xfrm>
            <a:off x="453104" y="5637696"/>
            <a:ext cx="11385029"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794747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700228-FF09-411E-C60B-1469ABFFC126}"/>
              </a:ext>
            </a:extLst>
          </p:cNvPr>
          <p:cNvSpPr>
            <a:spLocks noGrp="1"/>
          </p:cNvSpPr>
          <p:nvPr>
            <p:ph type="title"/>
          </p:nvPr>
        </p:nvSpPr>
        <p:spPr/>
        <p:txBody>
          <a:bodyPr/>
          <a:lstStyle/>
          <a:p>
            <a:r>
              <a:rPr lang="ru-RU" dirty="0"/>
              <a:t>Переупорядочивание операций чтения/записи</a:t>
            </a:r>
          </a:p>
        </p:txBody>
      </p:sp>
      <p:sp>
        <p:nvSpPr>
          <p:cNvPr id="3" name="Объект 2">
            <a:extLst>
              <a:ext uri="{FF2B5EF4-FFF2-40B4-BE49-F238E27FC236}">
                <a16:creationId xmlns:a16="http://schemas.microsoft.com/office/drawing/2014/main" id="{C875CC47-7182-20F8-A662-FD4471409F57}"/>
              </a:ext>
            </a:extLst>
          </p:cNvPr>
          <p:cNvSpPr>
            <a:spLocks noGrp="1"/>
          </p:cNvSpPr>
          <p:nvPr>
            <p:ph idx="1"/>
          </p:nvPr>
        </p:nvSpPr>
        <p:spPr>
          <a:xfrm>
            <a:off x="838199" y="1825625"/>
            <a:ext cx="10813473" cy="4351338"/>
          </a:xfrm>
        </p:spPr>
        <p:txBody>
          <a:bodyPr>
            <a:normAutofit/>
          </a:bodyPr>
          <a:lstStyle/>
          <a:p>
            <a:pPr marL="0" indent="0" algn="just">
              <a:buNone/>
            </a:pPr>
            <a:r>
              <a:rPr lang="ru-RU" sz="2000" dirty="0"/>
              <a:t>Переупорядочивание зависимых операций чтения/записи (т.е. операций по перекрывающимся адресам), очевидно, невозможно.</a:t>
            </a:r>
            <a:endParaRPr lang="en-US" sz="2000" dirty="0"/>
          </a:p>
          <a:p>
            <a:pPr marL="0" indent="0" algn="just">
              <a:buNone/>
            </a:pPr>
            <a:r>
              <a:rPr lang="ru-RU" sz="2000" dirty="0"/>
              <a:t>Переупорядочивание независимых операций чтения/записи возможно. Правила подобных </a:t>
            </a:r>
            <a:r>
              <a:rPr lang="ru-RU" sz="2000" dirty="0" err="1"/>
              <a:t>переупорядочиваний</a:t>
            </a:r>
            <a:r>
              <a:rPr lang="ru-RU" sz="2000" dirty="0"/>
              <a:t> прописываются в </a:t>
            </a:r>
            <a:r>
              <a:rPr lang="en-US" sz="2000" dirty="0"/>
              <a:t>ISA.</a:t>
            </a:r>
          </a:p>
          <a:p>
            <a:pPr marL="0" indent="0" algn="just">
              <a:buNone/>
            </a:pPr>
            <a:r>
              <a:rPr lang="ru-RU" sz="2000" dirty="0"/>
              <a:t>На х86-64</a:t>
            </a:r>
            <a:r>
              <a:rPr lang="en-US" sz="2000" dirty="0"/>
              <a:t>:</a:t>
            </a:r>
          </a:p>
          <a:p>
            <a:pPr algn="just"/>
            <a:r>
              <a:rPr lang="ru-RU" sz="2000" dirty="0"/>
              <a:t>операции чтения не могут переупорядочиваться друг с другом;</a:t>
            </a:r>
          </a:p>
          <a:p>
            <a:pPr algn="just"/>
            <a:r>
              <a:rPr lang="ru-RU" sz="2000" dirty="0"/>
              <a:t>операции записи не могут переупорядочиваться друг с другом;</a:t>
            </a:r>
          </a:p>
          <a:p>
            <a:pPr algn="just"/>
            <a:r>
              <a:rPr lang="ru-RU" sz="2000" dirty="0"/>
              <a:t>операция чтения может быть переупорядочена с более ранней операцией записи, но не наоборот.</a:t>
            </a:r>
          </a:p>
          <a:p>
            <a:pPr marL="0" indent="0" algn="just">
              <a:buNone/>
            </a:pPr>
            <a:r>
              <a:rPr lang="ru-RU" sz="2000" dirty="0"/>
              <a:t>На </a:t>
            </a:r>
            <a:r>
              <a:rPr lang="en-US" sz="2000" dirty="0"/>
              <a:t>ARM </a:t>
            </a:r>
            <a:r>
              <a:rPr lang="ru-RU" sz="2000" dirty="0"/>
              <a:t>все переупорядочивания возможны </a:t>
            </a:r>
            <a:r>
              <a:rPr lang="en-US" sz="2000" dirty="0"/>
              <a:t>=&gt; </a:t>
            </a:r>
            <a:r>
              <a:rPr lang="ru-RU" sz="2000" dirty="0"/>
              <a:t>возможна ситуация, когда многопоточная программа без использования дополнительных мер корректно работает на х86-64, но работает с ошибками на </a:t>
            </a:r>
            <a:r>
              <a:rPr lang="en-US" sz="2000" dirty="0"/>
              <a:t>ARM.</a:t>
            </a:r>
            <a:endParaRPr lang="ru-RU" sz="2000" dirty="0"/>
          </a:p>
          <a:p>
            <a:pPr marL="0" indent="0" algn="just">
              <a:buNone/>
            </a:pPr>
            <a:endParaRPr lang="en-US" sz="2000" dirty="0"/>
          </a:p>
          <a:p>
            <a:pPr marL="0" indent="0" algn="just">
              <a:buNone/>
            </a:pPr>
            <a:endParaRPr lang="ru-RU" sz="2000" dirty="0"/>
          </a:p>
        </p:txBody>
      </p:sp>
      <p:sp>
        <p:nvSpPr>
          <p:cNvPr id="5" name="Номер слайда 4">
            <a:extLst>
              <a:ext uri="{FF2B5EF4-FFF2-40B4-BE49-F238E27FC236}">
                <a16:creationId xmlns:a16="http://schemas.microsoft.com/office/drawing/2014/main" id="{1E4A14E0-C4DD-B6B8-8206-06607894A7BB}"/>
              </a:ext>
            </a:extLst>
          </p:cNvPr>
          <p:cNvSpPr>
            <a:spLocks noGrp="1"/>
          </p:cNvSpPr>
          <p:nvPr>
            <p:ph type="sldNum" sz="quarter" idx="12"/>
          </p:nvPr>
        </p:nvSpPr>
        <p:spPr/>
        <p:txBody>
          <a:bodyPr/>
          <a:lstStyle/>
          <a:p>
            <a:fld id="{B67FBA2B-964F-4C4D-AAF7-5A8399264638}" type="slidenum">
              <a:rPr lang="en-US" smtClean="0"/>
              <a:pPr/>
              <a:t>28</a:t>
            </a:fld>
            <a:endParaRPr lang="en-US"/>
          </a:p>
        </p:txBody>
      </p:sp>
    </p:spTree>
    <p:extLst>
      <p:ext uri="{BB962C8B-B14F-4D97-AF65-F5344CB8AC3E}">
        <p14:creationId xmlns:p14="http://schemas.microsoft.com/office/powerpoint/2010/main" val="27025872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D80E04D-34CB-6C62-6709-E83D2B6C2E45}"/>
              </a:ext>
            </a:extLst>
          </p:cNvPr>
          <p:cNvSpPr>
            <a:spLocks noGrp="1"/>
          </p:cNvSpPr>
          <p:nvPr>
            <p:ph type="title"/>
          </p:nvPr>
        </p:nvSpPr>
        <p:spPr/>
        <p:txBody>
          <a:bodyPr/>
          <a:lstStyle/>
          <a:p>
            <a:r>
              <a:rPr lang="ru-RU" dirty="0"/>
              <a:t>Барьеры памяти</a:t>
            </a:r>
          </a:p>
        </p:txBody>
      </p:sp>
      <p:sp>
        <p:nvSpPr>
          <p:cNvPr id="3" name="Объект 2">
            <a:extLst>
              <a:ext uri="{FF2B5EF4-FFF2-40B4-BE49-F238E27FC236}">
                <a16:creationId xmlns:a16="http://schemas.microsoft.com/office/drawing/2014/main" id="{D5CEC55A-8518-382A-4A68-507F30710D0D}"/>
              </a:ext>
            </a:extLst>
          </p:cNvPr>
          <p:cNvSpPr>
            <a:spLocks noGrp="1"/>
          </p:cNvSpPr>
          <p:nvPr>
            <p:ph idx="1"/>
          </p:nvPr>
        </p:nvSpPr>
        <p:spPr>
          <a:xfrm>
            <a:off x="256309" y="1527752"/>
            <a:ext cx="11658600" cy="5432446"/>
          </a:xfrm>
        </p:spPr>
        <p:txBody>
          <a:bodyPr>
            <a:normAutofit/>
          </a:bodyPr>
          <a:lstStyle/>
          <a:p>
            <a:pPr marL="0" indent="0">
              <a:buNone/>
            </a:pPr>
            <a:r>
              <a:rPr lang="ru-RU" sz="2000" dirty="0"/>
              <a:t>В некоторых случаях (многопоточное/системное программирование) переупорядочивание операций с памятью является нежелательным. Если необходимо, чтобы операции чтения/записи были выполнены в определенном порядке, используются </a:t>
            </a:r>
            <a:r>
              <a:rPr lang="ru-RU" sz="2000" b="1" dirty="0"/>
              <a:t>барьеры памяти </a:t>
            </a:r>
            <a:r>
              <a:rPr lang="ru-RU" sz="2000" dirty="0"/>
              <a:t>(</a:t>
            </a:r>
            <a:r>
              <a:rPr lang="en-US" sz="2000" dirty="0"/>
              <a:t>memory barriers)</a:t>
            </a:r>
            <a:r>
              <a:rPr lang="ru-RU" sz="2000" dirty="0"/>
              <a:t>.</a:t>
            </a:r>
          </a:p>
          <a:p>
            <a:pPr marL="0" indent="0">
              <a:buNone/>
            </a:pPr>
            <a:r>
              <a:rPr lang="ru-RU" sz="2000" dirty="0"/>
              <a:t>Барьер памяти гарантирует, что операции определенного типа, находящиеся до барьера, полностью завершатся до барьера, а расположенные после барьера – начнут выполнение после барьера.</a:t>
            </a:r>
            <a:endParaRPr lang="en-US" sz="2000" dirty="0"/>
          </a:p>
          <a:p>
            <a:pPr marL="0" indent="0">
              <a:buNone/>
            </a:pPr>
            <a:r>
              <a:rPr lang="ru-RU" sz="2000" dirty="0"/>
              <a:t>Часто барьеры описываются комбинацией слов </a:t>
            </a:r>
            <a:r>
              <a:rPr lang="en-US" sz="2000" dirty="0"/>
              <a:t>Load </a:t>
            </a:r>
            <a:r>
              <a:rPr lang="ru-RU" sz="2000" dirty="0"/>
              <a:t>и </a:t>
            </a:r>
            <a:r>
              <a:rPr lang="en-US" sz="2000" dirty="0"/>
              <a:t>Store. </a:t>
            </a:r>
            <a:r>
              <a:rPr lang="ru-RU" sz="2000" dirty="0"/>
              <a:t>Например, </a:t>
            </a:r>
            <a:r>
              <a:rPr lang="en-US" sz="2000" dirty="0" err="1"/>
              <a:t>LoadStore</a:t>
            </a:r>
            <a:r>
              <a:rPr lang="ru-RU" sz="2000" dirty="0"/>
              <a:t>-барьер гарантирует, что операции чтения до барьера выполнятся до барьера, а операции записи после барьера начнутся после барьера.</a:t>
            </a:r>
          </a:p>
          <a:p>
            <a:pPr marL="0" indent="0">
              <a:buNone/>
            </a:pPr>
            <a:r>
              <a:rPr lang="ru-RU" sz="2000" dirty="0"/>
              <a:t>На х86-64 барьеры памяти реализуются с помощью 3 инструкций:</a:t>
            </a:r>
          </a:p>
          <a:p>
            <a:r>
              <a:rPr lang="en-US" sz="2000" dirty="0">
                <a:latin typeface="Courier New" panose="02070309020205020404" pitchFamily="49" charset="0"/>
                <a:cs typeface="Courier New" panose="02070309020205020404" pitchFamily="49" charset="0"/>
              </a:rPr>
              <a:t>LFENCE</a:t>
            </a:r>
            <a:r>
              <a:rPr lang="en-US" sz="2000" dirty="0"/>
              <a:t>  </a:t>
            </a:r>
            <a:r>
              <a:rPr lang="ru-RU" sz="2000" dirty="0"/>
              <a:t>=</a:t>
            </a:r>
            <a:r>
              <a:rPr lang="en-US" sz="2000" dirty="0"/>
              <a:t> </a:t>
            </a:r>
            <a:r>
              <a:rPr lang="en-US" sz="2000" dirty="0" err="1"/>
              <a:t>LoadStore</a:t>
            </a:r>
            <a:r>
              <a:rPr lang="en-US" sz="2000" dirty="0"/>
              <a:t> +</a:t>
            </a:r>
            <a:r>
              <a:rPr lang="ru-RU" sz="2000" dirty="0"/>
              <a:t> </a:t>
            </a:r>
            <a:r>
              <a:rPr lang="en-US" sz="2000" dirty="0" err="1"/>
              <a:t>LoadLoad</a:t>
            </a:r>
            <a:r>
              <a:rPr lang="ru-RU" sz="2000" dirty="0"/>
              <a:t> барьер</a:t>
            </a:r>
            <a:r>
              <a:rPr lang="en-US" sz="2000" dirty="0"/>
              <a:t>*</a:t>
            </a:r>
            <a:r>
              <a:rPr lang="ru-RU" sz="2000" dirty="0"/>
              <a:t>;</a:t>
            </a:r>
          </a:p>
          <a:p>
            <a:r>
              <a:rPr lang="en-US" sz="2000" dirty="0">
                <a:latin typeface="Courier New" panose="02070309020205020404" pitchFamily="49" charset="0"/>
                <a:cs typeface="Courier New" panose="02070309020205020404" pitchFamily="49" charset="0"/>
              </a:rPr>
              <a:t>SFENCE</a:t>
            </a:r>
            <a:r>
              <a:rPr lang="en-US" sz="2000" dirty="0"/>
              <a:t> = </a:t>
            </a:r>
            <a:r>
              <a:rPr lang="en-US" sz="2000" dirty="0" err="1"/>
              <a:t>StoreStore</a:t>
            </a:r>
            <a:r>
              <a:rPr lang="en-US" sz="2000" dirty="0"/>
              <a:t> </a:t>
            </a:r>
            <a:r>
              <a:rPr lang="ru-RU" sz="2000" dirty="0"/>
              <a:t>барьер</a:t>
            </a:r>
            <a:r>
              <a:rPr lang="en-US" sz="2000" dirty="0"/>
              <a:t>**;</a:t>
            </a:r>
            <a:endParaRPr lang="ru-RU" sz="2000" dirty="0"/>
          </a:p>
          <a:p>
            <a:r>
              <a:rPr lang="en-US" sz="2000" dirty="0">
                <a:latin typeface="Courier New" panose="02070309020205020404" pitchFamily="49" charset="0"/>
                <a:cs typeface="Courier New" panose="02070309020205020404" pitchFamily="49" charset="0"/>
              </a:rPr>
              <a:t>MFENCE</a:t>
            </a:r>
            <a:r>
              <a:rPr lang="en-US" sz="2000" dirty="0"/>
              <a:t> = </a:t>
            </a:r>
            <a:r>
              <a:rPr lang="ru-RU" sz="2000" dirty="0"/>
              <a:t>полный барьер</a:t>
            </a:r>
            <a:r>
              <a:rPr lang="en-US" sz="2000" dirty="0"/>
              <a:t>***</a:t>
            </a:r>
            <a:r>
              <a:rPr lang="ru-RU" sz="2000" dirty="0"/>
              <a:t>.</a:t>
            </a:r>
          </a:p>
          <a:p>
            <a:pPr marL="0" indent="0">
              <a:buNone/>
            </a:pPr>
            <a:r>
              <a:rPr lang="ru-RU" sz="2000" dirty="0"/>
              <a:t>В силу строгой модели памяти х86 барьеры, памяти используются редко. На </a:t>
            </a:r>
            <a:r>
              <a:rPr lang="en-US" sz="2000" dirty="0"/>
              <a:t>ARM/RISC-V </a:t>
            </a:r>
            <a:r>
              <a:rPr lang="ru-RU" sz="2000" dirty="0"/>
              <a:t>барьеры используются очень широко.</a:t>
            </a:r>
          </a:p>
          <a:p>
            <a:pPr marL="0" indent="0">
              <a:buNone/>
            </a:pPr>
            <a:r>
              <a:rPr lang="ru-RU" sz="1200" dirty="0"/>
              <a:t>* дополнительно запрещает переупорядочивание вообще любых микроопераций относительно себя</a:t>
            </a:r>
            <a:r>
              <a:rPr lang="en-US" sz="1200" dirty="0"/>
              <a:t> </a:t>
            </a:r>
            <a:br>
              <a:rPr lang="ru-RU" sz="1200" dirty="0"/>
            </a:br>
            <a:r>
              <a:rPr lang="ru-RU" sz="1200" dirty="0"/>
              <a:t>** не имеет смысла для обычных операций чтения (см. </a:t>
            </a:r>
            <a:r>
              <a:rPr lang="en-US" sz="1200" dirty="0"/>
              <a:t>MOVNTQ)   *** </a:t>
            </a:r>
            <a:r>
              <a:rPr lang="ru-RU" sz="1200" dirty="0" err="1"/>
              <a:t>сериализует</a:t>
            </a:r>
            <a:r>
              <a:rPr lang="ru-RU" sz="1200" dirty="0"/>
              <a:t> только операции чтения/записи, в отличие от </a:t>
            </a:r>
            <a:r>
              <a:rPr lang="en-US" sz="1200" dirty="0"/>
              <a:t>LFENCE</a:t>
            </a:r>
            <a:endParaRPr lang="ru-RU" sz="1200" dirty="0"/>
          </a:p>
        </p:txBody>
      </p:sp>
      <p:sp>
        <p:nvSpPr>
          <p:cNvPr id="5" name="Номер слайда 4">
            <a:extLst>
              <a:ext uri="{FF2B5EF4-FFF2-40B4-BE49-F238E27FC236}">
                <a16:creationId xmlns:a16="http://schemas.microsoft.com/office/drawing/2014/main" id="{6D8CD3A5-D245-9980-476A-58A0F39D92A7}"/>
              </a:ext>
            </a:extLst>
          </p:cNvPr>
          <p:cNvSpPr>
            <a:spLocks noGrp="1"/>
          </p:cNvSpPr>
          <p:nvPr>
            <p:ph type="sldNum" sz="quarter" idx="12"/>
          </p:nvPr>
        </p:nvSpPr>
        <p:spPr/>
        <p:txBody>
          <a:bodyPr/>
          <a:lstStyle/>
          <a:p>
            <a:fld id="{B67FBA2B-964F-4C4D-AAF7-5A8399264638}" type="slidenum">
              <a:rPr lang="en-US" smtClean="0"/>
              <a:pPr/>
              <a:t>29</a:t>
            </a:fld>
            <a:endParaRPr lang="en-US"/>
          </a:p>
        </p:txBody>
      </p:sp>
    </p:spTree>
    <p:extLst>
      <p:ext uri="{BB962C8B-B14F-4D97-AF65-F5344CB8AC3E}">
        <p14:creationId xmlns:p14="http://schemas.microsoft.com/office/powerpoint/2010/main" val="824543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a:xfrm>
            <a:off x="838200" y="276485"/>
            <a:ext cx="11430600" cy="1325563"/>
          </a:xfrm>
        </p:spPr>
        <p:txBody>
          <a:bodyPr/>
          <a:lstStyle/>
          <a:p>
            <a:r>
              <a:rPr lang="ru-RU" dirty="0"/>
              <a:t>Зависимость по управлению. Предсказание переходов </a:t>
            </a:r>
            <a:r>
              <a:rPr kumimoji="0" lang="ru-RU" sz="2400" b="0" i="0" u="none" strike="noStrike" kern="1200" cap="none" spc="0" normalizeH="0" baseline="0" noProof="0" dirty="0">
                <a:ln>
                  <a:noFill/>
                </a:ln>
                <a:solidFill>
                  <a:prstClr val="black"/>
                </a:solidFill>
                <a:effectLst/>
                <a:uLnTx/>
                <a:uFillTx/>
                <a:latin typeface="Calibri Light" panose="020F0302020204030204"/>
                <a:ea typeface="+mj-ea"/>
                <a:cs typeface="+mj-cs"/>
              </a:rPr>
              <a:t>(пример)</a:t>
            </a:r>
            <a:endParaRPr lang="ru-RU" dirty="0"/>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493678" y="1618487"/>
            <a:ext cx="11296245" cy="5255952"/>
          </a:xfrm>
        </p:spPr>
        <p:txBody>
          <a:bodyPr>
            <a:normAutofit/>
          </a:bodyPr>
          <a:lstStyle/>
          <a:p>
            <a:pPr marL="0" indent="0">
              <a:buNone/>
            </a:pPr>
            <a:r>
              <a:rPr lang="ru-RU" sz="2000" dirty="0"/>
              <a:t>Условные переходы являются проблемой для архитектур с конвейером, т.к. от результата условного перехода зависит, какие инструкции будут считываться/декодироваться дальше – возникает </a:t>
            </a:r>
            <a:r>
              <a:rPr lang="ru-RU" sz="2000" b="1" dirty="0"/>
              <a:t>зависимость по управлению</a:t>
            </a:r>
            <a:r>
              <a:rPr lang="ru-RU" sz="2000" dirty="0"/>
              <a:t>.</a:t>
            </a:r>
          </a:p>
          <a:p>
            <a:pPr marL="0" indent="0">
              <a:buNone/>
            </a:pPr>
            <a:r>
              <a:rPr lang="ru-RU" sz="2000" dirty="0"/>
              <a:t>В этом случае, применима «простая» оптимизация – процессор может  сохранить текущее состояние, предположить исход условного перехода и продолжить выполнение одной из веток (</a:t>
            </a:r>
            <a:r>
              <a:rPr lang="ru-RU" sz="2000" b="1" dirty="0"/>
              <a:t>спекулятивное выполнение</a:t>
            </a:r>
            <a:r>
              <a:rPr lang="ru-RU" sz="2000" dirty="0"/>
              <a:t>). В момент, когда результат перехода </a:t>
            </a:r>
            <a:r>
              <a:rPr lang="ru-RU" sz="2000" dirty="0" err="1"/>
              <a:t>вычислится</a:t>
            </a:r>
            <a:r>
              <a:rPr lang="ru-RU" sz="2000" dirty="0"/>
              <a:t> окончательно, проверка проводится повторно. Если результат проверки не совпал с предположением, то процессор восстанавливает сохраненное состояние, «откатывая» те изменения, которые он уже сделал.</a:t>
            </a:r>
          </a:p>
          <a:p>
            <a:pPr marL="0" indent="0" algn="just">
              <a:buNone/>
            </a:pPr>
            <a:r>
              <a:rPr lang="ru-RU" sz="2000" i="1" dirty="0"/>
              <a:t>Отсюда следует, что производительность ЦП зависит от того, насколько предсказуемы данные и насколько хорошо ЦП умеет определять закономерности.</a:t>
            </a:r>
          </a:p>
          <a:p>
            <a:pPr marL="0" indent="0">
              <a:buNone/>
            </a:pPr>
            <a:r>
              <a:rPr lang="ru-RU" sz="2000" dirty="0"/>
              <a:t>При спекулятивном выполнении ЦП не может выполнять действия, которые влияют на состояние ЦП и программы в целом. В частности, результаты спекулятивных операций записи сохраняются в очередь записи, но не отправляются в ОЗУ, пока операция не будет признана действительной.</a:t>
            </a:r>
          </a:p>
          <a:p>
            <a:pPr marL="0" indent="0">
              <a:buNone/>
            </a:pPr>
            <a:r>
              <a:rPr lang="ru-RU" sz="2000" dirty="0"/>
              <a:t>Если результатом спекулятивной операции было аппаратное исключение (например, из-за выхода за границы массива/деления на 0), то оно задерживается, пока выполнение исходной инструкции не будет подтверждено</a:t>
            </a:r>
          </a:p>
          <a:p>
            <a:pPr marL="0" indent="0">
              <a:buNone/>
            </a:pPr>
            <a:endParaRPr lang="ru-RU" sz="2000" dirty="0"/>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30</a:t>
            </a:fld>
            <a:endParaRPr lang="en-US"/>
          </a:p>
        </p:txBody>
      </p:sp>
    </p:spTree>
    <p:extLst>
      <p:ext uri="{BB962C8B-B14F-4D97-AF65-F5344CB8AC3E}">
        <p14:creationId xmlns:p14="http://schemas.microsoft.com/office/powerpoint/2010/main" val="4477374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B100B1-3333-F840-9A20-87D2909A2419}"/>
              </a:ext>
            </a:extLst>
          </p:cNvPr>
          <p:cNvSpPr>
            <a:spLocks noGrp="1"/>
          </p:cNvSpPr>
          <p:nvPr>
            <p:ph type="title"/>
          </p:nvPr>
        </p:nvSpPr>
        <p:spPr/>
        <p:txBody>
          <a:bodyPr/>
          <a:lstStyle/>
          <a:p>
            <a:r>
              <a:rPr lang="ru-RU" dirty="0"/>
              <a:t>Буферизация записи</a:t>
            </a:r>
          </a:p>
        </p:txBody>
      </p:sp>
      <p:sp>
        <p:nvSpPr>
          <p:cNvPr id="3" name="Объект 2">
            <a:extLst>
              <a:ext uri="{FF2B5EF4-FFF2-40B4-BE49-F238E27FC236}">
                <a16:creationId xmlns:a16="http://schemas.microsoft.com/office/drawing/2014/main" id="{E045F008-B67D-529D-E369-81100A9CBB3B}"/>
              </a:ext>
            </a:extLst>
          </p:cNvPr>
          <p:cNvSpPr>
            <a:spLocks noGrp="1"/>
          </p:cNvSpPr>
          <p:nvPr>
            <p:ph idx="1"/>
          </p:nvPr>
        </p:nvSpPr>
        <p:spPr/>
        <p:txBody>
          <a:bodyPr>
            <a:normAutofit/>
          </a:bodyPr>
          <a:lstStyle/>
          <a:p>
            <a:pPr marL="0" indent="0">
              <a:buNone/>
            </a:pPr>
            <a:r>
              <a:rPr lang="ru-RU" sz="2000" dirty="0"/>
              <a:t>Поскольку ОЗУ является общим ресурсом, ЦП не имеет права проводить спекулятивную запись в нее.</a:t>
            </a:r>
          </a:p>
          <a:p>
            <a:pPr marL="0" indent="0">
              <a:buNone/>
            </a:pPr>
            <a:r>
              <a:rPr lang="ru-RU" sz="2000" dirty="0"/>
              <a:t>Кроме того, даже не спекулятивная запись производится долго. С другой стороны, запись производится реже, чем чтение и прочие операции.</a:t>
            </a:r>
          </a:p>
          <a:p>
            <a:pPr marL="0" indent="0">
              <a:buNone/>
            </a:pPr>
            <a:r>
              <a:rPr lang="ru-RU" sz="2000" dirty="0"/>
              <a:t>Логичной оптимизации является создание </a:t>
            </a:r>
            <a:r>
              <a:rPr lang="ru-RU" sz="2000" b="1" dirty="0"/>
              <a:t>очереди записи </a:t>
            </a:r>
            <a:r>
              <a:rPr lang="ru-RU" sz="2000" dirty="0"/>
              <a:t>(</a:t>
            </a:r>
            <a:r>
              <a:rPr lang="en-US" sz="2000" dirty="0"/>
              <a:t>write-back queue)</a:t>
            </a:r>
            <a:r>
              <a:rPr lang="ru-RU" sz="2000" dirty="0"/>
              <a:t>, в которую отправляются значения, которые должны быть записаны в ОЗУ. Данные из этой очереди считываются контроллером памяти.</a:t>
            </a:r>
          </a:p>
          <a:p>
            <a:pPr marL="0" indent="0">
              <a:buNone/>
            </a:pPr>
            <a:r>
              <a:rPr lang="ru-RU" sz="2000" dirty="0"/>
              <a:t>Очередь записи может быть источником данных для операций чтения.</a:t>
            </a:r>
          </a:p>
        </p:txBody>
      </p:sp>
      <p:sp>
        <p:nvSpPr>
          <p:cNvPr id="5" name="Номер слайда 4">
            <a:extLst>
              <a:ext uri="{FF2B5EF4-FFF2-40B4-BE49-F238E27FC236}">
                <a16:creationId xmlns:a16="http://schemas.microsoft.com/office/drawing/2014/main" id="{663C0DAB-73EE-E5E6-E5F4-7E638BDB86F8}"/>
              </a:ext>
            </a:extLst>
          </p:cNvPr>
          <p:cNvSpPr>
            <a:spLocks noGrp="1"/>
          </p:cNvSpPr>
          <p:nvPr>
            <p:ph type="sldNum" sz="quarter" idx="12"/>
          </p:nvPr>
        </p:nvSpPr>
        <p:spPr/>
        <p:txBody>
          <a:bodyPr/>
          <a:lstStyle/>
          <a:p>
            <a:fld id="{B67FBA2B-964F-4C4D-AAF7-5A8399264638}" type="slidenum">
              <a:rPr lang="en-US" smtClean="0"/>
              <a:pPr/>
              <a:t>31</a:t>
            </a:fld>
            <a:endParaRPr lang="en-US"/>
          </a:p>
        </p:txBody>
      </p:sp>
    </p:spTree>
    <p:extLst>
      <p:ext uri="{BB962C8B-B14F-4D97-AF65-F5344CB8AC3E}">
        <p14:creationId xmlns:p14="http://schemas.microsoft.com/office/powerpoint/2010/main" val="16595036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45F6A7-E77F-1454-CA76-42E9CC59AAD6}"/>
              </a:ext>
            </a:extLst>
          </p:cNvPr>
          <p:cNvSpPr>
            <a:spLocks noGrp="1"/>
          </p:cNvSpPr>
          <p:nvPr>
            <p:ph type="title"/>
          </p:nvPr>
        </p:nvSpPr>
        <p:spPr>
          <a:xfrm>
            <a:off x="838200" y="276485"/>
            <a:ext cx="11430600" cy="1325563"/>
          </a:xfrm>
        </p:spPr>
        <p:txBody>
          <a:bodyPr/>
          <a:lstStyle/>
          <a:p>
            <a:r>
              <a:rPr lang="ru-RU" dirty="0" err="1"/>
              <a:t>Сериализация</a:t>
            </a:r>
            <a:r>
              <a:rPr lang="ru-RU" dirty="0"/>
              <a:t> микроопераций</a:t>
            </a:r>
          </a:p>
        </p:txBody>
      </p:sp>
      <p:sp>
        <p:nvSpPr>
          <p:cNvPr id="3" name="Объект 2">
            <a:extLst>
              <a:ext uri="{FF2B5EF4-FFF2-40B4-BE49-F238E27FC236}">
                <a16:creationId xmlns:a16="http://schemas.microsoft.com/office/drawing/2014/main" id="{3386D23F-1D1C-9972-A5D4-20308CC48FE1}"/>
              </a:ext>
            </a:extLst>
          </p:cNvPr>
          <p:cNvSpPr>
            <a:spLocks noGrp="1"/>
          </p:cNvSpPr>
          <p:nvPr>
            <p:ph idx="1"/>
          </p:nvPr>
        </p:nvSpPr>
        <p:spPr>
          <a:xfrm>
            <a:off x="838200" y="1602048"/>
            <a:ext cx="10768200" cy="3985152"/>
          </a:xfrm>
        </p:spPr>
        <p:txBody>
          <a:bodyPr>
            <a:normAutofit/>
          </a:bodyPr>
          <a:lstStyle/>
          <a:p>
            <a:pPr marL="0" indent="0">
              <a:buNone/>
            </a:pPr>
            <a:r>
              <a:rPr lang="ru-RU" sz="2000" dirty="0"/>
              <a:t>В ряде случаев переупорядочивание микроопераций и спекулятивное выполнение нежелательны и должны быть запрещены.</a:t>
            </a:r>
          </a:p>
          <a:p>
            <a:pPr marL="0" indent="0">
              <a:buNone/>
            </a:pPr>
            <a:r>
              <a:rPr lang="ru-RU" sz="2000" dirty="0"/>
              <a:t>Некоторые инструкции (</a:t>
            </a:r>
            <a:r>
              <a:rPr lang="en-US" sz="2000" dirty="0">
                <a:latin typeface="Courier New" panose="02070309020205020404" pitchFamily="49" charset="0"/>
                <a:cs typeface="Courier New" panose="02070309020205020404" pitchFamily="49" charset="0"/>
              </a:rPr>
              <a:t>LFENCE</a:t>
            </a:r>
            <a:r>
              <a:rPr lang="ru-RU" sz="2000" dirty="0">
                <a:latin typeface="Courier New" panose="02070309020205020404" pitchFamily="49" charset="0"/>
                <a:cs typeface="Courier New" panose="02070309020205020404" pitchFamily="49" charset="0"/>
              </a:rPr>
              <a:t> </a:t>
            </a:r>
            <a:r>
              <a:rPr lang="ru-RU" sz="2000" dirty="0">
                <a:cs typeface="Courier New" panose="02070309020205020404" pitchFamily="49" charset="0"/>
              </a:rPr>
              <a:t>на ЦП </a:t>
            </a:r>
            <a:r>
              <a:rPr lang="en-US" sz="2000" dirty="0">
                <a:cs typeface="Courier New" panose="02070309020205020404" pitchFamily="49" charset="0"/>
              </a:rPr>
              <a:t>Intel </a:t>
            </a:r>
            <a:r>
              <a:rPr lang="ru-RU" sz="2000" dirty="0">
                <a:cs typeface="Courier New" panose="02070309020205020404" pitchFamily="49" charset="0"/>
              </a:rPr>
              <a:t>и </a:t>
            </a:r>
            <a:r>
              <a:rPr lang="en-US" sz="2000" dirty="0">
                <a:cs typeface="Courier New" panose="02070309020205020404" pitchFamily="49" charset="0"/>
              </a:rPr>
              <a:t>AMD</a:t>
            </a:r>
            <a:r>
              <a:rPr lang="en-US" sz="2000" dirty="0">
                <a:latin typeface="Courier New" panose="02070309020205020404" pitchFamily="49" charset="0"/>
                <a:cs typeface="Courier New" panose="02070309020205020404" pitchFamily="49" charset="0"/>
              </a:rPr>
              <a:t>, MFENCE </a:t>
            </a:r>
            <a:r>
              <a:rPr lang="ru-RU" sz="2000" dirty="0">
                <a:cs typeface="Courier New" panose="02070309020205020404" pitchFamily="49" charset="0"/>
              </a:rPr>
              <a:t>на ЦП </a:t>
            </a:r>
            <a:r>
              <a:rPr lang="en-US" sz="2000" dirty="0">
                <a:cs typeface="Courier New" panose="02070309020205020404" pitchFamily="49" charset="0"/>
              </a:rPr>
              <a:t>AMD</a:t>
            </a:r>
            <a:r>
              <a:rPr lang="en-US" sz="2000" dirty="0"/>
              <a:t>, </a:t>
            </a:r>
            <a:r>
              <a:rPr lang="ru-RU" sz="2000" dirty="0"/>
              <a:t> </a:t>
            </a:r>
            <a:r>
              <a:rPr lang="en-US" sz="2000" dirty="0">
                <a:latin typeface="Courier New" panose="02070309020205020404" pitchFamily="49" charset="0"/>
                <a:cs typeface="Courier New" panose="02070309020205020404" pitchFamily="49" charset="0"/>
              </a:rPr>
              <a:t>CPUID</a:t>
            </a:r>
            <a:r>
              <a:rPr lang="ru-RU" sz="2000" dirty="0"/>
              <a:t>)</a:t>
            </a:r>
            <a:r>
              <a:rPr lang="en-US" sz="2000" dirty="0"/>
              <a:t> </a:t>
            </a:r>
            <a:r>
              <a:rPr lang="ru-RU" sz="2000" dirty="0"/>
              <a:t>запрещают переупорядочивание микроопераций относительно себя</a:t>
            </a:r>
            <a:r>
              <a:rPr lang="en-US" sz="2000" dirty="0"/>
              <a:t> </a:t>
            </a:r>
            <a:r>
              <a:rPr lang="ru-RU" sz="2000" dirty="0"/>
              <a:t>и при этом дожидаются выполнения всех предыдущих инструкций.</a:t>
            </a:r>
          </a:p>
          <a:p>
            <a:pPr marL="0" indent="0">
              <a:buNone/>
            </a:pPr>
            <a:r>
              <a:rPr lang="ru-RU" sz="2000" dirty="0"/>
              <a:t>Данные инструкции используются в основном в системном программировании для обеспечения корректного порядка выполнения действий. </a:t>
            </a:r>
          </a:p>
          <a:p>
            <a:pPr marL="0" indent="0">
              <a:buNone/>
            </a:pPr>
            <a:r>
              <a:rPr lang="ru-RU" sz="2000" dirty="0"/>
              <a:t>Аппаратные исключения и прерывания </a:t>
            </a:r>
            <a:r>
              <a:rPr lang="en-US" sz="2000" dirty="0"/>
              <a:t>(</a:t>
            </a:r>
            <a:r>
              <a:rPr lang="ru-RU" sz="2000" dirty="0"/>
              <a:t>см. следующую лекцию</a:t>
            </a:r>
            <a:r>
              <a:rPr lang="en-US" sz="2000" dirty="0"/>
              <a:t>)</a:t>
            </a:r>
            <a:r>
              <a:rPr lang="ru-RU" sz="2000" dirty="0"/>
              <a:t> также запрещают переупорядочивание инструкций</a:t>
            </a:r>
            <a:r>
              <a:rPr lang="ru-RU" sz="2000" i="1" dirty="0"/>
              <a:t>. Т.к. аппаратные исключения используются при отладке, программисту не видны эффекты внеочередного выполнения.</a:t>
            </a:r>
          </a:p>
        </p:txBody>
      </p:sp>
      <p:sp>
        <p:nvSpPr>
          <p:cNvPr id="5" name="Номер слайда 4">
            <a:extLst>
              <a:ext uri="{FF2B5EF4-FFF2-40B4-BE49-F238E27FC236}">
                <a16:creationId xmlns:a16="http://schemas.microsoft.com/office/drawing/2014/main" id="{96C6922B-B0AD-8CEA-24B8-199CFEE9CFDD}"/>
              </a:ext>
            </a:extLst>
          </p:cNvPr>
          <p:cNvSpPr>
            <a:spLocks noGrp="1"/>
          </p:cNvSpPr>
          <p:nvPr>
            <p:ph type="sldNum" sz="quarter" idx="12"/>
          </p:nvPr>
        </p:nvSpPr>
        <p:spPr/>
        <p:txBody>
          <a:bodyPr/>
          <a:lstStyle/>
          <a:p>
            <a:fld id="{B67FBA2B-964F-4C4D-AAF7-5A8399264638}" type="slidenum">
              <a:rPr lang="en-US" smtClean="0"/>
              <a:pPr/>
              <a:t>32</a:t>
            </a:fld>
            <a:endParaRPr lang="en-US"/>
          </a:p>
        </p:txBody>
      </p:sp>
    </p:spTree>
    <p:extLst>
      <p:ext uri="{BB962C8B-B14F-4D97-AF65-F5344CB8AC3E}">
        <p14:creationId xmlns:p14="http://schemas.microsoft.com/office/powerpoint/2010/main" val="2260803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E95EEB-AE4E-51D4-7F6C-B3F4B0CEEA3B}"/>
              </a:ext>
            </a:extLst>
          </p:cNvPr>
          <p:cNvSpPr>
            <a:spLocks noGrp="1"/>
          </p:cNvSpPr>
          <p:nvPr>
            <p:ph type="title"/>
          </p:nvPr>
        </p:nvSpPr>
        <p:spPr/>
        <p:txBody>
          <a:bodyPr/>
          <a:lstStyle/>
          <a:p>
            <a:r>
              <a:rPr lang="ru-RU" dirty="0"/>
              <a:t>Многоядерные процессоры</a:t>
            </a:r>
          </a:p>
        </p:txBody>
      </p:sp>
      <p:sp>
        <p:nvSpPr>
          <p:cNvPr id="3" name="Объект 2">
            <a:extLst>
              <a:ext uri="{FF2B5EF4-FFF2-40B4-BE49-F238E27FC236}">
                <a16:creationId xmlns:a16="http://schemas.microsoft.com/office/drawing/2014/main" id="{FFB19DD6-59C7-80C8-742F-B3BBA5D14036}"/>
              </a:ext>
            </a:extLst>
          </p:cNvPr>
          <p:cNvSpPr>
            <a:spLocks noGrp="1"/>
          </p:cNvSpPr>
          <p:nvPr>
            <p:ph idx="1"/>
          </p:nvPr>
        </p:nvSpPr>
        <p:spPr>
          <a:xfrm>
            <a:off x="838200" y="1825625"/>
            <a:ext cx="10219660" cy="4895850"/>
          </a:xfrm>
        </p:spPr>
        <p:txBody>
          <a:bodyPr>
            <a:normAutofit/>
          </a:bodyPr>
          <a:lstStyle/>
          <a:p>
            <a:pPr marL="0" indent="0">
              <a:buNone/>
            </a:pPr>
            <a:r>
              <a:rPr lang="ru-RU" sz="2000" dirty="0"/>
              <a:t>Широкодоступные 2-ядерные процессоры х86-64 появились в мае 2004 г. В настоящее время число ядер в ЦП варьируется от 2 до 24, а потребительские ЦП с 1 ядром не выпускаются вовсе. </a:t>
            </a:r>
          </a:p>
          <a:p>
            <a:pPr marL="0" indent="0">
              <a:buNone/>
            </a:pPr>
            <a:r>
              <a:rPr lang="ru-RU" sz="2000" dirty="0"/>
              <a:t>Каждое ядро считывает и выполняет инструкции независимо от других ядер. Общими для ядер обычно являются </a:t>
            </a:r>
            <a:r>
              <a:rPr lang="en-US" sz="2000" dirty="0"/>
              <a:t>L3-</a:t>
            </a:r>
            <a:r>
              <a:rPr lang="ru-RU" sz="2000" dirty="0"/>
              <a:t>кэш, контроллер памяти и контроллер ввода вывода.</a:t>
            </a:r>
          </a:p>
          <a:p>
            <a:pPr marL="0" indent="0">
              <a:buNone/>
            </a:pPr>
            <a:r>
              <a:rPr lang="ru-RU" sz="2000" dirty="0"/>
              <a:t>Обычно ядра общаются между собой по специальной шине и информируют друг друга о действиях, которые могут затронуть другие ядра. </a:t>
            </a:r>
          </a:p>
          <a:p>
            <a:pPr marL="0" indent="0">
              <a:buNone/>
            </a:pPr>
            <a:r>
              <a:rPr lang="ru-RU" sz="2000" dirty="0"/>
              <a:t>Наличие полностью независимых ядер позволяет выполнять несколько программ (или несколько участков кода одной программы) одновременно. С другой стороны, из независимости возникают проблемы синхронизации.</a:t>
            </a:r>
            <a:endParaRPr lang="en-US" sz="2000" dirty="0"/>
          </a:p>
          <a:p>
            <a:pPr marL="0" indent="0">
              <a:buNone/>
            </a:pPr>
            <a:endParaRPr lang="ru-RU" sz="2000" dirty="0"/>
          </a:p>
        </p:txBody>
      </p:sp>
      <p:sp>
        <p:nvSpPr>
          <p:cNvPr id="5" name="Номер слайда 4">
            <a:extLst>
              <a:ext uri="{FF2B5EF4-FFF2-40B4-BE49-F238E27FC236}">
                <a16:creationId xmlns:a16="http://schemas.microsoft.com/office/drawing/2014/main" id="{21CC37B9-405C-C4A0-CE4F-F13C920DDA85}"/>
              </a:ext>
            </a:extLst>
          </p:cNvPr>
          <p:cNvSpPr>
            <a:spLocks noGrp="1"/>
          </p:cNvSpPr>
          <p:nvPr>
            <p:ph type="sldNum" sz="quarter" idx="12"/>
          </p:nvPr>
        </p:nvSpPr>
        <p:spPr/>
        <p:txBody>
          <a:bodyPr/>
          <a:lstStyle/>
          <a:p>
            <a:fld id="{B67FBA2B-964F-4C4D-AAF7-5A8399264638}" type="slidenum">
              <a:rPr lang="en-US" smtClean="0"/>
              <a:pPr/>
              <a:t>33</a:t>
            </a:fld>
            <a:endParaRPr lang="en-US"/>
          </a:p>
        </p:txBody>
      </p:sp>
    </p:spTree>
    <p:extLst>
      <p:ext uri="{BB962C8B-B14F-4D97-AF65-F5344CB8AC3E}">
        <p14:creationId xmlns:p14="http://schemas.microsoft.com/office/powerpoint/2010/main" val="3833919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102884-EBC9-8BF3-7F5A-FB58536F4EF4}"/>
              </a:ext>
            </a:extLst>
          </p:cNvPr>
          <p:cNvSpPr>
            <a:spLocks noGrp="1"/>
          </p:cNvSpPr>
          <p:nvPr>
            <p:ph type="title"/>
          </p:nvPr>
        </p:nvSpPr>
        <p:spPr/>
        <p:txBody>
          <a:bodyPr/>
          <a:lstStyle/>
          <a:p>
            <a:r>
              <a:rPr lang="ru-RU" dirty="0"/>
              <a:t>Атомарные операции</a:t>
            </a:r>
          </a:p>
        </p:txBody>
      </p:sp>
      <p:sp>
        <p:nvSpPr>
          <p:cNvPr id="3" name="Объект 2">
            <a:extLst>
              <a:ext uri="{FF2B5EF4-FFF2-40B4-BE49-F238E27FC236}">
                <a16:creationId xmlns:a16="http://schemas.microsoft.com/office/drawing/2014/main" id="{8E0B5019-4F26-C583-D2E3-AA8FC7CEE42F}"/>
              </a:ext>
            </a:extLst>
          </p:cNvPr>
          <p:cNvSpPr>
            <a:spLocks noGrp="1"/>
          </p:cNvSpPr>
          <p:nvPr>
            <p:ph idx="1"/>
          </p:nvPr>
        </p:nvSpPr>
        <p:spPr>
          <a:xfrm>
            <a:off x="838200" y="1669907"/>
            <a:ext cx="10978116" cy="2890920"/>
          </a:xfrm>
        </p:spPr>
        <p:txBody>
          <a:bodyPr>
            <a:normAutofit lnSpcReduction="10000"/>
          </a:bodyPr>
          <a:lstStyle/>
          <a:p>
            <a:pPr marL="0" indent="0">
              <a:buNone/>
            </a:pPr>
            <a:r>
              <a:rPr lang="ru-RU" sz="2000" dirty="0"/>
              <a:t>Инструкции при декодировании могут разбиваться на несколько микроопераций, которые выполняются отдельно.</a:t>
            </a:r>
          </a:p>
          <a:p>
            <a:pPr marL="0" indent="0">
              <a:buNone/>
            </a:pPr>
            <a:r>
              <a:rPr lang="ru-RU" sz="2000" dirty="0"/>
              <a:t>Данный факт может влиять на корректность многопоточных программ, поскольку операции не являются атомарными.</a:t>
            </a:r>
          </a:p>
          <a:p>
            <a:pPr marL="0" indent="0">
              <a:buNone/>
            </a:pPr>
            <a:r>
              <a:rPr lang="ru-RU" sz="2000" dirty="0"/>
              <a:t>Операция является </a:t>
            </a:r>
            <a:r>
              <a:rPr lang="ru-RU" sz="2000" b="1" dirty="0"/>
              <a:t>атомарной</a:t>
            </a:r>
            <a:r>
              <a:rPr lang="ru-RU" sz="2000" dirty="0"/>
              <a:t>, если сторонний наблюдатель (в т.ч. другое ядро</a:t>
            </a:r>
            <a:r>
              <a:rPr lang="en-US" sz="2000" dirty="0"/>
              <a:t>) </a:t>
            </a:r>
            <a:r>
              <a:rPr lang="ru-RU" sz="2000" dirty="0"/>
              <a:t>не может получить доступа к данным, над которыми операция выполняется в данный момент (т.е. начата, но не завершена).</a:t>
            </a:r>
          </a:p>
          <a:p>
            <a:pPr marL="0" indent="0">
              <a:buNone/>
            </a:pPr>
            <a:r>
              <a:rPr lang="ru-RU" sz="2000" dirty="0"/>
              <a:t>Операции чтения и записи выровненных значений  размером не более 8 байт всегда </a:t>
            </a:r>
            <a:r>
              <a:rPr lang="ru-RU" sz="2000" dirty="0" err="1"/>
              <a:t>атомарны</a:t>
            </a:r>
            <a:r>
              <a:rPr lang="ru-RU" sz="2000" dirty="0"/>
              <a:t> в х86-64.</a:t>
            </a:r>
          </a:p>
          <a:p>
            <a:pPr marL="0" indent="0">
              <a:buNone/>
            </a:pPr>
            <a:endParaRPr lang="ru-RU" sz="2000" dirty="0"/>
          </a:p>
        </p:txBody>
      </p:sp>
      <p:sp>
        <p:nvSpPr>
          <p:cNvPr id="5" name="Номер слайда 4">
            <a:extLst>
              <a:ext uri="{FF2B5EF4-FFF2-40B4-BE49-F238E27FC236}">
                <a16:creationId xmlns:a16="http://schemas.microsoft.com/office/drawing/2014/main" id="{5A791534-0AAB-1E62-08AD-5D638F32BF39}"/>
              </a:ext>
            </a:extLst>
          </p:cNvPr>
          <p:cNvSpPr>
            <a:spLocks noGrp="1"/>
          </p:cNvSpPr>
          <p:nvPr>
            <p:ph type="sldNum" sz="quarter" idx="12"/>
          </p:nvPr>
        </p:nvSpPr>
        <p:spPr/>
        <p:txBody>
          <a:bodyPr/>
          <a:lstStyle/>
          <a:p>
            <a:fld id="{B67FBA2B-964F-4C4D-AAF7-5A8399264638}" type="slidenum">
              <a:rPr lang="en-US" smtClean="0"/>
              <a:pPr/>
              <a:t>34</a:t>
            </a:fld>
            <a:endParaRPr lang="en-US"/>
          </a:p>
        </p:txBody>
      </p:sp>
      <p:cxnSp>
        <p:nvCxnSpPr>
          <p:cNvPr id="4" name="Прямая со стрелкой 3">
            <a:extLst>
              <a:ext uri="{FF2B5EF4-FFF2-40B4-BE49-F238E27FC236}">
                <a16:creationId xmlns:a16="http://schemas.microsoft.com/office/drawing/2014/main" id="{6A5A2D61-8AC4-132F-9190-D2AE541579AD}"/>
              </a:ext>
            </a:extLst>
          </p:cNvPr>
          <p:cNvCxnSpPr>
            <a:cxnSpLocks/>
          </p:cNvCxnSpPr>
          <p:nvPr/>
        </p:nvCxnSpPr>
        <p:spPr>
          <a:xfrm>
            <a:off x="10583599" y="4863880"/>
            <a:ext cx="0" cy="1643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3C87F181-E908-48E0-FEE9-F274347EF256}"/>
              </a:ext>
            </a:extLst>
          </p:cNvPr>
          <p:cNvSpPr txBox="1"/>
          <p:nvPr/>
        </p:nvSpPr>
        <p:spPr>
          <a:xfrm>
            <a:off x="10615633" y="5452491"/>
            <a:ext cx="261610" cy="369332"/>
          </a:xfrm>
          <a:prstGeom prst="rect">
            <a:avLst/>
          </a:prstGeom>
          <a:noFill/>
        </p:spPr>
        <p:txBody>
          <a:bodyPr wrap="none" rtlCol="0">
            <a:spAutoFit/>
          </a:bodyPr>
          <a:lstStyle/>
          <a:p>
            <a:r>
              <a:rPr lang="en-US" dirty="0"/>
              <a:t>t</a:t>
            </a:r>
          </a:p>
        </p:txBody>
      </p:sp>
      <p:cxnSp>
        <p:nvCxnSpPr>
          <p:cNvPr id="19" name="Прямая соединительная линия 18">
            <a:extLst>
              <a:ext uri="{FF2B5EF4-FFF2-40B4-BE49-F238E27FC236}">
                <a16:creationId xmlns:a16="http://schemas.microsoft.com/office/drawing/2014/main" id="{AB2EA85C-F51B-1846-9E48-2A0A3123918A}"/>
              </a:ext>
            </a:extLst>
          </p:cNvPr>
          <p:cNvCxnSpPr/>
          <p:nvPr/>
        </p:nvCxnSpPr>
        <p:spPr>
          <a:xfrm>
            <a:off x="6683200" y="5685763"/>
            <a:ext cx="3408622"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6801D86F-19B4-2B57-7C61-9FBAEC1DB809}"/>
              </a:ext>
            </a:extLst>
          </p:cNvPr>
          <p:cNvSpPr txBox="1"/>
          <p:nvPr/>
        </p:nvSpPr>
        <p:spPr>
          <a:xfrm>
            <a:off x="6200965" y="5042552"/>
            <a:ext cx="2833577" cy="1015663"/>
          </a:xfrm>
          <a:prstGeom prst="rect">
            <a:avLst/>
          </a:prstGeom>
          <a:noFill/>
        </p:spPr>
        <p:txBody>
          <a:bodyPr wrap="square">
            <a:spAutoFit/>
          </a:bodyPr>
          <a:lstStyle/>
          <a:p>
            <a:pPr marL="0" indent="0">
              <a:buNone/>
            </a:pPr>
            <a:r>
              <a:rPr lang="en-US" sz="2000" dirty="0">
                <a:solidFill>
                  <a:srgbClr val="000000"/>
                </a:solidFill>
                <a:latin typeface="Courier New" panose="02070309020205020404" pitchFamily="49" charset="0"/>
                <a:cs typeface="Courier New" panose="02070309020205020404" pitchFamily="49" charset="0"/>
              </a:rPr>
              <a:t>mov </a:t>
            </a:r>
            <a:r>
              <a:rPr lang="en-US" sz="2000" dirty="0" err="1">
                <a:solidFill>
                  <a:srgbClr val="000000"/>
                </a:solidFill>
                <a:latin typeface="Courier New" panose="02070309020205020404" pitchFamily="49" charset="0"/>
                <a:cs typeface="Courier New" panose="02070309020205020404" pitchFamily="49" charset="0"/>
              </a:rPr>
              <a:t>eax</a:t>
            </a:r>
            <a:r>
              <a:rPr lang="en-US" sz="2000" dirty="0">
                <a:solidFill>
                  <a:srgbClr val="000000"/>
                </a:solidFill>
                <a:latin typeface="Courier New" panose="02070309020205020404" pitchFamily="49" charset="0"/>
                <a:cs typeface="Courier New" panose="02070309020205020404" pitchFamily="49" charset="0"/>
              </a:rPr>
              <a:t>,[x]</a:t>
            </a:r>
          </a:p>
          <a:p>
            <a:pPr marL="0" indent="0">
              <a:buNone/>
            </a:pPr>
            <a:r>
              <a:rPr lang="en-US" sz="2000" dirty="0" err="1">
                <a:solidFill>
                  <a:srgbClr val="000000"/>
                </a:solidFill>
                <a:latin typeface="Courier New" panose="02070309020205020404" pitchFamily="49" charset="0"/>
                <a:cs typeface="Courier New" panose="02070309020205020404" pitchFamily="49" charset="0"/>
              </a:rPr>
              <a:t>inc</a:t>
            </a:r>
            <a:r>
              <a:rPr lang="en-US" sz="2000" dirty="0">
                <a:solidFill>
                  <a:srgbClr val="000000"/>
                </a:solidFill>
                <a:latin typeface="Courier New" panose="02070309020205020404" pitchFamily="49" charset="0"/>
                <a:cs typeface="Courier New" panose="02070309020205020404" pitchFamily="49" charset="0"/>
              </a:rPr>
              <a:t> </a:t>
            </a:r>
            <a:r>
              <a:rPr lang="en-US" sz="2000" dirty="0" err="1">
                <a:solidFill>
                  <a:srgbClr val="000000"/>
                </a:solidFill>
                <a:latin typeface="Courier New" panose="02070309020205020404" pitchFamily="49" charset="0"/>
                <a:cs typeface="Courier New" panose="02070309020205020404" pitchFamily="49" charset="0"/>
              </a:rPr>
              <a:t>eax</a:t>
            </a: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r>
              <a:rPr lang="en-US" sz="2000" dirty="0">
                <a:solidFill>
                  <a:srgbClr val="000000"/>
                </a:solidFill>
                <a:latin typeface="Courier New" panose="02070309020205020404" pitchFamily="49" charset="0"/>
                <a:cs typeface="Courier New" panose="02070309020205020404" pitchFamily="49" charset="0"/>
              </a:rPr>
              <a:t>mov [x], </a:t>
            </a:r>
            <a:r>
              <a:rPr lang="en-US" sz="2000" dirty="0" err="1">
                <a:solidFill>
                  <a:srgbClr val="000000"/>
                </a:solidFill>
                <a:latin typeface="Courier New" panose="02070309020205020404" pitchFamily="49" charset="0"/>
                <a:cs typeface="Courier New" panose="02070309020205020404" pitchFamily="49" charset="0"/>
              </a:rPr>
              <a:t>eax</a:t>
            </a:r>
            <a:endParaRPr lang="en-US" sz="2000" dirty="0">
              <a:solidFill>
                <a:srgbClr val="000000"/>
              </a:solidFill>
              <a:latin typeface="Courier New" panose="02070309020205020404" pitchFamily="49" charset="0"/>
              <a:cs typeface="Courier New" panose="02070309020205020404" pitchFamily="49" charset="0"/>
            </a:endParaRPr>
          </a:p>
        </p:txBody>
      </p:sp>
      <p:sp>
        <p:nvSpPr>
          <p:cNvPr id="21" name="TextBox 20">
            <a:extLst>
              <a:ext uri="{FF2B5EF4-FFF2-40B4-BE49-F238E27FC236}">
                <a16:creationId xmlns:a16="http://schemas.microsoft.com/office/drawing/2014/main" id="{83E10B17-8F28-836C-B7F6-996F3A1F8A51}"/>
              </a:ext>
            </a:extLst>
          </p:cNvPr>
          <p:cNvSpPr txBox="1"/>
          <p:nvPr/>
        </p:nvSpPr>
        <p:spPr>
          <a:xfrm>
            <a:off x="8344786" y="5340669"/>
            <a:ext cx="2014692" cy="1015663"/>
          </a:xfrm>
          <a:prstGeom prst="rect">
            <a:avLst/>
          </a:prstGeom>
          <a:noFill/>
        </p:spPr>
        <p:txBody>
          <a:bodyPr wrap="square">
            <a:spAutoFit/>
          </a:bodyPr>
          <a:lstStyle/>
          <a:p>
            <a:pPr marL="0" indent="0">
              <a:buNone/>
            </a:pPr>
            <a:r>
              <a:rPr lang="en-US" sz="2000" dirty="0">
                <a:solidFill>
                  <a:srgbClr val="000000"/>
                </a:solidFill>
                <a:latin typeface="Courier New" panose="02070309020205020404" pitchFamily="49" charset="0"/>
                <a:cs typeface="Courier New" panose="02070309020205020404" pitchFamily="49" charset="0"/>
              </a:rPr>
              <a:t>mov </a:t>
            </a:r>
            <a:r>
              <a:rPr lang="en-US" sz="2000" dirty="0" err="1">
                <a:solidFill>
                  <a:srgbClr val="000000"/>
                </a:solidFill>
                <a:latin typeface="Courier New" panose="02070309020205020404" pitchFamily="49" charset="0"/>
                <a:cs typeface="Courier New" panose="02070309020205020404" pitchFamily="49" charset="0"/>
              </a:rPr>
              <a:t>eax</a:t>
            </a:r>
            <a:r>
              <a:rPr lang="en-US" sz="2000" dirty="0">
                <a:solidFill>
                  <a:srgbClr val="000000"/>
                </a:solidFill>
                <a:latin typeface="Courier New" panose="02070309020205020404" pitchFamily="49" charset="0"/>
                <a:cs typeface="Courier New" panose="02070309020205020404" pitchFamily="49" charset="0"/>
              </a:rPr>
              <a:t>,[x]</a:t>
            </a:r>
          </a:p>
          <a:p>
            <a:pPr marL="0" indent="0">
              <a:buNone/>
            </a:pPr>
            <a:r>
              <a:rPr lang="en-US" sz="2000" dirty="0">
                <a:solidFill>
                  <a:srgbClr val="000000"/>
                </a:solidFill>
                <a:latin typeface="Courier New" panose="02070309020205020404" pitchFamily="49" charset="0"/>
                <a:cs typeface="Courier New" panose="02070309020205020404" pitchFamily="49" charset="0"/>
              </a:rPr>
              <a:t>add eax,2</a:t>
            </a:r>
          </a:p>
          <a:p>
            <a:pPr marL="0" indent="0">
              <a:buNone/>
            </a:pPr>
            <a:r>
              <a:rPr lang="en-US" sz="2000" dirty="0">
                <a:solidFill>
                  <a:srgbClr val="000000"/>
                </a:solidFill>
                <a:latin typeface="Courier New" panose="02070309020205020404" pitchFamily="49" charset="0"/>
                <a:cs typeface="Courier New" panose="02070309020205020404" pitchFamily="49" charset="0"/>
              </a:rPr>
              <a:t>mov [x], </a:t>
            </a:r>
            <a:r>
              <a:rPr lang="en-US" sz="2000" dirty="0" err="1">
                <a:solidFill>
                  <a:srgbClr val="000000"/>
                </a:solidFill>
                <a:latin typeface="Courier New" panose="02070309020205020404" pitchFamily="49" charset="0"/>
                <a:cs typeface="Courier New" panose="02070309020205020404" pitchFamily="49" charset="0"/>
              </a:rPr>
              <a:t>eax</a:t>
            </a:r>
            <a:endParaRPr lang="en-US" sz="2000" dirty="0">
              <a:solidFill>
                <a:srgbClr val="000000"/>
              </a:solidFill>
              <a:latin typeface="Courier New" panose="02070309020205020404" pitchFamily="49" charset="0"/>
              <a:cs typeface="Courier New" panose="02070309020205020404" pitchFamily="49" charset="0"/>
            </a:endParaRPr>
          </a:p>
        </p:txBody>
      </p:sp>
      <p:cxnSp>
        <p:nvCxnSpPr>
          <p:cNvPr id="22" name="Прямая соединительная линия 21">
            <a:extLst>
              <a:ext uri="{FF2B5EF4-FFF2-40B4-BE49-F238E27FC236}">
                <a16:creationId xmlns:a16="http://schemas.microsoft.com/office/drawing/2014/main" id="{48EB735F-E738-1907-6C68-CE5C2D4F29CF}"/>
              </a:ext>
            </a:extLst>
          </p:cNvPr>
          <p:cNvCxnSpPr>
            <a:cxnSpLocks/>
          </p:cNvCxnSpPr>
          <p:nvPr/>
        </p:nvCxnSpPr>
        <p:spPr>
          <a:xfrm>
            <a:off x="8280221" y="5069114"/>
            <a:ext cx="0" cy="1470827"/>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19E29ECD-3E00-7DA5-BD2C-AA6719CEA25E}"/>
              </a:ext>
            </a:extLst>
          </p:cNvPr>
          <p:cNvSpPr txBox="1"/>
          <p:nvPr/>
        </p:nvSpPr>
        <p:spPr>
          <a:xfrm>
            <a:off x="8858302" y="4712930"/>
            <a:ext cx="854721" cy="369332"/>
          </a:xfrm>
          <a:prstGeom prst="rect">
            <a:avLst/>
          </a:prstGeom>
          <a:noFill/>
        </p:spPr>
        <p:txBody>
          <a:bodyPr wrap="none" rtlCol="0">
            <a:spAutoFit/>
          </a:bodyPr>
          <a:lstStyle/>
          <a:p>
            <a:r>
              <a:rPr lang="ru-RU" dirty="0"/>
              <a:t>Ядро 2</a:t>
            </a:r>
          </a:p>
        </p:txBody>
      </p:sp>
      <p:sp>
        <p:nvSpPr>
          <p:cNvPr id="24" name="TextBox 23">
            <a:extLst>
              <a:ext uri="{FF2B5EF4-FFF2-40B4-BE49-F238E27FC236}">
                <a16:creationId xmlns:a16="http://schemas.microsoft.com/office/drawing/2014/main" id="{85DC4565-D6CF-B713-A255-19D3E93E33A2}"/>
              </a:ext>
            </a:extLst>
          </p:cNvPr>
          <p:cNvSpPr txBox="1"/>
          <p:nvPr/>
        </p:nvSpPr>
        <p:spPr>
          <a:xfrm>
            <a:off x="6740508" y="4676173"/>
            <a:ext cx="854721" cy="369332"/>
          </a:xfrm>
          <a:prstGeom prst="rect">
            <a:avLst/>
          </a:prstGeom>
          <a:noFill/>
        </p:spPr>
        <p:txBody>
          <a:bodyPr wrap="none" rtlCol="0">
            <a:spAutoFit/>
          </a:bodyPr>
          <a:lstStyle/>
          <a:p>
            <a:r>
              <a:rPr lang="ru-RU" dirty="0"/>
              <a:t>Ядро 1</a:t>
            </a:r>
          </a:p>
        </p:txBody>
      </p:sp>
      <p:sp>
        <p:nvSpPr>
          <p:cNvPr id="26" name="TextBox 25">
            <a:extLst>
              <a:ext uri="{FF2B5EF4-FFF2-40B4-BE49-F238E27FC236}">
                <a16:creationId xmlns:a16="http://schemas.microsoft.com/office/drawing/2014/main" id="{F2150654-95FE-F72F-EE37-1CEDE1B1CB7D}"/>
              </a:ext>
            </a:extLst>
          </p:cNvPr>
          <p:cNvSpPr txBox="1"/>
          <p:nvPr/>
        </p:nvSpPr>
        <p:spPr>
          <a:xfrm>
            <a:off x="2902423" y="5209856"/>
            <a:ext cx="854721" cy="369332"/>
          </a:xfrm>
          <a:prstGeom prst="rect">
            <a:avLst/>
          </a:prstGeom>
          <a:noFill/>
        </p:spPr>
        <p:txBody>
          <a:bodyPr wrap="none" rtlCol="0">
            <a:spAutoFit/>
          </a:bodyPr>
          <a:lstStyle/>
          <a:p>
            <a:r>
              <a:rPr lang="ru-RU" dirty="0"/>
              <a:t>Ядро 2</a:t>
            </a:r>
          </a:p>
        </p:txBody>
      </p:sp>
      <p:sp>
        <p:nvSpPr>
          <p:cNvPr id="27" name="TextBox 26">
            <a:extLst>
              <a:ext uri="{FF2B5EF4-FFF2-40B4-BE49-F238E27FC236}">
                <a16:creationId xmlns:a16="http://schemas.microsoft.com/office/drawing/2014/main" id="{9555F9AC-F132-38E7-88F1-7CDFB8D67FA2}"/>
              </a:ext>
            </a:extLst>
          </p:cNvPr>
          <p:cNvSpPr txBox="1"/>
          <p:nvPr/>
        </p:nvSpPr>
        <p:spPr>
          <a:xfrm>
            <a:off x="686357" y="5209856"/>
            <a:ext cx="854721" cy="369332"/>
          </a:xfrm>
          <a:prstGeom prst="rect">
            <a:avLst/>
          </a:prstGeom>
          <a:noFill/>
        </p:spPr>
        <p:txBody>
          <a:bodyPr wrap="none" rtlCol="0">
            <a:spAutoFit/>
          </a:bodyPr>
          <a:lstStyle/>
          <a:p>
            <a:r>
              <a:rPr lang="ru-RU" dirty="0"/>
              <a:t>Ядро 1</a:t>
            </a:r>
          </a:p>
        </p:txBody>
      </p:sp>
      <p:sp>
        <p:nvSpPr>
          <p:cNvPr id="28" name="TextBox 27">
            <a:extLst>
              <a:ext uri="{FF2B5EF4-FFF2-40B4-BE49-F238E27FC236}">
                <a16:creationId xmlns:a16="http://schemas.microsoft.com/office/drawing/2014/main" id="{34F41393-9010-4FE3-2C42-AD5789BF3255}"/>
              </a:ext>
            </a:extLst>
          </p:cNvPr>
          <p:cNvSpPr txBox="1"/>
          <p:nvPr/>
        </p:nvSpPr>
        <p:spPr>
          <a:xfrm>
            <a:off x="1931837" y="4714187"/>
            <a:ext cx="643125" cy="369332"/>
          </a:xfrm>
          <a:prstGeom prst="rect">
            <a:avLst/>
          </a:prstGeom>
          <a:noFill/>
        </p:spPr>
        <p:txBody>
          <a:bodyPr wrap="none" rtlCol="0">
            <a:spAutoFit/>
          </a:bodyPr>
          <a:lstStyle/>
          <a:p>
            <a:r>
              <a:rPr lang="en-US" dirty="0"/>
              <a:t>X = 0</a:t>
            </a:r>
            <a:endParaRPr lang="ru-RU" dirty="0"/>
          </a:p>
        </p:txBody>
      </p:sp>
      <p:sp>
        <p:nvSpPr>
          <p:cNvPr id="30" name="TextBox 29">
            <a:extLst>
              <a:ext uri="{FF2B5EF4-FFF2-40B4-BE49-F238E27FC236}">
                <a16:creationId xmlns:a16="http://schemas.microsoft.com/office/drawing/2014/main" id="{7B15405E-3FD1-B5A4-C762-D287038849E1}"/>
              </a:ext>
            </a:extLst>
          </p:cNvPr>
          <p:cNvSpPr txBox="1"/>
          <p:nvPr/>
        </p:nvSpPr>
        <p:spPr>
          <a:xfrm>
            <a:off x="176695" y="5581398"/>
            <a:ext cx="1948975" cy="369332"/>
          </a:xfrm>
          <a:prstGeom prst="rect">
            <a:avLst/>
          </a:prstGeom>
          <a:noFill/>
        </p:spPr>
        <p:txBody>
          <a:bodyPr wrap="square">
            <a:spAutoFit/>
          </a:bodyPr>
          <a:lstStyle/>
          <a:p>
            <a:pPr marL="0" indent="0">
              <a:buNone/>
            </a:pPr>
            <a:r>
              <a:rPr lang="en-US" sz="1800" dirty="0" err="1">
                <a:solidFill>
                  <a:srgbClr val="000000"/>
                </a:solidFill>
                <a:latin typeface="Courier New" panose="02070309020205020404" pitchFamily="49" charset="0"/>
                <a:cs typeface="Courier New" panose="02070309020205020404" pitchFamily="49" charset="0"/>
              </a:rPr>
              <a:t>inc</a:t>
            </a:r>
            <a:r>
              <a:rPr lang="en-US" sz="1800" dirty="0">
                <a:solidFill>
                  <a:srgbClr val="000000"/>
                </a:solidFill>
                <a:latin typeface="Courier New" panose="02070309020205020404" pitchFamily="49" charset="0"/>
                <a:cs typeface="Courier New" panose="02070309020205020404" pitchFamily="49" charset="0"/>
              </a:rPr>
              <a:t> </a:t>
            </a:r>
            <a:r>
              <a:rPr lang="en-US" dirty="0" err="1">
                <a:solidFill>
                  <a:srgbClr val="000000"/>
                </a:solidFill>
                <a:latin typeface="Courier New" panose="02070309020205020404" pitchFamily="49" charset="0"/>
                <a:cs typeface="Courier New" panose="02070309020205020404" pitchFamily="49" charset="0"/>
              </a:rPr>
              <a:t>dword</a:t>
            </a:r>
            <a:r>
              <a:rPr lang="en-US" dirty="0">
                <a:solidFill>
                  <a:srgbClr val="000000"/>
                </a:solidFill>
                <a:latin typeface="Courier New" panose="02070309020205020404" pitchFamily="49" charset="0"/>
                <a:cs typeface="Courier New" panose="02070309020205020404" pitchFamily="49" charset="0"/>
              </a:rPr>
              <a:t>[x]</a:t>
            </a:r>
            <a:endParaRPr lang="en-US" sz="1800" dirty="0">
              <a:solidFill>
                <a:srgbClr val="000000"/>
              </a:solidFill>
              <a:latin typeface="Courier New" panose="02070309020205020404" pitchFamily="49" charset="0"/>
              <a:cs typeface="Courier New" panose="02070309020205020404" pitchFamily="49" charset="0"/>
            </a:endParaRPr>
          </a:p>
        </p:txBody>
      </p:sp>
      <p:sp>
        <p:nvSpPr>
          <p:cNvPr id="31" name="TextBox 30">
            <a:extLst>
              <a:ext uri="{FF2B5EF4-FFF2-40B4-BE49-F238E27FC236}">
                <a16:creationId xmlns:a16="http://schemas.microsoft.com/office/drawing/2014/main" id="{ED54FB88-DB2C-F28E-BB17-5B177C7A8EA0}"/>
              </a:ext>
            </a:extLst>
          </p:cNvPr>
          <p:cNvSpPr txBox="1"/>
          <p:nvPr/>
        </p:nvSpPr>
        <p:spPr>
          <a:xfrm>
            <a:off x="2331534" y="5619861"/>
            <a:ext cx="2360202" cy="369332"/>
          </a:xfrm>
          <a:prstGeom prst="rect">
            <a:avLst/>
          </a:prstGeom>
          <a:noFill/>
        </p:spPr>
        <p:txBody>
          <a:bodyPr wrap="square">
            <a:spAutoFit/>
          </a:bodyPr>
          <a:lstStyle/>
          <a:p>
            <a:pPr marL="0" indent="0">
              <a:buNone/>
            </a:pPr>
            <a:r>
              <a:rPr lang="en-US" sz="1800" dirty="0">
                <a:solidFill>
                  <a:srgbClr val="000000"/>
                </a:solidFill>
                <a:latin typeface="Courier New" panose="02070309020205020404" pitchFamily="49" charset="0"/>
                <a:cs typeface="Courier New" panose="02070309020205020404" pitchFamily="49" charset="0"/>
              </a:rPr>
              <a:t>add </a:t>
            </a:r>
            <a:r>
              <a:rPr lang="en-US" sz="1800" dirty="0" err="1">
                <a:solidFill>
                  <a:srgbClr val="000000"/>
                </a:solidFill>
                <a:latin typeface="Courier New" panose="02070309020205020404" pitchFamily="49" charset="0"/>
                <a:cs typeface="Courier New" panose="02070309020205020404" pitchFamily="49" charset="0"/>
              </a:rPr>
              <a:t>dword</a:t>
            </a:r>
            <a:r>
              <a:rPr lang="en-US" dirty="0">
                <a:solidFill>
                  <a:srgbClr val="000000"/>
                </a:solidFill>
                <a:latin typeface="Courier New" panose="02070309020205020404" pitchFamily="49" charset="0"/>
                <a:cs typeface="Courier New" panose="02070309020205020404" pitchFamily="49" charset="0"/>
              </a:rPr>
              <a:t>[x], 2</a:t>
            </a:r>
            <a:endParaRPr lang="en-US" sz="1800" dirty="0">
              <a:solidFill>
                <a:srgbClr val="000000"/>
              </a:solidFill>
              <a:latin typeface="Courier New" panose="02070309020205020404" pitchFamily="49" charset="0"/>
              <a:cs typeface="Courier New" panose="02070309020205020404" pitchFamily="49" charset="0"/>
            </a:endParaRPr>
          </a:p>
        </p:txBody>
      </p:sp>
      <p:sp>
        <p:nvSpPr>
          <p:cNvPr id="32" name="TextBox 31">
            <a:extLst>
              <a:ext uri="{FF2B5EF4-FFF2-40B4-BE49-F238E27FC236}">
                <a16:creationId xmlns:a16="http://schemas.microsoft.com/office/drawing/2014/main" id="{B6A66186-9716-1019-5233-34BC7AE39E86}"/>
              </a:ext>
            </a:extLst>
          </p:cNvPr>
          <p:cNvSpPr txBox="1"/>
          <p:nvPr/>
        </p:nvSpPr>
        <p:spPr>
          <a:xfrm>
            <a:off x="1931836" y="6171666"/>
            <a:ext cx="643125" cy="369332"/>
          </a:xfrm>
          <a:prstGeom prst="rect">
            <a:avLst/>
          </a:prstGeom>
          <a:noFill/>
        </p:spPr>
        <p:txBody>
          <a:bodyPr wrap="none" rtlCol="0">
            <a:spAutoFit/>
          </a:bodyPr>
          <a:lstStyle/>
          <a:p>
            <a:r>
              <a:rPr lang="en-US" dirty="0">
                <a:solidFill>
                  <a:srgbClr val="FF0000"/>
                </a:solidFill>
              </a:rPr>
              <a:t>X = 2</a:t>
            </a:r>
            <a:endParaRPr lang="ru-RU" dirty="0">
              <a:solidFill>
                <a:srgbClr val="FF0000"/>
              </a:solidFill>
            </a:endParaRPr>
          </a:p>
        </p:txBody>
      </p:sp>
      <p:sp>
        <p:nvSpPr>
          <p:cNvPr id="33" name="TextBox 32">
            <a:extLst>
              <a:ext uri="{FF2B5EF4-FFF2-40B4-BE49-F238E27FC236}">
                <a16:creationId xmlns:a16="http://schemas.microsoft.com/office/drawing/2014/main" id="{C4CACFF6-DE83-0EB5-04C0-4F0C7668F155}"/>
              </a:ext>
            </a:extLst>
          </p:cNvPr>
          <p:cNvSpPr txBox="1"/>
          <p:nvPr/>
        </p:nvSpPr>
        <p:spPr>
          <a:xfrm>
            <a:off x="2905339" y="6176448"/>
            <a:ext cx="914738" cy="369332"/>
          </a:xfrm>
          <a:prstGeom prst="rect">
            <a:avLst/>
          </a:prstGeom>
          <a:noFill/>
        </p:spPr>
        <p:txBody>
          <a:bodyPr wrap="none" rtlCol="0">
            <a:spAutoFit/>
          </a:bodyPr>
          <a:lstStyle/>
          <a:p>
            <a:r>
              <a:rPr lang="en-US" i="1" dirty="0"/>
              <a:t>how???</a:t>
            </a:r>
            <a:endParaRPr lang="ru-RU" i="1" dirty="0"/>
          </a:p>
        </p:txBody>
      </p:sp>
      <p:cxnSp>
        <p:nvCxnSpPr>
          <p:cNvPr id="34" name="Прямая соединительная линия 33">
            <a:extLst>
              <a:ext uri="{FF2B5EF4-FFF2-40B4-BE49-F238E27FC236}">
                <a16:creationId xmlns:a16="http://schemas.microsoft.com/office/drawing/2014/main" id="{051642D7-6B06-8DBA-6414-E7B42FB43E00}"/>
              </a:ext>
            </a:extLst>
          </p:cNvPr>
          <p:cNvCxnSpPr>
            <a:cxnSpLocks/>
          </p:cNvCxnSpPr>
          <p:nvPr/>
        </p:nvCxnSpPr>
        <p:spPr>
          <a:xfrm>
            <a:off x="2125670" y="5111436"/>
            <a:ext cx="0" cy="1075940"/>
          </a:xfrm>
          <a:prstGeom prst="line">
            <a:avLst/>
          </a:prstGeom>
          <a:ln>
            <a:prstDash val="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954546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8647C3-2DB7-A360-4FFF-AECB1284F1D1}"/>
              </a:ext>
            </a:extLst>
          </p:cNvPr>
          <p:cNvSpPr>
            <a:spLocks noGrp="1"/>
          </p:cNvSpPr>
          <p:nvPr>
            <p:ph type="title"/>
          </p:nvPr>
        </p:nvSpPr>
        <p:spPr/>
        <p:txBody>
          <a:bodyPr/>
          <a:lstStyle/>
          <a:p>
            <a:r>
              <a:rPr lang="ru-RU" dirty="0"/>
              <a:t>Префикс </a:t>
            </a:r>
            <a:r>
              <a:rPr lang="en-US" dirty="0"/>
              <a:t>LOCK</a:t>
            </a:r>
            <a:r>
              <a:rPr lang="ru-RU" dirty="0"/>
              <a:t> </a:t>
            </a:r>
            <a:r>
              <a:rPr kumimoji="0" lang="ru-RU" sz="2400" b="0" i="0" u="none" strike="noStrike" kern="1200" cap="none" spc="0" normalizeH="0" baseline="0" noProof="0" dirty="0">
                <a:ln>
                  <a:noFill/>
                </a:ln>
                <a:solidFill>
                  <a:prstClr val="black"/>
                </a:solidFill>
                <a:effectLst/>
                <a:uLnTx/>
                <a:uFillTx/>
                <a:latin typeface="Calibri Light" panose="020F0302020204030204"/>
                <a:ea typeface="+mj-ea"/>
                <a:cs typeface="+mj-cs"/>
              </a:rPr>
              <a:t>(пример)</a:t>
            </a:r>
            <a:endParaRPr lang="ru-RU" dirty="0"/>
          </a:p>
        </p:txBody>
      </p:sp>
      <p:sp>
        <p:nvSpPr>
          <p:cNvPr id="3" name="Объект 2">
            <a:extLst>
              <a:ext uri="{FF2B5EF4-FFF2-40B4-BE49-F238E27FC236}">
                <a16:creationId xmlns:a16="http://schemas.microsoft.com/office/drawing/2014/main" id="{8B9F6F15-4637-00B4-3F55-8A6DD32A60BD}"/>
              </a:ext>
            </a:extLst>
          </p:cNvPr>
          <p:cNvSpPr>
            <a:spLocks noGrp="1"/>
          </p:cNvSpPr>
          <p:nvPr>
            <p:ph idx="1"/>
          </p:nvPr>
        </p:nvSpPr>
        <p:spPr>
          <a:xfrm>
            <a:off x="838200" y="1338073"/>
            <a:ext cx="10744200" cy="4351338"/>
          </a:xfrm>
        </p:spPr>
        <p:txBody>
          <a:bodyPr>
            <a:normAutofit/>
          </a:bodyPr>
          <a:lstStyle/>
          <a:p>
            <a:pPr marL="0" indent="0">
              <a:buNone/>
            </a:pPr>
            <a:r>
              <a:rPr lang="ru-RU" sz="2000" dirty="0"/>
              <a:t>Для выполнения атомарных операций используется префикс </a:t>
            </a:r>
            <a:r>
              <a:rPr lang="en-US" sz="2000" dirty="0">
                <a:latin typeface="Courier New" panose="02070309020205020404" pitchFamily="49" charset="0"/>
                <a:cs typeface="Courier New" panose="02070309020205020404" pitchFamily="49" charset="0"/>
              </a:rPr>
              <a:t>LOCK</a:t>
            </a:r>
            <a:r>
              <a:rPr lang="en-US" sz="2000" dirty="0"/>
              <a:t>.</a:t>
            </a:r>
            <a:r>
              <a:rPr lang="ru-RU" sz="2000" dirty="0"/>
              <a:t> Данный префикс может быть использован не со всеми инструкциями*.</a:t>
            </a:r>
            <a:endParaRPr lang="en-US" sz="2000" dirty="0"/>
          </a:p>
          <a:p>
            <a:pPr marL="0" indent="0">
              <a:buNone/>
            </a:pPr>
            <a:r>
              <a:rPr lang="ru-RU" sz="2000" dirty="0"/>
              <a:t>При использовании данного префикса область памяти, над которой выполняется операция, блокируется на время ее выполнения. </a:t>
            </a:r>
          </a:p>
          <a:p>
            <a:pPr marL="0" indent="0">
              <a:buNone/>
            </a:pPr>
            <a:r>
              <a:rPr lang="ru-RU" sz="2000" dirty="0"/>
              <a:t>Операции с префиксом </a:t>
            </a:r>
            <a:r>
              <a:rPr lang="en-US" sz="2000" dirty="0">
                <a:latin typeface="Courier New" panose="02070309020205020404" pitchFamily="49" charset="0"/>
                <a:cs typeface="Courier New" panose="02070309020205020404" pitchFamily="49" charset="0"/>
              </a:rPr>
              <a:t>LOCK</a:t>
            </a:r>
            <a:r>
              <a:rPr lang="en-US" sz="2000" dirty="0"/>
              <a:t> </a:t>
            </a:r>
            <a:r>
              <a:rPr lang="ru-RU" sz="2000" dirty="0"/>
              <a:t>являются неявными барьерами памяти – все операции чтения-записи не могут быть переупорядочены через </a:t>
            </a:r>
            <a:r>
              <a:rPr lang="en-US" sz="2000" dirty="0">
                <a:latin typeface="Courier New" panose="02070309020205020404" pitchFamily="49" charset="0"/>
                <a:cs typeface="Courier New" panose="02070309020205020404" pitchFamily="49" charset="0"/>
              </a:rPr>
              <a:t>LOCK</a:t>
            </a:r>
            <a:r>
              <a:rPr lang="en-US" sz="2000" dirty="0"/>
              <a:t>.</a:t>
            </a:r>
          </a:p>
        </p:txBody>
      </p:sp>
      <p:sp>
        <p:nvSpPr>
          <p:cNvPr id="4" name="Номер слайда 3">
            <a:extLst>
              <a:ext uri="{FF2B5EF4-FFF2-40B4-BE49-F238E27FC236}">
                <a16:creationId xmlns:a16="http://schemas.microsoft.com/office/drawing/2014/main" id="{69645B81-3609-86C2-EE2F-75A8EAD989DD}"/>
              </a:ext>
            </a:extLst>
          </p:cNvPr>
          <p:cNvSpPr>
            <a:spLocks noGrp="1"/>
          </p:cNvSpPr>
          <p:nvPr>
            <p:ph type="sldNum" sz="quarter" idx="12"/>
          </p:nvPr>
        </p:nvSpPr>
        <p:spPr/>
        <p:txBody>
          <a:bodyPr/>
          <a:lstStyle/>
          <a:p>
            <a:fld id="{B67FBA2B-964F-4C4D-AAF7-5A8399264638}" type="slidenum">
              <a:rPr lang="en-US" smtClean="0"/>
              <a:pPr/>
              <a:t>35</a:t>
            </a:fld>
            <a:endParaRPr lang="en-US"/>
          </a:p>
        </p:txBody>
      </p:sp>
      <p:sp>
        <p:nvSpPr>
          <p:cNvPr id="6" name="TextBox 5">
            <a:extLst>
              <a:ext uri="{FF2B5EF4-FFF2-40B4-BE49-F238E27FC236}">
                <a16:creationId xmlns:a16="http://schemas.microsoft.com/office/drawing/2014/main" id="{DB4FEAE0-C32E-8A10-6AA7-B2B55666C149}"/>
              </a:ext>
            </a:extLst>
          </p:cNvPr>
          <p:cNvSpPr txBox="1"/>
          <p:nvPr/>
        </p:nvSpPr>
        <p:spPr>
          <a:xfrm>
            <a:off x="838200" y="6480928"/>
            <a:ext cx="6096000" cy="430887"/>
          </a:xfrm>
          <a:prstGeom prst="rect">
            <a:avLst/>
          </a:prstGeom>
          <a:noFill/>
        </p:spPr>
        <p:txBody>
          <a:bodyPr wrap="square">
            <a:spAutoFit/>
          </a:bodyPr>
          <a:lstStyle/>
          <a:p>
            <a:r>
              <a:rPr lang="ru-RU" sz="1100" dirty="0"/>
              <a:t>* </a:t>
            </a:r>
            <a:r>
              <a:rPr lang="en-US" sz="1100" dirty="0"/>
              <a:t>ADD, ADC, AND, BTC, BTR, BTS, CMPXCHG, CMPXCH8B, CMPXCHG16B, DEC, INC, NEG, NOT, OR, SBB, SUB, XOR, XADD, XCHG</a:t>
            </a:r>
            <a:endParaRPr lang="ru-RU" sz="1100" dirty="0"/>
          </a:p>
        </p:txBody>
      </p:sp>
      <p:sp>
        <p:nvSpPr>
          <p:cNvPr id="5" name="TextBox 4">
            <a:extLst>
              <a:ext uri="{FF2B5EF4-FFF2-40B4-BE49-F238E27FC236}">
                <a16:creationId xmlns:a16="http://schemas.microsoft.com/office/drawing/2014/main" id="{FCD6084A-6980-D978-17B9-E759D292F9DC}"/>
              </a:ext>
            </a:extLst>
          </p:cNvPr>
          <p:cNvSpPr txBox="1"/>
          <p:nvPr/>
        </p:nvSpPr>
        <p:spPr>
          <a:xfrm>
            <a:off x="3129251" y="4621521"/>
            <a:ext cx="854721" cy="369332"/>
          </a:xfrm>
          <a:prstGeom prst="rect">
            <a:avLst/>
          </a:prstGeom>
          <a:noFill/>
        </p:spPr>
        <p:txBody>
          <a:bodyPr wrap="none" rtlCol="0">
            <a:spAutoFit/>
          </a:bodyPr>
          <a:lstStyle/>
          <a:p>
            <a:r>
              <a:rPr lang="ru-RU" dirty="0"/>
              <a:t>Ядро 2</a:t>
            </a:r>
          </a:p>
        </p:txBody>
      </p:sp>
      <p:sp>
        <p:nvSpPr>
          <p:cNvPr id="7" name="TextBox 6">
            <a:extLst>
              <a:ext uri="{FF2B5EF4-FFF2-40B4-BE49-F238E27FC236}">
                <a16:creationId xmlns:a16="http://schemas.microsoft.com/office/drawing/2014/main" id="{61542A85-929E-BE95-D291-AF132BB8CB75}"/>
              </a:ext>
            </a:extLst>
          </p:cNvPr>
          <p:cNvSpPr txBox="1"/>
          <p:nvPr/>
        </p:nvSpPr>
        <p:spPr>
          <a:xfrm>
            <a:off x="913185" y="4621521"/>
            <a:ext cx="854721" cy="369332"/>
          </a:xfrm>
          <a:prstGeom prst="rect">
            <a:avLst/>
          </a:prstGeom>
          <a:noFill/>
        </p:spPr>
        <p:txBody>
          <a:bodyPr wrap="none" rtlCol="0">
            <a:spAutoFit/>
          </a:bodyPr>
          <a:lstStyle/>
          <a:p>
            <a:r>
              <a:rPr lang="ru-RU" dirty="0"/>
              <a:t>Ядро 1</a:t>
            </a:r>
          </a:p>
        </p:txBody>
      </p:sp>
      <p:sp>
        <p:nvSpPr>
          <p:cNvPr id="8" name="TextBox 7">
            <a:extLst>
              <a:ext uri="{FF2B5EF4-FFF2-40B4-BE49-F238E27FC236}">
                <a16:creationId xmlns:a16="http://schemas.microsoft.com/office/drawing/2014/main" id="{A8E70384-2163-788B-6101-AEB05C0F7A35}"/>
              </a:ext>
            </a:extLst>
          </p:cNvPr>
          <p:cNvSpPr txBox="1"/>
          <p:nvPr/>
        </p:nvSpPr>
        <p:spPr>
          <a:xfrm>
            <a:off x="2158665" y="4125852"/>
            <a:ext cx="643125" cy="369332"/>
          </a:xfrm>
          <a:prstGeom prst="rect">
            <a:avLst/>
          </a:prstGeom>
          <a:noFill/>
        </p:spPr>
        <p:txBody>
          <a:bodyPr wrap="none" rtlCol="0">
            <a:spAutoFit/>
          </a:bodyPr>
          <a:lstStyle/>
          <a:p>
            <a:r>
              <a:rPr lang="en-US" dirty="0"/>
              <a:t>X = 0</a:t>
            </a:r>
            <a:endParaRPr lang="ru-RU" dirty="0"/>
          </a:p>
        </p:txBody>
      </p:sp>
      <p:sp>
        <p:nvSpPr>
          <p:cNvPr id="9" name="TextBox 8">
            <a:extLst>
              <a:ext uri="{FF2B5EF4-FFF2-40B4-BE49-F238E27FC236}">
                <a16:creationId xmlns:a16="http://schemas.microsoft.com/office/drawing/2014/main" id="{C397FF07-9F5B-13BF-B311-BEF326E05A63}"/>
              </a:ext>
            </a:extLst>
          </p:cNvPr>
          <p:cNvSpPr txBox="1"/>
          <p:nvPr/>
        </p:nvSpPr>
        <p:spPr>
          <a:xfrm>
            <a:off x="-89809" y="5031526"/>
            <a:ext cx="2545239" cy="369332"/>
          </a:xfrm>
          <a:prstGeom prst="rect">
            <a:avLst/>
          </a:prstGeom>
          <a:noFill/>
        </p:spPr>
        <p:txBody>
          <a:bodyPr wrap="square">
            <a:spAutoFit/>
          </a:bodyPr>
          <a:lstStyle/>
          <a:p>
            <a:pPr marL="0" indent="0">
              <a:buNone/>
            </a:pPr>
            <a:r>
              <a:rPr lang="en-US" sz="1800" dirty="0">
                <a:solidFill>
                  <a:srgbClr val="000000"/>
                </a:solidFill>
                <a:latin typeface="Courier New" panose="02070309020205020404" pitchFamily="49" charset="0"/>
                <a:cs typeface="Courier New" panose="02070309020205020404" pitchFamily="49" charset="0"/>
              </a:rPr>
              <a:t>lock </a:t>
            </a:r>
            <a:r>
              <a:rPr lang="en-US" sz="1800" dirty="0" err="1">
                <a:solidFill>
                  <a:srgbClr val="000000"/>
                </a:solidFill>
                <a:latin typeface="Courier New" panose="02070309020205020404" pitchFamily="49" charset="0"/>
                <a:cs typeface="Courier New" panose="02070309020205020404" pitchFamily="49" charset="0"/>
              </a:rPr>
              <a:t>inc</a:t>
            </a:r>
            <a:r>
              <a:rPr lang="en-US" sz="1800" dirty="0">
                <a:solidFill>
                  <a:srgbClr val="000000"/>
                </a:solidFill>
                <a:latin typeface="Courier New" panose="02070309020205020404" pitchFamily="49" charset="0"/>
                <a:cs typeface="Courier New" panose="02070309020205020404" pitchFamily="49" charset="0"/>
              </a:rPr>
              <a:t> </a:t>
            </a:r>
            <a:r>
              <a:rPr lang="en-US" dirty="0" err="1">
                <a:solidFill>
                  <a:srgbClr val="000000"/>
                </a:solidFill>
                <a:latin typeface="Courier New" panose="02070309020205020404" pitchFamily="49" charset="0"/>
                <a:cs typeface="Courier New" panose="02070309020205020404" pitchFamily="49" charset="0"/>
              </a:rPr>
              <a:t>dword</a:t>
            </a:r>
            <a:r>
              <a:rPr lang="en-US" dirty="0">
                <a:solidFill>
                  <a:srgbClr val="000000"/>
                </a:solidFill>
                <a:latin typeface="Courier New" panose="02070309020205020404" pitchFamily="49" charset="0"/>
                <a:cs typeface="Courier New" panose="02070309020205020404" pitchFamily="49" charset="0"/>
              </a:rPr>
              <a:t>[x]</a:t>
            </a:r>
            <a:endParaRPr lang="en-US" sz="1800" dirty="0">
              <a:solidFill>
                <a:srgbClr val="000000"/>
              </a:solidFill>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8F3BDFF2-5E98-9282-6E4D-51FEA77E7226}"/>
              </a:ext>
            </a:extLst>
          </p:cNvPr>
          <p:cNvSpPr txBox="1"/>
          <p:nvPr/>
        </p:nvSpPr>
        <p:spPr>
          <a:xfrm>
            <a:off x="2372563" y="5031526"/>
            <a:ext cx="3027273" cy="369332"/>
          </a:xfrm>
          <a:prstGeom prst="rect">
            <a:avLst/>
          </a:prstGeom>
          <a:noFill/>
        </p:spPr>
        <p:txBody>
          <a:bodyPr wrap="square">
            <a:spAutoFit/>
          </a:bodyPr>
          <a:lstStyle/>
          <a:p>
            <a:pPr marL="0" indent="0">
              <a:buNone/>
            </a:pPr>
            <a:r>
              <a:rPr lang="en-US" sz="1800" dirty="0">
                <a:solidFill>
                  <a:srgbClr val="000000"/>
                </a:solidFill>
                <a:latin typeface="Courier New" panose="02070309020205020404" pitchFamily="49" charset="0"/>
                <a:cs typeface="Courier New" panose="02070309020205020404" pitchFamily="49" charset="0"/>
              </a:rPr>
              <a:t>lock add </a:t>
            </a:r>
            <a:r>
              <a:rPr lang="en-US" sz="1800" dirty="0" err="1">
                <a:solidFill>
                  <a:srgbClr val="000000"/>
                </a:solidFill>
                <a:latin typeface="Courier New" panose="02070309020205020404" pitchFamily="49" charset="0"/>
                <a:cs typeface="Courier New" panose="02070309020205020404" pitchFamily="49" charset="0"/>
              </a:rPr>
              <a:t>dword</a:t>
            </a:r>
            <a:r>
              <a:rPr lang="en-US" dirty="0">
                <a:solidFill>
                  <a:srgbClr val="000000"/>
                </a:solidFill>
                <a:latin typeface="Courier New" panose="02070309020205020404" pitchFamily="49" charset="0"/>
                <a:cs typeface="Courier New" panose="02070309020205020404" pitchFamily="49" charset="0"/>
              </a:rPr>
              <a:t>[x], 2</a:t>
            </a:r>
            <a:endParaRPr lang="en-US" sz="1800" dirty="0">
              <a:solidFill>
                <a:srgbClr val="000000"/>
              </a:solidFill>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3C3624E2-B9C1-0786-12E4-A965763A30F2}"/>
              </a:ext>
            </a:extLst>
          </p:cNvPr>
          <p:cNvSpPr txBox="1"/>
          <p:nvPr/>
        </p:nvSpPr>
        <p:spPr>
          <a:xfrm>
            <a:off x="2158664" y="5583331"/>
            <a:ext cx="643125" cy="369332"/>
          </a:xfrm>
          <a:prstGeom prst="rect">
            <a:avLst/>
          </a:prstGeom>
          <a:noFill/>
        </p:spPr>
        <p:txBody>
          <a:bodyPr wrap="none" rtlCol="0">
            <a:spAutoFit/>
          </a:bodyPr>
          <a:lstStyle/>
          <a:p>
            <a:r>
              <a:rPr lang="en-US" dirty="0"/>
              <a:t>X = 3</a:t>
            </a:r>
            <a:endParaRPr lang="ru-RU" dirty="0"/>
          </a:p>
        </p:txBody>
      </p:sp>
      <p:cxnSp>
        <p:nvCxnSpPr>
          <p:cNvPr id="13" name="Прямая соединительная линия 12">
            <a:extLst>
              <a:ext uri="{FF2B5EF4-FFF2-40B4-BE49-F238E27FC236}">
                <a16:creationId xmlns:a16="http://schemas.microsoft.com/office/drawing/2014/main" id="{90262506-0D51-304B-6D78-31B04CBD3279}"/>
              </a:ext>
            </a:extLst>
          </p:cNvPr>
          <p:cNvCxnSpPr>
            <a:cxnSpLocks/>
          </p:cNvCxnSpPr>
          <p:nvPr/>
        </p:nvCxnSpPr>
        <p:spPr>
          <a:xfrm>
            <a:off x="2352498" y="4523101"/>
            <a:ext cx="0" cy="107594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4" name="Прямая со стрелкой 13">
            <a:extLst>
              <a:ext uri="{FF2B5EF4-FFF2-40B4-BE49-F238E27FC236}">
                <a16:creationId xmlns:a16="http://schemas.microsoft.com/office/drawing/2014/main" id="{8A62D6A2-C445-B223-3B33-7FE28ABB0ED9}"/>
              </a:ext>
            </a:extLst>
          </p:cNvPr>
          <p:cNvCxnSpPr>
            <a:cxnSpLocks/>
          </p:cNvCxnSpPr>
          <p:nvPr/>
        </p:nvCxnSpPr>
        <p:spPr>
          <a:xfrm>
            <a:off x="10985171" y="4179604"/>
            <a:ext cx="0" cy="1643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739CF10-2ADF-36CE-1786-EB7222364C8A}"/>
              </a:ext>
            </a:extLst>
          </p:cNvPr>
          <p:cNvSpPr txBox="1"/>
          <p:nvPr/>
        </p:nvSpPr>
        <p:spPr>
          <a:xfrm>
            <a:off x="11017205" y="4768215"/>
            <a:ext cx="261610" cy="369332"/>
          </a:xfrm>
          <a:prstGeom prst="rect">
            <a:avLst/>
          </a:prstGeom>
          <a:noFill/>
        </p:spPr>
        <p:txBody>
          <a:bodyPr wrap="none" rtlCol="0">
            <a:spAutoFit/>
          </a:bodyPr>
          <a:lstStyle/>
          <a:p>
            <a:r>
              <a:rPr lang="en-US" dirty="0"/>
              <a:t>t</a:t>
            </a:r>
          </a:p>
        </p:txBody>
      </p:sp>
      <p:cxnSp>
        <p:nvCxnSpPr>
          <p:cNvPr id="16" name="Прямая соединительная линия 15">
            <a:extLst>
              <a:ext uri="{FF2B5EF4-FFF2-40B4-BE49-F238E27FC236}">
                <a16:creationId xmlns:a16="http://schemas.microsoft.com/office/drawing/2014/main" id="{BB035EF8-8AB6-3D7C-97E6-AF5C55402A29}"/>
              </a:ext>
            </a:extLst>
          </p:cNvPr>
          <p:cNvCxnSpPr/>
          <p:nvPr/>
        </p:nvCxnSpPr>
        <p:spPr>
          <a:xfrm>
            <a:off x="7070595" y="5400858"/>
            <a:ext cx="3408622" cy="0"/>
          </a:xfrm>
          <a:prstGeom prst="line">
            <a:avLst/>
          </a:prstGeom>
          <a:ln w="19050"/>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DDC376AA-EF22-1A5F-74CF-2218AB435C21}"/>
              </a:ext>
            </a:extLst>
          </p:cNvPr>
          <p:cNvSpPr txBox="1"/>
          <p:nvPr/>
        </p:nvSpPr>
        <p:spPr>
          <a:xfrm>
            <a:off x="6667776" y="3794113"/>
            <a:ext cx="2833577" cy="1631216"/>
          </a:xfrm>
          <a:prstGeom prst="rect">
            <a:avLst/>
          </a:prstGeom>
          <a:noFill/>
        </p:spPr>
        <p:txBody>
          <a:bodyPr wrap="square">
            <a:spAutoFit/>
          </a:bodyPr>
          <a:lstStyle/>
          <a:p>
            <a:pPr marL="0" indent="0">
              <a:buNone/>
            </a:pPr>
            <a:r>
              <a:rPr lang="en-US" sz="2000" dirty="0">
                <a:solidFill>
                  <a:srgbClr val="000000"/>
                </a:solidFill>
                <a:latin typeface="Courier New" panose="02070309020205020404" pitchFamily="49" charset="0"/>
                <a:cs typeface="Courier New" panose="02070309020205020404" pitchFamily="49" charset="0"/>
              </a:rPr>
              <a:t>lock [x]</a:t>
            </a:r>
          </a:p>
          <a:p>
            <a:pPr marL="0" indent="0">
              <a:buNone/>
            </a:pPr>
            <a:r>
              <a:rPr lang="en-US" sz="2000" dirty="0">
                <a:solidFill>
                  <a:srgbClr val="000000"/>
                </a:solidFill>
                <a:latin typeface="Courier New" panose="02070309020205020404" pitchFamily="49" charset="0"/>
                <a:cs typeface="Courier New" panose="02070309020205020404" pitchFamily="49" charset="0"/>
              </a:rPr>
              <a:t>mov </a:t>
            </a:r>
            <a:r>
              <a:rPr lang="en-US" sz="2000" dirty="0" err="1">
                <a:solidFill>
                  <a:srgbClr val="000000"/>
                </a:solidFill>
                <a:latin typeface="Courier New" panose="02070309020205020404" pitchFamily="49" charset="0"/>
                <a:cs typeface="Courier New" panose="02070309020205020404" pitchFamily="49" charset="0"/>
              </a:rPr>
              <a:t>eax</a:t>
            </a:r>
            <a:r>
              <a:rPr lang="en-US" sz="2000" dirty="0">
                <a:solidFill>
                  <a:srgbClr val="000000"/>
                </a:solidFill>
                <a:latin typeface="Courier New" panose="02070309020205020404" pitchFamily="49" charset="0"/>
                <a:cs typeface="Courier New" panose="02070309020205020404" pitchFamily="49" charset="0"/>
              </a:rPr>
              <a:t>,[x]</a:t>
            </a:r>
          </a:p>
          <a:p>
            <a:pPr marL="0" indent="0">
              <a:buNone/>
            </a:pPr>
            <a:r>
              <a:rPr lang="en-US" sz="2000" dirty="0" err="1">
                <a:solidFill>
                  <a:srgbClr val="000000"/>
                </a:solidFill>
                <a:latin typeface="Courier New" panose="02070309020205020404" pitchFamily="49" charset="0"/>
                <a:cs typeface="Courier New" panose="02070309020205020404" pitchFamily="49" charset="0"/>
              </a:rPr>
              <a:t>inc</a:t>
            </a:r>
            <a:r>
              <a:rPr lang="en-US" sz="2000" dirty="0">
                <a:solidFill>
                  <a:srgbClr val="000000"/>
                </a:solidFill>
                <a:latin typeface="Courier New" panose="02070309020205020404" pitchFamily="49" charset="0"/>
                <a:cs typeface="Courier New" panose="02070309020205020404" pitchFamily="49" charset="0"/>
              </a:rPr>
              <a:t> </a:t>
            </a:r>
            <a:r>
              <a:rPr lang="en-US" sz="2000" dirty="0" err="1">
                <a:solidFill>
                  <a:srgbClr val="000000"/>
                </a:solidFill>
                <a:latin typeface="Courier New" panose="02070309020205020404" pitchFamily="49" charset="0"/>
                <a:cs typeface="Courier New" panose="02070309020205020404" pitchFamily="49" charset="0"/>
              </a:rPr>
              <a:t>eax</a:t>
            </a: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r>
              <a:rPr lang="en-US" sz="2000" dirty="0">
                <a:solidFill>
                  <a:srgbClr val="000000"/>
                </a:solidFill>
                <a:latin typeface="Courier New" panose="02070309020205020404" pitchFamily="49" charset="0"/>
                <a:cs typeface="Courier New" panose="02070309020205020404" pitchFamily="49" charset="0"/>
              </a:rPr>
              <a:t>mov [x], </a:t>
            </a:r>
            <a:r>
              <a:rPr lang="en-US" sz="2000" dirty="0" err="1">
                <a:solidFill>
                  <a:srgbClr val="000000"/>
                </a:solidFill>
                <a:latin typeface="Courier New" panose="02070309020205020404" pitchFamily="49" charset="0"/>
                <a:cs typeface="Courier New" panose="02070309020205020404" pitchFamily="49" charset="0"/>
              </a:rPr>
              <a:t>eax</a:t>
            </a: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r>
              <a:rPr lang="en-US" sz="2000" dirty="0">
                <a:solidFill>
                  <a:srgbClr val="000000"/>
                </a:solidFill>
                <a:latin typeface="Courier New" panose="02070309020205020404" pitchFamily="49" charset="0"/>
                <a:cs typeface="Courier New" panose="02070309020205020404" pitchFamily="49" charset="0"/>
              </a:rPr>
              <a:t>unlock [x]</a:t>
            </a:r>
          </a:p>
        </p:txBody>
      </p:sp>
      <p:cxnSp>
        <p:nvCxnSpPr>
          <p:cNvPr id="19" name="Прямая соединительная линия 18">
            <a:extLst>
              <a:ext uri="{FF2B5EF4-FFF2-40B4-BE49-F238E27FC236}">
                <a16:creationId xmlns:a16="http://schemas.microsoft.com/office/drawing/2014/main" id="{B916EF21-29CA-3AB4-9089-8322F9B1A7A7}"/>
              </a:ext>
            </a:extLst>
          </p:cNvPr>
          <p:cNvCxnSpPr>
            <a:cxnSpLocks/>
          </p:cNvCxnSpPr>
          <p:nvPr/>
        </p:nvCxnSpPr>
        <p:spPr>
          <a:xfrm>
            <a:off x="8681793" y="4384838"/>
            <a:ext cx="0" cy="1470827"/>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5D9B806D-36B0-6852-A182-4C8D31B1A7B3}"/>
              </a:ext>
            </a:extLst>
          </p:cNvPr>
          <p:cNvSpPr txBox="1"/>
          <p:nvPr/>
        </p:nvSpPr>
        <p:spPr>
          <a:xfrm>
            <a:off x="9140690" y="3356593"/>
            <a:ext cx="854721" cy="369332"/>
          </a:xfrm>
          <a:prstGeom prst="rect">
            <a:avLst/>
          </a:prstGeom>
          <a:noFill/>
        </p:spPr>
        <p:txBody>
          <a:bodyPr wrap="none" rtlCol="0">
            <a:spAutoFit/>
          </a:bodyPr>
          <a:lstStyle/>
          <a:p>
            <a:r>
              <a:rPr lang="ru-RU" dirty="0"/>
              <a:t>Ядро 2</a:t>
            </a:r>
          </a:p>
        </p:txBody>
      </p:sp>
      <p:sp>
        <p:nvSpPr>
          <p:cNvPr id="22" name="TextBox 21">
            <a:extLst>
              <a:ext uri="{FF2B5EF4-FFF2-40B4-BE49-F238E27FC236}">
                <a16:creationId xmlns:a16="http://schemas.microsoft.com/office/drawing/2014/main" id="{E22498DF-C30A-B175-F965-78891601BC68}"/>
              </a:ext>
            </a:extLst>
          </p:cNvPr>
          <p:cNvSpPr txBox="1"/>
          <p:nvPr/>
        </p:nvSpPr>
        <p:spPr>
          <a:xfrm>
            <a:off x="7357960" y="3356593"/>
            <a:ext cx="854721" cy="369332"/>
          </a:xfrm>
          <a:prstGeom prst="rect">
            <a:avLst/>
          </a:prstGeom>
          <a:noFill/>
        </p:spPr>
        <p:txBody>
          <a:bodyPr wrap="none" rtlCol="0">
            <a:spAutoFit/>
          </a:bodyPr>
          <a:lstStyle/>
          <a:p>
            <a:r>
              <a:rPr lang="ru-RU" dirty="0"/>
              <a:t>Ядро 1</a:t>
            </a:r>
          </a:p>
        </p:txBody>
      </p:sp>
      <p:sp>
        <p:nvSpPr>
          <p:cNvPr id="23" name="TextBox 22">
            <a:extLst>
              <a:ext uri="{FF2B5EF4-FFF2-40B4-BE49-F238E27FC236}">
                <a16:creationId xmlns:a16="http://schemas.microsoft.com/office/drawing/2014/main" id="{BFAB1627-1FBA-C138-AED5-1F64ADA3B8F5}"/>
              </a:ext>
            </a:extLst>
          </p:cNvPr>
          <p:cNvSpPr txBox="1"/>
          <p:nvPr/>
        </p:nvSpPr>
        <p:spPr>
          <a:xfrm>
            <a:off x="8681793" y="4092289"/>
            <a:ext cx="2833577" cy="2554545"/>
          </a:xfrm>
          <a:prstGeom prst="rect">
            <a:avLst/>
          </a:prstGeom>
          <a:noFill/>
        </p:spPr>
        <p:txBody>
          <a:bodyPr wrap="square">
            <a:spAutoFit/>
          </a:bodyPr>
          <a:lstStyle/>
          <a:p>
            <a:pPr marL="0" indent="0">
              <a:buNone/>
            </a:pPr>
            <a:r>
              <a:rPr lang="en-US" sz="2000" dirty="0">
                <a:solidFill>
                  <a:srgbClr val="000000"/>
                </a:solidFill>
                <a:latin typeface="Courier New" panose="02070309020205020404" pitchFamily="49" charset="0"/>
                <a:cs typeface="Courier New" panose="02070309020205020404" pitchFamily="49" charset="0"/>
              </a:rPr>
              <a:t>lock [x]</a:t>
            </a:r>
          </a:p>
          <a:p>
            <a:pPr marL="0" indent="0">
              <a:buNone/>
            </a:pP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r>
              <a:rPr lang="en-US" sz="2000" dirty="0">
                <a:solidFill>
                  <a:srgbClr val="000000"/>
                </a:solidFill>
                <a:latin typeface="Courier New" panose="02070309020205020404" pitchFamily="49" charset="0"/>
                <a:cs typeface="Courier New" panose="02070309020205020404" pitchFamily="49" charset="0"/>
              </a:rPr>
              <a:t>mov </a:t>
            </a:r>
            <a:r>
              <a:rPr lang="en-US" sz="2000" dirty="0" err="1">
                <a:solidFill>
                  <a:srgbClr val="000000"/>
                </a:solidFill>
                <a:latin typeface="Courier New" panose="02070309020205020404" pitchFamily="49" charset="0"/>
                <a:cs typeface="Courier New" panose="02070309020205020404" pitchFamily="49" charset="0"/>
              </a:rPr>
              <a:t>eax</a:t>
            </a:r>
            <a:r>
              <a:rPr lang="en-US" sz="2000" dirty="0">
                <a:solidFill>
                  <a:srgbClr val="000000"/>
                </a:solidFill>
                <a:latin typeface="Courier New" panose="02070309020205020404" pitchFamily="49" charset="0"/>
                <a:cs typeface="Courier New" panose="02070309020205020404" pitchFamily="49" charset="0"/>
              </a:rPr>
              <a:t>,[x]</a:t>
            </a:r>
          </a:p>
          <a:p>
            <a:pPr marL="0" indent="0">
              <a:buNone/>
            </a:pPr>
            <a:r>
              <a:rPr lang="en-US" sz="2000" dirty="0">
                <a:solidFill>
                  <a:srgbClr val="000000"/>
                </a:solidFill>
                <a:latin typeface="Courier New" panose="02070309020205020404" pitchFamily="49" charset="0"/>
                <a:cs typeface="Courier New" panose="02070309020205020404" pitchFamily="49" charset="0"/>
              </a:rPr>
              <a:t>add </a:t>
            </a:r>
            <a:r>
              <a:rPr lang="en-US" sz="2000" dirty="0" err="1">
                <a:solidFill>
                  <a:srgbClr val="000000"/>
                </a:solidFill>
                <a:latin typeface="Courier New" panose="02070309020205020404" pitchFamily="49" charset="0"/>
                <a:cs typeface="Courier New" panose="02070309020205020404" pitchFamily="49" charset="0"/>
              </a:rPr>
              <a:t>eax</a:t>
            </a:r>
            <a:r>
              <a:rPr lang="en-US" sz="2000" dirty="0">
                <a:solidFill>
                  <a:srgbClr val="000000"/>
                </a:solidFill>
                <a:latin typeface="Courier New" panose="02070309020205020404" pitchFamily="49" charset="0"/>
                <a:cs typeface="Courier New" panose="02070309020205020404" pitchFamily="49" charset="0"/>
              </a:rPr>
              <a:t>, 2</a:t>
            </a:r>
          </a:p>
          <a:p>
            <a:pPr marL="0" indent="0">
              <a:buNone/>
            </a:pPr>
            <a:r>
              <a:rPr lang="en-US" sz="2000" dirty="0">
                <a:solidFill>
                  <a:srgbClr val="000000"/>
                </a:solidFill>
                <a:latin typeface="Courier New" panose="02070309020205020404" pitchFamily="49" charset="0"/>
                <a:cs typeface="Courier New" panose="02070309020205020404" pitchFamily="49" charset="0"/>
              </a:rPr>
              <a:t>mov [x], </a:t>
            </a:r>
            <a:r>
              <a:rPr lang="en-US" sz="2000" dirty="0" err="1">
                <a:solidFill>
                  <a:srgbClr val="000000"/>
                </a:solidFill>
                <a:latin typeface="Courier New" panose="02070309020205020404" pitchFamily="49" charset="0"/>
                <a:cs typeface="Courier New" panose="02070309020205020404" pitchFamily="49" charset="0"/>
              </a:rPr>
              <a:t>eax</a:t>
            </a:r>
            <a:endParaRPr lang="en-US" sz="2000" dirty="0">
              <a:solidFill>
                <a:srgbClr val="000000"/>
              </a:solidFill>
              <a:latin typeface="Courier New" panose="02070309020205020404" pitchFamily="49" charset="0"/>
              <a:cs typeface="Courier New" panose="02070309020205020404" pitchFamily="49" charset="0"/>
            </a:endParaRPr>
          </a:p>
          <a:p>
            <a:pPr marL="0" indent="0">
              <a:buNone/>
            </a:pPr>
            <a:r>
              <a:rPr lang="en-US" sz="2000" dirty="0">
                <a:solidFill>
                  <a:srgbClr val="000000"/>
                </a:solidFill>
                <a:latin typeface="Courier New" panose="02070309020205020404" pitchFamily="49" charset="0"/>
                <a:cs typeface="Courier New" panose="02070309020205020404" pitchFamily="49" charset="0"/>
              </a:rPr>
              <a:t>unlock [x]</a:t>
            </a:r>
          </a:p>
        </p:txBody>
      </p:sp>
    </p:spTree>
    <p:extLst>
      <p:ext uri="{BB962C8B-B14F-4D97-AF65-F5344CB8AC3E}">
        <p14:creationId xmlns:p14="http://schemas.microsoft.com/office/powerpoint/2010/main" val="177084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5F88727-8AD4-BF5F-0031-AFAFECDF73D7}"/>
              </a:ext>
            </a:extLst>
          </p:cNvPr>
          <p:cNvSpPr>
            <a:spLocks noGrp="1"/>
          </p:cNvSpPr>
          <p:nvPr>
            <p:ph type="title"/>
          </p:nvPr>
        </p:nvSpPr>
        <p:spPr/>
        <p:txBody>
          <a:bodyPr/>
          <a:lstStyle/>
          <a:p>
            <a:r>
              <a:rPr lang="ru-RU" dirty="0"/>
              <a:t>Кэширование в  многоядерных системах</a:t>
            </a:r>
          </a:p>
        </p:txBody>
      </p:sp>
      <p:sp>
        <p:nvSpPr>
          <p:cNvPr id="3" name="Объект 2">
            <a:extLst>
              <a:ext uri="{FF2B5EF4-FFF2-40B4-BE49-F238E27FC236}">
                <a16:creationId xmlns:a16="http://schemas.microsoft.com/office/drawing/2014/main" id="{2F8BCCA3-3215-982E-1085-E6293A6CD26A}"/>
              </a:ext>
            </a:extLst>
          </p:cNvPr>
          <p:cNvSpPr>
            <a:spLocks noGrp="1"/>
          </p:cNvSpPr>
          <p:nvPr>
            <p:ph idx="1"/>
          </p:nvPr>
        </p:nvSpPr>
        <p:spPr>
          <a:xfrm>
            <a:off x="838200" y="1578287"/>
            <a:ext cx="10515600" cy="4914588"/>
          </a:xfrm>
        </p:spPr>
        <p:txBody>
          <a:bodyPr>
            <a:normAutofit lnSpcReduction="10000"/>
          </a:bodyPr>
          <a:lstStyle/>
          <a:p>
            <a:pPr marL="0" indent="0">
              <a:buNone/>
            </a:pPr>
            <a:r>
              <a:rPr lang="ru-RU" sz="2000" dirty="0"/>
              <a:t>Поскольку обычно каждое ядро ЦП имеет свои кэши </a:t>
            </a:r>
            <a:r>
              <a:rPr lang="en-US" sz="2000" dirty="0"/>
              <a:t>L1/L2</a:t>
            </a:r>
            <a:r>
              <a:rPr lang="ru-RU" sz="2000" dirty="0"/>
              <a:t>, возникает проблема согласованности данных разных ядер.</a:t>
            </a:r>
          </a:p>
          <a:p>
            <a:pPr marL="0" indent="0">
              <a:buNone/>
            </a:pPr>
            <a:r>
              <a:rPr lang="ru-RU" sz="2000" dirty="0"/>
              <a:t>Наиболее простой вариант – использование </a:t>
            </a:r>
            <a:r>
              <a:rPr lang="ru-RU" sz="2000" b="1" dirty="0"/>
              <a:t>некогерентного кэша</a:t>
            </a:r>
            <a:r>
              <a:rPr lang="ru-RU" sz="2000" dirty="0"/>
              <a:t>. В этом случае содержимое кэшей не обязано быть синхронизированным =</a:t>
            </a:r>
            <a:r>
              <a:rPr lang="en-US" sz="2000" dirty="0"/>
              <a:t>&gt; </a:t>
            </a:r>
            <a:r>
              <a:rPr lang="ru-RU" sz="2000" dirty="0"/>
              <a:t>ядра могут видеть одну и ту же область памяти по-разному. В этом случае для синхронизации состояния используются спец. инструкции.</a:t>
            </a:r>
          </a:p>
          <a:p>
            <a:pPr marL="0" indent="0">
              <a:buNone/>
            </a:pPr>
            <a:r>
              <a:rPr lang="ru-RU" sz="2000" dirty="0"/>
              <a:t>В случае </a:t>
            </a:r>
            <a:r>
              <a:rPr lang="ru-RU" sz="2000" b="1" dirty="0"/>
              <a:t>когерентного кэша </a:t>
            </a:r>
            <a:r>
              <a:rPr lang="ru-RU" sz="2000" dirty="0"/>
              <a:t>ядра ЦП обмениваются информацией об операциях чтения/записи. </a:t>
            </a:r>
          </a:p>
          <a:p>
            <a:pPr marL="0" indent="0">
              <a:buNone/>
            </a:pPr>
            <a:r>
              <a:rPr lang="ru-RU" sz="2000" dirty="0"/>
              <a:t>В самом простом варианте, если одно из ядер производит запись в память, соответствующая кэш-линия в кэшах других ядер помечается, как </a:t>
            </a:r>
            <a:r>
              <a:rPr lang="ru-RU" sz="2000" dirty="0" err="1"/>
              <a:t>невалидная</a:t>
            </a:r>
            <a:r>
              <a:rPr lang="ru-RU" sz="2000" dirty="0"/>
              <a:t> – ядра запросят ее из ОЗУ повторно. Никаких спец. инструкций синхронизации состояния не требуется.</a:t>
            </a:r>
          </a:p>
          <a:p>
            <a:pPr marL="0" indent="0">
              <a:buNone/>
            </a:pPr>
            <a:r>
              <a:rPr lang="ru-RU" sz="2000" dirty="0"/>
              <a:t>В более сложных схемах управления кэшем ядра могут обмениваться кэш-линиями, избегая лишних запросов в кэш нижнего уровня/ОЗУ.</a:t>
            </a:r>
          </a:p>
          <a:p>
            <a:pPr marL="0" indent="0">
              <a:buNone/>
            </a:pPr>
            <a:r>
              <a:rPr lang="ru-RU" sz="2000" i="1" dirty="0"/>
              <a:t>Все ЦП </a:t>
            </a:r>
            <a:r>
              <a:rPr lang="en-US" sz="2000" i="1" dirty="0"/>
              <a:t>x86 </a:t>
            </a:r>
            <a:r>
              <a:rPr lang="ru-RU" sz="2000" i="1" dirty="0"/>
              <a:t>используют когерентные кэши.</a:t>
            </a:r>
          </a:p>
          <a:p>
            <a:pPr marL="0" indent="0">
              <a:buNone/>
            </a:pPr>
            <a:r>
              <a:rPr lang="ru-RU" sz="2000" dirty="0"/>
              <a:t>См. также: </a:t>
            </a:r>
            <a:r>
              <a:rPr lang="en-US" sz="2000" dirty="0">
                <a:hlinkClick r:id="rId2"/>
              </a:rPr>
              <a:t>https://en.wikipedia.org/wiki/MESI_protocol</a:t>
            </a:r>
            <a:r>
              <a:rPr lang="ru-RU" sz="2000" dirty="0"/>
              <a:t> </a:t>
            </a:r>
          </a:p>
          <a:p>
            <a:pPr marL="0" indent="0">
              <a:buNone/>
            </a:pPr>
            <a:endParaRPr lang="ru-RU" sz="2000" b="1" dirty="0"/>
          </a:p>
        </p:txBody>
      </p:sp>
      <p:sp>
        <p:nvSpPr>
          <p:cNvPr id="5" name="Номер слайда 4">
            <a:extLst>
              <a:ext uri="{FF2B5EF4-FFF2-40B4-BE49-F238E27FC236}">
                <a16:creationId xmlns:a16="http://schemas.microsoft.com/office/drawing/2014/main" id="{87EEB9D1-33EE-4348-636F-988DBC9979F9}"/>
              </a:ext>
            </a:extLst>
          </p:cNvPr>
          <p:cNvSpPr>
            <a:spLocks noGrp="1"/>
          </p:cNvSpPr>
          <p:nvPr>
            <p:ph type="sldNum" sz="quarter" idx="12"/>
          </p:nvPr>
        </p:nvSpPr>
        <p:spPr/>
        <p:txBody>
          <a:bodyPr/>
          <a:lstStyle/>
          <a:p>
            <a:fld id="{B67FBA2B-964F-4C4D-AAF7-5A8399264638}" type="slidenum">
              <a:rPr lang="en-US" smtClean="0"/>
              <a:pPr/>
              <a:t>36</a:t>
            </a:fld>
            <a:endParaRPr lang="en-US"/>
          </a:p>
        </p:txBody>
      </p:sp>
    </p:spTree>
    <p:extLst>
      <p:ext uri="{BB962C8B-B14F-4D97-AF65-F5344CB8AC3E}">
        <p14:creationId xmlns:p14="http://schemas.microsoft.com/office/powerpoint/2010/main" val="1399073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20737A-304F-FFD3-4751-9DF139C32045}"/>
              </a:ext>
            </a:extLst>
          </p:cNvPr>
          <p:cNvSpPr>
            <a:spLocks noGrp="1"/>
          </p:cNvSpPr>
          <p:nvPr>
            <p:ph type="title"/>
          </p:nvPr>
        </p:nvSpPr>
        <p:spPr/>
        <p:txBody>
          <a:bodyPr/>
          <a:lstStyle/>
          <a:p>
            <a:r>
              <a:rPr lang="en-US" dirty="0"/>
              <a:t>False sharing</a:t>
            </a:r>
            <a:r>
              <a:rPr lang="ru-RU" dirty="0"/>
              <a:t> </a:t>
            </a:r>
            <a:r>
              <a:rPr lang="ru-RU" sz="2400" dirty="0"/>
              <a:t>(пример)</a:t>
            </a:r>
            <a:endParaRPr lang="ru-RU" dirty="0"/>
          </a:p>
        </p:txBody>
      </p:sp>
      <p:sp>
        <p:nvSpPr>
          <p:cNvPr id="3" name="Объект 2">
            <a:extLst>
              <a:ext uri="{FF2B5EF4-FFF2-40B4-BE49-F238E27FC236}">
                <a16:creationId xmlns:a16="http://schemas.microsoft.com/office/drawing/2014/main" id="{F9DCF8AD-35F4-B728-07D1-1CC37840A571}"/>
              </a:ext>
            </a:extLst>
          </p:cNvPr>
          <p:cNvSpPr>
            <a:spLocks noGrp="1"/>
          </p:cNvSpPr>
          <p:nvPr>
            <p:ph idx="1"/>
          </p:nvPr>
        </p:nvSpPr>
        <p:spPr/>
        <p:txBody>
          <a:bodyPr>
            <a:normAutofit/>
          </a:bodyPr>
          <a:lstStyle/>
          <a:p>
            <a:pPr marL="0" indent="0">
              <a:buNone/>
            </a:pPr>
            <a:r>
              <a:rPr lang="ru-RU" sz="2000" dirty="0"/>
              <a:t>Если 2 </a:t>
            </a:r>
            <a:r>
              <a:rPr lang="ru-RU" sz="2000" i="1" dirty="0"/>
              <a:t>независимые </a:t>
            </a:r>
            <a:r>
              <a:rPr lang="ru-RU" sz="2000" dirty="0"/>
              <a:t>переменные, используемые несколькими ядрами, располагаются на одной кэш-линии, то производительность работы с ними существенно падает:</a:t>
            </a:r>
            <a:endParaRPr lang="en-US" sz="2000" dirty="0"/>
          </a:p>
          <a:p>
            <a:r>
              <a:rPr lang="ru-RU" sz="2000" dirty="0"/>
              <a:t>запись в любую из переменных </a:t>
            </a:r>
            <a:r>
              <a:rPr lang="ru-RU" sz="2000" dirty="0" err="1"/>
              <a:t>инвалидирует</a:t>
            </a:r>
            <a:r>
              <a:rPr lang="ru-RU" sz="2000" dirty="0"/>
              <a:t> кэш-линию в других ядрах </a:t>
            </a:r>
            <a:r>
              <a:rPr lang="en-US" sz="2000" dirty="0"/>
              <a:t>=&gt;</a:t>
            </a:r>
            <a:r>
              <a:rPr lang="ru-RU" sz="2000" dirty="0"/>
              <a:t> они будут запрашивать кэш-линию заново;</a:t>
            </a:r>
          </a:p>
          <a:p>
            <a:r>
              <a:rPr lang="ru-RU" sz="2000" dirty="0"/>
              <a:t>префикс </a:t>
            </a:r>
            <a:r>
              <a:rPr lang="en-US" sz="2000" dirty="0"/>
              <a:t>LOCK </a:t>
            </a:r>
            <a:r>
              <a:rPr lang="ru-RU" sz="2000" dirty="0"/>
              <a:t>обычно приводит к блокировке </a:t>
            </a:r>
            <a:r>
              <a:rPr lang="ru-RU" sz="2000" i="1" dirty="0"/>
              <a:t>всей</a:t>
            </a:r>
            <a:r>
              <a:rPr lang="ru-RU" sz="2000" dirty="0"/>
              <a:t> кэш-линии, содержащей переменную, что исключает доступ к ней со стороны других ядер даже для операций чтения.</a:t>
            </a:r>
          </a:p>
          <a:p>
            <a:pPr marL="0" indent="0">
              <a:buNone/>
            </a:pPr>
            <a:r>
              <a:rPr lang="ru-RU" sz="2000" dirty="0"/>
              <a:t>Если переменные располагаются на разных кэш-линиях, такого не произойдет. С этой целью независимые переменные или группы переменных, участвующие в многопоточном взаимодействии, выравниваются по значению, превышающему размер кэш-линии (см. </a:t>
            </a:r>
            <a:r>
              <a:rPr lang="en-US" sz="2000" dirty="0">
                <a:hlinkClick r:id="rId2"/>
              </a:rPr>
              <a:t>std::</a:t>
            </a:r>
            <a:r>
              <a:rPr lang="en-US" sz="2000" dirty="0" err="1">
                <a:hlinkClick r:id="rId2"/>
              </a:rPr>
              <a:t>hardware_destructive_interference_size</a:t>
            </a:r>
            <a:r>
              <a:rPr lang="en-US" sz="2000" dirty="0"/>
              <a:t>)</a:t>
            </a:r>
            <a:r>
              <a:rPr lang="ru-RU" sz="2000" dirty="0"/>
              <a:t>.</a:t>
            </a:r>
          </a:p>
          <a:p>
            <a:pPr marL="0" indent="0">
              <a:buNone/>
            </a:pPr>
            <a:endParaRPr lang="ru-RU" sz="2000" dirty="0"/>
          </a:p>
        </p:txBody>
      </p:sp>
      <p:sp>
        <p:nvSpPr>
          <p:cNvPr id="5" name="Номер слайда 4">
            <a:extLst>
              <a:ext uri="{FF2B5EF4-FFF2-40B4-BE49-F238E27FC236}">
                <a16:creationId xmlns:a16="http://schemas.microsoft.com/office/drawing/2014/main" id="{9F0ECD71-3841-F43B-2CB5-500129D775D5}"/>
              </a:ext>
            </a:extLst>
          </p:cNvPr>
          <p:cNvSpPr>
            <a:spLocks noGrp="1"/>
          </p:cNvSpPr>
          <p:nvPr>
            <p:ph type="sldNum" sz="quarter" idx="12"/>
          </p:nvPr>
        </p:nvSpPr>
        <p:spPr/>
        <p:txBody>
          <a:bodyPr/>
          <a:lstStyle/>
          <a:p>
            <a:fld id="{B67FBA2B-964F-4C4D-AAF7-5A8399264638}" type="slidenum">
              <a:rPr lang="en-US" smtClean="0"/>
              <a:pPr/>
              <a:t>37</a:t>
            </a:fld>
            <a:endParaRPr lang="en-US"/>
          </a:p>
        </p:txBody>
      </p:sp>
      <p:pic>
        <p:nvPicPr>
          <p:cNvPr id="6" name="Picture 5">
            <a:extLst>
              <a:ext uri="{FF2B5EF4-FFF2-40B4-BE49-F238E27FC236}">
                <a16:creationId xmlns:a16="http://schemas.microsoft.com/office/drawing/2014/main" id="{0FDA28E3-4AE5-2A9B-D3E9-75FA9C13ED01}"/>
              </a:ext>
            </a:extLst>
          </p:cNvPr>
          <p:cNvPicPr>
            <a:picLocks noChangeAspect="1"/>
          </p:cNvPicPr>
          <p:nvPr/>
        </p:nvPicPr>
        <p:blipFill>
          <a:blip r:embed="rId3"/>
          <a:stretch>
            <a:fillRect/>
          </a:stretch>
        </p:blipFill>
        <p:spPr>
          <a:xfrm>
            <a:off x="6308257" y="4899490"/>
            <a:ext cx="3802710" cy="1958510"/>
          </a:xfrm>
          <a:prstGeom prst="rect">
            <a:avLst/>
          </a:prstGeom>
        </p:spPr>
      </p:pic>
      <p:sp>
        <p:nvSpPr>
          <p:cNvPr id="7" name="TextBox 6">
            <a:extLst>
              <a:ext uri="{FF2B5EF4-FFF2-40B4-BE49-F238E27FC236}">
                <a16:creationId xmlns:a16="http://schemas.microsoft.com/office/drawing/2014/main" id="{2DAC5E43-EECC-1B60-C030-84DEAB05CFC9}"/>
              </a:ext>
            </a:extLst>
          </p:cNvPr>
          <p:cNvSpPr txBox="1"/>
          <p:nvPr/>
        </p:nvSpPr>
        <p:spPr>
          <a:xfrm>
            <a:off x="6308257" y="5104151"/>
            <a:ext cx="801823" cy="369332"/>
          </a:xfrm>
          <a:prstGeom prst="rect">
            <a:avLst/>
          </a:prstGeom>
          <a:noFill/>
        </p:spPr>
        <p:txBody>
          <a:bodyPr wrap="none" rtlCol="0">
            <a:spAutoFit/>
          </a:bodyPr>
          <a:lstStyle/>
          <a:p>
            <a:r>
              <a:rPr lang="ru-RU" dirty="0"/>
              <a:t>Ядро1</a:t>
            </a:r>
          </a:p>
        </p:txBody>
      </p:sp>
      <p:sp>
        <p:nvSpPr>
          <p:cNvPr id="8" name="TextBox 7">
            <a:extLst>
              <a:ext uri="{FF2B5EF4-FFF2-40B4-BE49-F238E27FC236}">
                <a16:creationId xmlns:a16="http://schemas.microsoft.com/office/drawing/2014/main" id="{79B0BCF8-7809-875B-A40F-06E2EDECBD0F}"/>
              </a:ext>
            </a:extLst>
          </p:cNvPr>
          <p:cNvSpPr txBox="1"/>
          <p:nvPr/>
        </p:nvSpPr>
        <p:spPr>
          <a:xfrm>
            <a:off x="9309144" y="5104151"/>
            <a:ext cx="801823" cy="369332"/>
          </a:xfrm>
          <a:prstGeom prst="rect">
            <a:avLst/>
          </a:prstGeom>
          <a:noFill/>
        </p:spPr>
        <p:txBody>
          <a:bodyPr wrap="none" rtlCol="0">
            <a:spAutoFit/>
          </a:bodyPr>
          <a:lstStyle/>
          <a:p>
            <a:r>
              <a:rPr lang="ru-RU" dirty="0"/>
              <a:t>Ядро2</a:t>
            </a:r>
          </a:p>
        </p:txBody>
      </p:sp>
      <p:sp>
        <p:nvSpPr>
          <p:cNvPr id="9" name="TextBox 8">
            <a:extLst>
              <a:ext uri="{FF2B5EF4-FFF2-40B4-BE49-F238E27FC236}">
                <a16:creationId xmlns:a16="http://schemas.microsoft.com/office/drawing/2014/main" id="{207B493D-8700-B344-65E5-9EDADBBEEA14}"/>
              </a:ext>
            </a:extLst>
          </p:cNvPr>
          <p:cNvSpPr txBox="1"/>
          <p:nvPr/>
        </p:nvSpPr>
        <p:spPr>
          <a:xfrm>
            <a:off x="7703846" y="6308209"/>
            <a:ext cx="1250663" cy="369332"/>
          </a:xfrm>
          <a:prstGeom prst="rect">
            <a:avLst/>
          </a:prstGeom>
          <a:noFill/>
        </p:spPr>
        <p:txBody>
          <a:bodyPr wrap="none" rtlCol="0">
            <a:spAutoFit/>
          </a:bodyPr>
          <a:lstStyle/>
          <a:p>
            <a:r>
              <a:rPr lang="ru-RU" dirty="0"/>
              <a:t>Кэш-линия</a:t>
            </a:r>
          </a:p>
        </p:txBody>
      </p:sp>
      <p:cxnSp>
        <p:nvCxnSpPr>
          <p:cNvPr id="11" name="Straight Connector 10">
            <a:extLst>
              <a:ext uri="{FF2B5EF4-FFF2-40B4-BE49-F238E27FC236}">
                <a16:creationId xmlns:a16="http://schemas.microsoft.com/office/drawing/2014/main" id="{0657E9B9-8F95-9CD8-BC6E-DB9ACD615858}"/>
              </a:ext>
            </a:extLst>
          </p:cNvPr>
          <p:cNvCxnSpPr>
            <a:endCxn id="9" idx="0"/>
          </p:cNvCxnSpPr>
          <p:nvPr/>
        </p:nvCxnSpPr>
        <p:spPr>
          <a:xfrm>
            <a:off x="8209612" y="5988570"/>
            <a:ext cx="119566" cy="31963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776112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435CACD-E21D-D101-508E-13CAC0AAFB3C}"/>
              </a:ext>
            </a:extLst>
          </p:cNvPr>
          <p:cNvSpPr>
            <a:spLocks noGrp="1"/>
          </p:cNvSpPr>
          <p:nvPr>
            <p:ph type="title"/>
          </p:nvPr>
        </p:nvSpPr>
        <p:spPr>
          <a:xfrm>
            <a:off x="838200" y="365125"/>
            <a:ext cx="11180618" cy="1325563"/>
          </a:xfrm>
        </p:spPr>
        <p:txBody>
          <a:bodyPr/>
          <a:lstStyle/>
          <a:p>
            <a:r>
              <a:rPr lang="en-US" dirty="0"/>
              <a:t>Simultaneous Multithreading</a:t>
            </a:r>
            <a:endParaRPr lang="ru-RU" dirty="0"/>
          </a:p>
        </p:txBody>
      </p:sp>
      <p:sp>
        <p:nvSpPr>
          <p:cNvPr id="3" name="Объект 2">
            <a:extLst>
              <a:ext uri="{FF2B5EF4-FFF2-40B4-BE49-F238E27FC236}">
                <a16:creationId xmlns:a16="http://schemas.microsoft.com/office/drawing/2014/main" id="{C1237DA3-44BF-6DDE-74BB-E9A7EEBA5A30}"/>
              </a:ext>
            </a:extLst>
          </p:cNvPr>
          <p:cNvSpPr>
            <a:spLocks noGrp="1"/>
          </p:cNvSpPr>
          <p:nvPr>
            <p:ph idx="1"/>
          </p:nvPr>
        </p:nvSpPr>
        <p:spPr>
          <a:xfrm>
            <a:off x="838200" y="1457029"/>
            <a:ext cx="7037439" cy="5264445"/>
          </a:xfrm>
        </p:spPr>
        <p:txBody>
          <a:bodyPr>
            <a:normAutofit/>
          </a:bodyPr>
          <a:lstStyle/>
          <a:p>
            <a:pPr marL="0" indent="0">
              <a:buNone/>
            </a:pPr>
            <a:r>
              <a:rPr lang="ru-RU" sz="2000" dirty="0"/>
              <a:t>Несмотря на наличие спекулятивного выполнения, полностью загрузить исполнительные устройства одного ядра проблематично </a:t>
            </a:r>
            <a:r>
              <a:rPr lang="en-US" sz="2000" dirty="0"/>
              <a:t>=&gt; </a:t>
            </a:r>
            <a:r>
              <a:rPr lang="ru-RU" sz="2000" dirty="0"/>
              <a:t>часто в ядре есть свободные вычислительные ресурсы</a:t>
            </a:r>
            <a:r>
              <a:rPr lang="en-US" sz="2000" dirty="0"/>
              <a:t>.</a:t>
            </a:r>
            <a:endParaRPr lang="ru-RU" sz="2000" dirty="0"/>
          </a:p>
          <a:p>
            <a:pPr marL="0" indent="0">
              <a:buNone/>
            </a:pPr>
            <a:r>
              <a:rPr lang="ru-RU" sz="2000" dirty="0"/>
              <a:t>Эти ресурсы можно использовать, если загрузить ядро инструкциями не из 1, а из нескольких (обычно 2) потоков выполнения</a:t>
            </a:r>
            <a:r>
              <a:rPr lang="en-US" sz="2000" dirty="0"/>
              <a:t> (</a:t>
            </a:r>
            <a:r>
              <a:rPr lang="ru-RU" sz="2000" dirty="0"/>
              <a:t>одновременная многопоточность, </a:t>
            </a:r>
            <a:r>
              <a:rPr lang="en-US" sz="2000" dirty="0"/>
              <a:t>Simultaneous Multithreading, Hyperthreading)</a:t>
            </a:r>
            <a:r>
              <a:rPr lang="ru-RU" sz="2000" dirty="0"/>
              <a:t>.</a:t>
            </a:r>
          </a:p>
          <a:p>
            <a:pPr marL="0" indent="0">
              <a:buNone/>
            </a:pPr>
            <a:r>
              <a:rPr lang="ru-RU" sz="2000" dirty="0"/>
              <a:t>В этом случае ЦП должен считывать и выполнять инструкции из разных потоков с соблюдением их изоляции. Достигается это частичным дублированием управляющих блоков ЦП.</a:t>
            </a:r>
            <a:endParaRPr lang="en-US" sz="2000" dirty="0"/>
          </a:p>
          <a:p>
            <a:pPr marL="0" indent="0">
              <a:buNone/>
            </a:pPr>
            <a:r>
              <a:rPr lang="en-US" sz="2000" dirty="0"/>
              <a:t>SMT </a:t>
            </a:r>
            <a:r>
              <a:rPr lang="ru-RU" sz="2000" dirty="0"/>
              <a:t>позволяет поднять производительность системы в целом за счет повышения количества доступных «ядер». Оборотной стороной является повышение конкуренции за общие ресурсы ЦП (кэши, шина ОЗУ, ввод/вывод) и исполнительные устройства ядра, что в некоторых случаях приводит к понижению производительности некоторых приложений</a:t>
            </a:r>
          </a:p>
          <a:p>
            <a:pPr marL="0" indent="0">
              <a:buNone/>
            </a:pPr>
            <a:endParaRPr lang="ru-RU" sz="2000" dirty="0"/>
          </a:p>
          <a:p>
            <a:pPr marL="0" indent="0">
              <a:buNone/>
            </a:pPr>
            <a:endParaRPr lang="ru-RU" sz="2000" dirty="0"/>
          </a:p>
        </p:txBody>
      </p:sp>
      <p:sp>
        <p:nvSpPr>
          <p:cNvPr id="5" name="Номер слайда 4">
            <a:extLst>
              <a:ext uri="{FF2B5EF4-FFF2-40B4-BE49-F238E27FC236}">
                <a16:creationId xmlns:a16="http://schemas.microsoft.com/office/drawing/2014/main" id="{CEA251AB-554F-4217-AB8C-C7BDC9E17A00}"/>
              </a:ext>
            </a:extLst>
          </p:cNvPr>
          <p:cNvSpPr>
            <a:spLocks noGrp="1"/>
          </p:cNvSpPr>
          <p:nvPr>
            <p:ph type="sldNum" sz="quarter" idx="12"/>
          </p:nvPr>
        </p:nvSpPr>
        <p:spPr/>
        <p:txBody>
          <a:bodyPr/>
          <a:lstStyle/>
          <a:p>
            <a:fld id="{B67FBA2B-964F-4C4D-AAF7-5A8399264638}" type="slidenum">
              <a:rPr lang="en-US" smtClean="0"/>
              <a:pPr/>
              <a:t>38</a:t>
            </a:fld>
            <a:endParaRPr lang="en-US"/>
          </a:p>
        </p:txBody>
      </p:sp>
      <p:sp>
        <p:nvSpPr>
          <p:cNvPr id="4" name="Прямоугольник 3">
            <a:extLst>
              <a:ext uri="{FF2B5EF4-FFF2-40B4-BE49-F238E27FC236}">
                <a16:creationId xmlns:a16="http://schemas.microsoft.com/office/drawing/2014/main" id="{71C4ABFE-AD55-2508-2FBF-87D7918F6887}"/>
              </a:ext>
            </a:extLst>
          </p:cNvPr>
          <p:cNvSpPr/>
          <p:nvPr/>
        </p:nvSpPr>
        <p:spPr>
          <a:xfrm>
            <a:off x="8442251" y="1977656"/>
            <a:ext cx="3232297" cy="23533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Прямоугольник 5">
            <a:extLst>
              <a:ext uri="{FF2B5EF4-FFF2-40B4-BE49-F238E27FC236}">
                <a16:creationId xmlns:a16="http://schemas.microsoft.com/office/drawing/2014/main" id="{24B25D82-5CAA-E0C1-C773-E34AD84FA811}"/>
              </a:ext>
            </a:extLst>
          </p:cNvPr>
          <p:cNvSpPr/>
          <p:nvPr/>
        </p:nvSpPr>
        <p:spPr>
          <a:xfrm>
            <a:off x="8571615" y="3195084"/>
            <a:ext cx="2985975" cy="8941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ru-RU" dirty="0"/>
              <a:t>Исполнительные устройства</a:t>
            </a:r>
          </a:p>
        </p:txBody>
      </p:sp>
      <p:sp>
        <p:nvSpPr>
          <p:cNvPr id="7" name="Прямоугольник 6">
            <a:extLst>
              <a:ext uri="{FF2B5EF4-FFF2-40B4-BE49-F238E27FC236}">
                <a16:creationId xmlns:a16="http://schemas.microsoft.com/office/drawing/2014/main" id="{F40B8F22-A675-2F6F-B27E-F3ABC36CF21C}"/>
              </a:ext>
            </a:extLst>
          </p:cNvPr>
          <p:cNvSpPr/>
          <p:nvPr/>
        </p:nvSpPr>
        <p:spPr>
          <a:xfrm>
            <a:off x="8571615" y="2128430"/>
            <a:ext cx="1428306" cy="7655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Логика управления 1</a:t>
            </a:r>
          </a:p>
        </p:txBody>
      </p:sp>
      <p:sp>
        <p:nvSpPr>
          <p:cNvPr id="8" name="Прямоугольник 7">
            <a:extLst>
              <a:ext uri="{FF2B5EF4-FFF2-40B4-BE49-F238E27FC236}">
                <a16:creationId xmlns:a16="http://schemas.microsoft.com/office/drawing/2014/main" id="{8355279E-FAC4-58E2-DF41-C89BC136484C}"/>
              </a:ext>
            </a:extLst>
          </p:cNvPr>
          <p:cNvSpPr/>
          <p:nvPr/>
        </p:nvSpPr>
        <p:spPr>
          <a:xfrm>
            <a:off x="10129284" y="2128431"/>
            <a:ext cx="1428306" cy="7655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a:t>Логика управления 2</a:t>
            </a:r>
          </a:p>
        </p:txBody>
      </p:sp>
      <p:sp>
        <p:nvSpPr>
          <p:cNvPr id="10" name="Стрелка: вниз 9">
            <a:extLst>
              <a:ext uri="{FF2B5EF4-FFF2-40B4-BE49-F238E27FC236}">
                <a16:creationId xmlns:a16="http://schemas.microsoft.com/office/drawing/2014/main" id="{9940E32C-4410-0B1E-BF4C-9E22CDBA7F77}"/>
              </a:ext>
            </a:extLst>
          </p:cNvPr>
          <p:cNvSpPr/>
          <p:nvPr/>
        </p:nvSpPr>
        <p:spPr>
          <a:xfrm>
            <a:off x="9144000" y="2908116"/>
            <a:ext cx="290623" cy="286968"/>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
        <p:nvSpPr>
          <p:cNvPr id="11" name="Стрелка: вниз 10">
            <a:extLst>
              <a:ext uri="{FF2B5EF4-FFF2-40B4-BE49-F238E27FC236}">
                <a16:creationId xmlns:a16="http://schemas.microsoft.com/office/drawing/2014/main" id="{42E0BA62-FA3A-AF48-0A12-487F7B11CEC3}"/>
              </a:ext>
            </a:extLst>
          </p:cNvPr>
          <p:cNvSpPr/>
          <p:nvPr/>
        </p:nvSpPr>
        <p:spPr>
          <a:xfrm>
            <a:off x="10698125" y="2901027"/>
            <a:ext cx="290623" cy="286968"/>
          </a:xfrm>
          <a:prstGeom prst="downArrow">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ru-RU"/>
          </a:p>
        </p:txBody>
      </p:sp>
    </p:spTree>
    <p:extLst>
      <p:ext uri="{BB962C8B-B14F-4D97-AF65-F5344CB8AC3E}">
        <p14:creationId xmlns:p14="http://schemas.microsoft.com/office/powerpoint/2010/main" val="162551127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15321</TotalTime>
  <Words>4386</Words>
  <Application>Microsoft Office PowerPoint</Application>
  <PresentationFormat>Widescreen</PresentationFormat>
  <Paragraphs>602</Paragraphs>
  <Slides>38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Calibri Light</vt:lpstr>
      <vt:lpstr>Consolas</vt:lpstr>
      <vt:lpstr>Courier New</vt:lpstr>
      <vt:lpstr>Wingdings</vt:lpstr>
      <vt:lpstr>Тема Office</vt:lpstr>
      <vt:lpstr>Низкоуровневое программирование</vt:lpstr>
      <vt:lpstr>Программная модель ЦП</vt:lpstr>
      <vt:lpstr>Возможные расхождения с реальностью</vt:lpstr>
      <vt:lpstr>Производительность памяти</vt:lpstr>
      <vt:lpstr>Локальность данных</vt:lpstr>
      <vt:lpstr>Кэш-память</vt:lpstr>
      <vt:lpstr>Попадания, промахи и вытеснения</vt:lpstr>
      <vt:lpstr>Запись в кэш. Write-through и Write-back</vt:lpstr>
      <vt:lpstr>Уровни кэш-памяти. Кэш L1</vt:lpstr>
      <vt:lpstr>Кэши L2 и L3</vt:lpstr>
      <vt:lpstr>Кэш-память</vt:lpstr>
      <vt:lpstr>Кэш-память (примеры)</vt:lpstr>
      <vt:lpstr>Кэш-память</vt:lpstr>
      <vt:lpstr>Общая архитектура ядра ЦП</vt:lpstr>
      <vt:lpstr>Устройство ядра ЦП</vt:lpstr>
      <vt:lpstr>Выполнение инструкций процессором</vt:lpstr>
      <vt:lpstr>Чтение инструкций</vt:lpstr>
      <vt:lpstr>Конвейеризация. </vt:lpstr>
      <vt:lpstr>Суперскалярная архитектура (пример)</vt:lpstr>
      <vt:lpstr>Микрооперации</vt:lpstr>
      <vt:lpstr>Микрокод ЦП. Кэш микроопераций</vt:lpstr>
      <vt:lpstr>Внеочередное выполнение</vt:lpstr>
      <vt:lpstr>Внеочередное выполнение</vt:lpstr>
      <vt:lpstr>Зависимость по данным</vt:lpstr>
      <vt:lpstr>Разрыв зависимостей по данным. Переименование регистров. (пример)</vt:lpstr>
      <vt:lpstr>Разрыв зависимостей по данным. Переименование регистров. (пример)</vt:lpstr>
      <vt:lpstr>Ложные зависимости</vt:lpstr>
      <vt:lpstr>Переупорядочивание операций чтения/записи</vt:lpstr>
      <vt:lpstr>Барьеры памяти</vt:lpstr>
      <vt:lpstr>Зависимость по управлению. Предсказание переходов (пример)</vt:lpstr>
      <vt:lpstr>Буферизация записи</vt:lpstr>
      <vt:lpstr>Сериализация микроопераций</vt:lpstr>
      <vt:lpstr>Многоядерные процессоры</vt:lpstr>
      <vt:lpstr>Атомарные операции</vt:lpstr>
      <vt:lpstr>Префикс LOCK (пример)</vt:lpstr>
      <vt:lpstr>Кэширование в  многоядерных системах</vt:lpstr>
      <vt:lpstr>False sharing (пример)</vt:lpstr>
      <vt:lpstr>Simultaneous Multithreading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Низкоуровневое программирование</dc:title>
  <dc:creator>Алексей Борисов</dc:creator>
  <cp:lastModifiedBy>Alexey</cp:lastModifiedBy>
  <cp:revision>225</cp:revision>
  <dcterms:created xsi:type="dcterms:W3CDTF">2021-02-27T16:04:41Z</dcterms:created>
  <dcterms:modified xsi:type="dcterms:W3CDTF">2025-12-15T21:42:58Z</dcterms:modified>
</cp:coreProperties>
</file>