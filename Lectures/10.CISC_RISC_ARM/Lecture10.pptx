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9"/>
  </p:notesMasterIdLst>
  <p:sldIdLst>
    <p:sldId id="256" r:id="rId2"/>
    <p:sldId id="362" r:id="rId3"/>
    <p:sldId id="345" r:id="rId4"/>
    <p:sldId id="346" r:id="rId5"/>
    <p:sldId id="354" r:id="rId6"/>
    <p:sldId id="349" r:id="rId7"/>
    <p:sldId id="358" r:id="rId8"/>
    <p:sldId id="357" r:id="rId9"/>
    <p:sldId id="352" r:id="rId10"/>
    <p:sldId id="351" r:id="rId11"/>
    <p:sldId id="356" r:id="rId12"/>
    <p:sldId id="350" r:id="rId13"/>
    <p:sldId id="359" r:id="rId14"/>
    <p:sldId id="361" r:id="rId15"/>
    <p:sldId id="360" r:id="rId16"/>
    <p:sldId id="364" r:id="rId17"/>
    <p:sldId id="365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Раздел по умолчанию" id="{C0C18FC5-6E96-4EA4-9393-4624A15A57BA}">
          <p14:sldIdLst>
            <p14:sldId id="256"/>
            <p14:sldId id="362"/>
            <p14:sldId id="345"/>
            <p14:sldId id="346"/>
            <p14:sldId id="354"/>
            <p14:sldId id="349"/>
            <p14:sldId id="358"/>
            <p14:sldId id="357"/>
            <p14:sldId id="352"/>
            <p14:sldId id="351"/>
            <p14:sldId id="356"/>
            <p14:sldId id="350"/>
            <p14:sldId id="359"/>
            <p14:sldId id="361"/>
            <p14:sldId id="360"/>
            <p14:sldId id="364"/>
            <p14:sldId id="365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lexey" initials="A" lastIdx="1" clrIdx="0">
    <p:extLst>
      <p:ext uri="{19B8F6BF-5375-455C-9EA6-DF929625EA0E}">
        <p15:presenceInfo xmlns:p15="http://schemas.microsoft.com/office/powerpoint/2012/main" userId="Alexey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40000"/>
    <a:srgbClr val="87B6E1"/>
    <a:srgbClr val="FBE5D6"/>
    <a:srgbClr val="0000FF"/>
    <a:srgbClr val="FF8B8B"/>
    <a:srgbClr val="0094C8"/>
    <a:srgbClr val="53D2FF"/>
    <a:srgbClr val="00729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8B1032C-EA38-4F05-BA0D-38AFFFC7BED3}" styleName="Светлый стиль 3 — акцент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C2FFA5D-87B4-456A-9821-1D502468CF0F}" styleName="Стиль из темы 1 - акцент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Нет стиля, нет сетки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8EC20E35-A176-4012-BC5E-935CFFF8708E}" styleName="Средний стиль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8D230F3-CF80-4859-8CE7-A43EE81993B5}" styleName="Светлый стиль 1 — акцент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912C8C85-51F0-491E-9774-3900AFEF0FD7}" styleName="Светлый стиль 2 — акцент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7DF18680-E054-41AD-8BC1-D1AEF772440D}" styleName="Средний стиль 2 — акцент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5A111915-BE36-4E01-A7E5-04B1672EAD32}" styleName="Светлый стиль 2 — акцент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327F97BB-C833-4FB7-BDE5-3F7075034690}" styleName="Стиль из темы 2 - акцент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C083E6E3-FA7D-4D7B-A595-EF9225AFEA82}" styleName="Светлый стиль 1 — акцент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6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734" y="8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00" d="100"/>
        <a:sy n="200" d="100"/>
      </p:scale>
      <p:origin x="0" y="-31877"/>
    </p:cViewPr>
  </p:sorterViewPr>
  <p:notesViewPr>
    <p:cSldViewPr snapToGrid="0">
      <p:cViewPr varScale="1">
        <p:scale>
          <a:sx n="70" d="100"/>
          <a:sy n="70" d="100"/>
        </p:scale>
        <p:origin x="3500" y="5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commentAuthors" Target="comment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A70136C-4900-4139-A65E-0FFE21BA8660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r>
              <a:rPr lang="ru-RU" dirty="0" err="1"/>
              <a:t>вр</a:t>
            </a:r>
            <a:endParaRPr lang="en-US" dirty="0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B5C656-B1C2-48D6-B4C0-50C1DF62A0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33669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9F24B42-0E25-4A7E-B7D6-9674B89D9E3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C785556B-B022-443D-83AC-7485A88B86C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D99A08A-18EF-4E21-A894-034E4294D4F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928A281-9EB8-427F-B1A2-BB5CDB8396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Введение</a:t>
            </a:r>
            <a:endParaRPr lang="en-US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419546A-E21B-4819-8351-F094DB6BB4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FBA2B-964F-4C4D-AAF7-5A83992646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90659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1082607-438D-4515-8271-35633FBFDE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CBF9345-D2D0-4359-93FF-C2809BBCD7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  <a:endParaRPr lang="en-US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8C4B98D-193A-4E7E-9BEA-6F3C2EE777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l">
              <a:defRPr sz="1800"/>
            </a:lvl1pPr>
          </a:lstStyle>
          <a:p>
            <a:r>
              <a:rPr lang="ru-RU"/>
              <a:t>Введение</a:t>
            </a:r>
            <a:endParaRPr lang="en-US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A8A8E53-6AB8-45F5-8458-43FBA3AB85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800"/>
            </a:lvl1pPr>
          </a:lstStyle>
          <a:p>
            <a:fld id="{B67FBA2B-964F-4C4D-AAF7-5A83992646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11082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E84BB97-026A-4EB6-8279-BE4B55CA7E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7A6FBF6-4F3F-41E8-A64F-B8A683F4BE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8354DB5-B3D6-4EDB-9909-40D48A81AEC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9F0C955-1908-48B6-9150-7193ED69D1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Введение</a:t>
            </a:r>
            <a:endParaRPr lang="en-US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CC7563E-18B2-410D-9817-3B879AA106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FBA2B-964F-4C4D-AAF7-5A83992646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0923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406DCC4-014E-47CE-BFF3-EAE9564A92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B66D607-FBCA-4B15-B062-E45AA60CE0D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12FB3B74-1388-436C-BC7D-DF0753585E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5944EB42-FC5E-4732-8D39-85BD7D44594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795D3CDC-636C-432D-83AE-143CB5C27D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Введение</a:t>
            </a:r>
            <a:endParaRPr lang="en-US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9CC6E501-E3A1-4D96-B216-FC76395225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FBA2B-964F-4C4D-AAF7-5A83992646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80628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9AAB106-F335-4889-B133-0215C05775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8DF2971-2E9F-4E0E-810D-844904D836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E63F5027-2511-41F9-8706-0B42FF7231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7A181A99-0161-4256-9FC3-ECBEBC06F34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A8359298-1003-4941-8DDA-BB77D8FF8F4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116DAD6F-6ACC-4778-851E-7C2FC7C990D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DB817DBD-1FD5-4A1F-8EEF-54F2CDFBC6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Введение</a:t>
            </a:r>
            <a:endParaRPr lang="en-US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3DA5F785-F625-4B7D-A6D0-1866E6AB9C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FBA2B-964F-4C4D-AAF7-5A83992646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99004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EFD0865-6E6F-4F6C-9ADB-8490153D79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AD807B0F-2182-4083-AEF4-15492FFA014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CBD1E51B-05BC-4B55-9EDB-412577C2FF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Введение</a:t>
            </a:r>
            <a:endParaRPr lang="en-US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27EF8A98-69E1-4575-9608-425E1EF6DE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FBA2B-964F-4C4D-AAF7-5A83992646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9394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3EFF670A-5F4C-4552-80BC-36BE7A0D0F6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8A1FE3E8-94B9-4A2A-9DE6-43C4AB55D1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Введение</a:t>
            </a:r>
            <a:endParaRPr lang="en-US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BEB634DB-486D-4D74-8F97-5FDA68E899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FBA2B-964F-4C4D-AAF7-5A83992646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14143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36AC518-993C-4EF2-9F29-9B2181CFB4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8BD7AD4-B430-4725-AB1E-7F24CD1FE5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B98E3CAB-7D42-44CD-B5A0-13B27A5657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CBC79307-2068-4CD8-96B1-D6EA12DD69F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5676925D-4A53-4B35-9542-25F6E3F120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Введение</a:t>
            </a:r>
            <a:endParaRPr lang="en-US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2A61258-9615-4E73-B2A0-2BDE6E7DC4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FBA2B-964F-4C4D-AAF7-5A83992646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17455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01776D7-0540-4DA6-AAE2-F391FD5656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CCA0F336-6616-474B-A11B-02EE61C0A46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EBBFBC25-939E-4FBB-86C3-85F5F655D9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4BEB1EFF-DD78-4110-90B6-F4ECA9D8DC0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68B72029-FB69-40F6-9351-634C607F13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Введение</a:t>
            </a:r>
            <a:endParaRPr lang="en-US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6FE13307-0790-4F95-A50A-E421528D5D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FBA2B-964F-4C4D-AAF7-5A83992646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1528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283C619-5DB0-420B-8DA6-C9D70844EB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AA727C8C-5D04-41CC-9119-BCAE9D9848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58D7C69-F24E-42E8-B75E-4AB73C8E906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4273778-3D61-4FF5-91E9-8EED986B33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Введение</a:t>
            </a:r>
            <a:endParaRPr lang="en-US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09DDFBA-D1D6-4FBE-8BA5-EE146371CA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FBA2B-964F-4C4D-AAF7-5A83992646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60186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FC160B9B-068E-45FF-ABF1-517456125B3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87BDE121-1D3C-4DCA-8A26-7C9E0B9019E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8384099-E0F3-46A0-9264-BAE732E93D8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BFB4418-B1EA-4AE6-AEBE-953C1C7E9C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Введение</a:t>
            </a:r>
            <a:endParaRPr lang="en-US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822D353-A0CE-474D-80EB-75A67EDB51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FBA2B-964F-4C4D-AAF7-5A83992646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93841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09C333E-9900-4FCD-A4BE-6E7C75245A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D3E0A9C9-CCCA-434F-A14F-8416DC5DAA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  <a:endParaRPr lang="en-US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AA36A1B-5D5B-4687-941C-4A2CC178047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200" y="6356350"/>
            <a:ext cx="7315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ru-RU"/>
              <a:t>Введение</a:t>
            </a:r>
            <a:endParaRPr lang="en-US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B1CF36F-C4AB-4875-86C3-377938959A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7FBA2B-964F-4C4D-AAF7-5A83992646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39802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godbolt.org/z/rf5WWTaG8" TargetMode="External"/><Relationship Id="rId2" Type="http://schemas.openxmlformats.org/officeDocument/2006/relationships/hyperlink" Target="https://godbolt.org/z/8cz34PneT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godbolt.org/z/MdcEo3cjf" TargetMode="External"/><Relationship Id="rId2" Type="http://schemas.openxmlformats.org/officeDocument/2006/relationships/hyperlink" Target="https://godbolt.org/z/TeWcPdbsj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godbolt.org/z/rfEcaq5hG" TargetMode="Externa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godbolt.org/z/z9bKshrnG" TargetMode="Externa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godbolt.org/z/erx1vnj6d" TargetMode="External"/><Relationship Id="rId4" Type="http://schemas.openxmlformats.org/officeDocument/2006/relationships/hyperlink" Target="http://www.elbrus.ru/elbrus_arch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73B0387-A424-4232-B826-E72B79246BB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Низкоуровневое программирование</a:t>
            </a:r>
            <a:endParaRPr lang="en-US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7E0B0FE4-1541-4C22-BC3D-263F41B28BF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2684462"/>
          </a:xfrm>
        </p:spPr>
        <p:txBody>
          <a:bodyPr>
            <a:normAutofit/>
          </a:bodyPr>
          <a:lstStyle/>
          <a:p>
            <a:r>
              <a:rPr lang="ru-RU" dirty="0"/>
              <a:t>Лекция </a:t>
            </a:r>
            <a:r>
              <a:rPr lang="en-US"/>
              <a:t>1</a:t>
            </a:r>
            <a:r>
              <a:rPr lang="en-US" dirty="0"/>
              <a:t>0</a:t>
            </a:r>
          </a:p>
          <a:p>
            <a:r>
              <a:rPr lang="en-US" dirty="0"/>
              <a:t>CISC</a:t>
            </a:r>
            <a:r>
              <a:rPr lang="ru-RU" dirty="0"/>
              <a:t> и</a:t>
            </a:r>
            <a:r>
              <a:rPr lang="en-US" dirty="0"/>
              <a:t> RISC </a:t>
            </a:r>
            <a:endParaRPr lang="ru-RU" dirty="0"/>
          </a:p>
          <a:p>
            <a:r>
              <a:rPr lang="ru-RU" dirty="0"/>
              <a:t>Обзор архитектуры </a:t>
            </a:r>
            <a:r>
              <a:rPr lang="en-US" dirty="0"/>
              <a:t>ARM</a:t>
            </a:r>
            <a:endParaRPr lang="ru-RU" dirty="0"/>
          </a:p>
          <a:p>
            <a:r>
              <a:rPr lang="en-US" dirty="0"/>
              <a:t>VLIW</a:t>
            </a:r>
            <a:br>
              <a:rPr lang="ru-RU" dirty="0"/>
            </a:b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116441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7CCCA90-9FAD-C867-572F-F6E1C8EFE3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CISC</a:t>
            </a:r>
            <a:r>
              <a:rPr lang="ru-RU" dirty="0"/>
              <a:t>-архитектуры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181475A-405A-D611-019E-8D8C58416F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1169650" cy="47656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000" dirty="0">
                <a:cs typeface="Courier New" panose="02070309020205020404" pitchFamily="49" charset="0"/>
              </a:rPr>
              <a:t>Архитектуры типа </a:t>
            </a:r>
            <a:r>
              <a:rPr lang="en-US" sz="2000" dirty="0">
                <a:cs typeface="Courier New" panose="02070309020205020404" pitchFamily="49" charset="0"/>
              </a:rPr>
              <a:t>CISC (Compete Instruction Set Architectures) </a:t>
            </a:r>
            <a:r>
              <a:rPr lang="ru-RU" sz="2000" dirty="0">
                <a:cs typeface="Courier New" panose="02070309020205020404" pitchFamily="49" charset="0"/>
              </a:rPr>
              <a:t>исторически появились первыми.</a:t>
            </a:r>
          </a:p>
          <a:p>
            <a:pPr marL="0" indent="0">
              <a:buNone/>
            </a:pPr>
            <a:r>
              <a:rPr lang="ru-RU" sz="2000" dirty="0">
                <a:cs typeface="Courier New" panose="02070309020205020404" pitchFamily="49" charset="0"/>
              </a:rPr>
              <a:t>Поскольку на начальном этапе развития ЭВМ многие программы писались на языке ассемблера, набор инструкций </a:t>
            </a:r>
            <a:r>
              <a:rPr lang="en-US" sz="2000" dirty="0">
                <a:cs typeface="Courier New" panose="02070309020205020404" pitchFamily="49" charset="0"/>
              </a:rPr>
              <a:t>CISC-</a:t>
            </a:r>
            <a:r>
              <a:rPr lang="ru-RU" sz="2000" dirty="0">
                <a:cs typeface="Courier New" panose="02070309020205020404" pitchFamily="49" charset="0"/>
              </a:rPr>
              <a:t>архитектур создавались с учетом удобства программиста.</a:t>
            </a:r>
          </a:p>
          <a:p>
            <a:pPr marL="0" indent="0">
              <a:buNone/>
            </a:pPr>
            <a:r>
              <a:rPr lang="ru-RU" sz="2000" dirty="0">
                <a:cs typeface="Courier New" panose="02070309020205020404" pitchFamily="49" charset="0"/>
              </a:rPr>
              <a:t>В частности, в </a:t>
            </a:r>
            <a:r>
              <a:rPr lang="en-US" sz="2000" dirty="0">
                <a:cs typeface="Courier New" panose="02070309020205020404" pitchFamily="49" charset="0"/>
              </a:rPr>
              <a:t>CISC</a:t>
            </a:r>
            <a:r>
              <a:rPr lang="ru-RU" sz="2000" dirty="0">
                <a:cs typeface="Courier New" panose="02070309020205020404" pitchFamily="49" charset="0"/>
              </a:rPr>
              <a:t>-архитектурах присутствуют «сложные» инструкции, которые могут фактически выполнять несколько действий одновременно (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INC [RAX] </a:t>
            </a:r>
            <a:r>
              <a:rPr lang="ru-RU" sz="2000" dirty="0">
                <a:cs typeface="Courier New" panose="02070309020205020404" pitchFamily="49" charset="0"/>
              </a:rPr>
              <a:t>выполнит чтение-сложение-запись).</a:t>
            </a:r>
            <a:endParaRPr lang="en-US" sz="2000" dirty="0"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ru-RU" sz="2000" dirty="0">
                <a:cs typeface="Courier New" panose="02070309020205020404" pitchFamily="49" charset="0"/>
              </a:rPr>
              <a:t>Наличие сложных инструкций, кодирующих несколько действий, положительно сказывается на размере программы –</a:t>
            </a:r>
            <a:r>
              <a:rPr lang="en-US" sz="2000" dirty="0">
                <a:cs typeface="Courier New" panose="02070309020205020404" pitchFamily="49" charset="0"/>
              </a:rPr>
              <a:t>&gt;</a:t>
            </a:r>
            <a:r>
              <a:rPr lang="ru-RU" sz="2000" dirty="0">
                <a:cs typeface="Courier New" panose="02070309020205020404" pitchFamily="49" charset="0"/>
              </a:rPr>
              <a:t> экономится память.</a:t>
            </a:r>
            <a:r>
              <a:rPr lang="en-US" sz="2000" dirty="0">
                <a:cs typeface="Courier New" panose="02070309020205020404" pitchFamily="49" charset="0"/>
              </a:rPr>
              <a:t> </a:t>
            </a:r>
            <a:r>
              <a:rPr lang="ru-RU" sz="2000" dirty="0">
                <a:cs typeface="Courier New" panose="02070309020205020404" pitchFamily="49" charset="0"/>
              </a:rPr>
              <a:t>С целью этой же экономии памяти инструкции в </a:t>
            </a:r>
            <a:r>
              <a:rPr lang="en-US" sz="2000" dirty="0">
                <a:cs typeface="Courier New" panose="02070309020205020404" pitchFamily="49" charset="0"/>
              </a:rPr>
              <a:t>CISC</a:t>
            </a:r>
            <a:r>
              <a:rPr lang="ru-RU" sz="2000" dirty="0">
                <a:cs typeface="Courier New" panose="02070309020205020404" pitchFamily="49" charset="0"/>
              </a:rPr>
              <a:t>-архитектурах кодируются переменным количеством байт (более редкие инструкции кодируются более длинными последовательностями).</a:t>
            </a:r>
            <a:endParaRPr lang="en-US" sz="2000" dirty="0"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ru-RU" sz="2000" dirty="0">
                <a:cs typeface="Courier New" panose="02070309020205020404" pitchFamily="49" charset="0"/>
              </a:rPr>
              <a:t>Набор инструкций  имеет размер за счет некоторой избыточности – вариаций одной инструкции (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INC [RAX], INC RAX</a:t>
            </a:r>
            <a:r>
              <a:rPr lang="ru-RU" sz="2000" dirty="0">
                <a:cs typeface="Courier New" panose="02070309020205020404" pitchFamily="49" charset="0"/>
              </a:rPr>
              <a:t>) и инструкций для специальных случаев (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ADD RAX, 1 ~ INC RAX</a:t>
            </a:r>
            <a:r>
              <a:rPr lang="ru-RU" sz="2000" dirty="0">
                <a:cs typeface="Courier New" panose="02070309020205020404" pitchFamily="49" charset="0"/>
              </a:rPr>
              <a:t>)</a:t>
            </a:r>
            <a:r>
              <a:rPr lang="en-US" sz="2000" dirty="0">
                <a:cs typeface="Courier New" panose="02070309020205020404" pitchFamily="49" charset="0"/>
              </a:rPr>
              <a:t>.</a:t>
            </a:r>
            <a:endParaRPr lang="ru-RU" sz="2000" dirty="0"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ru-RU" sz="2000" i="1" dirty="0">
                <a:cs typeface="Courier New" panose="02070309020205020404" pitchFamily="49" charset="0"/>
              </a:rPr>
              <a:t>Оборотной стороной такого подхода является усложнение выборки и декодирования инструкций.</a:t>
            </a:r>
          </a:p>
          <a:p>
            <a:pPr marL="0" indent="0">
              <a:buNone/>
            </a:pPr>
            <a:r>
              <a:rPr lang="ru-RU" sz="2000" dirty="0">
                <a:cs typeface="Courier New" panose="02070309020205020404" pitchFamily="49" charset="0"/>
              </a:rPr>
              <a:t>Наиболее известным примером </a:t>
            </a:r>
            <a:r>
              <a:rPr lang="en-US" sz="2000" dirty="0">
                <a:cs typeface="Courier New" panose="02070309020205020404" pitchFamily="49" charset="0"/>
              </a:rPr>
              <a:t>CISC-</a:t>
            </a:r>
            <a:r>
              <a:rPr lang="ru-RU" sz="2000" dirty="0">
                <a:cs typeface="Courier New" panose="02070309020205020404" pitchFamily="49" charset="0"/>
              </a:rPr>
              <a:t>архитектуры является архитектура </a:t>
            </a:r>
            <a:r>
              <a:rPr lang="en-US" sz="2000" dirty="0">
                <a:cs typeface="Courier New" panose="02070309020205020404" pitchFamily="49" charset="0"/>
              </a:rPr>
              <a:t>x86-64.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CEF4BEC5-EBBD-DD6D-3EB2-08008928DB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FBA2B-964F-4C4D-AAF7-5A8399264638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89314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7CCCA90-9FAD-C867-572F-F6E1C8EFE3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RISC</a:t>
            </a:r>
            <a:r>
              <a:rPr lang="ru-RU" dirty="0"/>
              <a:t>-архитектуры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181475A-405A-D611-019E-8D8C58416F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1201400" cy="4816475"/>
          </a:xfrm>
        </p:spPr>
        <p:txBody>
          <a:bodyPr numCol="1">
            <a:normAutofit/>
          </a:bodyPr>
          <a:lstStyle/>
          <a:p>
            <a:pPr marL="0" indent="0">
              <a:buNone/>
            </a:pPr>
            <a:r>
              <a:rPr lang="ru-RU" sz="2000" dirty="0"/>
              <a:t>Архитектуры семейства </a:t>
            </a:r>
            <a:r>
              <a:rPr lang="en-US" sz="2000" dirty="0"/>
              <a:t>RISC (reduced instruction set computer) </a:t>
            </a:r>
            <a:r>
              <a:rPr lang="ru-RU" sz="2000" dirty="0"/>
              <a:t>имеют уменьшенный набор инструкций, за счет устранения избыточности </a:t>
            </a:r>
            <a:r>
              <a:rPr lang="en-US" sz="2000" dirty="0"/>
              <a:t>(</a:t>
            </a:r>
            <a:r>
              <a:rPr lang="ru-RU" sz="2000" dirty="0"/>
              <a:t>есть 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ADD R</a:t>
            </a:r>
            <a:r>
              <a:rPr lang="ru-RU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,1</a:t>
            </a:r>
            <a:r>
              <a:rPr lang="ru-RU" sz="2000" dirty="0"/>
              <a:t>, но нет 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ADD [R0],1</a:t>
            </a:r>
            <a:r>
              <a:rPr lang="en-US" sz="2000" dirty="0"/>
              <a:t>  </a:t>
            </a:r>
            <a:r>
              <a:rPr lang="ru-RU" sz="2000" dirty="0"/>
              <a:t>или 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INC R0</a:t>
            </a:r>
            <a:r>
              <a:rPr lang="ru-RU" sz="2000" dirty="0"/>
              <a:t>)</a:t>
            </a:r>
            <a:r>
              <a:rPr lang="en-US" sz="2000" dirty="0"/>
              <a:t>.</a:t>
            </a:r>
            <a:r>
              <a:rPr lang="ru-RU" sz="2000" dirty="0"/>
              <a:t> В </a:t>
            </a:r>
            <a:r>
              <a:rPr lang="en-US" sz="2000" dirty="0"/>
              <a:t>RISC-</a:t>
            </a:r>
            <a:r>
              <a:rPr lang="ru-RU" sz="2000" dirty="0"/>
              <a:t>архитектурах нет инструкций, выполняющих разнотипные действия ( вычисления и загрузку/выгрузку).</a:t>
            </a:r>
          </a:p>
          <a:p>
            <a:pPr marL="0" indent="0">
              <a:buNone/>
            </a:pPr>
            <a:r>
              <a:rPr lang="ru-RU" sz="2000" dirty="0">
                <a:cs typeface="Courier New" panose="02070309020205020404" pitchFamily="49" charset="0"/>
              </a:rPr>
              <a:t>Существенным плюсом </a:t>
            </a:r>
            <a:r>
              <a:rPr lang="en-US" sz="2000" dirty="0">
                <a:cs typeface="Courier New" panose="02070309020205020404" pitchFamily="49" charset="0"/>
              </a:rPr>
              <a:t>RISC</a:t>
            </a:r>
            <a:r>
              <a:rPr lang="ru-RU" sz="2000" dirty="0">
                <a:cs typeface="Courier New" panose="02070309020205020404" pitchFamily="49" charset="0"/>
              </a:rPr>
              <a:t>-архитектур является отсутствие необходимости в сложном декодере инструкций. Это упрощает схемотехнику ЦП и увеличивает производительность.</a:t>
            </a:r>
          </a:p>
          <a:p>
            <a:pPr marL="0" indent="0">
              <a:buNone/>
            </a:pPr>
            <a:r>
              <a:rPr lang="ru-RU" sz="2000" dirty="0">
                <a:cs typeface="Courier New" panose="02070309020205020404" pitchFamily="49" charset="0"/>
              </a:rPr>
              <a:t>С другой стороны, программе для </a:t>
            </a:r>
            <a:r>
              <a:rPr lang="en-US" sz="2000" dirty="0">
                <a:cs typeface="Courier New" panose="02070309020205020404" pitchFamily="49" charset="0"/>
              </a:rPr>
              <a:t>RISC-</a:t>
            </a:r>
            <a:r>
              <a:rPr lang="ru-RU" sz="2000" dirty="0">
                <a:cs typeface="Courier New" panose="02070309020205020404" pitchFamily="49" charset="0"/>
              </a:rPr>
              <a:t>архитектуры требуется больше инструкций для достижения того же результата, что (потенциально) ведет к увеличению общего размера программы и снижению эффективности кэширования. </a:t>
            </a:r>
          </a:p>
          <a:p>
            <a:pPr marL="0" indent="0">
              <a:buNone/>
            </a:pPr>
            <a:r>
              <a:rPr lang="ru-RU" sz="2000" dirty="0">
                <a:cs typeface="Courier New" panose="02070309020205020404" pitchFamily="49" charset="0"/>
              </a:rPr>
              <a:t>Частично это компенсируется тем, что для </a:t>
            </a:r>
            <a:r>
              <a:rPr lang="en-US" sz="2000" dirty="0">
                <a:cs typeface="Courier New" panose="02070309020205020404" pitchFamily="49" charset="0"/>
              </a:rPr>
              <a:t>RISC</a:t>
            </a:r>
            <a:r>
              <a:rPr lang="ru-RU" sz="2000" dirty="0">
                <a:cs typeface="Courier New" panose="02070309020205020404" pitchFamily="49" charset="0"/>
              </a:rPr>
              <a:t>-архитектур инструкции кодируются последовательностями одинаковой или кратной длины. Это увеличивает предсказуемость чтения, по сравнению с </a:t>
            </a:r>
            <a:r>
              <a:rPr lang="en-US" sz="2000" dirty="0">
                <a:cs typeface="Courier New" panose="02070309020205020404" pitchFamily="49" charset="0"/>
              </a:rPr>
              <a:t>CISC-</a:t>
            </a:r>
            <a:r>
              <a:rPr lang="ru-RU" sz="2000" dirty="0">
                <a:cs typeface="Courier New" panose="02070309020205020404" pitchFamily="49" charset="0"/>
              </a:rPr>
              <a:t>архитектурами (для </a:t>
            </a:r>
            <a:r>
              <a:rPr lang="en-US" sz="2000" dirty="0">
                <a:cs typeface="Courier New" panose="02070309020205020404" pitchFamily="49" charset="0"/>
              </a:rPr>
              <a:t>x86-64 </a:t>
            </a:r>
            <a:r>
              <a:rPr lang="ru-RU" sz="2000" dirty="0">
                <a:cs typeface="Courier New" panose="02070309020205020404" pitchFamily="49" charset="0"/>
              </a:rPr>
              <a:t>инструкция кодируется 1-15 байтами).</a:t>
            </a:r>
          </a:p>
          <a:p>
            <a:pPr marL="0" indent="0">
              <a:buNone/>
            </a:pPr>
            <a:r>
              <a:rPr lang="ru-RU" sz="2000" dirty="0">
                <a:cs typeface="Courier New" panose="02070309020205020404" pitchFamily="49" charset="0"/>
              </a:rPr>
              <a:t>Наиболее успешной </a:t>
            </a:r>
            <a:r>
              <a:rPr lang="en-US" sz="2000" dirty="0">
                <a:cs typeface="Courier New" panose="02070309020205020404" pitchFamily="49" charset="0"/>
              </a:rPr>
              <a:t>RISC-</a:t>
            </a:r>
            <a:r>
              <a:rPr lang="ru-RU" sz="2000" dirty="0">
                <a:cs typeface="Courier New" panose="02070309020205020404" pitchFamily="49" charset="0"/>
              </a:rPr>
              <a:t>архитектурой является </a:t>
            </a:r>
            <a:r>
              <a:rPr lang="en-US" sz="2000" dirty="0">
                <a:cs typeface="Courier New" panose="02070309020205020404" pitchFamily="49" charset="0"/>
              </a:rPr>
              <a:t>ARM.</a:t>
            </a:r>
            <a:endParaRPr lang="ru-RU" sz="2000" dirty="0">
              <a:cs typeface="Courier New" panose="02070309020205020404" pitchFamily="49" charset="0"/>
            </a:endParaRP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CEF4BEC5-EBBD-DD6D-3EB2-08008928DB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FBA2B-964F-4C4D-AAF7-5A8399264638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04637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C3A6D2E-2629-DF44-68C3-CFD7998091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Advanced RISC Machine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5C29627-0C13-7A8D-A2E3-856A722103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u-RU" sz="2000" dirty="0"/>
              <a:t>Семейство архитектур набора команд </a:t>
            </a:r>
            <a:r>
              <a:rPr lang="en-US" sz="2000" b="1" dirty="0"/>
              <a:t>ARM</a:t>
            </a:r>
            <a:r>
              <a:rPr lang="en-US" sz="2000" dirty="0"/>
              <a:t> </a:t>
            </a:r>
            <a:r>
              <a:rPr lang="ru-RU" sz="2000" dirty="0"/>
              <a:t>является доминирующей в мобильном сегменте. Как следует из названия, </a:t>
            </a:r>
            <a:r>
              <a:rPr lang="en-US" sz="2000" dirty="0"/>
              <a:t>ARM – RISC-</a:t>
            </a:r>
            <a:r>
              <a:rPr lang="ru-RU" sz="2000" dirty="0"/>
              <a:t>архитектура.</a:t>
            </a:r>
          </a:p>
          <a:p>
            <a:pPr marL="0" indent="0">
              <a:buNone/>
            </a:pPr>
            <a:r>
              <a:rPr lang="ru-RU" sz="2000" dirty="0"/>
              <a:t>По аналогии с </a:t>
            </a:r>
            <a:r>
              <a:rPr lang="en-US" sz="2000" dirty="0"/>
              <a:t>x86, </a:t>
            </a:r>
            <a:r>
              <a:rPr lang="ru-RU" sz="2000" dirty="0"/>
              <a:t>семейство </a:t>
            </a:r>
            <a:r>
              <a:rPr lang="en-US" sz="2000" dirty="0"/>
              <a:t>ARM </a:t>
            </a:r>
            <a:r>
              <a:rPr lang="ru-RU" sz="2000" dirty="0"/>
              <a:t>эволюционировало последовательно. Конкретные архитектуры именуются </a:t>
            </a:r>
            <a:r>
              <a:rPr lang="en-US" sz="2000" dirty="0" err="1"/>
              <a:t>ARMv</a:t>
            </a:r>
            <a:r>
              <a:rPr lang="en-US" sz="2000" i="1" dirty="0" err="1"/>
              <a:t>X</a:t>
            </a:r>
            <a:r>
              <a:rPr lang="en-US" sz="2000" dirty="0"/>
              <a:t>, </a:t>
            </a:r>
            <a:r>
              <a:rPr lang="ru-RU" sz="2000" dirty="0"/>
              <a:t>где </a:t>
            </a:r>
            <a:r>
              <a:rPr lang="en-US" sz="2000" dirty="0"/>
              <a:t>X – </a:t>
            </a:r>
            <a:r>
              <a:rPr lang="ru-RU" sz="2000" dirty="0"/>
              <a:t>номер</a:t>
            </a:r>
            <a:r>
              <a:rPr lang="en-US" sz="2000" dirty="0"/>
              <a:t>. </a:t>
            </a:r>
            <a:r>
              <a:rPr lang="ru-RU" sz="2000" dirty="0"/>
              <a:t>Последней версией является архитектура </a:t>
            </a:r>
            <a:r>
              <a:rPr lang="en-US" sz="2000" dirty="0"/>
              <a:t>ARMv9.</a:t>
            </a:r>
          </a:p>
          <a:p>
            <a:pPr marL="0" indent="0">
              <a:buNone/>
            </a:pPr>
            <a:r>
              <a:rPr lang="ru-RU" sz="2000" dirty="0"/>
              <a:t>Архитектуры </a:t>
            </a:r>
            <a:r>
              <a:rPr lang="en-US" sz="2000" dirty="0"/>
              <a:t>ARMv1-7 </a:t>
            </a:r>
            <a:r>
              <a:rPr lang="ru-RU" sz="2000" dirty="0"/>
              <a:t>являются 32-битными. В </a:t>
            </a:r>
            <a:r>
              <a:rPr lang="en-US" sz="2000" dirty="0"/>
              <a:t>ARMv8 </a:t>
            </a:r>
            <a:r>
              <a:rPr lang="ru-RU" sz="2000" dirty="0"/>
              <a:t>появился (опциональный для реализации) 64-битный режим работы ЦП</a:t>
            </a:r>
            <a:r>
              <a:rPr lang="en-US" sz="2000" dirty="0"/>
              <a:t> - Aarch64</a:t>
            </a:r>
            <a:r>
              <a:rPr lang="ru-RU" sz="2000" dirty="0"/>
              <a:t>. 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E10B173A-3B01-AFBD-D35A-32BECC346C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FBA2B-964F-4C4D-AAF7-5A8399264638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50335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C3A6D2E-2629-DF44-68C3-CFD7998091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Регистры в </a:t>
            </a:r>
            <a:r>
              <a:rPr lang="en-US" dirty="0"/>
              <a:t>ARM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5C29627-0C13-7A8D-A2E3-856A722103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6086" y="1464760"/>
            <a:ext cx="6391483" cy="502811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b="1" dirty="0"/>
              <a:t>R0-12</a:t>
            </a:r>
            <a:r>
              <a:rPr lang="en-US" sz="2000" dirty="0"/>
              <a:t> - </a:t>
            </a:r>
            <a:r>
              <a:rPr lang="ru-RU" sz="2000" dirty="0"/>
              <a:t>регистры общего назначения </a:t>
            </a:r>
          </a:p>
          <a:p>
            <a:pPr marL="0" indent="0">
              <a:buNone/>
            </a:pPr>
            <a:r>
              <a:rPr lang="en-US" sz="2000" b="1" dirty="0"/>
              <a:t>R13</a:t>
            </a:r>
            <a:r>
              <a:rPr lang="ru-RU" sz="2000" b="1" dirty="0"/>
              <a:t>/</a:t>
            </a:r>
            <a:r>
              <a:rPr lang="en-US" sz="2000" b="1" dirty="0"/>
              <a:t>SP </a:t>
            </a:r>
            <a:r>
              <a:rPr lang="ru-RU" sz="2000" dirty="0"/>
              <a:t>– указатель вершины стека (аналог </a:t>
            </a:r>
            <a:r>
              <a:rPr lang="en-US" sz="2000" dirty="0"/>
              <a:t>RSP</a:t>
            </a:r>
            <a:r>
              <a:rPr lang="ru-RU" sz="2000" dirty="0"/>
              <a:t>)</a:t>
            </a:r>
            <a:endParaRPr lang="en-US" sz="2000" dirty="0"/>
          </a:p>
          <a:p>
            <a:pPr marL="0" indent="0">
              <a:buNone/>
            </a:pPr>
            <a:r>
              <a:rPr lang="en-US" sz="2000" b="1" dirty="0"/>
              <a:t>R14/LR </a:t>
            </a:r>
            <a:r>
              <a:rPr lang="en-US" sz="2000" dirty="0"/>
              <a:t>– Link Register</a:t>
            </a:r>
            <a:r>
              <a:rPr lang="ru-RU" sz="2000" dirty="0"/>
              <a:t> (</a:t>
            </a:r>
            <a:r>
              <a:rPr lang="en-US" sz="2000" dirty="0"/>
              <a:t>LR), </a:t>
            </a:r>
            <a:r>
              <a:rPr lang="ru-RU" sz="2000" dirty="0"/>
              <a:t>хранит адрес возврата из текущей процедуры.</a:t>
            </a:r>
            <a:endParaRPr lang="en-US" sz="2000" dirty="0"/>
          </a:p>
          <a:p>
            <a:pPr marL="0" indent="0">
              <a:buNone/>
            </a:pPr>
            <a:r>
              <a:rPr lang="en-US" sz="2000" b="1" dirty="0"/>
              <a:t>R15</a:t>
            </a:r>
            <a:r>
              <a:rPr lang="ru-RU" sz="2000" b="1" dirty="0"/>
              <a:t> (</a:t>
            </a:r>
            <a:r>
              <a:rPr lang="en-US" sz="2000" b="1" dirty="0"/>
              <a:t>IP</a:t>
            </a:r>
            <a:r>
              <a:rPr lang="ru-RU" sz="2000" b="1" dirty="0"/>
              <a:t>)</a:t>
            </a:r>
            <a:r>
              <a:rPr lang="en-US" sz="2000" b="1" dirty="0"/>
              <a:t> </a:t>
            </a:r>
            <a:r>
              <a:rPr lang="en-US" sz="2000" dirty="0"/>
              <a:t>– </a:t>
            </a:r>
            <a:r>
              <a:rPr lang="ru-RU" sz="2000" dirty="0"/>
              <a:t>программный счетчик</a:t>
            </a:r>
            <a:r>
              <a:rPr lang="en-US" sz="2000" dirty="0"/>
              <a:t> (</a:t>
            </a:r>
            <a:r>
              <a:rPr lang="ru-RU" sz="2000" dirty="0"/>
              <a:t>аналог </a:t>
            </a:r>
            <a:r>
              <a:rPr lang="en-US" sz="2000" dirty="0"/>
              <a:t>RIP), </a:t>
            </a:r>
            <a:r>
              <a:rPr lang="ru-RU" sz="2000" dirty="0"/>
              <a:t>хранит адрес инструкции, </a:t>
            </a:r>
            <a:r>
              <a:rPr lang="ru-RU" sz="2000" i="1" dirty="0"/>
              <a:t>следующей за следующей</a:t>
            </a:r>
            <a:r>
              <a:rPr lang="ru-RU" sz="2000" dirty="0"/>
              <a:t>.</a:t>
            </a:r>
          </a:p>
          <a:p>
            <a:pPr marL="0" indent="0">
              <a:buNone/>
            </a:pPr>
            <a:r>
              <a:rPr lang="en-US" sz="2000" b="1" dirty="0"/>
              <a:t>PSR/PSTATE</a:t>
            </a:r>
            <a:r>
              <a:rPr lang="ru-RU" sz="2000" b="1" dirty="0"/>
              <a:t> </a:t>
            </a:r>
            <a:r>
              <a:rPr lang="en-US" sz="2000" dirty="0"/>
              <a:t> – Program Status Register (</a:t>
            </a:r>
            <a:r>
              <a:rPr lang="ru-RU" sz="2000" dirty="0"/>
              <a:t>аналог </a:t>
            </a:r>
            <a:r>
              <a:rPr lang="en-US" sz="2000" dirty="0"/>
              <a:t>RFLAGS). </a:t>
            </a:r>
          </a:p>
          <a:p>
            <a:pPr marL="0" indent="0">
              <a:buNone/>
            </a:pPr>
            <a:r>
              <a:rPr lang="en-US" sz="2000" b="1" dirty="0"/>
              <a:t>V0-15</a:t>
            </a:r>
            <a:r>
              <a:rPr lang="en-US" sz="2000" dirty="0"/>
              <a:t> </a:t>
            </a:r>
            <a:r>
              <a:rPr lang="ru-RU" sz="2000" dirty="0"/>
              <a:t>– векторные регистры (аналог </a:t>
            </a:r>
            <a:r>
              <a:rPr lang="en-US" sz="2000" dirty="0"/>
              <a:t>XMM).</a:t>
            </a:r>
          </a:p>
          <a:p>
            <a:pPr marL="0" indent="0">
              <a:buNone/>
            </a:pPr>
            <a:r>
              <a:rPr lang="en-US" sz="2000" b="1" dirty="0"/>
              <a:t>FPCR</a:t>
            </a:r>
            <a:r>
              <a:rPr lang="ru-RU" sz="2000" dirty="0"/>
              <a:t> – управляющий регистр  </a:t>
            </a:r>
            <a:r>
              <a:rPr lang="en-US" sz="2000" dirty="0"/>
              <a:t>FPU</a:t>
            </a:r>
            <a:endParaRPr lang="ru-RU" sz="2000" dirty="0"/>
          </a:p>
          <a:p>
            <a:pPr marL="0" indent="0">
              <a:buNone/>
            </a:pPr>
            <a:r>
              <a:rPr lang="en-US" sz="2000" b="1" dirty="0"/>
              <a:t>FPSR</a:t>
            </a:r>
            <a:r>
              <a:rPr lang="en-US" sz="2000" dirty="0"/>
              <a:t> – </a:t>
            </a:r>
            <a:r>
              <a:rPr lang="ru-RU" sz="2000" dirty="0"/>
              <a:t>регистр состояния </a:t>
            </a:r>
            <a:r>
              <a:rPr lang="en-US" sz="2000" dirty="0"/>
              <a:t>FPU</a:t>
            </a:r>
            <a:endParaRPr lang="ru-RU" sz="2000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E10B173A-3B01-AFBD-D35A-32BECC346C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FBA2B-964F-4C4D-AAF7-5A8399264638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97DA693D-1296-D017-40CC-948E77A5B90A}"/>
              </a:ext>
            </a:extLst>
          </p:cNvPr>
          <p:cNvSpPr/>
          <p:nvPr/>
        </p:nvSpPr>
        <p:spPr>
          <a:xfrm>
            <a:off x="8382828" y="1508125"/>
            <a:ext cx="1440000" cy="365125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R0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2D414637-272D-6850-42D6-F58DDEF717D9}"/>
              </a:ext>
            </a:extLst>
          </p:cNvPr>
          <p:cNvSpPr/>
          <p:nvPr/>
        </p:nvSpPr>
        <p:spPr>
          <a:xfrm>
            <a:off x="9909783" y="1505900"/>
            <a:ext cx="1440000" cy="365125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R1</a:t>
            </a: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AA4B1EEC-40D9-82E0-6A5C-8AAD6DA50396}"/>
              </a:ext>
            </a:extLst>
          </p:cNvPr>
          <p:cNvSpPr/>
          <p:nvPr/>
        </p:nvSpPr>
        <p:spPr>
          <a:xfrm>
            <a:off x="8382828" y="2055358"/>
            <a:ext cx="1440000" cy="365125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R10</a:t>
            </a: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2B0C4C77-A3F4-92C3-FDC6-FCA573C4C31F}"/>
              </a:ext>
            </a:extLst>
          </p:cNvPr>
          <p:cNvSpPr/>
          <p:nvPr/>
        </p:nvSpPr>
        <p:spPr>
          <a:xfrm>
            <a:off x="9909783" y="2055358"/>
            <a:ext cx="1440000" cy="365125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R11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19F32AF-CF40-59DD-05C4-99DDE93A18F6}"/>
              </a:ext>
            </a:extLst>
          </p:cNvPr>
          <p:cNvSpPr txBox="1"/>
          <p:nvPr/>
        </p:nvSpPr>
        <p:spPr>
          <a:xfrm>
            <a:off x="9708243" y="1688463"/>
            <a:ext cx="343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…</a:t>
            </a: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60A5747E-DC59-B615-359E-B7D1B85713F4}"/>
              </a:ext>
            </a:extLst>
          </p:cNvPr>
          <p:cNvSpPr/>
          <p:nvPr/>
        </p:nvSpPr>
        <p:spPr>
          <a:xfrm>
            <a:off x="9909783" y="2648900"/>
            <a:ext cx="1440000" cy="3651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R13 (SP)</a:t>
            </a:r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C6C8C06F-91F8-DE9F-23D8-4AAB2A715834}"/>
              </a:ext>
            </a:extLst>
          </p:cNvPr>
          <p:cNvSpPr/>
          <p:nvPr/>
        </p:nvSpPr>
        <p:spPr>
          <a:xfrm>
            <a:off x="8382828" y="3697418"/>
            <a:ext cx="1440000" cy="36512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PSR</a:t>
            </a:r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21D53D6B-67C5-F6AC-981B-438AA2EDC358}"/>
              </a:ext>
            </a:extLst>
          </p:cNvPr>
          <p:cNvSpPr/>
          <p:nvPr/>
        </p:nvSpPr>
        <p:spPr>
          <a:xfrm>
            <a:off x="8382828" y="3175950"/>
            <a:ext cx="1440000" cy="36512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R14 (LR)</a:t>
            </a:r>
          </a:p>
        </p:txBody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E25C2C44-62D3-69DF-8D18-9A6F319263D4}"/>
              </a:ext>
            </a:extLst>
          </p:cNvPr>
          <p:cNvSpPr/>
          <p:nvPr/>
        </p:nvSpPr>
        <p:spPr>
          <a:xfrm>
            <a:off x="8382828" y="2648900"/>
            <a:ext cx="1440000" cy="365125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R12</a:t>
            </a:r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7549D8A7-D399-3831-CA51-8F758BBF4156}"/>
              </a:ext>
            </a:extLst>
          </p:cNvPr>
          <p:cNvSpPr/>
          <p:nvPr/>
        </p:nvSpPr>
        <p:spPr>
          <a:xfrm>
            <a:off x="9909783" y="3171742"/>
            <a:ext cx="1440000" cy="36512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R15 (IP)</a:t>
            </a:r>
          </a:p>
        </p:txBody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EE7D6C86-01E8-74B7-6E95-6C4FAEA26A0A}"/>
              </a:ext>
            </a:extLst>
          </p:cNvPr>
          <p:cNvSpPr/>
          <p:nvPr/>
        </p:nvSpPr>
        <p:spPr>
          <a:xfrm>
            <a:off x="8382828" y="4298656"/>
            <a:ext cx="1440000" cy="365125"/>
          </a:xfrm>
          <a:prstGeom prst="rect">
            <a:avLst/>
          </a:prstGeom>
          <a:solidFill>
            <a:schemeClr val="tx2">
              <a:lumMod val="50000"/>
            </a:schemeClr>
          </a:solidFill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V0</a:t>
            </a:r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267B1A92-F81B-AF66-A8C8-64384E4477A3}"/>
              </a:ext>
            </a:extLst>
          </p:cNvPr>
          <p:cNvSpPr/>
          <p:nvPr/>
        </p:nvSpPr>
        <p:spPr>
          <a:xfrm>
            <a:off x="9909783" y="4295276"/>
            <a:ext cx="1440000" cy="365125"/>
          </a:xfrm>
          <a:prstGeom prst="rect">
            <a:avLst/>
          </a:prstGeom>
          <a:solidFill>
            <a:schemeClr val="tx2">
              <a:lumMod val="50000"/>
            </a:schemeClr>
          </a:solidFill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V1</a:t>
            </a:r>
          </a:p>
        </p:txBody>
      </p:sp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2B427EF0-966F-87D3-DDE7-74EBDB94904E}"/>
              </a:ext>
            </a:extLst>
          </p:cNvPr>
          <p:cNvSpPr/>
          <p:nvPr/>
        </p:nvSpPr>
        <p:spPr>
          <a:xfrm>
            <a:off x="8369209" y="4892897"/>
            <a:ext cx="1440000" cy="365125"/>
          </a:xfrm>
          <a:prstGeom prst="rect">
            <a:avLst/>
          </a:prstGeom>
          <a:solidFill>
            <a:schemeClr val="tx2">
              <a:lumMod val="50000"/>
            </a:schemeClr>
          </a:solidFill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V14</a:t>
            </a:r>
          </a:p>
        </p:txBody>
      </p:sp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E79FF937-6D6D-3255-C7A6-593AFE190790}"/>
              </a:ext>
            </a:extLst>
          </p:cNvPr>
          <p:cNvSpPr/>
          <p:nvPr/>
        </p:nvSpPr>
        <p:spPr>
          <a:xfrm>
            <a:off x="9913800" y="4892898"/>
            <a:ext cx="1440000" cy="365125"/>
          </a:xfrm>
          <a:prstGeom prst="rect">
            <a:avLst/>
          </a:prstGeom>
          <a:solidFill>
            <a:schemeClr val="tx2">
              <a:lumMod val="50000"/>
            </a:schemeClr>
          </a:solidFill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V15</a:t>
            </a:r>
          </a:p>
        </p:txBody>
      </p:sp>
      <p:sp>
        <p:nvSpPr>
          <p:cNvPr id="25" name="Прямоугольник 24">
            <a:extLst>
              <a:ext uri="{FF2B5EF4-FFF2-40B4-BE49-F238E27FC236}">
                <a16:creationId xmlns:a16="http://schemas.microsoft.com/office/drawing/2014/main" id="{56AE43BE-4121-F0AC-8013-8FC910DFF300}"/>
              </a:ext>
            </a:extLst>
          </p:cNvPr>
          <p:cNvSpPr/>
          <p:nvPr/>
        </p:nvSpPr>
        <p:spPr>
          <a:xfrm>
            <a:off x="8369209" y="5470296"/>
            <a:ext cx="1440000" cy="365125"/>
          </a:xfrm>
          <a:prstGeom prst="rect">
            <a:avLst/>
          </a:prstGeom>
          <a:solidFill>
            <a:schemeClr val="tx2">
              <a:lumMod val="50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FPSR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7D2E42E-3DAD-84DD-DB2C-124818FF9DDF}"/>
              </a:ext>
            </a:extLst>
          </p:cNvPr>
          <p:cNvSpPr txBox="1"/>
          <p:nvPr/>
        </p:nvSpPr>
        <p:spPr>
          <a:xfrm>
            <a:off x="9708243" y="4519357"/>
            <a:ext cx="343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…</a:t>
            </a:r>
          </a:p>
        </p:txBody>
      </p:sp>
      <p:sp>
        <p:nvSpPr>
          <p:cNvPr id="27" name="Прямоугольник 26">
            <a:extLst>
              <a:ext uri="{FF2B5EF4-FFF2-40B4-BE49-F238E27FC236}">
                <a16:creationId xmlns:a16="http://schemas.microsoft.com/office/drawing/2014/main" id="{F97A2CFD-5E3A-9F89-0F16-561712BDF5ED}"/>
              </a:ext>
            </a:extLst>
          </p:cNvPr>
          <p:cNvSpPr/>
          <p:nvPr/>
        </p:nvSpPr>
        <p:spPr>
          <a:xfrm>
            <a:off x="9909783" y="5468520"/>
            <a:ext cx="1440000" cy="365125"/>
          </a:xfrm>
          <a:prstGeom prst="rect">
            <a:avLst/>
          </a:prstGeom>
          <a:solidFill>
            <a:schemeClr val="tx2">
              <a:lumMod val="50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FPCR</a:t>
            </a:r>
          </a:p>
        </p:txBody>
      </p:sp>
    </p:spTree>
    <p:extLst>
      <p:ext uri="{BB962C8B-B14F-4D97-AF65-F5344CB8AC3E}">
        <p14:creationId xmlns:p14="http://schemas.microsoft.com/office/powerpoint/2010/main" val="16557736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C3A6D2E-2629-DF44-68C3-CFD7998091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Основные особенности </a:t>
            </a:r>
            <a:r>
              <a:rPr lang="en-US" dirty="0"/>
              <a:t>ARM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5C29627-0C13-7A8D-A2E3-856A722103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752793"/>
          </a:xfrm>
        </p:spPr>
        <p:txBody>
          <a:bodyPr>
            <a:normAutofit/>
          </a:bodyPr>
          <a:lstStyle/>
          <a:p>
            <a:pPr marL="457200" indent="-457200">
              <a:buAutoNum type="arabicPeriod"/>
            </a:pPr>
            <a:r>
              <a:rPr lang="en-US" sz="2000" dirty="0"/>
              <a:t>Load-store</a:t>
            </a:r>
            <a:r>
              <a:rPr lang="ru-RU" sz="2000" dirty="0"/>
              <a:t> архитектура –  чтение из памяти выполняется инструкциями 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LDR/POP</a:t>
            </a:r>
            <a:r>
              <a:rPr lang="en-US" sz="2000" dirty="0"/>
              <a:t>, </a:t>
            </a:r>
            <a:r>
              <a:rPr lang="ru-RU" sz="2000" dirty="0"/>
              <a:t>запись в память – 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STR/PUSH</a:t>
            </a:r>
            <a:r>
              <a:rPr lang="en-US" sz="2000" dirty="0"/>
              <a:t>, </a:t>
            </a:r>
            <a:r>
              <a:rPr lang="ru-RU" sz="2000" dirty="0"/>
              <a:t>остальные инструкции работают только с регистрами (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INC [RAX] </a:t>
            </a:r>
            <a:r>
              <a:rPr lang="en-US" sz="2000" dirty="0"/>
              <a:t>- </a:t>
            </a:r>
            <a:r>
              <a:rPr lang="ru-RU" sz="2000" dirty="0"/>
              <a:t>нельзя)</a:t>
            </a:r>
            <a:r>
              <a:rPr lang="en-US" sz="2000" dirty="0"/>
              <a:t>.</a:t>
            </a:r>
            <a:endParaRPr lang="ru-RU" sz="2000" dirty="0"/>
          </a:p>
          <a:p>
            <a:pPr marL="457200" indent="-457200">
              <a:buAutoNum type="arabicPeriod"/>
            </a:pPr>
            <a:r>
              <a:rPr lang="ru-RU" sz="2000" dirty="0"/>
              <a:t>Архитектура-«конструктор» – есть набор обязательных требований и опциональных расширений  (например, наличие векторных инструкций,  возможность переключения порядка байтов или обязательность выровненного доступа в память).</a:t>
            </a:r>
          </a:p>
          <a:p>
            <a:pPr marL="457200" indent="-457200">
              <a:buAutoNum type="arabicPeriod"/>
            </a:pPr>
            <a:r>
              <a:rPr lang="ru-RU" sz="2000" dirty="0"/>
              <a:t>Фиксированная ширина инструкции</a:t>
            </a:r>
            <a:r>
              <a:rPr lang="en-US" sz="2000" dirty="0"/>
              <a:t> </a:t>
            </a:r>
            <a:r>
              <a:rPr lang="ru-RU" sz="2000" dirty="0"/>
              <a:t>при стандартной кодировке (32 бита).</a:t>
            </a:r>
          </a:p>
          <a:p>
            <a:pPr marL="457200" indent="-457200">
              <a:buAutoNum type="arabicPeriod"/>
            </a:pPr>
            <a:r>
              <a:rPr lang="ru-RU" sz="2000" dirty="0"/>
              <a:t>Специальный режим с укороченной кодировкой (</a:t>
            </a:r>
            <a:r>
              <a:rPr lang="en-US" sz="2000" dirty="0"/>
              <a:t>Thumb mode</a:t>
            </a:r>
            <a:r>
              <a:rPr lang="ru-RU" sz="2000" dirty="0"/>
              <a:t>, 16 бит на инструкцию). Переключение осуществляется во время выполнения инструкцией 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BX</a:t>
            </a:r>
            <a:r>
              <a:rPr lang="en-US" sz="2000" dirty="0"/>
              <a:t>.</a:t>
            </a:r>
            <a:endParaRPr lang="ru-RU" sz="2000" dirty="0"/>
          </a:p>
          <a:p>
            <a:pPr marL="457200" indent="-457200">
              <a:buAutoNum type="arabicPeriod"/>
            </a:pPr>
            <a:r>
              <a:rPr lang="ru-RU" sz="2000" dirty="0"/>
              <a:t>Большое количество  регистров общего назначения (16 в</a:t>
            </a:r>
            <a:r>
              <a:rPr lang="en-US" sz="2000" dirty="0"/>
              <a:t> </a:t>
            </a:r>
            <a:r>
              <a:rPr lang="en-US" sz="2000" dirty="0" err="1"/>
              <a:t>Aarch</a:t>
            </a:r>
            <a:r>
              <a:rPr lang="ru-RU" sz="2000" dirty="0"/>
              <a:t>32</a:t>
            </a:r>
            <a:r>
              <a:rPr lang="en-US" sz="2000" dirty="0"/>
              <a:t>,  32 </a:t>
            </a:r>
            <a:r>
              <a:rPr lang="ru-RU" sz="2000" dirty="0"/>
              <a:t>в </a:t>
            </a:r>
            <a:r>
              <a:rPr lang="en-US" sz="2000" dirty="0"/>
              <a:t>Aarch64</a:t>
            </a:r>
            <a:r>
              <a:rPr lang="ru-RU" sz="2000" dirty="0"/>
              <a:t> ). </a:t>
            </a:r>
            <a:endParaRPr lang="en-US" sz="2000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E10B173A-3B01-AFBD-D35A-32BECC346C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FBA2B-964F-4C4D-AAF7-5A8399264638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59184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C3A6D2E-2629-DF44-68C3-CFD7998091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Основные особенности </a:t>
            </a:r>
            <a:r>
              <a:rPr lang="en-US" dirty="0"/>
              <a:t>ARM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5C29627-0C13-7A8D-A2E3-856A722103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17762"/>
            <a:ext cx="10737850" cy="4530725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 startAt="5"/>
            </a:pPr>
            <a:r>
              <a:rPr lang="ru-RU" sz="2000" dirty="0" err="1"/>
              <a:t>Трехоперандный</a:t>
            </a:r>
            <a:r>
              <a:rPr lang="ru-RU" sz="2000" dirty="0"/>
              <a:t> синтаксис инструкций </a:t>
            </a:r>
            <a:r>
              <a:rPr lang="en-US" sz="2000" dirty="0"/>
              <a:t>(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ADD R0, R1, R2 </a:t>
            </a:r>
            <a:r>
              <a:rPr lang="en-US" sz="2000" dirty="0"/>
              <a:t>-&gt; R0=R1+R2).</a:t>
            </a:r>
            <a:endParaRPr lang="ru-RU" sz="2000" dirty="0"/>
          </a:p>
          <a:p>
            <a:pPr marL="457200" indent="-457200">
              <a:buAutoNum type="arabicPeriod" startAt="5"/>
            </a:pPr>
            <a:r>
              <a:rPr lang="ru-RU" sz="2000" dirty="0"/>
              <a:t>Только 32-битные операции – нет деления регистров на части.</a:t>
            </a:r>
          </a:p>
          <a:p>
            <a:pPr marL="457200" indent="-457200">
              <a:buAutoNum type="arabicPeriod" startAt="5"/>
            </a:pPr>
            <a:r>
              <a:rPr lang="ru-RU" sz="2000" dirty="0"/>
              <a:t>Наличие </a:t>
            </a:r>
            <a:r>
              <a:rPr lang="en-US" sz="2000" dirty="0"/>
              <a:t>LR </a:t>
            </a:r>
            <a:r>
              <a:rPr lang="ru-RU" sz="2000" dirty="0"/>
              <a:t>– при вызове процедуры адрес возврата сохраняется в специальный регистр</a:t>
            </a:r>
            <a:r>
              <a:rPr lang="en-US" sz="2000" dirty="0"/>
              <a:t>, </a:t>
            </a:r>
            <a:r>
              <a:rPr lang="ru-RU" sz="2000" dirty="0"/>
              <a:t>что ускоряет вызов листовых функций. Если функция вызывает другие функции, значение из </a:t>
            </a:r>
            <a:r>
              <a:rPr lang="en-US" sz="2000" dirty="0"/>
              <a:t>LR </a:t>
            </a:r>
            <a:r>
              <a:rPr lang="ru-RU" sz="2000" dirty="0"/>
              <a:t>должно явно сохраняться на стек инструкцией 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PUSH</a:t>
            </a:r>
            <a:r>
              <a:rPr lang="en-US" sz="2000" dirty="0"/>
              <a:t> (</a:t>
            </a:r>
            <a:r>
              <a:rPr lang="ru-RU" sz="2000" dirty="0"/>
              <a:t> </a:t>
            </a:r>
            <a:r>
              <a:rPr lang="en-US" sz="2000" dirty="0">
                <a:hlinkClick r:id="rId2"/>
              </a:rPr>
              <a:t>https://godbolt.org/z/8cz34PneT</a:t>
            </a:r>
            <a:r>
              <a:rPr lang="en-US" sz="2000" dirty="0"/>
              <a:t>). </a:t>
            </a:r>
            <a:endParaRPr lang="ru-RU" sz="2000" dirty="0"/>
          </a:p>
          <a:p>
            <a:pPr marL="457200" indent="-457200">
              <a:buFont typeface="Arial" panose="020B0604020202020204" pitchFamily="34" charset="0"/>
              <a:buAutoNum type="arabicPeriod" startAt="5"/>
            </a:pPr>
            <a:r>
              <a:rPr lang="ru-RU" sz="2000" dirty="0"/>
              <a:t>Арифметические операции имеют по 2 варианта – с обновлением флагов в </a:t>
            </a:r>
            <a:r>
              <a:rPr lang="en-US" sz="2000" dirty="0"/>
              <a:t>PSR </a:t>
            </a:r>
            <a:r>
              <a:rPr lang="ru-RU" sz="2000" dirty="0"/>
              <a:t>и без обновления (</a:t>
            </a:r>
            <a:r>
              <a:rPr lang="en-US" sz="2000" dirty="0"/>
              <a:t>ADD</a:t>
            </a:r>
            <a:r>
              <a:rPr lang="en-US" sz="2000" b="1" dirty="0"/>
              <a:t>S</a:t>
            </a:r>
            <a:r>
              <a:rPr lang="en-US" sz="2000" dirty="0"/>
              <a:t> </a:t>
            </a:r>
            <a:r>
              <a:rPr lang="ru-RU" sz="2000" dirty="0"/>
              <a:t>и </a:t>
            </a:r>
            <a:r>
              <a:rPr lang="en-US" sz="2000" dirty="0"/>
              <a:t>ADD</a:t>
            </a:r>
            <a:r>
              <a:rPr lang="ru-RU" sz="2000" dirty="0"/>
              <a:t>)</a:t>
            </a:r>
            <a:r>
              <a:rPr lang="en-US" sz="2000" dirty="0"/>
              <a:t>. </a:t>
            </a:r>
            <a:endParaRPr lang="ru-RU" sz="2000" dirty="0"/>
          </a:p>
          <a:p>
            <a:pPr marL="457200" indent="-457200">
              <a:buAutoNum type="arabicPeriod" startAt="5"/>
            </a:pPr>
            <a:r>
              <a:rPr lang="ru-RU" sz="2000" dirty="0"/>
              <a:t>Наличие предикации – многие инструкции могут выполняться или не выполняться в зависимости от результата предыдущего сравнения (например, </a:t>
            </a:r>
            <a:r>
              <a:rPr lang="en-US" sz="2000" dirty="0"/>
              <a:t>ADDNE –</a:t>
            </a:r>
            <a:r>
              <a:rPr lang="ru-RU" sz="2000" dirty="0"/>
              <a:t> выполнить сложение</a:t>
            </a:r>
            <a:r>
              <a:rPr lang="en-US" sz="2000" dirty="0"/>
              <a:t> ADD</a:t>
            </a:r>
            <a:r>
              <a:rPr lang="ru-RU" sz="2000" dirty="0"/>
              <a:t> при </a:t>
            </a:r>
            <a:r>
              <a:rPr lang="en-US" sz="2000" dirty="0"/>
              <a:t>!=).</a:t>
            </a:r>
            <a:r>
              <a:rPr lang="ru-RU" sz="2000" dirty="0"/>
              <a:t> (</a:t>
            </a:r>
            <a:r>
              <a:rPr lang="en-US" sz="2000" dirty="0">
                <a:hlinkClick r:id="rId3"/>
              </a:rPr>
              <a:t>https://godbolt.org/z/rf5WWTaG8</a:t>
            </a:r>
            <a:r>
              <a:rPr lang="ru-RU" sz="2000" dirty="0"/>
              <a:t>)</a:t>
            </a:r>
          </a:p>
          <a:p>
            <a:pPr marL="0" indent="0">
              <a:buNone/>
            </a:pPr>
            <a:endParaRPr lang="ru-RU" sz="2000" dirty="0"/>
          </a:p>
          <a:p>
            <a:pPr marL="0" indent="0">
              <a:buNone/>
            </a:pPr>
            <a:r>
              <a:rPr lang="ru-RU" sz="2000" dirty="0"/>
              <a:t>Пункты 8 и 9 позволяют писать короткие </a:t>
            </a:r>
            <a:r>
              <a:rPr lang="en-US" sz="2000" dirty="0"/>
              <a:t>if-else </a:t>
            </a:r>
            <a:r>
              <a:rPr lang="ru-RU" sz="2000" dirty="0"/>
              <a:t>без условных переходов.</a:t>
            </a:r>
            <a:endParaRPr lang="en-US" sz="2000" dirty="0"/>
          </a:p>
          <a:p>
            <a:pPr marL="457200" indent="-457200">
              <a:buAutoNum type="arabicPeriod" startAt="5"/>
            </a:pPr>
            <a:endParaRPr lang="ru-RU" sz="2000" dirty="0"/>
          </a:p>
          <a:p>
            <a:pPr marL="0" indent="0">
              <a:buNone/>
            </a:pPr>
            <a:endParaRPr lang="ru-RU" sz="2000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E10B173A-3B01-AFBD-D35A-32BECC346C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FBA2B-964F-4C4D-AAF7-5A8399264638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79660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C3A6D2E-2629-DF44-68C3-CFD7998091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Основные особенности </a:t>
            </a:r>
            <a:r>
              <a:rPr lang="en-US" dirty="0"/>
              <a:t>ARM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5C29627-0C13-7A8D-A2E3-856A722103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53072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000" dirty="0"/>
              <a:t>10. Схема сдвига на входе АЛУ – сдвиг может вычисляться одновременно с другими операциями</a:t>
            </a:r>
            <a:r>
              <a:rPr lang="en-US" sz="2000" dirty="0"/>
              <a:t>. </a:t>
            </a:r>
            <a:br>
              <a:rPr lang="en-US" sz="2000" dirty="0"/>
            </a:br>
            <a:r>
              <a:rPr lang="pt-B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ADD  R0, R1, R2, LSL #3 </a:t>
            </a:r>
            <a:r>
              <a:rPr lang="pt-BR" sz="2000" dirty="0"/>
              <a:t>-&gt; R0=R1+(R2 &lt;&lt; 3) </a:t>
            </a:r>
            <a:endParaRPr lang="en-US" sz="2000" dirty="0"/>
          </a:p>
          <a:p>
            <a:pPr marL="0" indent="0">
              <a:buNone/>
            </a:pPr>
            <a:r>
              <a:rPr lang="ru-RU" sz="2000" dirty="0"/>
              <a:t>11. Продвинутые </a:t>
            </a:r>
            <a:r>
              <a:rPr lang="en-US" sz="2000" dirty="0"/>
              <a:t>PUSH </a:t>
            </a:r>
            <a:r>
              <a:rPr lang="ru-RU" sz="2000" dirty="0"/>
              <a:t>и </a:t>
            </a:r>
            <a:r>
              <a:rPr lang="en-US" sz="2000" dirty="0"/>
              <a:t>POP</a:t>
            </a:r>
            <a:r>
              <a:rPr lang="ru-RU" sz="2000" dirty="0"/>
              <a:t> и инструкции загрузки</a:t>
            </a:r>
            <a:r>
              <a:rPr lang="en-US" sz="2000" dirty="0"/>
              <a:t>/</a:t>
            </a:r>
            <a:r>
              <a:rPr lang="ru-RU" sz="2000" dirty="0"/>
              <a:t>выгрузки</a:t>
            </a:r>
            <a:r>
              <a:rPr lang="en-US" sz="2000" dirty="0"/>
              <a:t> – </a:t>
            </a:r>
            <a:r>
              <a:rPr lang="ru-RU" sz="2000" dirty="0"/>
              <a:t>вызволяют одновременно сохранять на стек несколько регистров</a:t>
            </a:r>
            <a:r>
              <a:rPr lang="en-US" sz="2000" dirty="0"/>
              <a:t> </a:t>
            </a:r>
            <a:br>
              <a:rPr lang="en-US" sz="2000" dirty="0"/>
            </a:b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PUSH {R0, R1}           LDM {R1, R2}, [R0]</a:t>
            </a:r>
          </a:p>
          <a:p>
            <a:pPr marL="0" indent="0">
              <a:buNone/>
            </a:pPr>
            <a:r>
              <a:rPr lang="ru-RU" sz="2000" dirty="0">
                <a:cs typeface="Courier New" panose="02070309020205020404" pitchFamily="49" charset="0"/>
              </a:rPr>
              <a:t>12. Возможность обновления адреса в регистре при чтении/записи</a:t>
            </a:r>
            <a:endParaRPr lang="en-US" sz="2000" dirty="0"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LDR R0, [R1, #4]    </a:t>
            </a:r>
            <a:r>
              <a:rPr lang="en-US" sz="2000" dirty="0">
                <a:cs typeface="Courier New" panose="02070309020205020404" pitchFamily="49" charset="0"/>
              </a:rPr>
              <a:t>// R0 = *(R1+4)          </a:t>
            </a:r>
            <a:br>
              <a:rPr lang="en-US" sz="2000" dirty="0">
                <a:cs typeface="Courier New" panose="02070309020205020404" pitchFamily="49" charset="0"/>
              </a:rPr>
            </a:b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LDR R0, [R1, #4]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!</a:t>
            </a:r>
            <a:r>
              <a:rPr lang="en-US" sz="2000" dirty="0">
                <a:cs typeface="Courier New" panose="02070309020205020404" pitchFamily="49" charset="0"/>
              </a:rPr>
              <a:t>        // R1+=4, R0=*R1</a:t>
            </a:r>
            <a:br>
              <a:rPr lang="en-US" sz="2000" dirty="0">
                <a:cs typeface="Courier New" panose="02070309020205020404" pitchFamily="49" charset="0"/>
              </a:rPr>
            </a:b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LDR R0, [R1]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#4</a:t>
            </a:r>
            <a:r>
              <a:rPr lang="en-US" sz="2000" dirty="0">
                <a:cs typeface="Courier New" panose="02070309020205020404" pitchFamily="49" charset="0"/>
              </a:rPr>
              <a:t>             // R0=*R1, R1+=4</a:t>
            </a:r>
            <a:br>
              <a:rPr lang="en-US" sz="2000" dirty="0">
                <a:cs typeface="Courier New" panose="02070309020205020404" pitchFamily="49" charset="0"/>
              </a:rPr>
            </a:br>
            <a:br>
              <a:rPr lang="ru-RU" sz="2000" dirty="0">
                <a:cs typeface="Courier New" panose="02070309020205020404" pitchFamily="49" charset="0"/>
              </a:rPr>
            </a:br>
            <a:endParaRPr lang="ru-RU" sz="2000" dirty="0">
              <a:cs typeface="Courier New" panose="02070309020205020404" pitchFamily="49" charset="0"/>
            </a:endParaRP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E10B173A-3B01-AFBD-D35A-32BECC346C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FBA2B-964F-4C4D-AAF7-5A8399264638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59574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C3A6D2E-2629-DF44-68C3-CFD7998091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Векторные</a:t>
            </a:r>
            <a:r>
              <a:rPr lang="en-US" dirty="0"/>
              <a:t> </a:t>
            </a:r>
            <a:r>
              <a:rPr lang="ru-RU" dirty="0"/>
              <a:t>и вещественные операции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5C29627-0C13-7A8D-A2E3-856A722103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>
              <a:buAutoNum type="arabicPeriod"/>
            </a:pPr>
            <a:r>
              <a:rPr lang="ru-RU" sz="2000" dirty="0"/>
              <a:t>По аналогии с </a:t>
            </a:r>
            <a:r>
              <a:rPr lang="en-US" sz="2000" dirty="0"/>
              <a:t>SSE</a:t>
            </a:r>
            <a:r>
              <a:rPr lang="ru-RU" sz="2000" dirty="0"/>
              <a:t>, для осуществления скалярных операций используется младшая часть векторного регистра. Например, 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D0</a:t>
            </a:r>
            <a:r>
              <a:rPr lang="en-US" sz="2000" dirty="0"/>
              <a:t> </a:t>
            </a:r>
            <a:r>
              <a:rPr lang="ru-RU" sz="2000" dirty="0"/>
              <a:t>и 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S0</a:t>
            </a:r>
            <a:r>
              <a:rPr lang="en-US" sz="2000" dirty="0"/>
              <a:t> – </a:t>
            </a:r>
            <a:r>
              <a:rPr lang="ru-RU" sz="2000" dirty="0"/>
              <a:t>64- и</a:t>
            </a:r>
            <a:r>
              <a:rPr lang="en-US" sz="2000" dirty="0"/>
              <a:t> </a:t>
            </a:r>
            <a:r>
              <a:rPr lang="ru-RU" sz="2000" dirty="0"/>
              <a:t>32-битная части регистра </a:t>
            </a:r>
            <a:r>
              <a:rPr lang="en-US" sz="2000" dirty="0"/>
              <a:t>V0.</a:t>
            </a:r>
          </a:p>
          <a:p>
            <a:pPr marL="457200" indent="-457200">
              <a:buAutoNum type="arabicPeriod"/>
            </a:pPr>
            <a:r>
              <a:rPr lang="ru-RU" sz="2000" dirty="0"/>
              <a:t>Одни  и те же мнемоники используются для векторных и скалярных операций. Ширина вектора указывается вместе с регистром. Например:</a:t>
            </a:r>
            <a:br>
              <a:rPr lang="ru-RU" sz="2000" dirty="0"/>
            </a:b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FADD S0   ,S0    , S1</a:t>
            </a:r>
            <a:r>
              <a:rPr lang="ru-RU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   </a:t>
            </a:r>
            <a:r>
              <a:rPr lang="ru-RU" sz="2000" dirty="0"/>
              <a:t>//скалярная инструкция</a:t>
            </a:r>
            <a:br>
              <a:rPr lang="en-US" sz="2000" dirty="0"/>
            </a:b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FADD V0.2S, V0.2S, V1.2S</a:t>
            </a:r>
            <a:r>
              <a:rPr lang="ru-RU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ru-RU" sz="2000" dirty="0"/>
              <a:t>//векторная инструкция</a:t>
            </a:r>
            <a:r>
              <a:rPr lang="en-US" sz="2000" dirty="0"/>
              <a:t> </a:t>
            </a:r>
            <a:r>
              <a:rPr lang="ru-RU" sz="2000" dirty="0"/>
              <a:t> </a:t>
            </a:r>
            <a:r>
              <a:rPr lang="en-US" sz="2000" dirty="0"/>
              <a:t>(</a:t>
            </a:r>
            <a:r>
              <a:rPr lang="ru-RU" sz="2000" dirty="0"/>
              <a:t>2 </a:t>
            </a:r>
            <a:r>
              <a:rPr lang="en-US" sz="2000" dirty="0"/>
              <a:t>float)</a:t>
            </a:r>
            <a:br>
              <a:rPr lang="en-US" sz="2000" dirty="0"/>
            </a:b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FADD V0.4S, V0.4S, V1.4S  </a:t>
            </a:r>
            <a:r>
              <a:rPr lang="ru-RU" sz="2000" dirty="0"/>
              <a:t>//векторная инструкция</a:t>
            </a:r>
            <a:r>
              <a:rPr lang="en-US" sz="2000" dirty="0"/>
              <a:t> </a:t>
            </a:r>
            <a:r>
              <a:rPr lang="ru-RU" sz="2000" dirty="0"/>
              <a:t> </a:t>
            </a:r>
            <a:r>
              <a:rPr lang="en-US" sz="2000" dirty="0"/>
              <a:t>(4</a:t>
            </a:r>
            <a:r>
              <a:rPr lang="ru-RU" sz="2000" dirty="0"/>
              <a:t> </a:t>
            </a:r>
            <a:r>
              <a:rPr lang="en-US" sz="2000" dirty="0"/>
              <a:t>float)</a:t>
            </a:r>
            <a:br>
              <a:rPr lang="en-US" sz="2000" dirty="0"/>
            </a:b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ADD  V0.8B, V0.8B, V1.8B  </a:t>
            </a:r>
            <a:r>
              <a:rPr lang="ru-RU" sz="2000" dirty="0"/>
              <a:t>//векторная инструкция</a:t>
            </a:r>
            <a:r>
              <a:rPr lang="en-US" sz="2000" dirty="0"/>
              <a:t> </a:t>
            </a:r>
            <a:r>
              <a:rPr lang="ru-RU" sz="2000" dirty="0"/>
              <a:t> </a:t>
            </a:r>
            <a:r>
              <a:rPr lang="en-US" sz="2000" dirty="0"/>
              <a:t>(8</a:t>
            </a:r>
            <a:r>
              <a:rPr lang="ru-RU" sz="2000" dirty="0"/>
              <a:t> </a:t>
            </a:r>
            <a:r>
              <a:rPr lang="en-US" sz="2000" dirty="0"/>
              <a:t>char)</a:t>
            </a:r>
          </a:p>
          <a:p>
            <a:pPr marL="457200" indent="-457200">
              <a:buAutoNum type="arabicPeriod"/>
            </a:pPr>
            <a:endParaRPr lang="en-US" sz="2000" dirty="0"/>
          </a:p>
          <a:p>
            <a:pPr marL="457200" indent="-457200">
              <a:buAutoNum type="arabicPeriod"/>
            </a:pPr>
            <a:endParaRPr lang="en-US" sz="2000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E10B173A-3B01-AFBD-D35A-32BECC346C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FBA2B-964F-4C4D-AAF7-5A8399264638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66117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C3A6D2E-2629-DF44-68C3-CFD7998091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Контроль привилегий в </a:t>
            </a:r>
            <a:r>
              <a:rPr lang="en-US" dirty="0"/>
              <a:t>ARM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5C29627-0C13-7A8D-A2E3-856A722103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77950"/>
            <a:ext cx="10515600" cy="479901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000" dirty="0"/>
              <a:t>Архитектура </a:t>
            </a:r>
            <a:r>
              <a:rPr lang="en-US" sz="2000" dirty="0"/>
              <a:t>ARM</a:t>
            </a:r>
            <a:r>
              <a:rPr lang="ru-RU" sz="2000" dirty="0"/>
              <a:t> определяет 2 уровня привилегий</a:t>
            </a:r>
            <a:r>
              <a:rPr lang="en-US" sz="2000" dirty="0"/>
              <a:t>*</a:t>
            </a:r>
            <a:r>
              <a:rPr lang="ru-RU" sz="2000" dirty="0"/>
              <a:t> </a:t>
            </a:r>
            <a:r>
              <a:rPr lang="en-US" sz="2000" dirty="0"/>
              <a:t>PL0-1 </a:t>
            </a:r>
            <a:r>
              <a:rPr lang="ru-RU" sz="2000" dirty="0"/>
              <a:t> (соответствуют кольцу 3 и кольцу 0) и 7 режимов работы - </a:t>
            </a:r>
            <a:r>
              <a:rPr lang="en-US" sz="2000" dirty="0"/>
              <a:t>User, System, Supervisor, IRQ, Fast IRQ, </a:t>
            </a:r>
            <a:r>
              <a:rPr lang="en-US" sz="2000" dirty="0" err="1"/>
              <a:t>Undef</a:t>
            </a:r>
            <a:r>
              <a:rPr lang="en-US" sz="2000" dirty="0"/>
              <a:t> </a:t>
            </a:r>
            <a:r>
              <a:rPr lang="ru-RU" sz="2000" dirty="0"/>
              <a:t>и </a:t>
            </a:r>
            <a:r>
              <a:rPr lang="en-US" sz="2000" dirty="0"/>
              <a:t>Abort. </a:t>
            </a:r>
            <a:r>
              <a:rPr lang="ru-RU" sz="2000" dirty="0"/>
              <a:t>В режиме </a:t>
            </a:r>
            <a:r>
              <a:rPr lang="en-US" sz="2000" dirty="0"/>
              <a:t>User </a:t>
            </a:r>
            <a:r>
              <a:rPr lang="ru-RU" sz="2000" dirty="0"/>
              <a:t>применяется </a:t>
            </a:r>
            <a:r>
              <a:rPr lang="en-US" sz="2000" dirty="0"/>
              <a:t>PL0, </a:t>
            </a:r>
            <a:r>
              <a:rPr lang="ru-RU" sz="2000" dirty="0"/>
              <a:t>в остальных режимах  </a:t>
            </a:r>
            <a:r>
              <a:rPr lang="en-US" sz="2000" dirty="0"/>
              <a:t>- PL1.</a:t>
            </a:r>
            <a:endParaRPr lang="ru-RU" sz="2000" dirty="0"/>
          </a:p>
          <a:p>
            <a:pPr marL="0" indent="0">
              <a:buNone/>
            </a:pPr>
            <a:r>
              <a:rPr lang="ru-RU" sz="2000" dirty="0"/>
              <a:t>Режимы </a:t>
            </a:r>
            <a:r>
              <a:rPr lang="en-US" sz="2000" dirty="0"/>
              <a:t>User </a:t>
            </a:r>
            <a:r>
              <a:rPr lang="ru-RU" sz="2000" dirty="0"/>
              <a:t>и </a:t>
            </a:r>
            <a:r>
              <a:rPr lang="en-US" sz="2000" dirty="0"/>
              <a:t>System </a:t>
            </a:r>
            <a:r>
              <a:rPr lang="ru-RU" sz="2000" dirty="0"/>
              <a:t>имеют полностью общий набор регистров. Остальные режимы имеют собственные регистры </a:t>
            </a:r>
            <a:r>
              <a:rPr lang="en-US" sz="2000" dirty="0"/>
              <a:t>SP, LR </a:t>
            </a:r>
            <a:r>
              <a:rPr lang="ru-RU" sz="2000" dirty="0"/>
              <a:t>и </a:t>
            </a:r>
            <a:r>
              <a:rPr lang="en-US" sz="2000" dirty="0"/>
              <a:t>SPSR</a:t>
            </a:r>
            <a:r>
              <a:rPr lang="ru-RU" sz="2000" dirty="0"/>
              <a:t> (как следствие – у каждого режима свой стек). </a:t>
            </a:r>
          </a:p>
          <a:p>
            <a:pPr marL="0" indent="0">
              <a:buNone/>
            </a:pPr>
            <a:r>
              <a:rPr lang="ru-RU" sz="2000" dirty="0"/>
              <a:t>При переключении между режимами содержимое регистра </a:t>
            </a:r>
            <a:r>
              <a:rPr lang="en-US" sz="2000" dirty="0"/>
              <a:t>PSR </a:t>
            </a:r>
            <a:r>
              <a:rPr lang="ru-RU" sz="2000" dirty="0"/>
              <a:t>копируется в специальный регистр </a:t>
            </a:r>
            <a:r>
              <a:rPr lang="en-US" sz="2000" dirty="0"/>
              <a:t>SPSR (saved PSR), </a:t>
            </a:r>
            <a:r>
              <a:rPr lang="ru-RU" sz="2000" dirty="0"/>
              <a:t>а точка возврата – в регистр </a:t>
            </a:r>
            <a:r>
              <a:rPr lang="en-US" sz="2000" dirty="0"/>
              <a:t>LR</a:t>
            </a:r>
            <a:r>
              <a:rPr lang="ru-RU" sz="2000" dirty="0"/>
              <a:t> целевого режима</a:t>
            </a:r>
            <a:r>
              <a:rPr lang="en-US" sz="2000" dirty="0"/>
              <a:t>.</a:t>
            </a:r>
            <a:r>
              <a:rPr lang="ru-RU" sz="2000" dirty="0"/>
              <a:t> При обратном переключении состояние </a:t>
            </a:r>
            <a:r>
              <a:rPr lang="en-US" sz="2000" dirty="0"/>
              <a:t>PSR </a:t>
            </a:r>
            <a:r>
              <a:rPr lang="ru-RU" sz="2000" dirty="0"/>
              <a:t>и </a:t>
            </a:r>
            <a:r>
              <a:rPr lang="en-US" sz="2000" dirty="0"/>
              <a:t>LR </a:t>
            </a:r>
            <a:r>
              <a:rPr lang="ru-RU" sz="2000" dirty="0"/>
              <a:t>восстанавливается.</a:t>
            </a:r>
          </a:p>
          <a:p>
            <a:pPr marL="0" indent="0">
              <a:buNone/>
            </a:pPr>
            <a:r>
              <a:rPr lang="ru-RU" sz="2000" dirty="0"/>
              <a:t>Переход в режимы </a:t>
            </a:r>
            <a:r>
              <a:rPr lang="en-US" sz="2000" dirty="0"/>
              <a:t>IRQ </a:t>
            </a:r>
            <a:r>
              <a:rPr lang="ru-RU" sz="2000" dirty="0"/>
              <a:t>и </a:t>
            </a:r>
            <a:r>
              <a:rPr lang="en-US" sz="2000" dirty="0"/>
              <a:t>Fast IRQ </a:t>
            </a:r>
            <a:r>
              <a:rPr lang="ru-RU" sz="2000" dirty="0"/>
              <a:t>происходит автоматически при прерывании (в режиме </a:t>
            </a:r>
            <a:r>
              <a:rPr lang="en-US" sz="2000" dirty="0"/>
              <a:t>Fast IRQ </a:t>
            </a:r>
            <a:r>
              <a:rPr lang="ru-RU" sz="2000" dirty="0"/>
              <a:t>обрабатываются приоритетные прерывания).</a:t>
            </a:r>
          </a:p>
          <a:p>
            <a:pPr marL="0" indent="0">
              <a:buNone/>
            </a:pPr>
            <a:r>
              <a:rPr lang="ru-RU" sz="2000" dirty="0"/>
              <a:t>Системные вызовы</a:t>
            </a:r>
            <a:r>
              <a:rPr lang="en-US" sz="2000" dirty="0"/>
              <a:t> </a:t>
            </a:r>
            <a:r>
              <a:rPr lang="ru-RU" sz="2000" dirty="0"/>
              <a:t>(инструкция 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SWC</a:t>
            </a:r>
            <a:r>
              <a:rPr lang="ru-RU" sz="2000" dirty="0"/>
              <a:t>) обрабатываются в режиме </a:t>
            </a:r>
            <a:r>
              <a:rPr lang="en-US" sz="2000" dirty="0"/>
              <a:t>Supervisor. 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1600" dirty="0"/>
              <a:t>* </a:t>
            </a:r>
            <a:r>
              <a:rPr lang="ru-RU" sz="1600" dirty="0"/>
              <a:t>при поддержке аппаратной виртуализации – </a:t>
            </a:r>
            <a:r>
              <a:rPr lang="en-US" sz="1600" dirty="0"/>
              <a:t>+1 </a:t>
            </a:r>
            <a:r>
              <a:rPr lang="ru-RU" sz="1600" dirty="0"/>
              <a:t>уровень привилегий </a:t>
            </a:r>
            <a:r>
              <a:rPr lang="en-US" sz="1600" dirty="0"/>
              <a:t>PL2</a:t>
            </a:r>
            <a:r>
              <a:rPr lang="ru-RU" sz="1600" dirty="0"/>
              <a:t> и режим работы </a:t>
            </a:r>
            <a:r>
              <a:rPr lang="en-US" sz="1600" dirty="0" err="1"/>
              <a:t>Hyp</a:t>
            </a:r>
            <a:r>
              <a:rPr lang="en-US" sz="1600" dirty="0"/>
              <a:t>.</a:t>
            </a:r>
            <a:endParaRPr lang="ru-RU" sz="1600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E10B173A-3B01-AFBD-D35A-32BECC346C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FBA2B-964F-4C4D-AAF7-5A8399264638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39171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C3A6D2E-2629-DF44-68C3-CFD7998091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Регистры в </a:t>
            </a:r>
            <a:r>
              <a:rPr lang="en-US" dirty="0"/>
              <a:t>Aarch64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5C29627-0C13-7A8D-A2E3-856A722103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7611" y="1451567"/>
            <a:ext cx="7505186" cy="540643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b="1" dirty="0"/>
              <a:t>X0-29</a:t>
            </a:r>
            <a:r>
              <a:rPr lang="en-US" sz="2000" dirty="0"/>
              <a:t> - </a:t>
            </a:r>
            <a:r>
              <a:rPr lang="ru-RU" sz="2000" dirty="0"/>
              <a:t>регистры общего назначения</a:t>
            </a:r>
            <a:endParaRPr lang="en-US" sz="2000" dirty="0"/>
          </a:p>
          <a:p>
            <a:pPr marL="0" indent="0">
              <a:buNone/>
            </a:pPr>
            <a:r>
              <a:rPr lang="en-US" sz="2000" b="1" dirty="0"/>
              <a:t>X30/LR </a:t>
            </a:r>
            <a:r>
              <a:rPr lang="en-US" sz="2000" dirty="0"/>
              <a:t>– Link Register, </a:t>
            </a:r>
            <a:r>
              <a:rPr lang="ru-RU" sz="2000" dirty="0"/>
              <a:t>хранит адрес возврата из текущей процедуры. </a:t>
            </a:r>
            <a:endParaRPr lang="en-US" sz="2000" dirty="0"/>
          </a:p>
          <a:p>
            <a:pPr marL="0" indent="0">
              <a:buNone/>
            </a:pPr>
            <a:r>
              <a:rPr lang="en-US" sz="2000" b="1" dirty="0"/>
              <a:t>X31/ZR </a:t>
            </a:r>
            <a:r>
              <a:rPr lang="en-US" sz="2000" dirty="0"/>
              <a:t>- Zero Register, </a:t>
            </a:r>
            <a:r>
              <a:rPr lang="ru-RU" sz="2000" dirty="0"/>
              <a:t>чтение всегда дает 0, запись не изменяет значение</a:t>
            </a:r>
          </a:p>
          <a:p>
            <a:pPr marL="0" indent="0">
              <a:buNone/>
            </a:pPr>
            <a:r>
              <a:rPr lang="en-US" sz="2000" b="1" dirty="0"/>
              <a:t>SP </a:t>
            </a:r>
            <a:r>
              <a:rPr lang="ru-RU" sz="2000" dirty="0"/>
              <a:t>– указатель вершины стека (аналог </a:t>
            </a:r>
            <a:r>
              <a:rPr lang="en-US" sz="2000" dirty="0"/>
              <a:t>RSP</a:t>
            </a:r>
            <a:r>
              <a:rPr lang="ru-RU" sz="2000" dirty="0"/>
              <a:t>)</a:t>
            </a:r>
            <a:r>
              <a:rPr lang="en-US" sz="2000" dirty="0"/>
              <a:t> </a:t>
            </a:r>
          </a:p>
          <a:p>
            <a:pPr marL="0" indent="0">
              <a:buNone/>
            </a:pPr>
            <a:r>
              <a:rPr lang="en-US" sz="2000" b="1" dirty="0"/>
              <a:t>PC</a:t>
            </a:r>
            <a:r>
              <a:rPr lang="en-US" sz="2000" dirty="0"/>
              <a:t>– </a:t>
            </a:r>
            <a:r>
              <a:rPr lang="ru-RU" sz="2000" dirty="0"/>
              <a:t>программный счетчик</a:t>
            </a:r>
            <a:r>
              <a:rPr lang="en-US" sz="2000" dirty="0"/>
              <a:t> (</a:t>
            </a:r>
            <a:r>
              <a:rPr lang="ru-RU" sz="2000" dirty="0"/>
              <a:t>аналог </a:t>
            </a:r>
            <a:r>
              <a:rPr lang="en-US" sz="2000" dirty="0"/>
              <a:t>RIP), </a:t>
            </a:r>
            <a:r>
              <a:rPr lang="ru-RU" sz="2000" dirty="0"/>
              <a:t>хранит адрес </a:t>
            </a:r>
            <a:r>
              <a:rPr lang="ru-RU" sz="2000" i="1" dirty="0"/>
              <a:t>текущей инструкции</a:t>
            </a:r>
            <a:r>
              <a:rPr lang="ru-RU" sz="2000" dirty="0"/>
              <a:t>.</a:t>
            </a:r>
          </a:p>
          <a:p>
            <a:pPr marL="0" indent="0">
              <a:buNone/>
            </a:pPr>
            <a:r>
              <a:rPr lang="en-US" sz="2000" b="1" dirty="0"/>
              <a:t>PSR</a:t>
            </a:r>
            <a:r>
              <a:rPr lang="en-US" sz="2000" dirty="0"/>
              <a:t> –</a:t>
            </a:r>
            <a:r>
              <a:rPr lang="ru-RU" sz="2000" dirty="0"/>
              <a:t>аналог </a:t>
            </a:r>
            <a:r>
              <a:rPr lang="en-US" sz="2000" dirty="0"/>
              <a:t>RFLAGS. </a:t>
            </a:r>
          </a:p>
          <a:p>
            <a:pPr marL="0" indent="0">
              <a:buNone/>
            </a:pPr>
            <a:r>
              <a:rPr lang="en-US" sz="2000" b="1" dirty="0"/>
              <a:t>V0-31</a:t>
            </a:r>
            <a:r>
              <a:rPr lang="en-US" sz="2000" dirty="0"/>
              <a:t> </a:t>
            </a:r>
            <a:r>
              <a:rPr lang="ru-RU" sz="2000" dirty="0"/>
              <a:t>– векторные регистры (аналог </a:t>
            </a:r>
            <a:r>
              <a:rPr lang="en-US" sz="2000" dirty="0"/>
              <a:t>XMM).</a:t>
            </a:r>
          </a:p>
          <a:p>
            <a:pPr marL="0" indent="0">
              <a:buNone/>
            </a:pPr>
            <a:r>
              <a:rPr lang="en-US" sz="2000" b="1" dirty="0"/>
              <a:t>FPCR</a:t>
            </a:r>
            <a:r>
              <a:rPr lang="ru-RU" sz="2000" dirty="0"/>
              <a:t> – управляющий регистр  </a:t>
            </a:r>
            <a:r>
              <a:rPr lang="en-US" sz="2000" dirty="0"/>
              <a:t>FPU</a:t>
            </a:r>
            <a:endParaRPr lang="ru-RU" sz="2000" dirty="0"/>
          </a:p>
          <a:p>
            <a:pPr marL="0" indent="0">
              <a:buNone/>
            </a:pPr>
            <a:r>
              <a:rPr lang="en-US" sz="2000" b="1" dirty="0"/>
              <a:t>FPSR</a:t>
            </a:r>
            <a:r>
              <a:rPr lang="en-US" sz="2000" dirty="0"/>
              <a:t> – </a:t>
            </a:r>
            <a:r>
              <a:rPr lang="ru-RU" sz="2000" dirty="0"/>
              <a:t>регистр состояния </a:t>
            </a:r>
            <a:r>
              <a:rPr lang="en-US" sz="2000" dirty="0"/>
              <a:t>FPU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E10B173A-3B01-AFBD-D35A-32BECC346C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FBA2B-964F-4C4D-AAF7-5A8399264638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97DA693D-1296-D017-40CC-948E77A5B90A}"/>
              </a:ext>
            </a:extLst>
          </p:cNvPr>
          <p:cNvSpPr/>
          <p:nvPr/>
        </p:nvSpPr>
        <p:spPr>
          <a:xfrm>
            <a:off x="8382828" y="1508125"/>
            <a:ext cx="1440000" cy="365125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X0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2D414637-272D-6850-42D6-F58DDEF717D9}"/>
              </a:ext>
            </a:extLst>
          </p:cNvPr>
          <p:cNvSpPr/>
          <p:nvPr/>
        </p:nvSpPr>
        <p:spPr>
          <a:xfrm>
            <a:off x="9909783" y="1505900"/>
            <a:ext cx="1440000" cy="365125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X1</a:t>
            </a: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AA4B1EEC-40D9-82E0-6A5C-8AAD6DA50396}"/>
              </a:ext>
            </a:extLst>
          </p:cNvPr>
          <p:cNvSpPr/>
          <p:nvPr/>
        </p:nvSpPr>
        <p:spPr>
          <a:xfrm>
            <a:off x="8382828" y="2055358"/>
            <a:ext cx="1440000" cy="365125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</a:t>
            </a:r>
            <a:r>
              <a:rPr lang="ru-RU" dirty="0"/>
              <a:t>28</a:t>
            </a:r>
            <a:endParaRPr lang="en-US" dirty="0"/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2B0C4C77-A3F4-92C3-FDC6-FCA573C4C31F}"/>
              </a:ext>
            </a:extLst>
          </p:cNvPr>
          <p:cNvSpPr/>
          <p:nvPr/>
        </p:nvSpPr>
        <p:spPr>
          <a:xfrm>
            <a:off x="9909783" y="2055358"/>
            <a:ext cx="1440000" cy="365125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</a:t>
            </a:r>
            <a:r>
              <a:rPr lang="ru-RU" dirty="0"/>
              <a:t>29</a:t>
            </a:r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19F32AF-CF40-59DD-05C4-99DDE93A18F6}"/>
              </a:ext>
            </a:extLst>
          </p:cNvPr>
          <p:cNvSpPr txBox="1"/>
          <p:nvPr/>
        </p:nvSpPr>
        <p:spPr>
          <a:xfrm>
            <a:off x="9708243" y="1688463"/>
            <a:ext cx="343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…</a:t>
            </a:r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C6C8C06F-91F8-DE9F-23D8-4AAB2A715834}"/>
              </a:ext>
            </a:extLst>
          </p:cNvPr>
          <p:cNvSpPr/>
          <p:nvPr/>
        </p:nvSpPr>
        <p:spPr>
          <a:xfrm>
            <a:off x="8382828" y="3697418"/>
            <a:ext cx="1440000" cy="36512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PSR</a:t>
            </a:r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7549D8A7-D399-3831-CA51-8F758BBF4156}"/>
              </a:ext>
            </a:extLst>
          </p:cNvPr>
          <p:cNvSpPr/>
          <p:nvPr/>
        </p:nvSpPr>
        <p:spPr>
          <a:xfrm>
            <a:off x="8382828" y="3180865"/>
            <a:ext cx="1440000" cy="36512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PC</a:t>
            </a:r>
          </a:p>
        </p:txBody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EE7D6C86-01E8-74B7-6E95-6C4FAEA26A0A}"/>
              </a:ext>
            </a:extLst>
          </p:cNvPr>
          <p:cNvSpPr/>
          <p:nvPr/>
        </p:nvSpPr>
        <p:spPr>
          <a:xfrm>
            <a:off x="8382828" y="4298656"/>
            <a:ext cx="1440000" cy="365125"/>
          </a:xfrm>
          <a:prstGeom prst="rect">
            <a:avLst/>
          </a:prstGeom>
          <a:solidFill>
            <a:schemeClr val="tx2">
              <a:lumMod val="50000"/>
            </a:schemeClr>
          </a:solidFill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V0</a:t>
            </a:r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267B1A92-F81B-AF66-A8C8-64384E4477A3}"/>
              </a:ext>
            </a:extLst>
          </p:cNvPr>
          <p:cNvSpPr/>
          <p:nvPr/>
        </p:nvSpPr>
        <p:spPr>
          <a:xfrm>
            <a:off x="9909783" y="4295276"/>
            <a:ext cx="1440000" cy="365125"/>
          </a:xfrm>
          <a:prstGeom prst="rect">
            <a:avLst/>
          </a:prstGeom>
          <a:solidFill>
            <a:schemeClr val="tx2">
              <a:lumMod val="50000"/>
            </a:schemeClr>
          </a:solidFill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V1</a:t>
            </a:r>
          </a:p>
        </p:txBody>
      </p:sp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2B427EF0-966F-87D3-DDE7-74EBDB94904E}"/>
              </a:ext>
            </a:extLst>
          </p:cNvPr>
          <p:cNvSpPr/>
          <p:nvPr/>
        </p:nvSpPr>
        <p:spPr>
          <a:xfrm>
            <a:off x="8369209" y="4892897"/>
            <a:ext cx="1440000" cy="365125"/>
          </a:xfrm>
          <a:prstGeom prst="rect">
            <a:avLst/>
          </a:prstGeom>
          <a:solidFill>
            <a:schemeClr val="tx2">
              <a:lumMod val="50000"/>
            </a:schemeClr>
          </a:solidFill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V30</a:t>
            </a:r>
          </a:p>
        </p:txBody>
      </p:sp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E79FF937-6D6D-3255-C7A6-593AFE190790}"/>
              </a:ext>
            </a:extLst>
          </p:cNvPr>
          <p:cNvSpPr/>
          <p:nvPr/>
        </p:nvSpPr>
        <p:spPr>
          <a:xfrm>
            <a:off x="9913800" y="4892898"/>
            <a:ext cx="1440000" cy="365125"/>
          </a:xfrm>
          <a:prstGeom prst="rect">
            <a:avLst/>
          </a:prstGeom>
          <a:solidFill>
            <a:schemeClr val="tx2">
              <a:lumMod val="50000"/>
            </a:schemeClr>
          </a:solidFill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V31</a:t>
            </a:r>
          </a:p>
        </p:txBody>
      </p:sp>
      <p:sp>
        <p:nvSpPr>
          <p:cNvPr id="25" name="Прямоугольник 24">
            <a:extLst>
              <a:ext uri="{FF2B5EF4-FFF2-40B4-BE49-F238E27FC236}">
                <a16:creationId xmlns:a16="http://schemas.microsoft.com/office/drawing/2014/main" id="{56AE43BE-4121-F0AC-8013-8FC910DFF300}"/>
              </a:ext>
            </a:extLst>
          </p:cNvPr>
          <p:cNvSpPr/>
          <p:nvPr/>
        </p:nvSpPr>
        <p:spPr>
          <a:xfrm>
            <a:off x="8369209" y="5470296"/>
            <a:ext cx="1440000" cy="365125"/>
          </a:xfrm>
          <a:prstGeom prst="rect">
            <a:avLst/>
          </a:prstGeom>
          <a:solidFill>
            <a:schemeClr val="tx2">
              <a:lumMod val="50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FPSR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7D2E42E-3DAD-84DD-DB2C-124818FF9DDF}"/>
              </a:ext>
            </a:extLst>
          </p:cNvPr>
          <p:cNvSpPr txBox="1"/>
          <p:nvPr/>
        </p:nvSpPr>
        <p:spPr>
          <a:xfrm>
            <a:off x="9708243" y="4519357"/>
            <a:ext cx="343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…</a:t>
            </a:r>
          </a:p>
        </p:txBody>
      </p:sp>
      <p:sp>
        <p:nvSpPr>
          <p:cNvPr id="27" name="Прямоугольник 26">
            <a:extLst>
              <a:ext uri="{FF2B5EF4-FFF2-40B4-BE49-F238E27FC236}">
                <a16:creationId xmlns:a16="http://schemas.microsoft.com/office/drawing/2014/main" id="{F97A2CFD-5E3A-9F89-0F16-561712BDF5ED}"/>
              </a:ext>
            </a:extLst>
          </p:cNvPr>
          <p:cNvSpPr/>
          <p:nvPr/>
        </p:nvSpPr>
        <p:spPr>
          <a:xfrm>
            <a:off x="9909783" y="5468520"/>
            <a:ext cx="1440000" cy="365125"/>
          </a:xfrm>
          <a:prstGeom prst="rect">
            <a:avLst/>
          </a:prstGeom>
          <a:solidFill>
            <a:schemeClr val="tx2">
              <a:lumMod val="50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FPCR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67B40F5F-03B7-2D9C-F7DB-5D28A59CC7A7}"/>
              </a:ext>
            </a:extLst>
          </p:cNvPr>
          <p:cNvSpPr/>
          <p:nvPr/>
        </p:nvSpPr>
        <p:spPr>
          <a:xfrm>
            <a:off x="8382828" y="2649123"/>
            <a:ext cx="1440000" cy="36512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R30 (LR)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314C6C64-B791-3CF8-6552-1658DF264D8C}"/>
              </a:ext>
            </a:extLst>
          </p:cNvPr>
          <p:cNvSpPr/>
          <p:nvPr/>
        </p:nvSpPr>
        <p:spPr>
          <a:xfrm>
            <a:off x="9909783" y="3177485"/>
            <a:ext cx="1440000" cy="3651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SP</a:t>
            </a: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A9155EAB-73AE-93E4-D4AB-9D951428784B}"/>
              </a:ext>
            </a:extLst>
          </p:cNvPr>
          <p:cNvSpPr/>
          <p:nvPr/>
        </p:nvSpPr>
        <p:spPr>
          <a:xfrm>
            <a:off x="9909783" y="2648468"/>
            <a:ext cx="1440000" cy="365125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X31 (XZR)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9FCB9F0D-5892-1923-C1FE-1B4FE9166F82}"/>
              </a:ext>
            </a:extLst>
          </p:cNvPr>
          <p:cNvSpPr/>
          <p:nvPr/>
        </p:nvSpPr>
        <p:spPr>
          <a:xfrm>
            <a:off x="9104528" y="1119914"/>
            <a:ext cx="718299" cy="365125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W0</a:t>
            </a:r>
          </a:p>
        </p:txBody>
      </p:sp>
    </p:spTree>
    <p:extLst>
      <p:ext uri="{BB962C8B-B14F-4D97-AF65-F5344CB8AC3E}">
        <p14:creationId xmlns:p14="http://schemas.microsoft.com/office/powerpoint/2010/main" val="41539430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C3A6D2E-2629-DF44-68C3-CFD7998091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Особенности </a:t>
            </a:r>
            <a:r>
              <a:rPr lang="en-US" dirty="0"/>
              <a:t>Aarch64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5C29627-0C13-7A8D-A2E3-856A722103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530725"/>
          </a:xfrm>
        </p:spPr>
        <p:txBody>
          <a:bodyPr>
            <a:normAutofit/>
          </a:bodyPr>
          <a:lstStyle/>
          <a:p>
            <a:pPr marL="457200" indent="-457200">
              <a:buAutoNum type="arabicPeriod"/>
            </a:pPr>
            <a:r>
              <a:rPr lang="ru-RU" sz="2000" dirty="0"/>
              <a:t>Длина регистров – 64 бита. Весь регистр обозначается </a:t>
            </a:r>
            <a:r>
              <a:rPr lang="en-US" sz="2000" dirty="0" err="1"/>
              <a:t>Xn</a:t>
            </a:r>
            <a:r>
              <a:rPr lang="en-US" sz="2000" dirty="0"/>
              <a:t>, </a:t>
            </a:r>
            <a:r>
              <a:rPr lang="ru-RU" sz="2000" dirty="0"/>
              <a:t>младшая половина – </a:t>
            </a:r>
            <a:r>
              <a:rPr lang="en-US" sz="2000" dirty="0" err="1"/>
              <a:t>Wn</a:t>
            </a:r>
            <a:r>
              <a:rPr lang="en-US" sz="2000" dirty="0"/>
              <a:t> (</a:t>
            </a:r>
            <a:r>
              <a:rPr lang="ru-RU" sz="2000" dirty="0"/>
              <a:t>по аналогии с </a:t>
            </a:r>
            <a:r>
              <a:rPr lang="en-US" sz="2000" dirty="0"/>
              <a:t>RAX-EAX).</a:t>
            </a:r>
          </a:p>
          <a:p>
            <a:pPr marL="457200" indent="-457200">
              <a:buAutoNum type="arabicPeriod"/>
            </a:pPr>
            <a:r>
              <a:rPr lang="ru-RU" sz="2000" dirty="0"/>
              <a:t>Операции – либо 64-битные, либо 32-битные – в зависимости от регистра.</a:t>
            </a:r>
          </a:p>
          <a:p>
            <a:pPr marL="457200" indent="-457200">
              <a:buAutoNum type="arabicPeriod"/>
            </a:pPr>
            <a:r>
              <a:rPr lang="ru-RU" sz="2000" dirty="0"/>
              <a:t>Большинство инструкций с предикацией убраны.</a:t>
            </a:r>
          </a:p>
          <a:p>
            <a:pPr marL="457200" indent="-457200">
              <a:buAutoNum type="arabicPeriod"/>
            </a:pPr>
            <a:r>
              <a:rPr lang="ru-RU" sz="2000" dirty="0"/>
              <a:t>Отсутствие прямого доступа к регистру </a:t>
            </a:r>
            <a:r>
              <a:rPr lang="en-US" sz="2000" dirty="0"/>
              <a:t>PC.</a:t>
            </a:r>
            <a:endParaRPr lang="ru-RU" sz="2000" dirty="0"/>
          </a:p>
          <a:p>
            <a:pPr marL="457200" indent="-457200">
              <a:buAutoNum type="arabicPeriod"/>
            </a:pPr>
            <a:r>
              <a:rPr lang="ru-RU" sz="2000" dirty="0"/>
              <a:t>Отдельный </a:t>
            </a:r>
            <a:r>
              <a:rPr lang="en-US" sz="2000" dirty="0"/>
              <a:t>Zero Register XZR(WZR). </a:t>
            </a:r>
            <a:r>
              <a:rPr lang="ru-RU" sz="2000" dirty="0"/>
              <a:t>Всегда содержит 0. </a:t>
            </a:r>
            <a:r>
              <a:rPr lang="en-US" sz="2000" dirty="0"/>
              <a:t>ZR </a:t>
            </a:r>
            <a:r>
              <a:rPr lang="ru-RU" sz="2000" dirty="0"/>
              <a:t>можно использовать, как приемник – в этом случае записываемое значение просто потеряется.</a:t>
            </a:r>
          </a:p>
          <a:p>
            <a:pPr marL="0" indent="0">
              <a:buNone/>
            </a:pPr>
            <a:endParaRPr lang="ru-RU" sz="2000" dirty="0"/>
          </a:p>
          <a:p>
            <a:pPr marL="0" indent="0">
              <a:buNone/>
            </a:pPr>
            <a:endParaRPr lang="ru-RU" sz="2000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E10B173A-3B01-AFBD-D35A-32BECC346C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FBA2B-964F-4C4D-AAF7-5A8399264638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9883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C3A6D2E-2629-DF44-68C3-CFD7998091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Контроль привилегий в </a:t>
            </a:r>
            <a:r>
              <a:rPr lang="en-US" dirty="0"/>
              <a:t>Aarch64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5C29627-0C13-7A8D-A2E3-856A722103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u-RU" sz="2000" dirty="0"/>
              <a:t>В </a:t>
            </a:r>
            <a:r>
              <a:rPr lang="en-US" sz="2000" dirty="0" err="1"/>
              <a:t>Aarch</a:t>
            </a:r>
            <a:r>
              <a:rPr lang="ru-RU" sz="2000" dirty="0"/>
              <a:t>64</a:t>
            </a:r>
            <a:r>
              <a:rPr lang="en-US" sz="2000" dirty="0"/>
              <a:t> </a:t>
            </a:r>
            <a:r>
              <a:rPr lang="ru-RU" sz="2000" dirty="0"/>
              <a:t>процессор может работать в 4 уровнях исключений (</a:t>
            </a:r>
            <a:r>
              <a:rPr lang="en-US" sz="2000" dirty="0"/>
              <a:t>exception levels, EL0-3).</a:t>
            </a:r>
          </a:p>
          <a:p>
            <a:pPr marL="0" indent="0">
              <a:buNone/>
            </a:pPr>
            <a:r>
              <a:rPr lang="ru-RU" sz="2000" dirty="0"/>
              <a:t>Пользовательский код работает в </a:t>
            </a:r>
            <a:r>
              <a:rPr lang="en-US" sz="2000" dirty="0"/>
              <a:t>EL0.</a:t>
            </a:r>
          </a:p>
          <a:p>
            <a:pPr marL="0" indent="0">
              <a:buNone/>
            </a:pPr>
            <a:r>
              <a:rPr lang="ru-RU" sz="2000" dirty="0"/>
              <a:t>Код ядра ОС и обработчики прерываний работают в </a:t>
            </a:r>
            <a:r>
              <a:rPr lang="en-US" sz="2000" dirty="0"/>
              <a:t>EL1.</a:t>
            </a:r>
          </a:p>
          <a:p>
            <a:pPr marL="0" indent="0">
              <a:buNone/>
            </a:pPr>
            <a:r>
              <a:rPr lang="ru-RU" sz="2000" dirty="0"/>
              <a:t>Опционально, могут быть реализованы уровни </a:t>
            </a:r>
            <a:r>
              <a:rPr lang="en-US" sz="2000" dirty="0"/>
              <a:t>EL2 </a:t>
            </a:r>
            <a:r>
              <a:rPr lang="ru-RU" sz="2000" dirty="0"/>
              <a:t>и </a:t>
            </a:r>
            <a:r>
              <a:rPr lang="en-US" sz="2000" dirty="0"/>
              <a:t>EL3.</a:t>
            </a:r>
            <a:r>
              <a:rPr lang="ru-RU" sz="2000" dirty="0"/>
              <a:t> </a:t>
            </a:r>
            <a:r>
              <a:rPr lang="en-US" sz="2000" dirty="0"/>
              <a:t>EL2 </a:t>
            </a:r>
            <a:r>
              <a:rPr lang="ru-RU" sz="2000" dirty="0"/>
              <a:t>предназначен для работы гипервизора, в </a:t>
            </a:r>
            <a:r>
              <a:rPr lang="en-US" sz="2000" dirty="0"/>
              <a:t>EL3 – </a:t>
            </a:r>
            <a:r>
              <a:rPr lang="ru-RU" sz="2000" dirty="0"/>
              <a:t>для монитора безопасности.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E10B173A-3B01-AFBD-D35A-32BECC346C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FBA2B-964F-4C4D-AAF7-5A8399264638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10977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57C050E-39BA-0CBE-B4CB-08EB336EDC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ARM </a:t>
            </a:r>
            <a:r>
              <a:rPr lang="ru-RU" dirty="0"/>
              <a:t>и выравнивание данных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F382F49-D216-749A-52EA-09BF230616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0036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000" dirty="0"/>
              <a:t>В ранних версиях </a:t>
            </a:r>
            <a:r>
              <a:rPr lang="en-US" sz="2000" dirty="0"/>
              <a:t>ARM (</a:t>
            </a:r>
            <a:r>
              <a:rPr lang="ru-RU" sz="2000" dirty="0"/>
              <a:t>до </a:t>
            </a:r>
            <a:r>
              <a:rPr lang="en-US" sz="2000" dirty="0"/>
              <a:t>ARMv6) </a:t>
            </a:r>
            <a:r>
              <a:rPr lang="ru-RU" sz="2000" dirty="0"/>
              <a:t>доступ к данным должен был быть выровненным по границе в 4 байта</a:t>
            </a:r>
            <a:r>
              <a:rPr lang="en-US" sz="2000" dirty="0"/>
              <a:t> (</a:t>
            </a:r>
            <a:r>
              <a:rPr lang="ru-RU" sz="2000" dirty="0"/>
              <a:t>за исключением 1- и 2-байтовых значений – для них применяется выравнивание в 1 и 2 байта</a:t>
            </a:r>
            <a:r>
              <a:rPr lang="en-US" sz="2000" dirty="0"/>
              <a:t>)</a:t>
            </a:r>
            <a:r>
              <a:rPr lang="ru-RU" sz="2000" dirty="0"/>
              <a:t>. Попытка </a:t>
            </a:r>
            <a:r>
              <a:rPr lang="ru-RU" sz="2000" dirty="0" err="1"/>
              <a:t>невыровненного</a:t>
            </a:r>
            <a:r>
              <a:rPr lang="ru-RU" sz="2000" dirty="0"/>
              <a:t> доступа приводила к аппаратному исключению.</a:t>
            </a:r>
          </a:p>
          <a:p>
            <a:pPr marL="0" indent="0">
              <a:buNone/>
            </a:pPr>
            <a:r>
              <a:rPr lang="ru-RU" sz="2000" dirty="0"/>
              <a:t>Начиная с </a:t>
            </a:r>
            <a:r>
              <a:rPr lang="en-US" sz="2000" dirty="0"/>
              <a:t>ARMv6 </a:t>
            </a:r>
            <a:r>
              <a:rPr lang="ru-RU" sz="2000" dirty="0"/>
              <a:t>для обычных инструкций чтения/записи, которые затрагивают 1 регистр, ограничения на выравнивание убрано. В </a:t>
            </a:r>
            <a:r>
              <a:rPr lang="en-US" sz="2000" dirty="0"/>
              <a:t>Aarch64 </a:t>
            </a:r>
            <a:r>
              <a:rPr lang="ru-RU" sz="2000" dirty="0"/>
              <a:t>ограничения на выравнивание были ослаблены еще сильнее – </a:t>
            </a:r>
            <a:r>
              <a:rPr lang="ru-RU" sz="2000" dirty="0" err="1"/>
              <a:t>невыровненный</a:t>
            </a:r>
            <a:r>
              <a:rPr lang="ru-RU" sz="2000" dirty="0"/>
              <a:t> адрес разрешен для инструкций, которые считывают/записывают несколько регистров.</a:t>
            </a:r>
          </a:p>
          <a:p>
            <a:pPr marL="0" indent="0">
              <a:buNone/>
            </a:pPr>
            <a:r>
              <a:rPr lang="ru-RU" sz="2000" dirty="0"/>
              <a:t>Специальные инструкции чтения/записи (например, инструкции 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LDREX/STREX</a:t>
            </a:r>
            <a:r>
              <a:rPr lang="ru-RU" sz="2000" dirty="0"/>
              <a:t>, по назначению аналогичные префиксу 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LOCK</a:t>
            </a:r>
            <a:r>
              <a:rPr lang="ru-RU" sz="2000" dirty="0"/>
              <a:t>)</a:t>
            </a:r>
            <a:r>
              <a:rPr lang="en-US" sz="2000" dirty="0"/>
              <a:t> </a:t>
            </a:r>
            <a:r>
              <a:rPr lang="ru-RU" sz="2000" dirty="0"/>
              <a:t>требуют выровненного доступа к данным.</a:t>
            </a:r>
          </a:p>
          <a:p>
            <a:pPr marL="0" indent="0">
              <a:buNone/>
            </a:pPr>
            <a:endParaRPr lang="ru-RU" sz="2000" dirty="0"/>
          </a:p>
          <a:p>
            <a:pPr marL="0" indent="0">
              <a:buNone/>
            </a:pPr>
            <a:endParaRPr lang="ru-RU" sz="2000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24799C1E-E8B8-F48E-1184-755D4F985B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FBA2B-964F-4C4D-AAF7-5A8399264638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935052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57C050E-39BA-0CBE-B4CB-08EB336EDC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ARM </a:t>
            </a:r>
            <a:r>
              <a:rPr lang="ru-RU" dirty="0"/>
              <a:t>и порядок операций с памятью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F382F49-D216-749A-52EA-09BF230616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95592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000" dirty="0"/>
              <a:t>В отличие от </a:t>
            </a:r>
            <a:r>
              <a:rPr lang="en-US" sz="2000" dirty="0"/>
              <a:t>x86-64</a:t>
            </a:r>
            <a:r>
              <a:rPr lang="ru-RU" sz="2000" dirty="0"/>
              <a:t>, где большинство операций с памятью строго упорядочены, в </a:t>
            </a:r>
            <a:r>
              <a:rPr lang="en-US" sz="2000" dirty="0"/>
              <a:t>ARM </a:t>
            </a:r>
            <a:r>
              <a:rPr lang="ru-RU" sz="2000" dirty="0"/>
              <a:t>нет ограничений на переупорядочивание (за исключением очевидных ограничений для операций с одной областью). Это положительно сказывается на производительности однопоточных программ, но создает проблемы для многопоточных программ.</a:t>
            </a:r>
          </a:p>
          <a:p>
            <a:pPr marL="0" indent="0">
              <a:buNone/>
            </a:pPr>
            <a:r>
              <a:rPr lang="ru-RU" sz="2000" dirty="0"/>
              <a:t>Для обеспечения корректности выполнения в </a:t>
            </a:r>
            <a:r>
              <a:rPr lang="en-US" sz="2000" dirty="0"/>
              <a:t>ARM </a:t>
            </a:r>
            <a:r>
              <a:rPr lang="ru-RU" sz="2000" dirty="0"/>
              <a:t>используются барьеры памяти, которые ограничивают переупорядочивание операций. С точки зрения рядового программиста это означает, что неверное использование </a:t>
            </a:r>
            <a:r>
              <a:rPr lang="en-US" sz="2000" dirty="0">
                <a:latin typeface="Consolas" panose="020B0609020204030204" pitchFamily="49" charset="0"/>
              </a:rPr>
              <a:t>volatile</a:t>
            </a:r>
            <a:r>
              <a:rPr lang="en-US" sz="2000" dirty="0"/>
              <a:t>/</a:t>
            </a:r>
            <a:r>
              <a:rPr lang="ru-RU" sz="2000" dirty="0"/>
              <a:t>атомарных типов С++ может приводить к трудноуловимым багам на </a:t>
            </a:r>
            <a:r>
              <a:rPr lang="en-US" sz="2000" dirty="0"/>
              <a:t>ARM.</a:t>
            </a:r>
            <a:endParaRPr lang="ru-RU" sz="2000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24799C1E-E8B8-F48E-1184-755D4F985B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FBA2B-964F-4C4D-AAF7-5A8399264638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DE23417-2463-510A-34A2-92A623DB95D2}"/>
              </a:ext>
            </a:extLst>
          </p:cNvPr>
          <p:cNvSpPr txBox="1"/>
          <p:nvPr/>
        </p:nvSpPr>
        <p:spPr>
          <a:xfrm>
            <a:off x="4241800" y="5219184"/>
            <a:ext cx="35941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2"/>
              </a:rPr>
              <a:t>https://godbolt.org/z/TeWcPdbsj</a:t>
            </a:r>
            <a:endParaRPr lang="ru-RU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4F2E79F-C68D-93FD-7C3C-0F22DECC0197}"/>
              </a:ext>
            </a:extLst>
          </p:cNvPr>
          <p:cNvSpPr txBox="1"/>
          <p:nvPr/>
        </p:nvSpPr>
        <p:spPr>
          <a:xfrm>
            <a:off x="8153400" y="5219184"/>
            <a:ext cx="33655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3"/>
              </a:rPr>
              <a:t>https://godbolt.org/z/MdcEo3cjf</a:t>
            </a:r>
            <a:endParaRPr lang="ru-RU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7E2202C-40C0-D8DD-A277-54A510848838}"/>
              </a:ext>
            </a:extLst>
          </p:cNvPr>
          <p:cNvSpPr txBox="1"/>
          <p:nvPr/>
        </p:nvSpPr>
        <p:spPr>
          <a:xfrm>
            <a:off x="581718" y="5219184"/>
            <a:ext cx="33425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linkClick r:id="rId4"/>
              </a:rPr>
              <a:t>https://godbolt.org/z/rfEcaq5hG</a:t>
            </a:r>
            <a:r>
              <a:rPr lang="ru-RU" dirty="0"/>
              <a:t>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868DBF9-688E-4C80-673D-9643D157425F}"/>
              </a:ext>
            </a:extLst>
          </p:cNvPr>
          <p:cNvSpPr txBox="1"/>
          <p:nvPr/>
        </p:nvSpPr>
        <p:spPr>
          <a:xfrm>
            <a:off x="1955800" y="4667250"/>
            <a:ext cx="8226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x</a:t>
            </a:r>
            <a:r>
              <a:rPr lang="ru-RU" dirty="0"/>
              <a:t>86-64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295639B-DA4D-DF61-B048-A196746C3DA2}"/>
              </a:ext>
            </a:extLst>
          </p:cNvPr>
          <p:cNvSpPr txBox="1"/>
          <p:nvPr/>
        </p:nvSpPr>
        <p:spPr>
          <a:xfrm>
            <a:off x="5718890" y="4667250"/>
            <a:ext cx="6399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ARM</a:t>
            </a:r>
            <a:endParaRPr lang="ru-RU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5625B03-343C-4F15-65A8-5506636AF7BA}"/>
              </a:ext>
            </a:extLst>
          </p:cNvPr>
          <p:cNvSpPr txBox="1"/>
          <p:nvPr/>
        </p:nvSpPr>
        <p:spPr>
          <a:xfrm>
            <a:off x="9342281" y="4667250"/>
            <a:ext cx="9587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Aarch64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3288922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3FBFD49-4024-6761-B9F9-AA29201128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VLIW-</a:t>
            </a:r>
            <a:r>
              <a:rPr lang="ru-RU" dirty="0"/>
              <a:t>архитектуры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5BBD187-A5AC-0691-82E9-B7BF50DA94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97155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000" dirty="0" err="1"/>
              <a:t>Суперскалярные</a:t>
            </a:r>
            <a:r>
              <a:rPr lang="ru-RU" sz="2000" dirty="0"/>
              <a:t> ЦП (неважно, </a:t>
            </a:r>
            <a:r>
              <a:rPr lang="en-US" sz="2000" dirty="0"/>
              <a:t>RISC </a:t>
            </a:r>
            <a:r>
              <a:rPr lang="ru-RU" sz="2000" dirty="0"/>
              <a:t>или </a:t>
            </a:r>
            <a:r>
              <a:rPr lang="en-US" sz="2000" dirty="0"/>
              <a:t>CISC</a:t>
            </a:r>
            <a:r>
              <a:rPr lang="ru-RU" sz="2000" dirty="0"/>
              <a:t>) могут выполнять несколько инструкций за такт, но выполняют распределение операций по исполнительным устройствам на лету.</a:t>
            </a:r>
          </a:p>
          <a:p>
            <a:pPr marL="0" indent="0">
              <a:buNone/>
            </a:pPr>
            <a:r>
              <a:rPr lang="en-US" sz="2000" dirty="0"/>
              <a:t>VLIW-</a:t>
            </a:r>
            <a:r>
              <a:rPr lang="ru-RU" sz="2000" dirty="0"/>
              <a:t>архитектуры (</a:t>
            </a:r>
            <a:r>
              <a:rPr lang="en-US" sz="2000" dirty="0"/>
              <a:t>Very Large Instruction Word</a:t>
            </a:r>
            <a:r>
              <a:rPr lang="ru-RU" sz="2000" dirty="0"/>
              <a:t>) используют иной подход</a:t>
            </a:r>
            <a:r>
              <a:rPr lang="en-US" sz="2000" dirty="0"/>
              <a:t>:</a:t>
            </a:r>
            <a:r>
              <a:rPr lang="ru-RU" sz="2000" dirty="0"/>
              <a:t> одна </a:t>
            </a:r>
            <a:r>
              <a:rPr lang="ru-RU" sz="2000" i="1" dirty="0"/>
              <a:t>длинная инструкция </a:t>
            </a:r>
            <a:r>
              <a:rPr lang="ru-RU" sz="2000" dirty="0"/>
              <a:t>кодирует несколько действий, каждое из которых отправляется в свое исполнительное устройство. Количество и тип исполнительных устройств (а значит, и предельная емкость инструкции) явно прописывается в </a:t>
            </a:r>
            <a:r>
              <a:rPr lang="en-US" sz="2000" dirty="0"/>
              <a:t>ISA</a:t>
            </a:r>
            <a:r>
              <a:rPr lang="ru-RU" sz="2000" dirty="0"/>
              <a:t>. </a:t>
            </a:r>
            <a:endParaRPr lang="en-US" sz="2000" dirty="0"/>
          </a:p>
          <a:p>
            <a:pPr marL="0" indent="0">
              <a:buNone/>
            </a:pPr>
            <a:r>
              <a:rPr lang="ru-RU" sz="2000" dirty="0"/>
              <a:t>Распределение инструкций по исполнительным устройствам выполняется на этапе компиляции. Поскольку компилятор обладает большей информацией, он потенциально может лучше распределить операции по исполнительным устройствам.</a:t>
            </a:r>
            <a:endParaRPr lang="en-US" sz="2000" dirty="0"/>
          </a:p>
          <a:p>
            <a:pPr marL="0" indent="0">
              <a:buNone/>
            </a:pPr>
            <a:r>
              <a:rPr lang="ru-RU" sz="2000" dirty="0"/>
              <a:t>Плюсом </a:t>
            </a:r>
            <a:r>
              <a:rPr lang="en-US" sz="2000" dirty="0"/>
              <a:t>VLIW</a:t>
            </a:r>
            <a:r>
              <a:rPr lang="ru-RU" sz="2000" dirty="0"/>
              <a:t> является </a:t>
            </a:r>
            <a:r>
              <a:rPr lang="ru-RU" sz="2000"/>
              <a:t>упрощение ЦП</a:t>
            </a:r>
            <a:r>
              <a:rPr lang="ru-RU" sz="2000" dirty="0"/>
              <a:t>.</a:t>
            </a:r>
          </a:p>
          <a:p>
            <a:pPr marL="0" indent="0">
              <a:buNone/>
            </a:pPr>
            <a:r>
              <a:rPr lang="ru-RU" sz="2000" dirty="0"/>
              <a:t>Минусом </a:t>
            </a:r>
            <a:r>
              <a:rPr lang="en-US" sz="2000" dirty="0"/>
              <a:t>VLIW </a:t>
            </a:r>
            <a:r>
              <a:rPr lang="ru-RU" sz="2000" dirty="0"/>
              <a:t>является зависимость от качества компилятора. </a:t>
            </a:r>
            <a:endParaRPr lang="en-US" sz="2000" dirty="0"/>
          </a:p>
          <a:p>
            <a:pPr marL="0" indent="0">
              <a:buNone/>
            </a:pPr>
            <a:r>
              <a:rPr lang="ru-RU" sz="2000" dirty="0"/>
              <a:t>Представители: </a:t>
            </a:r>
            <a:r>
              <a:rPr lang="en-US" sz="2000" dirty="0"/>
              <a:t>AMD </a:t>
            </a:r>
            <a:r>
              <a:rPr lang="en-US" sz="2000" dirty="0" err="1"/>
              <a:t>TeraScale</a:t>
            </a:r>
            <a:r>
              <a:rPr lang="en-US" sz="2000" dirty="0"/>
              <a:t>, Qualcomm Hexagon, </a:t>
            </a:r>
            <a:r>
              <a:rPr lang="ru-RU" sz="2000" dirty="0"/>
              <a:t>МЦСТ Эльбрус.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34BC15ED-58EA-5211-7ECB-DC949293F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FBA2B-964F-4C4D-AAF7-5A8399264638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596102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3FBFD49-4024-6761-B9F9-AA29201128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VLIW-</a:t>
            </a:r>
            <a:r>
              <a:rPr lang="ru-RU" dirty="0"/>
              <a:t>архитектуры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34BC15ED-58EA-5211-7ECB-DC949293F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FBA2B-964F-4C4D-AAF7-5A8399264638}" type="slidenum">
              <a:rPr lang="en-US" smtClean="0"/>
              <a:pPr/>
              <a:t>17</a:t>
            </a:fld>
            <a:endParaRPr lang="en-US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D987144F-07C2-32E4-370C-4F419FC46A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2200" y="365125"/>
            <a:ext cx="3810000" cy="6276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6DEBDE5-EE8E-5DFA-E5B5-08B0F47FBA09}"/>
              </a:ext>
            </a:extLst>
          </p:cNvPr>
          <p:cNvSpPr txBox="1"/>
          <p:nvPr/>
        </p:nvSpPr>
        <p:spPr>
          <a:xfrm>
            <a:off x="450850" y="1923534"/>
            <a:ext cx="39751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X86-64 (CISC, superscalar)</a:t>
            </a:r>
          </a:p>
          <a:p>
            <a:r>
              <a:rPr lang="ru-RU" dirty="0">
                <a:hlinkClick r:id="rId3"/>
              </a:rPr>
              <a:t>https://godbolt.org/z/z9bKshrnG</a:t>
            </a:r>
            <a:r>
              <a:rPr lang="en-US" dirty="0"/>
              <a:t> </a:t>
            </a:r>
            <a:endParaRPr lang="ru-RU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8A83055-5AE3-B19A-A51D-818E8FDCE956}"/>
              </a:ext>
            </a:extLst>
          </p:cNvPr>
          <p:cNvSpPr txBox="1"/>
          <p:nvPr/>
        </p:nvSpPr>
        <p:spPr>
          <a:xfrm>
            <a:off x="10331450" y="5308600"/>
            <a:ext cx="8080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linkClick r:id="rId4"/>
              </a:rPr>
              <a:t>source</a:t>
            </a:r>
            <a:endParaRPr lang="ru-RU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0B759A0-2877-A8D1-4DBE-0961654C0037}"/>
              </a:ext>
            </a:extLst>
          </p:cNvPr>
          <p:cNvSpPr txBox="1"/>
          <p:nvPr/>
        </p:nvSpPr>
        <p:spPr>
          <a:xfrm>
            <a:off x="520700" y="4267200"/>
            <a:ext cx="325281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Qualcomm Hexagon (VLIW)</a:t>
            </a:r>
          </a:p>
          <a:p>
            <a:r>
              <a:rPr lang="en-US" dirty="0">
                <a:hlinkClick r:id="rId5"/>
              </a:rPr>
              <a:t>https://godbolt.org/z/erx1vnj6d</a:t>
            </a:r>
            <a:r>
              <a:rPr lang="en-US" dirty="0"/>
              <a:t> 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361813461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/>
      <a:lstStyle/>
      <a:style>
        <a:lnRef idx="2">
          <a:schemeClr val="dk1"/>
        </a:lnRef>
        <a:fillRef idx="1">
          <a:schemeClr val="lt1"/>
        </a:fillRef>
        <a:effectRef idx="0">
          <a:schemeClr val="dk1"/>
        </a:effectRef>
        <a:fontRef idx="minor">
          <a:schemeClr val="dk1"/>
        </a:fontRef>
      </a:style>
    </a:spDef>
    <a:lnDef>
      <a:spPr/>
      <a:bodyPr/>
      <a:lstStyle/>
      <a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12380</TotalTime>
  <Words>1825</Words>
  <Application>Microsoft Office PowerPoint</Application>
  <PresentationFormat>Widescreen</PresentationFormat>
  <Paragraphs>160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Arial</vt:lpstr>
      <vt:lpstr>Calibri</vt:lpstr>
      <vt:lpstr>Calibri Light</vt:lpstr>
      <vt:lpstr>Consolas</vt:lpstr>
      <vt:lpstr>Courier New</vt:lpstr>
      <vt:lpstr>Тема Office</vt:lpstr>
      <vt:lpstr>Низкоуровневое программирование</vt:lpstr>
      <vt:lpstr>CISC-архитектуры</vt:lpstr>
      <vt:lpstr>RISC-архитектуры</vt:lpstr>
      <vt:lpstr>Advanced RISC Machine</vt:lpstr>
      <vt:lpstr>Регистры в ARM</vt:lpstr>
      <vt:lpstr>Основные особенности ARM</vt:lpstr>
      <vt:lpstr>Основные особенности ARM</vt:lpstr>
      <vt:lpstr>Основные особенности ARM</vt:lpstr>
      <vt:lpstr>Векторные и вещественные операции</vt:lpstr>
      <vt:lpstr>Контроль привилегий в ARM</vt:lpstr>
      <vt:lpstr>Регистры в Aarch64</vt:lpstr>
      <vt:lpstr>Особенности Aarch64</vt:lpstr>
      <vt:lpstr>Контроль привилегий в Aarch64</vt:lpstr>
      <vt:lpstr>ARM и выравнивание данных</vt:lpstr>
      <vt:lpstr>ARM и порядок операций с памятью</vt:lpstr>
      <vt:lpstr>VLIW-архитектуры</vt:lpstr>
      <vt:lpstr>VLIW-архитектуры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Низкоуровневое программирование</dc:title>
  <dc:creator>Алексей Борисов</dc:creator>
  <cp:lastModifiedBy>Alexey</cp:lastModifiedBy>
  <cp:revision>272</cp:revision>
  <dcterms:created xsi:type="dcterms:W3CDTF">2021-02-27T16:04:41Z</dcterms:created>
  <dcterms:modified xsi:type="dcterms:W3CDTF">2025-12-16T14:32:10Z</dcterms:modified>
</cp:coreProperties>
</file>